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34"/>
  </p:notesMasterIdLst>
  <p:sldIdLst>
    <p:sldId id="256" r:id="rId3"/>
    <p:sldId id="572" r:id="rId4"/>
    <p:sldId id="573" r:id="rId5"/>
    <p:sldId id="541" r:id="rId6"/>
    <p:sldId id="575" r:id="rId7"/>
    <p:sldId id="576" r:id="rId8"/>
    <p:sldId id="577" r:id="rId9"/>
    <p:sldId id="550" r:id="rId10"/>
    <p:sldId id="553" r:id="rId11"/>
    <p:sldId id="552" r:id="rId12"/>
    <p:sldId id="525" r:id="rId13"/>
    <p:sldId id="574" r:id="rId14"/>
    <p:sldId id="556" r:id="rId15"/>
    <p:sldId id="555" r:id="rId16"/>
    <p:sldId id="557" r:id="rId17"/>
    <p:sldId id="558" r:id="rId18"/>
    <p:sldId id="560" r:id="rId19"/>
    <p:sldId id="579" r:id="rId20"/>
    <p:sldId id="580" r:id="rId21"/>
    <p:sldId id="581" r:id="rId22"/>
    <p:sldId id="563" r:id="rId23"/>
    <p:sldId id="567" r:id="rId24"/>
    <p:sldId id="564" r:id="rId25"/>
    <p:sldId id="583" r:id="rId26"/>
    <p:sldId id="565" r:id="rId27"/>
    <p:sldId id="584" r:id="rId28"/>
    <p:sldId id="516" r:id="rId29"/>
    <p:sldId id="570" r:id="rId30"/>
    <p:sldId id="562" r:id="rId31"/>
    <p:sldId id="559" r:id="rId32"/>
    <p:sldId id="561" r:id="rId33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Frutiger LT Com 55 Roman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95">
          <p15:clr>
            <a:srgbClr val="A4A3A4"/>
          </p15:clr>
        </p15:guide>
        <p15:guide id="2" orient="horz" pos="240">
          <p15:clr>
            <a:srgbClr val="A4A3A4"/>
          </p15:clr>
        </p15:guide>
        <p15:guide id="3" pos="5470">
          <p15:clr>
            <a:srgbClr val="A4A3A4"/>
          </p15:clr>
        </p15:guide>
        <p15:guide id="4" pos="29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C1"/>
    <a:srgbClr val="0A64B6"/>
    <a:srgbClr val="D2FAD7"/>
    <a:srgbClr val="F9D3D3"/>
    <a:srgbClr val="C4F4C9"/>
    <a:srgbClr val="1259AE"/>
    <a:srgbClr val="3366FF"/>
    <a:srgbClr val="0631BA"/>
    <a:srgbClr val="F3DFC5"/>
    <a:srgbClr val="C3D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2" autoAdjust="0"/>
    <p:restoredTop sz="71831" autoAdjust="0"/>
  </p:normalViewPr>
  <p:slideViewPr>
    <p:cSldViewPr>
      <p:cViewPr varScale="1">
        <p:scale>
          <a:sx n="82" d="100"/>
          <a:sy n="82" d="100"/>
        </p:scale>
        <p:origin x="2672" y="176"/>
      </p:cViewPr>
      <p:guideLst>
        <p:guide orient="horz" pos="3695"/>
        <p:guide orient="horz" pos="240"/>
        <p:guide pos="5470"/>
        <p:guide pos="290"/>
      </p:guideLst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5480" y="184"/>
      </p:cViewPr>
      <p:guideLst>
        <p:guide orient="horz" pos="3223"/>
        <p:guide pos="2236"/>
      </p:guideLst>
    </p:cSldViewPr>
  </p:notesViewPr>
  <p:gridSpacing cx="152299" cy="15229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6/11/relationships/changesInfo" Target="changesInfos/changesInfo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hongming" userId="57b61de0-a4db-46da-bbdf-d2c5d7242f33" providerId="ADAL" clId="{8A742B74-C27D-A04D-8304-2BB9CFCBD287}"/>
    <pc:docChg chg="modSld">
      <pc:chgData name="Zhang, Zhongming" userId="57b61de0-a4db-46da-bbdf-d2c5d7242f33" providerId="ADAL" clId="{8A742B74-C27D-A04D-8304-2BB9CFCBD287}" dt="2024-08-24T13:35:58.319" v="3" actId="20577"/>
      <pc:docMkLst>
        <pc:docMk/>
      </pc:docMkLst>
      <pc:sldChg chg="modSp mod">
        <pc:chgData name="Zhang, Zhongming" userId="57b61de0-a4db-46da-bbdf-d2c5d7242f33" providerId="ADAL" clId="{8A742B74-C27D-A04D-8304-2BB9CFCBD287}" dt="2024-08-24T13:35:58.319" v="3" actId="20577"/>
        <pc:sldMkLst>
          <pc:docMk/>
          <pc:sldMk cId="0" sldId="256"/>
        </pc:sldMkLst>
        <pc:spChg chg="mod">
          <ac:chgData name="Zhang, Zhongming" userId="57b61de0-a4db-46da-bbdf-d2c5d7242f33" providerId="ADAL" clId="{8A742B74-C27D-A04D-8304-2BB9CFCBD287}" dt="2024-08-24T13:35:58.319" v="3" actId="20577"/>
          <ac:spMkLst>
            <pc:docMk/>
            <pc:sldMk cId="0" sldId="256"/>
            <ac:spMk id="6" creationId="{268932E2-1E9B-B040-A75F-301FB0ECD047}"/>
          </ac:spMkLst>
        </pc:spChg>
      </pc:sldChg>
    </pc:docChg>
  </pc:docChgLst>
  <pc:docChgLst>
    <pc:chgData name="Hasan" userId="c822c386-02ec-452f-9f8e-99a5f765bc4f" providerId="ADAL" clId="{ACF668E1-44B2-4C52-90D4-004DCE19BB01}"/>
    <pc:docChg chg="modSld">
      <pc:chgData name="Hasan" userId="c822c386-02ec-452f-9f8e-99a5f765bc4f" providerId="ADAL" clId="{ACF668E1-44B2-4C52-90D4-004DCE19BB01}" dt="2021-09-05T15:07:16.195" v="1" actId="1076"/>
      <pc:docMkLst>
        <pc:docMk/>
      </pc:docMkLst>
      <pc:sldChg chg="modSp mod">
        <pc:chgData name="Hasan" userId="c822c386-02ec-452f-9f8e-99a5f765bc4f" providerId="ADAL" clId="{ACF668E1-44B2-4C52-90D4-004DCE19BB01}" dt="2021-09-05T15:07:16.195" v="1" actId="1076"/>
        <pc:sldMkLst>
          <pc:docMk/>
          <pc:sldMk cId="0" sldId="256"/>
        </pc:sldMkLst>
        <pc:spChg chg="mod">
          <ac:chgData name="Hasan" userId="c822c386-02ec-452f-9f8e-99a5f765bc4f" providerId="ADAL" clId="{ACF668E1-44B2-4C52-90D4-004DCE19BB01}" dt="2021-09-05T15:07:16.195" v="1" actId="1076"/>
          <ac:spMkLst>
            <pc:docMk/>
            <pc:sldMk cId="0" sldId="256"/>
            <ac:spMk id="6" creationId="{268932E2-1E9B-B040-A75F-301FB0ECD047}"/>
          </ac:spMkLst>
        </pc:spChg>
      </pc:sldChg>
    </pc:docChg>
  </pc:docChgLst>
  <pc:docChgLst>
    <pc:chgData name="Aspinall, Michael (aspinamd)" userId="d7ec7fe5-6250-46b1-aa1f-18e7ea1c8058" providerId="ADAL" clId="{40ADC727-3B3C-EF4E-9722-246F52D779B9}"/>
    <pc:docChg chg="modSld">
      <pc:chgData name="Aspinall, Michael (aspinamd)" userId="d7ec7fe5-6250-46b1-aa1f-18e7ea1c8058" providerId="ADAL" clId="{40ADC727-3B3C-EF4E-9722-246F52D779B9}" dt="2020-09-02T14:32:00.685" v="81"/>
      <pc:docMkLst>
        <pc:docMk/>
      </pc:docMkLst>
      <pc:sldChg chg="addSp modSp modTransition">
        <pc:chgData name="Aspinall, Michael (aspinamd)" userId="d7ec7fe5-6250-46b1-aa1f-18e7ea1c8058" providerId="ADAL" clId="{40ADC727-3B3C-EF4E-9722-246F52D779B9}" dt="2020-09-02T13:46:42.702" v="65"/>
        <pc:sldMkLst>
          <pc:docMk/>
          <pc:sldMk cId="0" sldId="256"/>
        </pc:sldMkLst>
        <pc:picChg chg="add mod">
          <ac:chgData name="Aspinall, Michael (aspinamd)" userId="d7ec7fe5-6250-46b1-aa1f-18e7ea1c8058" providerId="ADAL" clId="{40ADC727-3B3C-EF4E-9722-246F52D779B9}" dt="2020-09-02T13:46:42.702" v="65"/>
          <ac:picMkLst>
            <pc:docMk/>
            <pc:sldMk cId="0" sldId="256"/>
            <ac:picMk id="2" creationId="{BD2AF4DF-3645-B441-871D-BBFCA2AEAEDF}"/>
          </ac:picMkLst>
        </pc:picChg>
      </pc:sldChg>
      <pc:sldChg chg="addSp delSp modSp modTransition modNotesTx">
        <pc:chgData name="Aspinall, Michael (aspinamd)" userId="d7ec7fe5-6250-46b1-aa1f-18e7ea1c8058" providerId="ADAL" clId="{40ADC727-3B3C-EF4E-9722-246F52D779B9}" dt="2020-09-02T14:32:00.685" v="81"/>
        <pc:sldMkLst>
          <pc:docMk/>
          <pc:sldMk cId="3859119870" sldId="516"/>
        </pc:sldMkLst>
        <pc:picChg chg="add del mod">
          <ac:chgData name="Aspinall, Michael (aspinamd)" userId="d7ec7fe5-6250-46b1-aa1f-18e7ea1c8058" providerId="ADAL" clId="{40ADC727-3B3C-EF4E-9722-246F52D779B9}" dt="2020-09-02T14:30:17.652" v="79"/>
          <ac:picMkLst>
            <pc:docMk/>
            <pc:sldMk cId="3859119870" sldId="516"/>
            <ac:picMk id="5" creationId="{121F3410-6CFD-FF49-93D4-7E1A0DE9DAE2}"/>
          </ac:picMkLst>
        </pc:picChg>
        <pc:picChg chg="add del mod">
          <ac:chgData name="Aspinall, Michael (aspinamd)" userId="d7ec7fe5-6250-46b1-aa1f-18e7ea1c8058" providerId="ADAL" clId="{40ADC727-3B3C-EF4E-9722-246F52D779B9}" dt="2020-09-02T14:30:48.525" v="80"/>
          <ac:picMkLst>
            <pc:docMk/>
            <pc:sldMk cId="3859119870" sldId="516"/>
            <ac:picMk id="6" creationId="{A96D0534-8C32-8C4E-8AA5-0AF38945B901}"/>
          </ac:picMkLst>
        </pc:picChg>
        <pc:picChg chg="add del mod">
          <ac:chgData name="Aspinall, Michael (aspinamd)" userId="d7ec7fe5-6250-46b1-aa1f-18e7ea1c8058" providerId="ADAL" clId="{40ADC727-3B3C-EF4E-9722-246F52D779B9}" dt="2020-09-02T14:32:00.685" v="81"/>
          <ac:picMkLst>
            <pc:docMk/>
            <pc:sldMk cId="3859119870" sldId="516"/>
            <ac:picMk id="7" creationId="{45616774-D1FF-0747-A673-20FDD7CD8990}"/>
          </ac:picMkLst>
        </pc:picChg>
        <pc:picChg chg="add mod">
          <ac:chgData name="Aspinall, Michael (aspinamd)" userId="d7ec7fe5-6250-46b1-aa1f-18e7ea1c8058" providerId="ADAL" clId="{40ADC727-3B3C-EF4E-9722-246F52D779B9}" dt="2020-09-02T14:32:00.685" v="81"/>
          <ac:picMkLst>
            <pc:docMk/>
            <pc:sldMk cId="3859119870" sldId="516"/>
            <ac:picMk id="9" creationId="{77725606-CA07-004F-9919-B8CFF783C288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4:12:40.628" v="72"/>
        <pc:sldMkLst>
          <pc:docMk/>
          <pc:sldMk cId="47530014" sldId="525"/>
        </pc:sldMkLst>
        <pc:picChg chg="add del mod">
          <ac:chgData name="Aspinall, Michael (aspinamd)" userId="d7ec7fe5-6250-46b1-aa1f-18e7ea1c8058" providerId="ADAL" clId="{40ADC727-3B3C-EF4E-9722-246F52D779B9}" dt="2020-09-02T14:12:40.628" v="72"/>
          <ac:picMkLst>
            <pc:docMk/>
            <pc:sldMk cId="47530014" sldId="525"/>
            <ac:picMk id="10" creationId="{E7B8CB73-43B7-9342-B54B-F4B2BC84EAA8}"/>
          </ac:picMkLst>
        </pc:picChg>
        <pc:picChg chg="add mod">
          <ac:chgData name="Aspinall, Michael (aspinamd)" userId="d7ec7fe5-6250-46b1-aa1f-18e7ea1c8058" providerId="ADAL" clId="{40ADC727-3B3C-EF4E-9722-246F52D779B9}" dt="2020-09-02T14:12:40.628" v="72"/>
          <ac:picMkLst>
            <pc:docMk/>
            <pc:sldMk cId="47530014" sldId="525"/>
            <ac:picMk id="15" creationId="{D47A07ED-94D5-6149-A5F1-64613B533055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3:54:53.874" v="68"/>
        <pc:sldMkLst>
          <pc:docMk/>
          <pc:sldMk cId="3412784441" sldId="541"/>
        </pc:sldMkLst>
        <pc:picChg chg="add del mod">
          <ac:chgData name="Aspinall, Michael (aspinamd)" userId="d7ec7fe5-6250-46b1-aa1f-18e7ea1c8058" providerId="ADAL" clId="{40ADC727-3B3C-EF4E-9722-246F52D779B9}" dt="2020-09-02T13:50:24.921" v="67"/>
          <ac:picMkLst>
            <pc:docMk/>
            <pc:sldMk cId="3412784441" sldId="541"/>
            <ac:picMk id="3" creationId="{D77FD750-4E3B-CA4C-B34E-8E33D74CF647}"/>
          </ac:picMkLst>
        </pc:picChg>
        <pc:picChg chg="add del mod">
          <ac:chgData name="Aspinall, Michael (aspinamd)" userId="d7ec7fe5-6250-46b1-aa1f-18e7ea1c8058" providerId="ADAL" clId="{40ADC727-3B3C-EF4E-9722-246F52D779B9}" dt="2020-09-02T13:54:53.874" v="68"/>
          <ac:picMkLst>
            <pc:docMk/>
            <pc:sldMk cId="3412784441" sldId="541"/>
            <ac:picMk id="7" creationId="{06507053-D76F-8B4B-BE9B-9AA3A7FB15C8}"/>
          </ac:picMkLst>
        </pc:picChg>
        <pc:picChg chg="add mod">
          <ac:chgData name="Aspinall, Michael (aspinamd)" userId="d7ec7fe5-6250-46b1-aa1f-18e7ea1c8058" providerId="ADAL" clId="{40ADC727-3B3C-EF4E-9722-246F52D779B9}" dt="2020-09-02T13:54:53.874" v="68"/>
          <ac:picMkLst>
            <pc:docMk/>
            <pc:sldMk cId="3412784441" sldId="541"/>
            <ac:picMk id="9" creationId="{86A79ED4-F0CC-9F44-924B-F0F099A283DD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3:59:57.928" v="70"/>
        <pc:sldMkLst>
          <pc:docMk/>
          <pc:sldMk cId="1525757466" sldId="550"/>
        </pc:sldMkLst>
        <pc:picChg chg="add del mod">
          <ac:chgData name="Aspinall, Michael (aspinamd)" userId="d7ec7fe5-6250-46b1-aa1f-18e7ea1c8058" providerId="ADAL" clId="{40ADC727-3B3C-EF4E-9722-246F52D779B9}" dt="2020-09-02T13:59:57.928" v="70"/>
          <ac:picMkLst>
            <pc:docMk/>
            <pc:sldMk cId="1525757466" sldId="550"/>
            <ac:picMk id="2" creationId="{722A51A1-E971-CF40-A0F0-2669BADB60D5}"/>
          </ac:picMkLst>
        </pc:picChg>
        <pc:picChg chg="add mod">
          <ac:chgData name="Aspinall, Michael (aspinamd)" userId="d7ec7fe5-6250-46b1-aa1f-18e7ea1c8058" providerId="ADAL" clId="{40ADC727-3B3C-EF4E-9722-246F52D779B9}" dt="2020-09-02T13:59:57.928" v="70"/>
          <ac:picMkLst>
            <pc:docMk/>
            <pc:sldMk cId="1525757466" sldId="550"/>
            <ac:picMk id="3" creationId="{D097E5AA-C6BA-E343-85C7-1ACE86E7A6B2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4:07:01.271" v="71"/>
        <pc:sldMkLst>
          <pc:docMk/>
          <pc:sldMk cId="18561503" sldId="552"/>
        </pc:sldMkLst>
        <pc:picChg chg="add del mod">
          <ac:chgData name="Aspinall, Michael (aspinamd)" userId="d7ec7fe5-6250-46b1-aa1f-18e7ea1c8058" providerId="ADAL" clId="{40ADC727-3B3C-EF4E-9722-246F52D779B9}" dt="2020-09-02T14:07:01.271" v="71"/>
          <ac:picMkLst>
            <pc:docMk/>
            <pc:sldMk cId="18561503" sldId="552"/>
            <ac:picMk id="3" creationId="{17BD600D-7884-8549-89D4-85A2409A3D38}"/>
          </ac:picMkLst>
        </pc:picChg>
        <pc:picChg chg="add mod">
          <ac:chgData name="Aspinall, Michael (aspinamd)" userId="d7ec7fe5-6250-46b1-aa1f-18e7ea1c8058" providerId="ADAL" clId="{40ADC727-3B3C-EF4E-9722-246F52D779B9}" dt="2020-09-02T14:07:01.271" v="71"/>
          <ac:picMkLst>
            <pc:docMk/>
            <pc:sldMk cId="18561503" sldId="552"/>
            <ac:picMk id="6" creationId="{D926804F-D7D8-2942-885D-394852C7A9E1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3:59:57.928" v="70"/>
        <pc:sldMkLst>
          <pc:docMk/>
          <pc:sldMk cId="609961677" sldId="553"/>
        </pc:sldMkLst>
        <pc:picChg chg="add mod">
          <ac:chgData name="Aspinall, Michael (aspinamd)" userId="d7ec7fe5-6250-46b1-aa1f-18e7ea1c8058" providerId="ADAL" clId="{40ADC727-3B3C-EF4E-9722-246F52D779B9}" dt="2020-09-02T13:59:57.928" v="70"/>
          <ac:picMkLst>
            <pc:docMk/>
            <pc:sldMk cId="609961677" sldId="553"/>
            <ac:picMk id="2" creationId="{284128D0-D9C7-7647-AD1A-685C7F213E41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4:21:32.814" v="75"/>
        <pc:sldMkLst>
          <pc:docMk/>
          <pc:sldMk cId="345009997" sldId="555"/>
        </pc:sldMkLst>
        <pc:picChg chg="add del mod">
          <ac:chgData name="Aspinall, Michael (aspinamd)" userId="d7ec7fe5-6250-46b1-aa1f-18e7ea1c8058" providerId="ADAL" clId="{40ADC727-3B3C-EF4E-9722-246F52D779B9}" dt="2020-09-02T14:13:51.414" v="73"/>
          <ac:picMkLst>
            <pc:docMk/>
            <pc:sldMk cId="345009997" sldId="555"/>
            <ac:picMk id="5" creationId="{0808A358-34A7-AB4C-BE99-674DAA4247BC}"/>
          </ac:picMkLst>
        </pc:picChg>
        <pc:picChg chg="add del mod">
          <ac:chgData name="Aspinall, Michael (aspinamd)" userId="d7ec7fe5-6250-46b1-aa1f-18e7ea1c8058" providerId="ADAL" clId="{40ADC727-3B3C-EF4E-9722-246F52D779B9}" dt="2020-09-02T14:14:02.440" v="74"/>
          <ac:picMkLst>
            <pc:docMk/>
            <pc:sldMk cId="345009997" sldId="555"/>
            <ac:picMk id="6" creationId="{E8671A29-E472-4A4D-9F64-B3FE5A3381E4}"/>
          </ac:picMkLst>
        </pc:picChg>
        <pc:picChg chg="add del mod">
          <ac:chgData name="Aspinall, Michael (aspinamd)" userId="d7ec7fe5-6250-46b1-aa1f-18e7ea1c8058" providerId="ADAL" clId="{40ADC727-3B3C-EF4E-9722-246F52D779B9}" dt="2020-09-02T14:21:32.814" v="75"/>
          <ac:picMkLst>
            <pc:docMk/>
            <pc:sldMk cId="345009997" sldId="555"/>
            <ac:picMk id="37" creationId="{589A1BB7-95B3-3F46-A61A-72B4C07B425B}"/>
          </ac:picMkLst>
        </pc:picChg>
        <pc:picChg chg="add mod">
          <ac:chgData name="Aspinall, Michael (aspinamd)" userId="d7ec7fe5-6250-46b1-aa1f-18e7ea1c8058" providerId="ADAL" clId="{40ADC727-3B3C-EF4E-9722-246F52D779B9}" dt="2020-09-02T14:21:32.814" v="75"/>
          <ac:picMkLst>
            <pc:docMk/>
            <pc:sldMk cId="345009997" sldId="555"/>
            <ac:picMk id="38" creationId="{002FD6CD-60B8-7A44-977D-3E3331622833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4:12:40.628" v="72"/>
        <pc:sldMkLst>
          <pc:docMk/>
          <pc:sldMk cId="1502606849" sldId="556"/>
        </pc:sldMkLst>
        <pc:picChg chg="add mod">
          <ac:chgData name="Aspinall, Michael (aspinamd)" userId="d7ec7fe5-6250-46b1-aa1f-18e7ea1c8058" providerId="ADAL" clId="{40ADC727-3B3C-EF4E-9722-246F52D779B9}" dt="2020-09-02T14:12:40.628" v="72"/>
          <ac:picMkLst>
            <pc:docMk/>
            <pc:sldMk cId="1502606849" sldId="556"/>
            <ac:picMk id="3" creationId="{4B83EB04-E54C-2646-B2FA-1D34DC5BFC14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4:21:32.814" v="75"/>
        <pc:sldMkLst>
          <pc:docMk/>
          <pc:sldMk cId="3238312101" sldId="557"/>
        </pc:sldMkLst>
        <pc:picChg chg="add del mod">
          <ac:chgData name="Aspinall, Michael (aspinamd)" userId="d7ec7fe5-6250-46b1-aa1f-18e7ea1c8058" providerId="ADAL" clId="{40ADC727-3B3C-EF4E-9722-246F52D779B9}" dt="2020-09-02T14:21:32.814" v="75"/>
          <ac:picMkLst>
            <pc:docMk/>
            <pc:sldMk cId="3238312101" sldId="557"/>
            <ac:picMk id="3" creationId="{0ADC3E7F-0CE4-6640-877D-C5A253F1B73C}"/>
          </ac:picMkLst>
        </pc:picChg>
        <pc:picChg chg="add mod">
          <ac:chgData name="Aspinall, Michael (aspinamd)" userId="d7ec7fe5-6250-46b1-aa1f-18e7ea1c8058" providerId="ADAL" clId="{40ADC727-3B3C-EF4E-9722-246F52D779B9}" dt="2020-09-02T14:21:32.814" v="75"/>
          <ac:picMkLst>
            <pc:docMk/>
            <pc:sldMk cId="3238312101" sldId="557"/>
            <ac:picMk id="4" creationId="{1C32F966-6E94-7F43-A69D-6F52D609E7E7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4:21:32.814" v="75"/>
        <pc:sldMkLst>
          <pc:docMk/>
          <pc:sldMk cId="155664142" sldId="558"/>
        </pc:sldMkLst>
        <pc:picChg chg="add mod">
          <ac:chgData name="Aspinall, Michael (aspinamd)" userId="d7ec7fe5-6250-46b1-aa1f-18e7ea1c8058" providerId="ADAL" clId="{40ADC727-3B3C-EF4E-9722-246F52D779B9}" dt="2020-09-02T14:21:32.814" v="75"/>
          <ac:picMkLst>
            <pc:docMk/>
            <pc:sldMk cId="155664142" sldId="558"/>
            <ac:picMk id="3" creationId="{5A2FEC65-97FA-4C40-96C4-73D5875E1054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4:21:32.814" v="75"/>
        <pc:sldMkLst>
          <pc:docMk/>
          <pc:sldMk cId="3801160048" sldId="560"/>
        </pc:sldMkLst>
        <pc:picChg chg="add mod">
          <ac:chgData name="Aspinall, Michael (aspinamd)" userId="d7ec7fe5-6250-46b1-aa1f-18e7ea1c8058" providerId="ADAL" clId="{40ADC727-3B3C-EF4E-9722-246F52D779B9}" dt="2020-09-02T14:21:32.814" v="75"/>
          <ac:picMkLst>
            <pc:docMk/>
            <pc:sldMk cId="3801160048" sldId="560"/>
            <ac:picMk id="2" creationId="{E125C256-78AF-5644-9382-4AD022234C22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4:21:32.814" v="75"/>
        <pc:sldMkLst>
          <pc:docMk/>
          <pc:sldMk cId="214944985" sldId="563"/>
        </pc:sldMkLst>
        <pc:picChg chg="add mod">
          <ac:chgData name="Aspinall, Michael (aspinamd)" userId="d7ec7fe5-6250-46b1-aa1f-18e7ea1c8058" providerId="ADAL" clId="{40ADC727-3B3C-EF4E-9722-246F52D779B9}" dt="2020-09-02T14:21:32.814" v="75"/>
          <ac:picMkLst>
            <pc:docMk/>
            <pc:sldMk cId="214944985" sldId="563"/>
            <ac:picMk id="3" creationId="{A50BC337-4130-9343-8B38-841C857EE917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4:25:44.449" v="77"/>
        <pc:sldMkLst>
          <pc:docMk/>
          <pc:sldMk cId="3919254285" sldId="564"/>
        </pc:sldMkLst>
        <pc:picChg chg="add del mod">
          <ac:chgData name="Aspinall, Michael (aspinamd)" userId="d7ec7fe5-6250-46b1-aa1f-18e7ea1c8058" providerId="ADAL" clId="{40ADC727-3B3C-EF4E-9722-246F52D779B9}" dt="2020-09-02T14:24:03.446" v="76"/>
          <ac:picMkLst>
            <pc:docMk/>
            <pc:sldMk cId="3919254285" sldId="564"/>
            <ac:picMk id="2" creationId="{D3E45865-2B28-7B4B-8AE3-E837EA175570}"/>
          </ac:picMkLst>
        </pc:picChg>
        <pc:picChg chg="add del mod">
          <ac:chgData name="Aspinall, Michael (aspinamd)" userId="d7ec7fe5-6250-46b1-aa1f-18e7ea1c8058" providerId="ADAL" clId="{40ADC727-3B3C-EF4E-9722-246F52D779B9}" dt="2020-09-02T14:25:44.449" v="77"/>
          <ac:picMkLst>
            <pc:docMk/>
            <pc:sldMk cId="3919254285" sldId="564"/>
            <ac:picMk id="3" creationId="{9C5EFD8E-E445-634D-8B7A-D24B0EF47404}"/>
          </ac:picMkLst>
        </pc:picChg>
        <pc:picChg chg="add mod">
          <ac:chgData name="Aspinall, Michael (aspinamd)" userId="d7ec7fe5-6250-46b1-aa1f-18e7ea1c8058" providerId="ADAL" clId="{40ADC727-3B3C-EF4E-9722-246F52D779B9}" dt="2020-09-02T14:25:44.449" v="77"/>
          <ac:picMkLst>
            <pc:docMk/>
            <pc:sldMk cId="3919254285" sldId="564"/>
            <ac:picMk id="6" creationId="{946F50AB-BFBF-7A42-BC81-EB6CC72698A6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4:29:32.592" v="78"/>
        <pc:sldMkLst>
          <pc:docMk/>
          <pc:sldMk cId="670954492" sldId="565"/>
        </pc:sldMkLst>
        <pc:picChg chg="add mod">
          <ac:chgData name="Aspinall, Michael (aspinamd)" userId="d7ec7fe5-6250-46b1-aa1f-18e7ea1c8058" providerId="ADAL" clId="{40ADC727-3B3C-EF4E-9722-246F52D779B9}" dt="2020-09-02T14:29:32.592" v="78"/>
          <ac:picMkLst>
            <pc:docMk/>
            <pc:sldMk cId="670954492" sldId="565"/>
            <ac:picMk id="4" creationId="{EB7575C9-699A-A445-83A0-69DC50351897}"/>
          </ac:picMkLst>
        </pc:picChg>
      </pc:sldChg>
      <pc:sldChg chg="addSp delSp modSp mod modTransition">
        <pc:chgData name="Aspinall, Michael (aspinamd)" userId="d7ec7fe5-6250-46b1-aa1f-18e7ea1c8058" providerId="ADAL" clId="{40ADC727-3B3C-EF4E-9722-246F52D779B9}" dt="2020-09-02T14:24:03.446" v="76"/>
        <pc:sldMkLst>
          <pc:docMk/>
          <pc:sldMk cId="3533748705" sldId="567"/>
        </pc:sldMkLst>
        <pc:spChg chg="mod">
          <ac:chgData name="Aspinall, Michael (aspinamd)" userId="d7ec7fe5-6250-46b1-aa1f-18e7ea1c8058" providerId="ADAL" clId="{40ADC727-3B3C-EF4E-9722-246F52D779B9}" dt="2020-09-02T12:19:52.703" v="1" actId="20577"/>
          <ac:spMkLst>
            <pc:docMk/>
            <pc:sldMk cId="3533748705" sldId="567"/>
            <ac:spMk id="210" creationId="{00000000-0000-0000-0000-000000000000}"/>
          </ac:spMkLst>
        </pc:spChg>
        <pc:picChg chg="add del mod">
          <ac:chgData name="Aspinall, Michael (aspinamd)" userId="d7ec7fe5-6250-46b1-aa1f-18e7ea1c8058" providerId="ADAL" clId="{40ADC727-3B3C-EF4E-9722-246F52D779B9}" dt="2020-09-02T14:24:03.446" v="76"/>
          <ac:picMkLst>
            <pc:docMk/>
            <pc:sldMk cId="3533748705" sldId="567"/>
            <ac:picMk id="27" creationId="{CD21D7A1-096D-C44B-86E5-42066DF06107}"/>
          </ac:picMkLst>
        </pc:picChg>
        <pc:picChg chg="add mod">
          <ac:chgData name="Aspinall, Michael (aspinamd)" userId="d7ec7fe5-6250-46b1-aa1f-18e7ea1c8058" providerId="ADAL" clId="{40ADC727-3B3C-EF4E-9722-246F52D779B9}" dt="2020-09-02T14:24:03.446" v="76"/>
          <ac:picMkLst>
            <pc:docMk/>
            <pc:sldMk cId="3533748705" sldId="567"/>
            <ac:picMk id="28" creationId="{98F3A88D-EBD2-A04B-958F-A03820C6E333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4:32:00.685" v="81"/>
        <pc:sldMkLst>
          <pc:docMk/>
          <pc:sldMk cId="1135361511" sldId="570"/>
        </pc:sldMkLst>
        <pc:picChg chg="add del mod">
          <ac:chgData name="Aspinall, Michael (aspinamd)" userId="d7ec7fe5-6250-46b1-aa1f-18e7ea1c8058" providerId="ADAL" clId="{40ADC727-3B3C-EF4E-9722-246F52D779B9}" dt="2020-09-02T14:32:00.685" v="81"/>
          <ac:picMkLst>
            <pc:docMk/>
            <pc:sldMk cId="1135361511" sldId="570"/>
            <ac:picMk id="5" creationId="{2425CE21-2535-114D-A85F-6D2DF22C2137}"/>
          </ac:picMkLst>
        </pc:picChg>
        <pc:picChg chg="add mod">
          <ac:chgData name="Aspinall, Michael (aspinamd)" userId="d7ec7fe5-6250-46b1-aa1f-18e7ea1c8058" providerId="ADAL" clId="{40ADC727-3B3C-EF4E-9722-246F52D779B9}" dt="2020-09-02T14:32:00.685" v="81"/>
          <ac:picMkLst>
            <pc:docMk/>
            <pc:sldMk cId="1135361511" sldId="570"/>
            <ac:picMk id="6" creationId="{75937483-9921-B54E-BBD9-ECA1818DADFD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3:46:42.702" v="65"/>
        <pc:sldMkLst>
          <pc:docMk/>
          <pc:sldMk cId="3879732373" sldId="572"/>
        </pc:sldMkLst>
        <pc:picChg chg="add mod">
          <ac:chgData name="Aspinall, Michael (aspinamd)" userId="d7ec7fe5-6250-46b1-aa1f-18e7ea1c8058" providerId="ADAL" clId="{40ADC727-3B3C-EF4E-9722-246F52D779B9}" dt="2020-09-02T13:46:42.702" v="65"/>
          <ac:picMkLst>
            <pc:docMk/>
            <pc:sldMk cId="3879732373" sldId="572"/>
            <ac:picMk id="5" creationId="{95B7DB6C-B420-4C48-B2DC-D5476ABF3ACF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3:47:44.524" v="66"/>
        <pc:sldMkLst>
          <pc:docMk/>
          <pc:sldMk cId="524087386" sldId="573"/>
        </pc:sldMkLst>
        <pc:picChg chg="add del mod">
          <ac:chgData name="Aspinall, Michael (aspinamd)" userId="d7ec7fe5-6250-46b1-aa1f-18e7ea1c8058" providerId="ADAL" clId="{40ADC727-3B3C-EF4E-9722-246F52D779B9}" dt="2020-09-02T13:47:44.524" v="66"/>
          <ac:picMkLst>
            <pc:docMk/>
            <pc:sldMk cId="524087386" sldId="573"/>
            <ac:picMk id="2" creationId="{35F55277-3C18-6F46-BB31-B4DD62D021E7}"/>
          </ac:picMkLst>
        </pc:picChg>
        <pc:picChg chg="add mod">
          <ac:chgData name="Aspinall, Michael (aspinamd)" userId="d7ec7fe5-6250-46b1-aa1f-18e7ea1c8058" providerId="ADAL" clId="{40ADC727-3B3C-EF4E-9722-246F52D779B9}" dt="2020-09-02T13:47:44.524" v="66"/>
          <ac:picMkLst>
            <pc:docMk/>
            <pc:sldMk cId="524087386" sldId="573"/>
            <ac:picMk id="3" creationId="{ECB95CCD-053A-3344-9DD0-37AFA7E89419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4:12:40.628" v="72"/>
        <pc:sldMkLst>
          <pc:docMk/>
          <pc:sldMk cId="3908112774" sldId="574"/>
        </pc:sldMkLst>
        <pc:picChg chg="add mod">
          <ac:chgData name="Aspinall, Michael (aspinamd)" userId="d7ec7fe5-6250-46b1-aa1f-18e7ea1c8058" providerId="ADAL" clId="{40ADC727-3B3C-EF4E-9722-246F52D779B9}" dt="2020-09-02T14:12:40.628" v="72"/>
          <ac:picMkLst>
            <pc:docMk/>
            <pc:sldMk cId="3908112774" sldId="574"/>
            <ac:picMk id="5" creationId="{A1F4EBDC-1DFE-B84E-9406-B4377147A5AF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3:54:53.874" v="68"/>
        <pc:sldMkLst>
          <pc:docMk/>
          <pc:sldMk cId="2787958292" sldId="575"/>
        </pc:sldMkLst>
        <pc:picChg chg="add del mod">
          <ac:chgData name="Aspinall, Michael (aspinamd)" userId="d7ec7fe5-6250-46b1-aa1f-18e7ea1c8058" providerId="ADAL" clId="{40ADC727-3B3C-EF4E-9722-246F52D779B9}" dt="2020-09-02T13:54:53.874" v="68"/>
          <ac:picMkLst>
            <pc:docMk/>
            <pc:sldMk cId="2787958292" sldId="575"/>
            <ac:picMk id="3" creationId="{67E76A90-CEA4-BA47-A939-87EE9123B080}"/>
          </ac:picMkLst>
        </pc:picChg>
        <pc:picChg chg="add mod">
          <ac:chgData name="Aspinall, Michael (aspinamd)" userId="d7ec7fe5-6250-46b1-aa1f-18e7ea1c8058" providerId="ADAL" clId="{40ADC727-3B3C-EF4E-9722-246F52D779B9}" dt="2020-09-02T13:54:53.874" v="68"/>
          <ac:picMkLst>
            <pc:docMk/>
            <pc:sldMk cId="2787958292" sldId="575"/>
            <ac:picMk id="7" creationId="{B507833D-003B-C94B-B245-43A0488F6093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3:54:53.874" v="68"/>
        <pc:sldMkLst>
          <pc:docMk/>
          <pc:sldMk cId="3543961386" sldId="576"/>
        </pc:sldMkLst>
        <pc:picChg chg="add mod">
          <ac:chgData name="Aspinall, Michael (aspinamd)" userId="d7ec7fe5-6250-46b1-aa1f-18e7ea1c8058" providerId="ADAL" clId="{40ADC727-3B3C-EF4E-9722-246F52D779B9}" dt="2020-09-02T13:54:53.874" v="68"/>
          <ac:picMkLst>
            <pc:docMk/>
            <pc:sldMk cId="3543961386" sldId="576"/>
            <ac:picMk id="5" creationId="{9E86E445-BB30-9E43-900F-200EF92E07D0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3:58:13.404" v="69"/>
        <pc:sldMkLst>
          <pc:docMk/>
          <pc:sldMk cId="399976801" sldId="577"/>
        </pc:sldMkLst>
        <pc:picChg chg="add del mod">
          <ac:chgData name="Aspinall, Michael (aspinamd)" userId="d7ec7fe5-6250-46b1-aa1f-18e7ea1c8058" providerId="ADAL" clId="{40ADC727-3B3C-EF4E-9722-246F52D779B9}" dt="2020-09-02T13:58:13.404" v="69"/>
          <ac:picMkLst>
            <pc:docMk/>
            <pc:sldMk cId="399976801" sldId="577"/>
            <ac:picMk id="3" creationId="{828C1263-53B8-264B-BA1A-878FC7C6B622}"/>
          </ac:picMkLst>
        </pc:picChg>
        <pc:picChg chg="add mod">
          <ac:chgData name="Aspinall, Michael (aspinamd)" userId="d7ec7fe5-6250-46b1-aa1f-18e7ea1c8058" providerId="ADAL" clId="{40ADC727-3B3C-EF4E-9722-246F52D779B9}" dt="2020-09-02T13:58:13.404" v="69"/>
          <ac:picMkLst>
            <pc:docMk/>
            <pc:sldMk cId="399976801" sldId="577"/>
            <ac:picMk id="13" creationId="{FEB543BE-E5B4-D841-B1ED-C7C25C4CD8EA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4:21:32.814" v="75"/>
        <pc:sldMkLst>
          <pc:docMk/>
          <pc:sldMk cId="3411340844" sldId="579"/>
        </pc:sldMkLst>
        <pc:picChg chg="add mod">
          <ac:chgData name="Aspinall, Michael (aspinamd)" userId="d7ec7fe5-6250-46b1-aa1f-18e7ea1c8058" providerId="ADAL" clId="{40ADC727-3B3C-EF4E-9722-246F52D779B9}" dt="2020-09-02T14:21:32.814" v="75"/>
          <ac:picMkLst>
            <pc:docMk/>
            <pc:sldMk cId="3411340844" sldId="579"/>
            <ac:picMk id="2" creationId="{680601A1-9DFE-A746-B75E-36EA077C9F3F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4:21:32.814" v="75"/>
        <pc:sldMkLst>
          <pc:docMk/>
          <pc:sldMk cId="2236210750" sldId="580"/>
        </pc:sldMkLst>
        <pc:picChg chg="add mod">
          <ac:chgData name="Aspinall, Michael (aspinamd)" userId="d7ec7fe5-6250-46b1-aa1f-18e7ea1c8058" providerId="ADAL" clId="{40ADC727-3B3C-EF4E-9722-246F52D779B9}" dt="2020-09-02T14:21:32.814" v="75"/>
          <ac:picMkLst>
            <pc:docMk/>
            <pc:sldMk cId="2236210750" sldId="580"/>
            <ac:picMk id="2" creationId="{DEEE421C-B9AF-DE4A-8AF9-ECD9E40F349F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4:21:32.814" v="75"/>
        <pc:sldMkLst>
          <pc:docMk/>
          <pc:sldMk cId="1148238244" sldId="581"/>
        </pc:sldMkLst>
        <pc:picChg chg="add mod">
          <ac:chgData name="Aspinall, Michael (aspinamd)" userId="d7ec7fe5-6250-46b1-aa1f-18e7ea1c8058" providerId="ADAL" clId="{40ADC727-3B3C-EF4E-9722-246F52D779B9}" dt="2020-09-02T14:21:32.814" v="75"/>
          <ac:picMkLst>
            <pc:docMk/>
            <pc:sldMk cId="1148238244" sldId="581"/>
            <ac:picMk id="2" creationId="{11778CB1-9E6C-2448-9622-FD2033443455}"/>
          </ac:picMkLst>
        </pc:picChg>
      </pc:sldChg>
      <pc:sldChg chg="addSp delSp modSp modTransition">
        <pc:chgData name="Aspinall, Michael (aspinamd)" userId="d7ec7fe5-6250-46b1-aa1f-18e7ea1c8058" providerId="ADAL" clId="{40ADC727-3B3C-EF4E-9722-246F52D779B9}" dt="2020-09-02T14:29:32.592" v="78"/>
        <pc:sldMkLst>
          <pc:docMk/>
          <pc:sldMk cId="2913518954" sldId="583"/>
        </pc:sldMkLst>
        <pc:picChg chg="add del mod">
          <ac:chgData name="Aspinall, Michael (aspinamd)" userId="d7ec7fe5-6250-46b1-aa1f-18e7ea1c8058" providerId="ADAL" clId="{40ADC727-3B3C-EF4E-9722-246F52D779B9}" dt="2020-09-02T14:29:32.592" v="78"/>
          <ac:picMkLst>
            <pc:docMk/>
            <pc:sldMk cId="2913518954" sldId="583"/>
            <ac:picMk id="2" creationId="{D1B7CF98-94ED-9445-A604-2F79D040F7B4}"/>
          </ac:picMkLst>
        </pc:picChg>
        <pc:picChg chg="add mod">
          <ac:chgData name="Aspinall, Michael (aspinamd)" userId="d7ec7fe5-6250-46b1-aa1f-18e7ea1c8058" providerId="ADAL" clId="{40ADC727-3B3C-EF4E-9722-246F52D779B9}" dt="2020-09-02T14:29:32.592" v="78"/>
          <ac:picMkLst>
            <pc:docMk/>
            <pc:sldMk cId="2913518954" sldId="583"/>
            <ac:picMk id="3" creationId="{6A667309-0531-7E47-B330-CA866AE3B7DA}"/>
          </ac:picMkLst>
        </pc:picChg>
      </pc:sldChg>
      <pc:sldChg chg="addSp modSp modTransition">
        <pc:chgData name="Aspinall, Michael (aspinamd)" userId="d7ec7fe5-6250-46b1-aa1f-18e7ea1c8058" providerId="ADAL" clId="{40ADC727-3B3C-EF4E-9722-246F52D779B9}" dt="2020-09-02T14:29:32.592" v="78"/>
        <pc:sldMkLst>
          <pc:docMk/>
          <pc:sldMk cId="4078726754" sldId="584"/>
        </pc:sldMkLst>
        <pc:picChg chg="add mod">
          <ac:chgData name="Aspinall, Michael (aspinamd)" userId="d7ec7fe5-6250-46b1-aa1f-18e7ea1c8058" providerId="ADAL" clId="{40ADC727-3B3C-EF4E-9722-246F52D779B9}" dt="2020-09-02T14:29:32.592" v="78"/>
          <ac:picMkLst>
            <pc:docMk/>
            <pc:sldMk cId="4078726754" sldId="584"/>
            <ac:picMk id="3" creationId="{62F6A19C-CA80-EA42-A1B1-527F5F89C3BD}"/>
          </ac:picMkLst>
        </pc:picChg>
      </pc:sldChg>
    </pc:docChg>
  </pc:docChgLst>
  <pc:docChgLst>
    <pc:chgData name="Zhang, Zhongming" userId="57b61de0-a4db-46da-bbdf-d2c5d7242f33" providerId="ADAL" clId="{A5E1CEEC-4593-454F-9F67-CAEF5D5842D7}"/>
    <pc:docChg chg="custSel modSld">
      <pc:chgData name="Zhang, Zhongming" userId="57b61de0-a4db-46da-bbdf-d2c5d7242f33" providerId="ADAL" clId="{A5E1CEEC-4593-454F-9F67-CAEF5D5842D7}" dt="2022-08-26T12:22:59.006" v="106" actId="478"/>
      <pc:docMkLst>
        <pc:docMk/>
      </pc:docMkLst>
      <pc:sldChg chg="delSp modSp mod delAnim">
        <pc:chgData name="Zhang, Zhongming" userId="57b61de0-a4db-46da-bbdf-d2c5d7242f33" providerId="ADAL" clId="{A5E1CEEC-4593-454F-9F67-CAEF5D5842D7}" dt="2022-08-26T12:22:08.004" v="79" actId="478"/>
        <pc:sldMkLst>
          <pc:docMk/>
          <pc:sldMk cId="0" sldId="256"/>
        </pc:sldMkLst>
        <pc:spChg chg="mod">
          <ac:chgData name="Zhang, Zhongming" userId="57b61de0-a4db-46da-bbdf-d2c5d7242f33" providerId="ADAL" clId="{A5E1CEEC-4593-454F-9F67-CAEF5D5842D7}" dt="2022-08-26T12:21:59.257" v="78" actId="20577"/>
          <ac:spMkLst>
            <pc:docMk/>
            <pc:sldMk cId="0" sldId="256"/>
            <ac:spMk id="6" creationId="{268932E2-1E9B-B040-A75F-301FB0ECD047}"/>
          </ac:spMkLst>
        </pc:spChg>
        <pc:picChg chg="del">
          <ac:chgData name="Zhang, Zhongming" userId="57b61de0-a4db-46da-bbdf-d2c5d7242f33" providerId="ADAL" clId="{A5E1CEEC-4593-454F-9F67-CAEF5D5842D7}" dt="2022-08-26T12:22:08.004" v="79" actId="478"/>
          <ac:picMkLst>
            <pc:docMk/>
            <pc:sldMk cId="0" sldId="256"/>
            <ac:picMk id="2" creationId="{BD2AF4DF-3645-B441-871D-BBFCA2AEAEDF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57.061" v="105" actId="478"/>
        <pc:sldMkLst>
          <pc:docMk/>
          <pc:sldMk cId="3859119870" sldId="516"/>
        </pc:sldMkLst>
        <pc:picChg chg="del">
          <ac:chgData name="Zhang, Zhongming" userId="57b61de0-a4db-46da-bbdf-d2c5d7242f33" providerId="ADAL" clId="{A5E1CEEC-4593-454F-9F67-CAEF5D5842D7}" dt="2022-08-26T12:22:57.061" v="105" actId="478"/>
          <ac:picMkLst>
            <pc:docMk/>
            <pc:sldMk cId="3859119870" sldId="516"/>
            <ac:picMk id="9" creationId="{77725606-CA07-004F-9919-B8CFF783C288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31.276" v="89" actId="478"/>
        <pc:sldMkLst>
          <pc:docMk/>
          <pc:sldMk cId="47530014" sldId="525"/>
        </pc:sldMkLst>
        <pc:picChg chg="del">
          <ac:chgData name="Zhang, Zhongming" userId="57b61de0-a4db-46da-bbdf-d2c5d7242f33" providerId="ADAL" clId="{A5E1CEEC-4593-454F-9F67-CAEF5D5842D7}" dt="2022-08-26T12:22:31.276" v="89" actId="478"/>
          <ac:picMkLst>
            <pc:docMk/>
            <pc:sldMk cId="47530014" sldId="525"/>
            <ac:picMk id="15" creationId="{D47A07ED-94D5-6149-A5F1-64613B533055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13.949" v="82" actId="478"/>
        <pc:sldMkLst>
          <pc:docMk/>
          <pc:sldMk cId="3412784441" sldId="541"/>
        </pc:sldMkLst>
        <pc:picChg chg="del">
          <ac:chgData name="Zhang, Zhongming" userId="57b61de0-a4db-46da-bbdf-d2c5d7242f33" providerId="ADAL" clId="{A5E1CEEC-4593-454F-9F67-CAEF5D5842D7}" dt="2022-08-26T12:22:13.949" v="82" actId="478"/>
          <ac:picMkLst>
            <pc:docMk/>
            <pc:sldMk cId="3412784441" sldId="541"/>
            <ac:picMk id="9" creationId="{86A79ED4-F0CC-9F44-924B-F0F099A283DD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24.996" v="86" actId="478"/>
        <pc:sldMkLst>
          <pc:docMk/>
          <pc:sldMk cId="1525757466" sldId="550"/>
        </pc:sldMkLst>
        <pc:picChg chg="del">
          <ac:chgData name="Zhang, Zhongming" userId="57b61de0-a4db-46da-bbdf-d2c5d7242f33" providerId="ADAL" clId="{A5E1CEEC-4593-454F-9F67-CAEF5D5842D7}" dt="2022-08-26T12:22:24.996" v="86" actId="478"/>
          <ac:picMkLst>
            <pc:docMk/>
            <pc:sldMk cId="1525757466" sldId="550"/>
            <ac:picMk id="3" creationId="{D097E5AA-C6BA-E343-85C7-1ACE86E7A6B2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28.711" v="88" actId="478"/>
        <pc:sldMkLst>
          <pc:docMk/>
          <pc:sldMk cId="18561503" sldId="552"/>
        </pc:sldMkLst>
        <pc:picChg chg="del">
          <ac:chgData name="Zhang, Zhongming" userId="57b61de0-a4db-46da-bbdf-d2c5d7242f33" providerId="ADAL" clId="{A5E1CEEC-4593-454F-9F67-CAEF5D5842D7}" dt="2022-08-26T12:22:28.711" v="88" actId="478"/>
          <ac:picMkLst>
            <pc:docMk/>
            <pc:sldMk cId="18561503" sldId="552"/>
            <ac:picMk id="6" creationId="{D926804F-D7D8-2942-885D-394852C7A9E1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26.812" v="87" actId="478"/>
        <pc:sldMkLst>
          <pc:docMk/>
          <pc:sldMk cId="609961677" sldId="553"/>
        </pc:sldMkLst>
        <pc:picChg chg="del">
          <ac:chgData name="Zhang, Zhongming" userId="57b61de0-a4db-46da-bbdf-d2c5d7242f33" providerId="ADAL" clId="{A5E1CEEC-4593-454F-9F67-CAEF5D5842D7}" dt="2022-08-26T12:22:26.812" v="87" actId="478"/>
          <ac:picMkLst>
            <pc:docMk/>
            <pc:sldMk cId="609961677" sldId="553"/>
            <ac:picMk id="2" creationId="{284128D0-D9C7-7647-AD1A-685C7F213E41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36.760" v="92" actId="478"/>
        <pc:sldMkLst>
          <pc:docMk/>
          <pc:sldMk cId="345009997" sldId="555"/>
        </pc:sldMkLst>
        <pc:picChg chg="del">
          <ac:chgData name="Zhang, Zhongming" userId="57b61de0-a4db-46da-bbdf-d2c5d7242f33" providerId="ADAL" clId="{A5E1CEEC-4593-454F-9F67-CAEF5D5842D7}" dt="2022-08-26T12:22:36.760" v="92" actId="478"/>
          <ac:picMkLst>
            <pc:docMk/>
            <pc:sldMk cId="345009997" sldId="555"/>
            <ac:picMk id="38" creationId="{002FD6CD-60B8-7A44-977D-3E3331622833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34.656" v="91" actId="478"/>
        <pc:sldMkLst>
          <pc:docMk/>
          <pc:sldMk cId="1502606849" sldId="556"/>
        </pc:sldMkLst>
        <pc:picChg chg="del">
          <ac:chgData name="Zhang, Zhongming" userId="57b61de0-a4db-46da-bbdf-d2c5d7242f33" providerId="ADAL" clId="{A5E1CEEC-4593-454F-9F67-CAEF5D5842D7}" dt="2022-08-26T12:22:34.656" v="91" actId="478"/>
          <ac:picMkLst>
            <pc:docMk/>
            <pc:sldMk cId="1502606849" sldId="556"/>
            <ac:picMk id="3" creationId="{4B83EB04-E54C-2646-B2FA-1D34DC5BFC14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38.492" v="93" actId="478"/>
        <pc:sldMkLst>
          <pc:docMk/>
          <pc:sldMk cId="3238312101" sldId="557"/>
        </pc:sldMkLst>
        <pc:picChg chg="del">
          <ac:chgData name="Zhang, Zhongming" userId="57b61de0-a4db-46da-bbdf-d2c5d7242f33" providerId="ADAL" clId="{A5E1CEEC-4593-454F-9F67-CAEF5D5842D7}" dt="2022-08-26T12:22:38.492" v="93" actId="478"/>
          <ac:picMkLst>
            <pc:docMk/>
            <pc:sldMk cId="3238312101" sldId="557"/>
            <ac:picMk id="4" creationId="{1C32F966-6E94-7F43-A69D-6F52D609E7E7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40.062" v="94" actId="478"/>
        <pc:sldMkLst>
          <pc:docMk/>
          <pc:sldMk cId="155664142" sldId="558"/>
        </pc:sldMkLst>
        <pc:picChg chg="del">
          <ac:chgData name="Zhang, Zhongming" userId="57b61de0-a4db-46da-bbdf-d2c5d7242f33" providerId="ADAL" clId="{A5E1CEEC-4593-454F-9F67-CAEF5D5842D7}" dt="2022-08-26T12:22:40.062" v="94" actId="478"/>
          <ac:picMkLst>
            <pc:docMk/>
            <pc:sldMk cId="155664142" sldId="558"/>
            <ac:picMk id="3" creationId="{5A2FEC65-97FA-4C40-96C4-73D5875E1054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41.695" v="95" actId="478"/>
        <pc:sldMkLst>
          <pc:docMk/>
          <pc:sldMk cId="3801160048" sldId="560"/>
        </pc:sldMkLst>
        <pc:picChg chg="del">
          <ac:chgData name="Zhang, Zhongming" userId="57b61de0-a4db-46da-bbdf-d2c5d7242f33" providerId="ADAL" clId="{A5E1CEEC-4593-454F-9F67-CAEF5D5842D7}" dt="2022-08-26T12:22:41.695" v="95" actId="478"/>
          <ac:picMkLst>
            <pc:docMk/>
            <pc:sldMk cId="3801160048" sldId="560"/>
            <ac:picMk id="2" creationId="{E125C256-78AF-5644-9382-4AD022234C22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47.691" v="99" actId="478"/>
        <pc:sldMkLst>
          <pc:docMk/>
          <pc:sldMk cId="214944985" sldId="563"/>
        </pc:sldMkLst>
        <pc:picChg chg="del">
          <ac:chgData name="Zhang, Zhongming" userId="57b61de0-a4db-46da-bbdf-d2c5d7242f33" providerId="ADAL" clId="{A5E1CEEC-4593-454F-9F67-CAEF5D5842D7}" dt="2022-08-26T12:22:47.691" v="99" actId="478"/>
          <ac:picMkLst>
            <pc:docMk/>
            <pc:sldMk cId="214944985" sldId="563"/>
            <ac:picMk id="3" creationId="{A50BC337-4130-9343-8B38-841C857EE917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50.413" v="101" actId="478"/>
        <pc:sldMkLst>
          <pc:docMk/>
          <pc:sldMk cId="3919254285" sldId="564"/>
        </pc:sldMkLst>
        <pc:picChg chg="del">
          <ac:chgData name="Zhang, Zhongming" userId="57b61de0-a4db-46da-bbdf-d2c5d7242f33" providerId="ADAL" clId="{A5E1CEEC-4593-454F-9F67-CAEF5D5842D7}" dt="2022-08-26T12:22:50.413" v="101" actId="478"/>
          <ac:picMkLst>
            <pc:docMk/>
            <pc:sldMk cId="3919254285" sldId="564"/>
            <ac:picMk id="6" creationId="{946F50AB-BFBF-7A42-BC81-EB6CC72698A6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53.645" v="103" actId="478"/>
        <pc:sldMkLst>
          <pc:docMk/>
          <pc:sldMk cId="670954492" sldId="565"/>
        </pc:sldMkLst>
        <pc:picChg chg="del">
          <ac:chgData name="Zhang, Zhongming" userId="57b61de0-a4db-46da-bbdf-d2c5d7242f33" providerId="ADAL" clId="{A5E1CEEC-4593-454F-9F67-CAEF5D5842D7}" dt="2022-08-26T12:22:53.645" v="103" actId="478"/>
          <ac:picMkLst>
            <pc:docMk/>
            <pc:sldMk cId="670954492" sldId="565"/>
            <ac:picMk id="4" creationId="{EB7575C9-699A-A445-83A0-69DC50351897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49.096" v="100" actId="478"/>
        <pc:sldMkLst>
          <pc:docMk/>
          <pc:sldMk cId="3533748705" sldId="567"/>
        </pc:sldMkLst>
        <pc:picChg chg="del">
          <ac:chgData name="Zhang, Zhongming" userId="57b61de0-a4db-46da-bbdf-d2c5d7242f33" providerId="ADAL" clId="{A5E1CEEC-4593-454F-9F67-CAEF5D5842D7}" dt="2022-08-26T12:22:49.096" v="100" actId="478"/>
          <ac:picMkLst>
            <pc:docMk/>
            <pc:sldMk cId="3533748705" sldId="567"/>
            <ac:picMk id="28" creationId="{98F3A88D-EBD2-A04B-958F-A03820C6E333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59.006" v="106" actId="478"/>
        <pc:sldMkLst>
          <pc:docMk/>
          <pc:sldMk cId="1135361511" sldId="570"/>
        </pc:sldMkLst>
        <pc:picChg chg="del">
          <ac:chgData name="Zhang, Zhongming" userId="57b61de0-a4db-46da-bbdf-d2c5d7242f33" providerId="ADAL" clId="{A5E1CEEC-4593-454F-9F67-CAEF5D5842D7}" dt="2022-08-26T12:22:59.006" v="106" actId="478"/>
          <ac:picMkLst>
            <pc:docMk/>
            <pc:sldMk cId="1135361511" sldId="570"/>
            <ac:picMk id="6" creationId="{75937483-9921-B54E-BBD9-ECA1818DADFD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09.975" v="80" actId="478"/>
        <pc:sldMkLst>
          <pc:docMk/>
          <pc:sldMk cId="3879732373" sldId="572"/>
        </pc:sldMkLst>
        <pc:picChg chg="del">
          <ac:chgData name="Zhang, Zhongming" userId="57b61de0-a4db-46da-bbdf-d2c5d7242f33" providerId="ADAL" clId="{A5E1CEEC-4593-454F-9F67-CAEF5D5842D7}" dt="2022-08-26T12:22:09.975" v="80" actId="478"/>
          <ac:picMkLst>
            <pc:docMk/>
            <pc:sldMk cId="3879732373" sldId="572"/>
            <ac:picMk id="5" creationId="{95B7DB6C-B420-4C48-B2DC-D5476ABF3ACF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12.100" v="81" actId="478"/>
        <pc:sldMkLst>
          <pc:docMk/>
          <pc:sldMk cId="524087386" sldId="573"/>
        </pc:sldMkLst>
        <pc:picChg chg="del">
          <ac:chgData name="Zhang, Zhongming" userId="57b61de0-a4db-46da-bbdf-d2c5d7242f33" providerId="ADAL" clId="{A5E1CEEC-4593-454F-9F67-CAEF5D5842D7}" dt="2022-08-26T12:22:12.100" v="81" actId="478"/>
          <ac:picMkLst>
            <pc:docMk/>
            <pc:sldMk cId="524087386" sldId="573"/>
            <ac:picMk id="3" creationId="{ECB95CCD-053A-3344-9DD0-37AFA7E89419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33.065" v="90" actId="478"/>
        <pc:sldMkLst>
          <pc:docMk/>
          <pc:sldMk cId="3908112774" sldId="574"/>
        </pc:sldMkLst>
        <pc:picChg chg="del">
          <ac:chgData name="Zhang, Zhongming" userId="57b61de0-a4db-46da-bbdf-d2c5d7242f33" providerId="ADAL" clId="{A5E1CEEC-4593-454F-9F67-CAEF5D5842D7}" dt="2022-08-26T12:22:33.065" v="90" actId="478"/>
          <ac:picMkLst>
            <pc:docMk/>
            <pc:sldMk cId="3908112774" sldId="574"/>
            <ac:picMk id="5" creationId="{A1F4EBDC-1DFE-B84E-9406-B4377147A5AF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16.782" v="83" actId="478"/>
        <pc:sldMkLst>
          <pc:docMk/>
          <pc:sldMk cId="2787958292" sldId="575"/>
        </pc:sldMkLst>
        <pc:picChg chg="del">
          <ac:chgData name="Zhang, Zhongming" userId="57b61de0-a4db-46da-bbdf-d2c5d7242f33" providerId="ADAL" clId="{A5E1CEEC-4593-454F-9F67-CAEF5D5842D7}" dt="2022-08-26T12:22:16.782" v="83" actId="478"/>
          <ac:picMkLst>
            <pc:docMk/>
            <pc:sldMk cId="2787958292" sldId="575"/>
            <ac:picMk id="7" creationId="{B507833D-003B-C94B-B245-43A0488F6093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19.403" v="84" actId="478"/>
        <pc:sldMkLst>
          <pc:docMk/>
          <pc:sldMk cId="3543961386" sldId="576"/>
        </pc:sldMkLst>
        <pc:picChg chg="del">
          <ac:chgData name="Zhang, Zhongming" userId="57b61de0-a4db-46da-bbdf-d2c5d7242f33" providerId="ADAL" clId="{A5E1CEEC-4593-454F-9F67-CAEF5D5842D7}" dt="2022-08-26T12:22:19.403" v="84" actId="478"/>
          <ac:picMkLst>
            <pc:docMk/>
            <pc:sldMk cId="3543961386" sldId="576"/>
            <ac:picMk id="5" creationId="{9E86E445-BB30-9E43-900F-200EF92E07D0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21.226" v="85" actId="478"/>
        <pc:sldMkLst>
          <pc:docMk/>
          <pc:sldMk cId="399976801" sldId="577"/>
        </pc:sldMkLst>
        <pc:picChg chg="del">
          <ac:chgData name="Zhang, Zhongming" userId="57b61de0-a4db-46da-bbdf-d2c5d7242f33" providerId="ADAL" clId="{A5E1CEEC-4593-454F-9F67-CAEF5D5842D7}" dt="2022-08-26T12:22:21.226" v="85" actId="478"/>
          <ac:picMkLst>
            <pc:docMk/>
            <pc:sldMk cId="399976801" sldId="577"/>
            <ac:picMk id="13" creationId="{FEB543BE-E5B4-D841-B1ED-C7C25C4CD8EA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43.321" v="96" actId="478"/>
        <pc:sldMkLst>
          <pc:docMk/>
          <pc:sldMk cId="3411340844" sldId="579"/>
        </pc:sldMkLst>
        <pc:picChg chg="del">
          <ac:chgData name="Zhang, Zhongming" userId="57b61de0-a4db-46da-bbdf-d2c5d7242f33" providerId="ADAL" clId="{A5E1CEEC-4593-454F-9F67-CAEF5D5842D7}" dt="2022-08-26T12:22:43.321" v="96" actId="478"/>
          <ac:picMkLst>
            <pc:docMk/>
            <pc:sldMk cId="3411340844" sldId="579"/>
            <ac:picMk id="2" creationId="{680601A1-9DFE-A746-B75E-36EA077C9F3F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44.849" v="97" actId="478"/>
        <pc:sldMkLst>
          <pc:docMk/>
          <pc:sldMk cId="2236210750" sldId="580"/>
        </pc:sldMkLst>
        <pc:picChg chg="del">
          <ac:chgData name="Zhang, Zhongming" userId="57b61de0-a4db-46da-bbdf-d2c5d7242f33" providerId="ADAL" clId="{A5E1CEEC-4593-454F-9F67-CAEF5D5842D7}" dt="2022-08-26T12:22:44.849" v="97" actId="478"/>
          <ac:picMkLst>
            <pc:docMk/>
            <pc:sldMk cId="2236210750" sldId="580"/>
            <ac:picMk id="2" creationId="{DEEE421C-B9AF-DE4A-8AF9-ECD9E40F349F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46.381" v="98" actId="478"/>
        <pc:sldMkLst>
          <pc:docMk/>
          <pc:sldMk cId="1148238244" sldId="581"/>
        </pc:sldMkLst>
        <pc:picChg chg="del">
          <ac:chgData name="Zhang, Zhongming" userId="57b61de0-a4db-46da-bbdf-d2c5d7242f33" providerId="ADAL" clId="{A5E1CEEC-4593-454F-9F67-CAEF5D5842D7}" dt="2022-08-26T12:22:46.381" v="98" actId="478"/>
          <ac:picMkLst>
            <pc:docMk/>
            <pc:sldMk cId="1148238244" sldId="581"/>
            <ac:picMk id="2" creationId="{11778CB1-9E6C-2448-9622-FD2033443455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51.699" v="102" actId="478"/>
        <pc:sldMkLst>
          <pc:docMk/>
          <pc:sldMk cId="2913518954" sldId="583"/>
        </pc:sldMkLst>
        <pc:picChg chg="del">
          <ac:chgData name="Zhang, Zhongming" userId="57b61de0-a4db-46da-bbdf-d2c5d7242f33" providerId="ADAL" clId="{A5E1CEEC-4593-454F-9F67-CAEF5D5842D7}" dt="2022-08-26T12:22:51.699" v="102" actId="478"/>
          <ac:picMkLst>
            <pc:docMk/>
            <pc:sldMk cId="2913518954" sldId="583"/>
            <ac:picMk id="3" creationId="{6A667309-0531-7E47-B330-CA866AE3B7DA}"/>
          </ac:picMkLst>
        </pc:picChg>
      </pc:sldChg>
      <pc:sldChg chg="delSp mod delAnim">
        <pc:chgData name="Zhang, Zhongming" userId="57b61de0-a4db-46da-bbdf-d2c5d7242f33" providerId="ADAL" clId="{A5E1CEEC-4593-454F-9F67-CAEF5D5842D7}" dt="2022-08-26T12:22:55.206" v="104" actId="478"/>
        <pc:sldMkLst>
          <pc:docMk/>
          <pc:sldMk cId="4078726754" sldId="584"/>
        </pc:sldMkLst>
        <pc:picChg chg="del">
          <ac:chgData name="Zhang, Zhongming" userId="57b61de0-a4db-46da-bbdf-d2c5d7242f33" providerId="ADAL" clId="{A5E1CEEC-4593-454F-9F67-CAEF5D5842D7}" dt="2022-08-26T12:22:55.206" v="104" actId="478"/>
          <ac:picMkLst>
            <pc:docMk/>
            <pc:sldMk cId="4078726754" sldId="584"/>
            <ac:picMk id="3" creationId="{62F6A19C-CA80-EA42-A1B1-527F5F89C3B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F311DD20-E6A3-443B-A927-6F15C1E15287}" type="datetimeFigureOut">
              <a:rPr lang="de-DE" smtClean="0"/>
              <a:t>24.08.24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2E20C56-BB2A-47DD-81E5-84B81C0F131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7268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lectronic_design_automation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Integrated_circuit_design" TargetMode="External"/><Relationship Id="rId5" Type="http://schemas.openxmlformats.org/officeDocument/2006/relationships/hyperlink" Target="https://en.wikipedia.org/wiki/Placement_(EDA)" TargetMode="External"/><Relationship Id="rId4" Type="http://schemas.openxmlformats.org/officeDocument/2006/relationships/hyperlink" Target="https://en.wikipedia.org/wiki/Integrated_circuit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Phase_detector" TargetMode="External"/><Relationship Id="rId3" Type="http://schemas.openxmlformats.org/officeDocument/2006/relationships/hyperlink" Target="https://en.wikipedia.org/wiki/Control_system" TargetMode="External"/><Relationship Id="rId7" Type="http://schemas.openxmlformats.org/officeDocument/2006/relationships/hyperlink" Target="https://en.wikipedia.org/wiki/Variable_frequency_oscillator" TargetMode="External"/><Relationship Id="rId12" Type="http://schemas.openxmlformats.org/officeDocument/2006/relationships/hyperlink" Target="https://en.wikipedia.org/wiki/Digital_signal_processing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Electronic_circuit" TargetMode="External"/><Relationship Id="rId11" Type="http://schemas.openxmlformats.org/officeDocument/2006/relationships/hyperlink" Target="https://en.wikipedia.org/wiki/System_in_package" TargetMode="External"/><Relationship Id="rId5" Type="http://schemas.openxmlformats.org/officeDocument/2006/relationships/hyperlink" Target="https://en.wikipedia.org/wiki/Phase_(waves)" TargetMode="External"/><Relationship Id="rId10" Type="http://schemas.openxmlformats.org/officeDocument/2006/relationships/hyperlink" Target="https://en.wikipedia.org/wiki/Microprocessor" TargetMode="External"/><Relationship Id="rId4" Type="http://schemas.openxmlformats.org/officeDocument/2006/relationships/hyperlink" Target="https://en.wikipedia.org/wiki/Signal_(electrical_engineering)" TargetMode="External"/><Relationship Id="rId9" Type="http://schemas.openxmlformats.org/officeDocument/2006/relationships/hyperlink" Target="https://en.wikipedia.org/wiki/Feedback_loop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618F815-7617-404A-9BC6-A92FB2C5678A}" type="slidenum">
              <a:rPr lang="en-US" sz="1300"/>
              <a:pPr eaLnBrk="1" hangingPunct="1"/>
              <a:t>3</a:t>
            </a:fld>
            <a:endParaRPr lang="en-US" sz="13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3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Homogeneous – of the same kind</a:t>
            </a:r>
          </a:p>
          <a:p>
            <a:r>
              <a:rPr lang="en-GB" dirty="0"/>
              <a:t>Heterogeneous - 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diverse in character or content (i.e. different building blocks)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5881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Electronic design automation"/>
              </a:rPr>
              <a:t>electronic design automation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floorplan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an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Integrated circuit"/>
              </a:rPr>
              <a:t>integrated circuit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schematic representation of tentative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Placement (EDA)"/>
              </a:rPr>
              <a:t>placement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its major functional blocks.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modern electronic design process floorplans are created during the </a:t>
            </a:r>
            <a:r>
              <a:rPr lang="en-GB" sz="1200" b="1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floorplanning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design stage, an early stage in the hierarchical approach to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Integrated circuit design"/>
              </a:rPr>
              <a:t>integrated circuit design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Depending on the design methodology being followed, the actual definition of a floorplan may differ.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720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908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3, 4 or 5 input LUT any Boolean algebra can be created with the same number of inputs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7285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EF9277-6187-45E6-9875-F472827F162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44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6763"/>
            <a:ext cx="5114925" cy="3836987"/>
          </a:xfrm>
          <a:ln/>
        </p:spPr>
      </p:sp>
      <p:sp>
        <p:nvSpPr>
          <p:cNvPr id="244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16" y="4860656"/>
            <a:ext cx="5204869" cy="4607497"/>
          </a:xfrm>
          <a:noFill/>
          <a:ln/>
        </p:spPr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phase-locked loop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lock loop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Control system"/>
              </a:rPr>
              <a:t>control system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generates an output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Signal (electrical engineering)"/>
              </a:rPr>
              <a:t>signal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whose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Phase (waves)"/>
              </a:rPr>
              <a:t>phase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related to the phase of an input signal. There are several different types; the simplest is an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Electronic circuit"/>
              </a:rPr>
              <a:t>electronic circuit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consisting of a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Variable frequency oscillator"/>
              </a:rPr>
              <a:t>variable frequency oscillator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a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Phase detector"/>
              </a:rPr>
              <a:t>phase detector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a 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Feedback loop"/>
              </a:rPr>
              <a:t>feedback loop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oscillator generates a periodic signal, and the phase detector compares the phase of that signal with the phase of the input periodic signal, adjusting the oscillator to keep the phases matched.</a:t>
            </a:r>
          </a:p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GB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 signal processor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GB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DSP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 specialized 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Microprocessor"/>
              </a:rPr>
              <a:t>microprocessor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(or a 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System in package"/>
              </a:rPr>
              <a:t>SIP block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with its architecture optimized for the operational needs of 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Digital signal processing"/>
              </a:rPr>
              <a:t>digital signal processing</a:t>
            </a:r>
            <a:r>
              <a:rPr lang="en-GB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544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265EB3B-93D3-44BF-BD0B-3D64455E4141}" type="slidenum">
              <a:rPr lang="en-US" altLang="en-US" sz="1300" smtClean="0"/>
              <a:pPr eaLnBrk="1" hangingPunct="1"/>
              <a:t>13</a:t>
            </a:fld>
            <a:endParaRPr lang="en-US" altLang="en-US" sz="130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8100" cy="3838575"/>
          </a:xfrm>
          <a:solidFill>
            <a:srgbClr val="FFFFFF"/>
          </a:solidFill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957" y="4861780"/>
            <a:ext cx="5207386" cy="460286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 random-access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(static RAM or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 type of semiconductor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uses bi-stable latching circuitry (flip-flop) to store each bit.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SRAM 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exhibits data remanence, but it is still volatile in the conventional sense that data is eventually lost when the </a:t>
            </a:r>
            <a:r>
              <a:rPr lang="en-GB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not powered.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5038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C064DA7-A281-4CDC-B1EB-E900445A4239}" type="slidenum">
              <a:rPr lang="en-US" altLang="en-US" sz="1300" smtClean="0"/>
              <a:pPr eaLnBrk="1" hangingPunct="1"/>
              <a:t>15</a:t>
            </a:fld>
            <a:endParaRPr lang="en-US" altLang="en-US" sz="13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8100" cy="3838575"/>
          </a:xfrm>
          <a:solidFill>
            <a:srgbClr val="FFFFFF"/>
          </a:solidFill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957" y="4861780"/>
            <a:ext cx="5207386" cy="460286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830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D9691A89-684D-486E-8D49-0C4E27986C14}" type="slidenum">
              <a:rPr lang="en-US" altLang="en-US" sz="1300" smtClean="0"/>
              <a:pPr eaLnBrk="1" hangingPunct="1"/>
              <a:t>16</a:t>
            </a:fld>
            <a:endParaRPr lang="en-US" altLang="en-US" sz="13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8100" cy="3838575"/>
          </a:xfrm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957" y="4861780"/>
            <a:ext cx="5207386" cy="460286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8774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D9CD7EB-E688-4C7A-9B7B-8D7883D0F854}" type="slidenum">
              <a:rPr lang="en-US" altLang="en-US" sz="1300" smtClean="0"/>
              <a:pPr eaLnBrk="1" hangingPunct="1"/>
              <a:t>17</a:t>
            </a:fld>
            <a:endParaRPr lang="en-US" altLang="en-US" sz="13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8100" cy="3838575"/>
          </a:xfrm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957" y="4861780"/>
            <a:ext cx="5207386" cy="460286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224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D9CD7EB-E688-4C7A-9B7B-8D7883D0F854}" type="slidenum">
              <a:rPr lang="en-US" altLang="en-US" sz="1300" smtClean="0"/>
              <a:pPr eaLnBrk="1" hangingPunct="1"/>
              <a:t>18</a:t>
            </a:fld>
            <a:endParaRPr lang="en-US" altLang="en-US" sz="13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8100" cy="3838575"/>
          </a:xfrm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957" y="4861780"/>
            <a:ext cx="5207386" cy="460286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9416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D9CD7EB-E688-4C7A-9B7B-8D7883D0F854}" type="slidenum">
              <a:rPr lang="en-US" altLang="en-US" sz="1300" smtClean="0"/>
              <a:pPr eaLnBrk="1" hangingPunct="1"/>
              <a:t>19</a:t>
            </a:fld>
            <a:endParaRPr lang="en-US" altLang="en-US" sz="13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8100" cy="3838575"/>
          </a:xfrm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957" y="4861780"/>
            <a:ext cx="5207386" cy="460286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3753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D9CD7EB-E688-4C7A-9B7B-8D7883D0F854}" type="slidenum">
              <a:rPr lang="en-US" altLang="en-US" sz="1300" smtClean="0"/>
              <a:pPr eaLnBrk="1" hangingPunct="1"/>
              <a:t>20</a:t>
            </a:fld>
            <a:endParaRPr lang="en-US" altLang="en-US" sz="13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8100" cy="3838575"/>
          </a:xfrm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957" y="4861780"/>
            <a:ext cx="5207386" cy="460286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5264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E79D51B2-F6C6-4D41-8187-579AF2E7F797}" type="slidenum">
              <a:rPr lang="en-US" altLang="en-US" sz="1300" smtClean="0"/>
              <a:pPr eaLnBrk="1" hangingPunct="1"/>
              <a:t>21</a:t>
            </a:fld>
            <a:endParaRPr lang="en-US" altLang="en-US" sz="13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8100" cy="3838575"/>
          </a:xfrm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957" y="4861780"/>
            <a:ext cx="5207386" cy="460286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91886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2D9CD7EB-E688-4C7A-9B7B-8D7883D0F854}" type="slidenum">
              <a:rPr lang="en-US" altLang="en-US" sz="1300" smtClean="0"/>
              <a:pPr eaLnBrk="1" hangingPunct="1"/>
              <a:t>24</a:t>
            </a:fld>
            <a:endParaRPr lang="en-US" altLang="en-US" sz="13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8100" cy="3838575"/>
          </a:xfrm>
          <a:solidFill>
            <a:srgbClr val="FFFFFF"/>
          </a:solidFill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957" y="4861780"/>
            <a:ext cx="5207386" cy="460286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98739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 file - Generated during implementation of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878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503949F7-4266-4389-B4EA-DA0707856476}" type="slidenum">
              <a:rPr lang="en-US" altLang="en-US" sz="1300" smtClean="0"/>
              <a:pPr eaLnBrk="1" hangingPunct="1"/>
              <a:t>29</a:t>
            </a:fld>
            <a:endParaRPr lang="en-US" altLang="en-US" sz="13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9938"/>
            <a:ext cx="5118100" cy="3838575"/>
          </a:xfrm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5957" y="4861780"/>
            <a:ext cx="5207386" cy="460286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9392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E20C56-BB2A-47DD-81E5-84B81C0F131C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75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2"/>
          <p:cNvSpPr>
            <a:spLocks noChangeShapeType="1"/>
          </p:cNvSpPr>
          <p:nvPr userDrawn="1"/>
        </p:nvSpPr>
        <p:spPr bwMode="auto">
          <a:xfrm>
            <a:off x="460375" y="476250"/>
            <a:ext cx="822325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5" name="Line 13"/>
          <p:cNvSpPr>
            <a:spLocks noChangeShapeType="1"/>
          </p:cNvSpPr>
          <p:nvPr userDrawn="1"/>
        </p:nvSpPr>
        <p:spPr bwMode="auto">
          <a:xfrm>
            <a:off x="460375" y="2457450"/>
            <a:ext cx="822325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6" name="Line 14"/>
          <p:cNvSpPr>
            <a:spLocks noChangeShapeType="1"/>
          </p:cNvSpPr>
          <p:nvPr userDrawn="1"/>
        </p:nvSpPr>
        <p:spPr bwMode="auto">
          <a:xfrm>
            <a:off x="460375" y="6113463"/>
            <a:ext cx="822325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0375" y="534988"/>
            <a:ext cx="8223250" cy="1044575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0375" y="1754188"/>
            <a:ext cx="8223250" cy="53975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0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11" name="Picture 2" descr="C:\Backup\Lancaster University\Templates\scitech_logo_275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7" y="6170382"/>
            <a:ext cx="995363" cy="60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666041-FCF7-064F-A003-0AC466FF4C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299" y="6276794"/>
            <a:ext cx="5330465" cy="45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7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7049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2909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60375" y="1773238"/>
            <a:ext cx="4035425" cy="4092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773238"/>
            <a:ext cx="4035425" cy="4092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0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0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3780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7593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5367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1922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299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25593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7813" y="382588"/>
            <a:ext cx="2055812" cy="54832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60375" y="382588"/>
            <a:ext cx="6015038" cy="54832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9091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770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B050"/>
              </a:buClr>
              <a:defRPr/>
            </a:lvl1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507253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5957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60375" y="1906588"/>
            <a:ext cx="4035425" cy="3959225"/>
          </a:xfrm>
        </p:spPr>
        <p:txBody>
          <a:bodyPr/>
          <a:lstStyle>
            <a:lvl1pPr>
              <a:buClr>
                <a:srgbClr val="00B050"/>
              </a:buCl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906588"/>
            <a:ext cx="4035425" cy="3959225"/>
          </a:xfrm>
        </p:spPr>
        <p:txBody>
          <a:bodyPr/>
          <a:lstStyle>
            <a:lvl1pPr>
              <a:buClr>
                <a:srgbClr val="00B050"/>
              </a:buCl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0595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Clr>
                <a:srgbClr val="00B050"/>
              </a:buCl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Clr>
                <a:srgbClr val="00B050"/>
              </a:buCl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10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0553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64573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98161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Clr>
                <a:srgbClr val="00B050"/>
              </a:buCl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87641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39230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00B050"/>
              </a:buClr>
              <a:defRPr/>
            </a:lvl1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800141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7813" y="534988"/>
            <a:ext cx="2055812" cy="53308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60375" y="534988"/>
            <a:ext cx="6015038" cy="5330825"/>
          </a:xfrm>
        </p:spPr>
        <p:txBody>
          <a:bodyPr vert="eaVert"/>
          <a:lstStyle>
            <a:lvl1pPr>
              <a:buClr>
                <a:srgbClr val="00B050"/>
              </a:buClr>
              <a:defRPr/>
            </a:lvl1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8791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382588"/>
            <a:ext cx="82232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0375" y="1773238"/>
            <a:ext cx="8223250" cy="409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28" name="Line 7"/>
          <p:cNvSpPr>
            <a:spLocks noChangeShapeType="1"/>
          </p:cNvSpPr>
          <p:nvPr/>
        </p:nvSpPr>
        <p:spPr bwMode="auto">
          <a:xfrm>
            <a:off x="460375" y="6113463"/>
            <a:ext cx="822325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9" name="Picture 2" descr="C:\Backup\Lancaster University\Templates\scitech_logo_275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7" y="6170382"/>
            <a:ext cx="995363" cy="60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E70998-E24E-DA4A-931C-B32FF09EC69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299" y="6276794"/>
            <a:ext cx="5330465" cy="4568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Frutiger LT Com 45 Light" pitchFamily="1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ct val="40000"/>
        </a:spcAft>
        <a:buClr>
          <a:schemeClr val="tx2"/>
        </a:buClr>
        <a:buFont typeface="Wingdings" pitchFamily="1" charset="2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6700" algn="l" rtl="0" eaLnBrk="0" fontAlgn="base" hangingPunct="0">
        <a:spcBef>
          <a:spcPct val="0"/>
        </a:spcBef>
        <a:spcAft>
          <a:spcPct val="40000"/>
        </a:spcAft>
        <a:buClr>
          <a:srgbClr val="FF0000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2pPr>
      <a:lvl3pPr marL="531813" indent="-261938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3pPr>
      <a:lvl4pPr marL="800100" indent="-266700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4pPr>
      <a:lvl5pPr marL="1079500" indent="-277813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5pPr>
      <a:lvl6pPr marL="1536700" indent="-277813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6pPr>
      <a:lvl7pPr marL="1993900" indent="-277813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7pPr>
      <a:lvl8pPr marL="2451100" indent="-277813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8pPr>
      <a:lvl9pPr marL="2908300" indent="-277813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534988"/>
            <a:ext cx="82232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0375" y="1906588"/>
            <a:ext cx="822325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460375" y="6113463"/>
            <a:ext cx="822325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54" name="Line 7"/>
          <p:cNvSpPr>
            <a:spLocks noChangeShapeType="1"/>
          </p:cNvSpPr>
          <p:nvPr/>
        </p:nvSpPr>
        <p:spPr bwMode="auto">
          <a:xfrm>
            <a:off x="460375" y="1601788"/>
            <a:ext cx="822325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2055" name="Line 8"/>
          <p:cNvSpPr>
            <a:spLocks noChangeShapeType="1"/>
          </p:cNvSpPr>
          <p:nvPr/>
        </p:nvSpPr>
        <p:spPr bwMode="auto">
          <a:xfrm>
            <a:off x="460375" y="476250"/>
            <a:ext cx="822325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F7AC-325E-49D0-8897-E637594B55B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69634" name="Picture 2" descr="C:\Backup\Lancaster University\Templates\scitech_logo_275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57" y="6170382"/>
            <a:ext cx="995363" cy="60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CC22EE-3311-4948-96AF-CD1031EBE3C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299" y="6276794"/>
            <a:ext cx="5330465" cy="4568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utiger LT Com 45 Light" pitchFamily="1" charset="0"/>
        </a:defRPr>
      </a:lvl9pPr>
    </p:titleStyle>
    <p:bodyStyle>
      <a:lvl1pPr marL="268288" indent="-268288" algn="l" rtl="0" eaLnBrk="0" fontAlgn="base" hangingPunct="0">
        <a:spcBef>
          <a:spcPct val="0"/>
        </a:spcBef>
        <a:spcAft>
          <a:spcPct val="40000"/>
        </a:spcAft>
        <a:buClr>
          <a:srgbClr val="FF0000"/>
        </a:buClr>
        <a:buFont typeface="Wingdings" pitchFamily="1" charset="2"/>
        <a:buChar char="n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1219200" indent="-234950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2pPr>
      <a:lvl3pPr marL="1644650" indent="-246063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3pPr>
      <a:lvl4pPr marL="2066925" indent="-242888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4pPr>
      <a:lvl5pPr marL="2489200" indent="-242888" algn="l" rtl="0" eaLnBrk="0" fontAlgn="base" hangingPunct="0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5pPr>
      <a:lvl6pPr marL="2946400" indent="-242888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6pPr>
      <a:lvl7pPr marL="3403600" indent="-242888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7pPr>
      <a:lvl8pPr marL="3860800" indent="-242888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8pPr>
      <a:lvl9pPr marL="4318000" indent="-242888" algn="l" rtl="0" fontAlgn="base">
        <a:spcBef>
          <a:spcPct val="0"/>
        </a:spcBef>
        <a:spcAft>
          <a:spcPct val="40000"/>
        </a:spcAft>
        <a:buClr>
          <a:schemeClr val="bg2"/>
        </a:buClr>
        <a:buFont typeface="Wingdings" pitchFamily="1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1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6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6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6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6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2.wdp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268932E2-1E9B-B040-A75F-301FB0ECD047}"/>
              </a:ext>
            </a:extLst>
          </p:cNvPr>
          <p:cNvSpPr txBox="1">
            <a:spLocks/>
          </p:cNvSpPr>
          <p:nvPr/>
        </p:nvSpPr>
        <p:spPr bwMode="auto">
          <a:xfrm>
            <a:off x="1371600" y="3124403"/>
            <a:ext cx="6400800" cy="2436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tx2"/>
              </a:buClr>
              <a:buFont typeface="Wingdings" pitchFamily="1" charset="2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67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FF000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531813" indent="-26193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800100" indent="-2667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1079500" indent="-27781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15367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19939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24511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29083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2400" b="1" kern="0">
                <a:solidFill>
                  <a:schemeClr val="bg1">
                    <a:lumMod val="50000"/>
                  </a:schemeClr>
                </a:solidFill>
              </a:rPr>
              <a:t>Dr Zhongming</a:t>
            </a:r>
            <a:r>
              <a:rPr lang="en-US" sz="2400" b="1" kern="0" dirty="0">
                <a:solidFill>
                  <a:schemeClr val="bg1">
                    <a:lumMod val="50000"/>
                  </a:schemeClr>
                </a:solidFill>
              </a:rPr>
              <a:t> Zhang</a:t>
            </a:r>
          </a:p>
          <a:p>
            <a:pPr algn="ctr"/>
            <a:endParaRPr lang="en-US" sz="2400" kern="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2400" kern="0" dirty="0">
                <a:solidFill>
                  <a:schemeClr val="bg1">
                    <a:lumMod val="50000"/>
                  </a:schemeClr>
                </a:solidFill>
              </a:rPr>
              <a:t>School of Engineering</a:t>
            </a:r>
          </a:p>
          <a:p>
            <a:pPr algn="ctr"/>
            <a:r>
              <a:rPr lang="en-US" sz="2400" kern="0" dirty="0">
                <a:solidFill>
                  <a:schemeClr val="bg1">
                    <a:lumMod val="50000"/>
                  </a:schemeClr>
                </a:solidFill>
              </a:rPr>
              <a:t>Lancaster University</a:t>
            </a:r>
          </a:p>
          <a:p>
            <a:pPr algn="ctr"/>
            <a:endParaRPr lang="en-US" sz="2400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16549DC3-8481-5F44-85AB-56839BBD5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535319"/>
            <a:ext cx="8223250" cy="1066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9pPr>
          </a:lstStyle>
          <a:p>
            <a:pPr algn="ctr" eaLnBrk="1" hangingPunct="1"/>
            <a:r>
              <a:rPr lang="de-DE" kern="0" dirty="0"/>
              <a:t>CNENGR 228</a:t>
            </a:r>
            <a:br>
              <a:rPr lang="de-DE" kern="0" dirty="0"/>
            </a:br>
            <a:r>
              <a:rPr lang="de-DE" kern="0" dirty="0"/>
              <a:t>Digital Electronics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CCE40F7E-620A-2E4F-B98E-F669E003D6E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0375" y="1906010"/>
            <a:ext cx="8223250" cy="609196"/>
          </a:xfrm>
        </p:spPr>
        <p:txBody>
          <a:bodyPr/>
          <a:lstStyle/>
          <a:p>
            <a:pPr algn="ctr">
              <a:spcAft>
                <a:spcPts val="0"/>
              </a:spcAft>
            </a:pPr>
            <a:r>
              <a:rPr lang="en-GB" sz="2400" b="1" dirty="0"/>
              <a:t>Lecture</a:t>
            </a:r>
            <a:r>
              <a:rPr lang="de-DE" sz="2400" b="1" dirty="0"/>
              <a:t> 2 </a:t>
            </a:r>
            <a:r>
              <a:rPr lang="en-GB" sz="2400" b="1" kern="1200" dirty="0">
                <a:latin typeface="Frutiger LT Com 55 Roman" pitchFamily="1" charset="0"/>
              </a:rPr>
              <a:t>– Field Programmable Gate Arrays</a:t>
            </a:r>
            <a:endParaRPr lang="en-GB" sz="2200" b="1" dirty="0"/>
          </a:p>
          <a:p>
            <a:endParaRPr lang="en-GB" sz="2400" b="1" kern="1200" dirty="0">
              <a:latin typeface="Frutiger LT Com 55 Roman" pitchFamily="1" charset="0"/>
            </a:endParaRPr>
          </a:p>
          <a:p>
            <a:endParaRPr lang="en-GB" sz="2400" b="1" kern="1200" dirty="0">
              <a:latin typeface="Frutiger LT Com 55 Roman" pitchFamily="1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36"/>
    </mc:Choice>
    <mc:Fallback xmlns="">
      <p:transition spd="slow" advTm="913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000000"/>
                </a:solidFill>
              </a:rPr>
              <a:t>Objectives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Clr>
                <a:srgbClr val="00B050"/>
              </a:buClr>
              <a:buNone/>
            </a:pPr>
            <a:r>
              <a:rPr lang="en-US" sz="2000" dirty="0"/>
              <a:t> </a:t>
            </a:r>
            <a:endParaRPr lang="en-US" sz="2000" b="1" dirty="0"/>
          </a:p>
          <a:p>
            <a:pPr marL="268288" lvl="1" indent="-268288">
              <a:buClr>
                <a:srgbClr val="00B050"/>
              </a:buClr>
            </a:pPr>
            <a:r>
              <a:rPr lang="en-US" sz="2000" dirty="0"/>
              <a:t>Understand the architecture of FPGAs</a:t>
            </a:r>
          </a:p>
          <a:p>
            <a:pPr marL="268288" lvl="1" indent="-268288">
              <a:buClr>
                <a:srgbClr val="00B050"/>
              </a:buClr>
            </a:pPr>
            <a:r>
              <a:rPr lang="en-US" sz="2000" dirty="0"/>
              <a:t>Understand the concept of LUT</a:t>
            </a:r>
          </a:p>
          <a:p>
            <a:pPr marL="268288" lvl="1" indent="-268288">
              <a:buClr>
                <a:srgbClr val="00B050"/>
              </a:buClr>
            </a:pPr>
            <a:r>
              <a:rPr lang="en-US" sz="2000" dirty="0"/>
              <a:t>To be able to map a circuit to FPGA manually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>
                <a:solidFill>
                  <a:srgbClr val="000000">
                    <a:tint val="75000"/>
                  </a:srgbClr>
                </a:solidFill>
              </a:rPr>
              <a:pPr/>
              <a:t>2</a:t>
            </a:fld>
            <a:endParaRPr lang="de-DE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73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032"/>
    </mc:Choice>
    <mc:Fallback xmlns="">
      <p:transition spd="slow" advTm="170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Programmable Logic Devices (PLDs)</a:t>
            </a:r>
          </a:p>
        </p:txBody>
      </p:sp>
      <p:sp>
        <p:nvSpPr>
          <p:cNvPr id="5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7FEC30D8-5CDB-4234-9EAC-F23968ABEB25}" type="slidenum">
              <a:rPr lang="de-DE" smtClean="0"/>
              <a:t>3</a:t>
            </a:fld>
            <a:endParaRPr lang="de-DE" dirty="0"/>
          </a:p>
        </p:txBody>
      </p:sp>
      <p:sp>
        <p:nvSpPr>
          <p:cNvPr id="5" name="Rectangle 4"/>
          <p:cNvSpPr/>
          <p:nvPr/>
        </p:nvSpPr>
        <p:spPr>
          <a:xfrm>
            <a:off x="3505907" y="1753711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Digital IC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830618" y="2819804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PLDs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99588" y="2819804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ASIC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10558" y="3733598"/>
            <a:ext cx="858506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CPLD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4523" y="3733598"/>
            <a:ext cx="913794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SPLD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353606" y="3733598"/>
            <a:ext cx="913796" cy="609196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FPGA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61083" y="4038196"/>
            <a:ext cx="1522990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Full-Custom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181196" y="4038196"/>
            <a:ext cx="1675289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Semi-Custom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67402" y="5256588"/>
            <a:ext cx="1675289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Standard Cell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04186" y="5256313"/>
            <a:ext cx="1370691" cy="6091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Gate Array 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7084932" y="2515206"/>
            <a:ext cx="1" cy="30459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2512816" y="2515206"/>
            <a:ext cx="1" cy="304598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6150277" y="3429000"/>
            <a:ext cx="1620002" cy="608921"/>
            <a:chOff x="6150277" y="3429000"/>
            <a:chExt cx="1620002" cy="608921"/>
          </a:xfrm>
        </p:grpSpPr>
        <p:cxnSp>
          <p:nvCxnSpPr>
            <p:cNvPr id="22" name="Straight Connector 21"/>
            <p:cNvCxnSpPr/>
            <p:nvPr/>
          </p:nvCxnSpPr>
          <p:spPr>
            <a:xfrm flipH="1">
              <a:off x="7084932" y="3429000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rot="5400000" flipH="1">
              <a:off x="6960278" y="2923699"/>
              <a:ext cx="1" cy="1620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H="1">
              <a:off x="777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615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5144929" y="4646842"/>
            <a:ext cx="2268001" cy="608921"/>
            <a:chOff x="6150277" y="3429000"/>
            <a:chExt cx="2268001" cy="608921"/>
          </a:xfrm>
        </p:grpSpPr>
        <p:cxnSp>
          <p:nvCxnSpPr>
            <p:cNvPr id="28" name="Straight Connector 27"/>
            <p:cNvCxnSpPr/>
            <p:nvPr/>
          </p:nvCxnSpPr>
          <p:spPr>
            <a:xfrm flipH="1">
              <a:off x="7084932" y="3429000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 flipH="1">
              <a:off x="7284276" y="2588910"/>
              <a:ext cx="1" cy="226800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>
              <a:off x="8418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H="1">
              <a:off x="6150277" y="3733323"/>
              <a:ext cx="1" cy="304598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/>
          <p:cNvCxnSpPr/>
          <p:nvPr/>
        </p:nvCxnSpPr>
        <p:spPr>
          <a:xfrm flipH="1">
            <a:off x="4135964" y="2362907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2514502" y="2520686"/>
            <a:ext cx="4572117" cy="5587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2460673" y="3429275"/>
            <a:ext cx="1" cy="306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 flipH="1">
            <a:off x="2514502" y="2285300"/>
            <a:ext cx="1" cy="2592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3810502" y="3589598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1221419" y="3581299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526020" y="4647392"/>
            <a:ext cx="761497" cy="456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PAL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07627" y="4647392"/>
            <a:ext cx="761495" cy="4566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PLA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47" name="Straight Connector 46"/>
          <p:cNvCxnSpPr/>
          <p:nvPr/>
        </p:nvCxnSpPr>
        <p:spPr>
          <a:xfrm flipH="1">
            <a:off x="1275440" y="4343069"/>
            <a:ext cx="1" cy="180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rot="5400000" flipH="1">
            <a:off x="1233927" y="3721094"/>
            <a:ext cx="1" cy="1548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2010558" y="4494543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9926" y="4494543"/>
            <a:ext cx="1" cy="1440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55329" y="2664685"/>
            <a:ext cx="4188223" cy="27442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08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71"/>
    </mc:Choice>
    <mc:Fallback xmlns="">
      <p:transition spd="slow" advTm="1487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 descr="C:\Backup\Lancaster University\Teaching\ENGR228_Digital Electronic\A Montazeri_ENGR228\Pics\2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422" y="4799691"/>
            <a:ext cx="1728000" cy="1265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0800" y="1908000"/>
            <a:ext cx="8223250" cy="3959225"/>
          </a:xfrm>
        </p:spPr>
        <p:txBody>
          <a:bodyPr/>
          <a:lstStyle/>
          <a:p>
            <a:pPr marL="268288" lvl="1" indent="-268288">
              <a:buClr>
                <a:srgbClr val="00B050"/>
              </a:buClr>
            </a:pPr>
            <a:r>
              <a:rPr lang="en-GB" dirty="0"/>
              <a:t>FPGA stands for Field Programmable Gate Array</a:t>
            </a:r>
          </a:p>
          <a:p>
            <a:pPr marL="268288" lvl="1" indent="-268288">
              <a:buClr>
                <a:srgbClr val="00B050"/>
              </a:buClr>
            </a:pPr>
            <a:r>
              <a:rPr lang="en-GB" dirty="0"/>
              <a:t>There is no “Gate Array” inside the FPGA</a:t>
            </a:r>
          </a:p>
          <a:p>
            <a:pPr marL="268288" lvl="1" indent="-268288">
              <a:buClr>
                <a:srgbClr val="00B050"/>
              </a:buClr>
            </a:pPr>
            <a:r>
              <a:rPr lang="en-GB" dirty="0"/>
              <a:t>Programmable in the “Field” (e.g. your laboratory, rather than requiring fabrication)</a:t>
            </a:r>
          </a:p>
          <a:p>
            <a:pPr eaLnBrk="1" hangingPunct="1">
              <a:defRPr/>
            </a:pPr>
            <a:r>
              <a:rPr lang="en-US" dirty="0"/>
              <a:t>Manufacturers</a:t>
            </a:r>
          </a:p>
          <a:p>
            <a:pPr lvl="1" eaLnBrk="1" hangingPunct="1">
              <a:defRPr/>
            </a:pPr>
            <a:r>
              <a:rPr lang="en-US" b="1" dirty="0"/>
              <a:t>Altera</a:t>
            </a:r>
            <a:r>
              <a:rPr lang="en-US" dirty="0"/>
              <a:t> (Cyclone series)</a:t>
            </a:r>
          </a:p>
          <a:p>
            <a:pPr lvl="1" eaLnBrk="1" hangingPunct="1">
              <a:defRPr/>
            </a:pPr>
            <a:r>
              <a:rPr lang="en-US" dirty="0"/>
              <a:t>The </a:t>
            </a:r>
            <a:r>
              <a:rPr lang="en-US" b="1" dirty="0"/>
              <a:t>Xilinx</a:t>
            </a:r>
            <a:r>
              <a:rPr lang="en-US" dirty="0"/>
              <a:t> (Spartan series)</a:t>
            </a:r>
          </a:p>
          <a:p>
            <a:pPr lvl="1" eaLnBrk="1" hangingPunct="1">
              <a:defRPr/>
            </a:pPr>
            <a:r>
              <a:rPr lang="en-US" b="1" dirty="0" err="1"/>
              <a:t>Actel</a:t>
            </a:r>
            <a:r>
              <a:rPr lang="en-US" dirty="0"/>
              <a:t> and </a:t>
            </a:r>
            <a:r>
              <a:rPr lang="en-US" b="1" dirty="0"/>
              <a:t>Lattice</a:t>
            </a:r>
            <a:endParaRPr lang="en-GB" b="1" dirty="0"/>
          </a:p>
          <a:p>
            <a:pPr lvl="1" eaLnBrk="1" hangingPunct="1">
              <a:defRPr/>
            </a:pPr>
            <a:endParaRPr lang="en-GB" dirty="0"/>
          </a:p>
          <a:p>
            <a:endParaRPr lang="en-US" b="1" dirty="0"/>
          </a:p>
          <a:p>
            <a:endParaRPr lang="en-GB" dirty="0"/>
          </a:p>
        </p:txBody>
      </p:sp>
      <p:pic>
        <p:nvPicPr>
          <p:cNvPr id="3074" name="Picture 2" descr="C:\Backup\Lancaster University\Teaching\ENGR228_Digital Electronic\A Montazeri_ENGR228\Pics\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671" y="2999151"/>
            <a:ext cx="3960000" cy="301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FPGA Architecture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TextBox 4"/>
          <p:cNvSpPr txBox="1"/>
          <p:nvPr/>
        </p:nvSpPr>
        <p:spPr>
          <a:xfrm>
            <a:off x="6551887" y="3733598"/>
            <a:ext cx="7614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6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53609" y="5256588"/>
            <a:ext cx="15229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dirty="0"/>
              <a:t>Courtesy of Altera</a:t>
            </a:r>
          </a:p>
          <a:p>
            <a:pPr algn="ctr"/>
            <a:r>
              <a:rPr lang="en-GB" sz="1200" dirty="0"/>
              <a:t>(</a:t>
            </a:r>
            <a:r>
              <a:rPr lang="en-GB" sz="1200" dirty="0" err="1"/>
              <a:t>Stratix</a:t>
            </a:r>
            <a:r>
              <a:rPr lang="en-GB" sz="1200" dirty="0"/>
              <a:t> IV FPGA)</a:t>
            </a:r>
          </a:p>
        </p:txBody>
      </p:sp>
      <p:pic>
        <p:nvPicPr>
          <p:cNvPr id="2051" name="Picture 3" descr="C:\Backup\Lancaster University\Teaching\ENGR228_Digital Electronic\A Montazeri_ENGR228\Pics\20.jp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200" b="96800" l="575" r="9540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09" y="4264949"/>
            <a:ext cx="16573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784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8317"/>
    </mc:Choice>
    <mc:Fallback xmlns="">
      <p:transition spd="slow" advTm="16831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1.1. FPGA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5</a:t>
            </a:fld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000" y="1235403"/>
            <a:ext cx="4608000" cy="4782405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60799" y="1753711"/>
            <a:ext cx="4075201" cy="3959225"/>
          </a:xfrm>
        </p:spPr>
        <p:txBody>
          <a:bodyPr/>
          <a:lstStyle/>
          <a:p>
            <a:r>
              <a:rPr lang="en-US" b="1" dirty="0"/>
              <a:t>Logic Array Blocks (LAB)</a:t>
            </a:r>
          </a:p>
          <a:p>
            <a:pPr lvl="1" eaLnBrk="1" hangingPunct="1">
              <a:defRPr/>
            </a:pPr>
            <a:r>
              <a:rPr lang="en-GB" dirty="0"/>
              <a:t>General logic blocks</a:t>
            </a:r>
          </a:p>
          <a:p>
            <a:pPr lvl="1" eaLnBrk="1" hangingPunct="1">
              <a:defRPr/>
            </a:pPr>
            <a:r>
              <a:rPr lang="en-GB" dirty="0"/>
              <a:t>Memory blocks</a:t>
            </a:r>
          </a:p>
          <a:p>
            <a:pPr lvl="1" eaLnBrk="1" hangingPunct="1">
              <a:defRPr/>
            </a:pPr>
            <a:r>
              <a:rPr lang="en-GB" dirty="0"/>
              <a:t>Multiplier blocks</a:t>
            </a:r>
          </a:p>
          <a:p>
            <a:pPr lvl="0"/>
            <a:r>
              <a:rPr lang="en-US" b="1" dirty="0">
                <a:solidFill>
                  <a:srgbClr val="000000"/>
                </a:solidFill>
              </a:rPr>
              <a:t>Programmable Switching Matrices</a:t>
            </a:r>
          </a:p>
          <a:p>
            <a:pPr lvl="1" eaLnBrk="1" hangingPunct="1">
              <a:buClr>
                <a:srgbClr val="A8AFAF"/>
              </a:buClr>
              <a:defRPr/>
            </a:pPr>
            <a:r>
              <a:rPr lang="en-GB" dirty="0">
                <a:solidFill>
                  <a:srgbClr val="000000"/>
                </a:solidFill>
              </a:rPr>
              <a:t>Programmable horizontal/  vertical routing channels</a:t>
            </a:r>
          </a:p>
          <a:p>
            <a:pPr lvl="1" eaLnBrk="1" hangingPunct="1">
              <a:buClr>
                <a:srgbClr val="A8AFAF"/>
              </a:buClr>
              <a:defRPr/>
            </a:pPr>
            <a:r>
              <a:rPr lang="en-GB" dirty="0">
                <a:solidFill>
                  <a:srgbClr val="000000"/>
                </a:solidFill>
              </a:rPr>
              <a:t>Connecting blocks together    and I/O</a:t>
            </a:r>
          </a:p>
          <a:p>
            <a:pPr lvl="0"/>
            <a:r>
              <a:rPr lang="en-US" b="1" dirty="0">
                <a:solidFill>
                  <a:srgbClr val="000000"/>
                </a:solidFill>
              </a:rPr>
              <a:t>I/O Blocks</a:t>
            </a:r>
          </a:p>
          <a:p>
            <a:pPr lvl="1" eaLnBrk="1" hangingPunct="1">
              <a:buClr>
                <a:srgbClr val="A8AFAF"/>
              </a:buClr>
              <a:defRPr/>
            </a:pPr>
            <a:r>
              <a:rPr lang="en-GB" dirty="0">
                <a:solidFill>
                  <a:srgbClr val="000000"/>
                </a:solidFill>
              </a:rPr>
              <a:t>Connecting the chip to the outside</a:t>
            </a:r>
          </a:p>
          <a:p>
            <a:pPr lvl="0"/>
            <a:endParaRPr lang="en-US" b="1" dirty="0">
              <a:solidFill>
                <a:srgbClr val="000000"/>
              </a:solidFill>
            </a:endParaRPr>
          </a:p>
          <a:p>
            <a:pPr marL="984250" lvl="1" indent="0" eaLnBrk="1" hangingPunct="1">
              <a:buNone/>
              <a:defRPr/>
            </a:pPr>
            <a:endParaRPr lang="en-US" b="1" dirty="0"/>
          </a:p>
          <a:p>
            <a:pPr lvl="1" eaLnBrk="1" hangingPunct="1">
              <a:defRPr/>
            </a:pPr>
            <a:endParaRPr lang="en-GB" dirty="0"/>
          </a:p>
          <a:p>
            <a:endParaRPr lang="en-US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795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098"/>
    </mc:Choice>
    <mc:Fallback xmlns="">
      <p:transition spd="slow" advTm="4609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1.2. FPGA Categories (Structure)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60798" y="1753712"/>
            <a:ext cx="3958903" cy="1265938"/>
          </a:xfrm>
        </p:spPr>
        <p:txBody>
          <a:bodyPr/>
          <a:lstStyle/>
          <a:p>
            <a:pPr lvl="0"/>
            <a:r>
              <a:rPr lang="en-US" b="1" dirty="0">
                <a:solidFill>
                  <a:srgbClr val="000000"/>
                </a:solidFill>
              </a:rPr>
              <a:t>Homogeneous</a:t>
            </a:r>
          </a:p>
          <a:p>
            <a:pPr eaLnBrk="1" hangingPunct="1">
              <a:buClr>
                <a:srgbClr val="A8AFAF"/>
              </a:buClr>
              <a:defRPr/>
            </a:pPr>
            <a:r>
              <a:rPr lang="en-GB" dirty="0">
                <a:solidFill>
                  <a:srgbClr val="000000"/>
                </a:solidFill>
              </a:rPr>
              <a:t>Employ only one type of logic block</a:t>
            </a:r>
          </a:p>
          <a:p>
            <a:pPr eaLnBrk="1" hangingPunct="1">
              <a:buClr>
                <a:srgbClr val="A8AFAF"/>
              </a:buClr>
              <a:defRPr/>
            </a:pPr>
            <a:r>
              <a:rPr lang="en-GB" dirty="0">
                <a:solidFill>
                  <a:srgbClr val="000000"/>
                </a:solidFill>
              </a:rPr>
              <a:t>Connecting blocks together</a:t>
            </a:r>
            <a:endParaRPr lang="en-US" b="1" dirty="0">
              <a:solidFill>
                <a:srgbClr val="000000"/>
              </a:solidFill>
            </a:endParaRPr>
          </a:p>
          <a:p>
            <a:pPr marL="984250" lvl="1" indent="0" eaLnBrk="1" hangingPunct="1">
              <a:buNone/>
              <a:defRPr/>
            </a:pPr>
            <a:endParaRPr lang="en-US" b="1" dirty="0"/>
          </a:p>
          <a:p>
            <a:pPr lvl="1" eaLnBrk="1" hangingPunct="1">
              <a:defRPr/>
            </a:pPr>
            <a:endParaRPr lang="en-GB" dirty="0"/>
          </a:p>
          <a:p>
            <a:endParaRPr lang="en-US" b="1" dirty="0"/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25" y="3124402"/>
            <a:ext cx="2988000" cy="29192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196" y="3066708"/>
            <a:ext cx="2952000" cy="3034618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419701" y="1753711"/>
            <a:ext cx="4697632" cy="157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b="1" dirty="0">
                <a:solidFill>
                  <a:srgbClr val="000000"/>
                </a:solidFill>
              </a:rPr>
              <a:t>Heterogeneous</a:t>
            </a:r>
          </a:p>
          <a:p>
            <a:pPr eaLnBrk="1" hangingPunct="1">
              <a:buClr>
                <a:srgbClr val="A8AFAF"/>
              </a:buClr>
              <a:defRPr/>
            </a:pPr>
            <a:r>
              <a:rPr lang="en-GB" dirty="0">
                <a:solidFill>
                  <a:srgbClr val="000000"/>
                </a:solidFill>
              </a:rPr>
              <a:t>Employ mixture of different blocks such as dedicated memory/multiplier </a:t>
            </a:r>
          </a:p>
          <a:p>
            <a:pPr eaLnBrk="1" hangingPunct="1">
              <a:buClr>
                <a:srgbClr val="A8AFAF"/>
              </a:buClr>
              <a:defRPr/>
            </a:pPr>
            <a:r>
              <a:rPr lang="en-GB" dirty="0">
                <a:solidFill>
                  <a:srgbClr val="000000"/>
                </a:solidFill>
              </a:rPr>
              <a:t>Very efficient for specific functions</a:t>
            </a:r>
            <a:endParaRPr lang="en-GB" kern="0" dirty="0"/>
          </a:p>
        </p:txBody>
      </p:sp>
    </p:spTree>
    <p:extLst>
      <p:ext uri="{BB962C8B-B14F-4D97-AF65-F5344CB8AC3E}">
        <p14:creationId xmlns:p14="http://schemas.microsoft.com/office/powerpoint/2010/main" val="354396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73"/>
    </mc:Choice>
    <mc:Fallback xmlns="">
      <p:transition spd="slow" advTm="4137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1.2. FPGA Categories (Floor Plan)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7</a:t>
            </a:fld>
            <a:endParaRPr lang="de-D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020" y="1650823"/>
            <a:ext cx="2304000" cy="22923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681" y="1650827"/>
            <a:ext cx="2880000" cy="227368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701" y="3885457"/>
            <a:ext cx="3240000" cy="21701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804" y="3934801"/>
            <a:ext cx="2448000" cy="20832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30" y="4647392"/>
            <a:ext cx="152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Sea-of-Gate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75178"/>
            <a:ext cx="1678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Symmetrical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439" y="2499946"/>
            <a:ext cx="1678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Row-Based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8501" y="4647392"/>
            <a:ext cx="16783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Hierarchical PLD</a:t>
            </a:r>
          </a:p>
        </p:txBody>
      </p:sp>
    </p:spTree>
    <p:extLst>
      <p:ext uri="{BB962C8B-B14F-4D97-AF65-F5344CB8AC3E}">
        <p14:creationId xmlns:p14="http://schemas.microsoft.com/office/powerpoint/2010/main" val="399976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149"/>
    </mc:Choice>
    <mc:Fallback xmlns="">
      <p:transition spd="slow" advTm="5314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Content Placeholder 2"/>
          <p:cNvSpPr txBox="1">
            <a:spLocks/>
          </p:cNvSpPr>
          <p:nvPr/>
        </p:nvSpPr>
        <p:spPr bwMode="auto">
          <a:xfrm>
            <a:off x="460375" y="1753200"/>
            <a:ext cx="8071399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Logic Array Blocks (LAB)/Configurable Logic Blocks (CLB) are made of a series of </a:t>
            </a:r>
            <a:r>
              <a:rPr lang="en-US" b="1" dirty="0"/>
              <a:t>Logic Elements</a:t>
            </a:r>
            <a:r>
              <a:rPr lang="en-US" dirty="0"/>
              <a:t> (LE)</a:t>
            </a:r>
          </a:p>
          <a:p>
            <a:r>
              <a:rPr lang="en-US" b="1" dirty="0"/>
              <a:t>Logic elements </a:t>
            </a:r>
            <a:r>
              <a:rPr lang="en-US" dirty="0"/>
              <a:t>are the most important blocks of an FPGA which provides the basic computation and storage elements used in logic systems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 eaLnBrk="1" hangingPunct="1">
              <a:defRPr/>
            </a:pPr>
            <a:endParaRPr lang="en-US" kern="0" dirty="0"/>
          </a:p>
          <a:p>
            <a:endParaRPr lang="en-US" b="1" kern="0" dirty="0"/>
          </a:p>
          <a:p>
            <a:endParaRPr lang="en-GB" kern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8</a:t>
            </a:fld>
            <a:endParaRPr lang="de-DE" dirty="0"/>
          </a:p>
        </p:txBody>
      </p:sp>
      <p:pic>
        <p:nvPicPr>
          <p:cNvPr id="3074" name="Picture 2" descr="C:\Backup\Lancaster University\Teaching\ENGR228_Digital Electronic\A Montazeri_ENGR228\Pics\2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25" y="3579556"/>
            <a:ext cx="20859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5"/>
          <p:cNvSpPr/>
          <p:nvPr/>
        </p:nvSpPr>
        <p:spPr>
          <a:xfrm>
            <a:off x="2295701" y="3836465"/>
            <a:ext cx="486000" cy="46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3797938" y="3286618"/>
            <a:ext cx="4429238" cy="1969970"/>
            <a:chOff x="-65086" y="2355721"/>
            <a:chExt cx="8234363" cy="3662363"/>
          </a:xfrm>
        </p:grpSpPr>
        <p:sp>
          <p:nvSpPr>
            <p:cNvPr id="74" name="Rectangle 22"/>
            <p:cNvSpPr>
              <a:spLocks noChangeArrowheads="1"/>
            </p:cNvSpPr>
            <p:nvPr/>
          </p:nvSpPr>
          <p:spPr bwMode="auto">
            <a:xfrm>
              <a:off x="7007225" y="3817808"/>
              <a:ext cx="6350" cy="190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5" name="Rectangle 29"/>
            <p:cNvSpPr>
              <a:spLocks noChangeArrowheads="1"/>
            </p:cNvSpPr>
            <p:nvPr/>
          </p:nvSpPr>
          <p:spPr bwMode="auto">
            <a:xfrm>
              <a:off x="6616700" y="3603495"/>
              <a:ext cx="7938" cy="190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Rectangle 30"/>
            <p:cNvSpPr>
              <a:spLocks noChangeArrowheads="1"/>
            </p:cNvSpPr>
            <p:nvPr/>
          </p:nvSpPr>
          <p:spPr bwMode="auto">
            <a:xfrm>
              <a:off x="3535363" y="3603495"/>
              <a:ext cx="3081337" cy="19050"/>
            </a:xfrm>
            <a:prstGeom prst="rect">
              <a:avLst/>
            </a:prstGeom>
            <a:solidFill>
              <a:srgbClr val="0078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7" name="Rectangle 33"/>
            <p:cNvSpPr>
              <a:spLocks noChangeArrowheads="1"/>
            </p:cNvSpPr>
            <p:nvPr/>
          </p:nvSpPr>
          <p:spPr bwMode="auto">
            <a:xfrm>
              <a:off x="4529138" y="4803645"/>
              <a:ext cx="6350" cy="2063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8" name="Rectangle 34"/>
            <p:cNvSpPr>
              <a:spLocks noChangeArrowheads="1"/>
            </p:cNvSpPr>
            <p:nvPr/>
          </p:nvSpPr>
          <p:spPr bwMode="auto">
            <a:xfrm>
              <a:off x="2824163" y="4803645"/>
              <a:ext cx="6350" cy="2063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9" name="Rectangle 41"/>
            <p:cNvSpPr>
              <a:spLocks noChangeArrowheads="1"/>
            </p:cNvSpPr>
            <p:nvPr/>
          </p:nvSpPr>
          <p:spPr bwMode="auto">
            <a:xfrm>
              <a:off x="4529138" y="5595808"/>
              <a:ext cx="6350" cy="190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0" name="Rectangle 42"/>
            <p:cNvSpPr>
              <a:spLocks noChangeArrowheads="1"/>
            </p:cNvSpPr>
            <p:nvPr/>
          </p:nvSpPr>
          <p:spPr bwMode="auto">
            <a:xfrm>
              <a:off x="3932238" y="5595808"/>
              <a:ext cx="6350" cy="190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Rectangle 67"/>
            <p:cNvSpPr>
              <a:spLocks noChangeArrowheads="1"/>
            </p:cNvSpPr>
            <p:nvPr/>
          </p:nvSpPr>
          <p:spPr bwMode="auto">
            <a:xfrm>
              <a:off x="1670050" y="4394070"/>
              <a:ext cx="6350" cy="206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2" name="Rectangle 70"/>
            <p:cNvSpPr>
              <a:spLocks noChangeArrowheads="1"/>
            </p:cNvSpPr>
            <p:nvPr/>
          </p:nvSpPr>
          <p:spPr bwMode="auto">
            <a:xfrm>
              <a:off x="1670050" y="4803645"/>
              <a:ext cx="6350" cy="206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Rectangle 73"/>
            <p:cNvSpPr>
              <a:spLocks noChangeArrowheads="1"/>
            </p:cNvSpPr>
            <p:nvPr/>
          </p:nvSpPr>
          <p:spPr bwMode="auto">
            <a:xfrm>
              <a:off x="1670050" y="5213220"/>
              <a:ext cx="635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84" name="Group 77"/>
            <p:cNvGrpSpPr>
              <a:grpSpLocks/>
            </p:cNvGrpSpPr>
            <p:nvPr/>
          </p:nvGrpSpPr>
          <p:grpSpPr bwMode="auto">
            <a:xfrm>
              <a:off x="-65086" y="2355721"/>
              <a:ext cx="8234363" cy="3662363"/>
              <a:chOff x="-41" y="762"/>
              <a:chExt cx="5187" cy="2307"/>
            </a:xfrm>
          </p:grpSpPr>
          <p:sp>
            <p:nvSpPr>
              <p:cNvPr id="85" name="Freeform 17"/>
              <p:cNvSpPr>
                <a:spLocks/>
              </p:cNvSpPr>
              <p:nvPr/>
            </p:nvSpPr>
            <p:spPr bwMode="auto">
              <a:xfrm>
                <a:off x="2849" y="2743"/>
                <a:ext cx="8" cy="13"/>
              </a:xfrm>
              <a:custGeom>
                <a:avLst/>
                <a:gdLst>
                  <a:gd name="T0" fmla="*/ 16 w 16"/>
                  <a:gd name="T1" fmla="*/ 0 h 27"/>
                  <a:gd name="T2" fmla="*/ 7 w 16"/>
                  <a:gd name="T3" fmla="*/ 0 h 27"/>
                  <a:gd name="T4" fmla="*/ 0 w 16"/>
                  <a:gd name="T5" fmla="*/ 27 h 27"/>
                  <a:gd name="T6" fmla="*/ 7 w 16"/>
                  <a:gd name="T7" fmla="*/ 27 h 27"/>
                  <a:gd name="T8" fmla="*/ 16 w 16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7">
                    <a:moveTo>
                      <a:pt x="16" y="0"/>
                    </a:moveTo>
                    <a:lnTo>
                      <a:pt x="7" y="0"/>
                    </a:lnTo>
                    <a:lnTo>
                      <a:pt x="0" y="27"/>
                    </a:lnTo>
                    <a:lnTo>
                      <a:pt x="7" y="27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6" name="Freeform 18"/>
              <p:cNvSpPr>
                <a:spLocks/>
              </p:cNvSpPr>
              <p:nvPr/>
            </p:nvSpPr>
            <p:spPr bwMode="auto">
              <a:xfrm>
                <a:off x="2853" y="2831"/>
                <a:ext cx="148" cy="72"/>
              </a:xfrm>
              <a:custGeom>
                <a:avLst/>
                <a:gdLst>
                  <a:gd name="T0" fmla="*/ 9 w 296"/>
                  <a:gd name="T1" fmla="*/ 0 h 145"/>
                  <a:gd name="T2" fmla="*/ 0 w 296"/>
                  <a:gd name="T3" fmla="*/ 27 h 145"/>
                  <a:gd name="T4" fmla="*/ 254 w 296"/>
                  <a:gd name="T5" fmla="*/ 145 h 145"/>
                  <a:gd name="T6" fmla="*/ 262 w 296"/>
                  <a:gd name="T7" fmla="*/ 145 h 145"/>
                  <a:gd name="T8" fmla="*/ 296 w 296"/>
                  <a:gd name="T9" fmla="*/ 127 h 145"/>
                  <a:gd name="T10" fmla="*/ 262 w 296"/>
                  <a:gd name="T11" fmla="*/ 120 h 145"/>
                  <a:gd name="T12" fmla="*/ 9 w 296"/>
                  <a:gd name="T13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6" h="145">
                    <a:moveTo>
                      <a:pt x="9" y="0"/>
                    </a:moveTo>
                    <a:lnTo>
                      <a:pt x="0" y="27"/>
                    </a:lnTo>
                    <a:lnTo>
                      <a:pt x="254" y="145"/>
                    </a:lnTo>
                    <a:lnTo>
                      <a:pt x="262" y="145"/>
                    </a:lnTo>
                    <a:lnTo>
                      <a:pt x="296" y="127"/>
                    </a:lnTo>
                    <a:lnTo>
                      <a:pt x="262" y="12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7" name="Freeform 19"/>
              <p:cNvSpPr>
                <a:spLocks/>
              </p:cNvSpPr>
              <p:nvPr/>
            </p:nvSpPr>
            <p:spPr bwMode="auto">
              <a:xfrm>
                <a:off x="2849" y="2866"/>
                <a:ext cx="8" cy="13"/>
              </a:xfrm>
              <a:custGeom>
                <a:avLst/>
                <a:gdLst>
                  <a:gd name="T0" fmla="*/ 16 w 16"/>
                  <a:gd name="T1" fmla="*/ 25 h 25"/>
                  <a:gd name="T2" fmla="*/ 7 w 16"/>
                  <a:gd name="T3" fmla="*/ 25 h 25"/>
                  <a:gd name="T4" fmla="*/ 0 w 16"/>
                  <a:gd name="T5" fmla="*/ 0 h 25"/>
                  <a:gd name="T6" fmla="*/ 7 w 16"/>
                  <a:gd name="T7" fmla="*/ 0 h 25"/>
                  <a:gd name="T8" fmla="*/ 16 w 16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5">
                    <a:moveTo>
                      <a:pt x="16" y="25"/>
                    </a:moveTo>
                    <a:lnTo>
                      <a:pt x="7" y="25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16" y="25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8" name="Freeform 20"/>
              <p:cNvSpPr>
                <a:spLocks/>
              </p:cNvSpPr>
              <p:nvPr/>
            </p:nvSpPr>
            <p:spPr bwMode="auto">
              <a:xfrm>
                <a:off x="2853" y="2903"/>
                <a:ext cx="131" cy="76"/>
              </a:xfrm>
              <a:custGeom>
                <a:avLst/>
                <a:gdLst>
                  <a:gd name="T0" fmla="*/ 262 w 262"/>
                  <a:gd name="T1" fmla="*/ 25 h 152"/>
                  <a:gd name="T2" fmla="*/ 254 w 262"/>
                  <a:gd name="T3" fmla="*/ 0 h 152"/>
                  <a:gd name="T4" fmla="*/ 0 w 262"/>
                  <a:gd name="T5" fmla="*/ 127 h 152"/>
                  <a:gd name="T6" fmla="*/ 9 w 262"/>
                  <a:gd name="T7" fmla="*/ 152 h 152"/>
                  <a:gd name="T8" fmla="*/ 262 w 262"/>
                  <a:gd name="T9" fmla="*/ 25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152">
                    <a:moveTo>
                      <a:pt x="262" y="25"/>
                    </a:moveTo>
                    <a:lnTo>
                      <a:pt x="254" y="0"/>
                    </a:lnTo>
                    <a:lnTo>
                      <a:pt x="0" y="127"/>
                    </a:lnTo>
                    <a:lnTo>
                      <a:pt x="9" y="152"/>
                    </a:lnTo>
                    <a:lnTo>
                      <a:pt x="262" y="25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9" name="Rectangle 21"/>
              <p:cNvSpPr>
                <a:spLocks noChangeArrowheads="1"/>
              </p:cNvSpPr>
              <p:nvPr/>
            </p:nvSpPr>
            <p:spPr bwMode="auto">
              <a:xfrm>
                <a:off x="4989" y="1683"/>
                <a:ext cx="4" cy="12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0" name="Rectangle 23"/>
              <p:cNvSpPr>
                <a:spLocks noChangeArrowheads="1"/>
              </p:cNvSpPr>
              <p:nvPr/>
            </p:nvSpPr>
            <p:spPr bwMode="auto">
              <a:xfrm>
                <a:off x="4418" y="1683"/>
                <a:ext cx="571" cy="12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1" name="Rectangle 24"/>
              <p:cNvSpPr>
                <a:spLocks noChangeArrowheads="1"/>
              </p:cNvSpPr>
              <p:nvPr/>
            </p:nvSpPr>
            <p:spPr bwMode="auto">
              <a:xfrm>
                <a:off x="3475" y="2304"/>
                <a:ext cx="4" cy="13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2" name="Rectangle 25"/>
              <p:cNvSpPr>
                <a:spLocks noChangeArrowheads="1"/>
              </p:cNvSpPr>
              <p:nvPr/>
            </p:nvSpPr>
            <p:spPr bwMode="auto">
              <a:xfrm>
                <a:off x="3479" y="2304"/>
                <a:ext cx="258" cy="13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3" name="Rectangle 26"/>
              <p:cNvSpPr>
                <a:spLocks noChangeArrowheads="1"/>
              </p:cNvSpPr>
              <p:nvPr/>
            </p:nvSpPr>
            <p:spPr bwMode="auto">
              <a:xfrm>
                <a:off x="3724" y="1806"/>
                <a:ext cx="13" cy="502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4" name="Rectangle 27"/>
              <p:cNvSpPr>
                <a:spLocks noChangeArrowheads="1"/>
              </p:cNvSpPr>
              <p:nvPr/>
            </p:nvSpPr>
            <p:spPr bwMode="auto">
              <a:xfrm>
                <a:off x="4168" y="1806"/>
                <a:ext cx="5" cy="12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5" name="Rectangle 28"/>
              <p:cNvSpPr>
                <a:spLocks noChangeArrowheads="1"/>
              </p:cNvSpPr>
              <p:nvPr/>
            </p:nvSpPr>
            <p:spPr bwMode="auto">
              <a:xfrm>
                <a:off x="3729" y="1806"/>
                <a:ext cx="439" cy="12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6" name="Rectangle 31"/>
              <p:cNvSpPr>
                <a:spLocks noChangeArrowheads="1"/>
              </p:cNvSpPr>
              <p:nvPr/>
            </p:nvSpPr>
            <p:spPr bwMode="auto">
              <a:xfrm>
                <a:off x="2227" y="2308"/>
                <a:ext cx="13" cy="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7" name="Rectangle 32"/>
              <p:cNvSpPr>
                <a:spLocks noChangeArrowheads="1"/>
              </p:cNvSpPr>
              <p:nvPr/>
            </p:nvSpPr>
            <p:spPr bwMode="auto">
              <a:xfrm>
                <a:off x="2227" y="1552"/>
                <a:ext cx="13" cy="756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8" name="Rectangle 35"/>
              <p:cNvSpPr>
                <a:spLocks noChangeArrowheads="1"/>
              </p:cNvSpPr>
              <p:nvPr/>
            </p:nvSpPr>
            <p:spPr bwMode="auto">
              <a:xfrm>
                <a:off x="1783" y="2304"/>
                <a:ext cx="1070" cy="13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9" name="Freeform 36"/>
              <p:cNvSpPr>
                <a:spLocks/>
              </p:cNvSpPr>
              <p:nvPr/>
            </p:nvSpPr>
            <p:spPr bwMode="auto">
              <a:xfrm>
                <a:off x="2206" y="2287"/>
                <a:ext cx="47" cy="42"/>
              </a:xfrm>
              <a:custGeom>
                <a:avLst/>
                <a:gdLst>
                  <a:gd name="T0" fmla="*/ 94 w 94"/>
                  <a:gd name="T1" fmla="*/ 43 h 85"/>
                  <a:gd name="T2" fmla="*/ 76 w 94"/>
                  <a:gd name="T3" fmla="*/ 18 h 85"/>
                  <a:gd name="T4" fmla="*/ 51 w 94"/>
                  <a:gd name="T5" fmla="*/ 0 h 85"/>
                  <a:gd name="T6" fmla="*/ 18 w 94"/>
                  <a:gd name="T7" fmla="*/ 18 h 85"/>
                  <a:gd name="T8" fmla="*/ 0 w 94"/>
                  <a:gd name="T9" fmla="*/ 43 h 85"/>
                  <a:gd name="T10" fmla="*/ 18 w 94"/>
                  <a:gd name="T11" fmla="*/ 76 h 85"/>
                  <a:gd name="T12" fmla="*/ 51 w 94"/>
                  <a:gd name="T13" fmla="*/ 85 h 85"/>
                  <a:gd name="T14" fmla="*/ 76 w 94"/>
                  <a:gd name="T15" fmla="*/ 76 h 85"/>
                  <a:gd name="T16" fmla="*/ 94 w 94"/>
                  <a:gd name="T17" fmla="*/ 43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85">
                    <a:moveTo>
                      <a:pt x="94" y="43"/>
                    </a:moveTo>
                    <a:lnTo>
                      <a:pt x="76" y="18"/>
                    </a:lnTo>
                    <a:lnTo>
                      <a:pt x="51" y="0"/>
                    </a:lnTo>
                    <a:lnTo>
                      <a:pt x="18" y="18"/>
                    </a:lnTo>
                    <a:lnTo>
                      <a:pt x="0" y="43"/>
                    </a:lnTo>
                    <a:lnTo>
                      <a:pt x="18" y="76"/>
                    </a:lnTo>
                    <a:lnTo>
                      <a:pt x="51" y="85"/>
                    </a:lnTo>
                    <a:lnTo>
                      <a:pt x="76" y="76"/>
                    </a:lnTo>
                    <a:lnTo>
                      <a:pt x="94" y="43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0" name="Freeform 37"/>
              <p:cNvSpPr>
                <a:spLocks/>
              </p:cNvSpPr>
              <p:nvPr/>
            </p:nvSpPr>
            <p:spPr bwMode="auto">
              <a:xfrm>
                <a:off x="2208" y="2283"/>
                <a:ext cx="59" cy="55"/>
              </a:xfrm>
              <a:custGeom>
                <a:avLst/>
                <a:gdLst>
                  <a:gd name="T0" fmla="*/ 93 w 118"/>
                  <a:gd name="T1" fmla="*/ 59 h 110"/>
                  <a:gd name="T2" fmla="*/ 75 w 118"/>
                  <a:gd name="T3" fmla="*/ 33 h 110"/>
                  <a:gd name="T4" fmla="*/ 75 w 118"/>
                  <a:gd name="T5" fmla="*/ 33 h 110"/>
                  <a:gd name="T6" fmla="*/ 75 w 118"/>
                  <a:gd name="T7" fmla="*/ 33 h 110"/>
                  <a:gd name="T8" fmla="*/ 51 w 118"/>
                  <a:gd name="T9" fmla="*/ 17 h 110"/>
                  <a:gd name="T10" fmla="*/ 68 w 118"/>
                  <a:gd name="T11" fmla="*/ 26 h 110"/>
                  <a:gd name="T12" fmla="*/ 68 w 118"/>
                  <a:gd name="T13" fmla="*/ 26 h 110"/>
                  <a:gd name="T14" fmla="*/ 33 w 118"/>
                  <a:gd name="T15" fmla="*/ 42 h 110"/>
                  <a:gd name="T16" fmla="*/ 33 w 118"/>
                  <a:gd name="T17" fmla="*/ 33 h 110"/>
                  <a:gd name="T18" fmla="*/ 33 w 118"/>
                  <a:gd name="T19" fmla="*/ 33 h 110"/>
                  <a:gd name="T20" fmla="*/ 17 w 118"/>
                  <a:gd name="T21" fmla="*/ 59 h 110"/>
                  <a:gd name="T22" fmla="*/ 26 w 118"/>
                  <a:gd name="T23" fmla="*/ 51 h 110"/>
                  <a:gd name="T24" fmla="*/ 26 w 118"/>
                  <a:gd name="T25" fmla="*/ 51 h 110"/>
                  <a:gd name="T26" fmla="*/ 42 w 118"/>
                  <a:gd name="T27" fmla="*/ 84 h 110"/>
                  <a:gd name="T28" fmla="*/ 33 w 118"/>
                  <a:gd name="T29" fmla="*/ 75 h 110"/>
                  <a:gd name="T30" fmla="*/ 33 w 118"/>
                  <a:gd name="T31" fmla="*/ 75 h 110"/>
                  <a:gd name="T32" fmla="*/ 68 w 118"/>
                  <a:gd name="T33" fmla="*/ 84 h 110"/>
                  <a:gd name="T34" fmla="*/ 59 w 118"/>
                  <a:gd name="T35" fmla="*/ 84 h 110"/>
                  <a:gd name="T36" fmla="*/ 59 w 118"/>
                  <a:gd name="T37" fmla="*/ 84 h 110"/>
                  <a:gd name="T38" fmla="*/ 84 w 118"/>
                  <a:gd name="T39" fmla="*/ 75 h 110"/>
                  <a:gd name="T40" fmla="*/ 75 w 118"/>
                  <a:gd name="T41" fmla="*/ 84 h 110"/>
                  <a:gd name="T42" fmla="*/ 75 w 118"/>
                  <a:gd name="T43" fmla="*/ 84 h 110"/>
                  <a:gd name="T44" fmla="*/ 93 w 118"/>
                  <a:gd name="T45" fmla="*/ 51 h 110"/>
                  <a:gd name="T46" fmla="*/ 93 w 118"/>
                  <a:gd name="T47" fmla="*/ 51 h 110"/>
                  <a:gd name="T48" fmla="*/ 118 w 118"/>
                  <a:gd name="T49" fmla="*/ 59 h 110"/>
                  <a:gd name="T50" fmla="*/ 118 w 118"/>
                  <a:gd name="T51" fmla="*/ 59 h 110"/>
                  <a:gd name="T52" fmla="*/ 102 w 118"/>
                  <a:gd name="T53" fmla="*/ 93 h 110"/>
                  <a:gd name="T54" fmla="*/ 102 w 118"/>
                  <a:gd name="T55" fmla="*/ 93 h 110"/>
                  <a:gd name="T56" fmla="*/ 93 w 118"/>
                  <a:gd name="T57" fmla="*/ 102 h 110"/>
                  <a:gd name="T58" fmla="*/ 68 w 118"/>
                  <a:gd name="T59" fmla="*/ 110 h 110"/>
                  <a:gd name="T60" fmla="*/ 68 w 118"/>
                  <a:gd name="T61" fmla="*/ 110 h 110"/>
                  <a:gd name="T62" fmla="*/ 59 w 118"/>
                  <a:gd name="T63" fmla="*/ 110 h 110"/>
                  <a:gd name="T64" fmla="*/ 26 w 118"/>
                  <a:gd name="T65" fmla="*/ 102 h 110"/>
                  <a:gd name="T66" fmla="*/ 26 w 118"/>
                  <a:gd name="T67" fmla="*/ 102 h 110"/>
                  <a:gd name="T68" fmla="*/ 17 w 118"/>
                  <a:gd name="T69" fmla="*/ 93 h 110"/>
                  <a:gd name="T70" fmla="*/ 0 w 118"/>
                  <a:gd name="T71" fmla="*/ 59 h 110"/>
                  <a:gd name="T72" fmla="*/ 0 w 118"/>
                  <a:gd name="T73" fmla="*/ 59 h 110"/>
                  <a:gd name="T74" fmla="*/ 0 w 118"/>
                  <a:gd name="T75" fmla="*/ 42 h 110"/>
                  <a:gd name="T76" fmla="*/ 17 w 118"/>
                  <a:gd name="T77" fmla="*/ 17 h 110"/>
                  <a:gd name="T78" fmla="*/ 17 w 118"/>
                  <a:gd name="T79" fmla="*/ 17 h 110"/>
                  <a:gd name="T80" fmla="*/ 26 w 118"/>
                  <a:gd name="T81" fmla="*/ 17 h 110"/>
                  <a:gd name="T82" fmla="*/ 59 w 118"/>
                  <a:gd name="T83" fmla="*/ 0 h 110"/>
                  <a:gd name="T84" fmla="*/ 59 w 118"/>
                  <a:gd name="T85" fmla="*/ 0 h 110"/>
                  <a:gd name="T86" fmla="*/ 68 w 118"/>
                  <a:gd name="T87" fmla="*/ 0 h 110"/>
                  <a:gd name="T88" fmla="*/ 93 w 118"/>
                  <a:gd name="T89" fmla="*/ 17 h 110"/>
                  <a:gd name="T90" fmla="*/ 93 w 118"/>
                  <a:gd name="T91" fmla="*/ 17 h 110"/>
                  <a:gd name="T92" fmla="*/ 93 w 118"/>
                  <a:gd name="T93" fmla="*/ 17 h 110"/>
                  <a:gd name="T94" fmla="*/ 111 w 118"/>
                  <a:gd name="T95" fmla="*/ 42 h 110"/>
                  <a:gd name="T96" fmla="*/ 93 w 118"/>
                  <a:gd name="T97" fmla="*/ 5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18" h="110">
                    <a:moveTo>
                      <a:pt x="93" y="59"/>
                    </a:moveTo>
                    <a:lnTo>
                      <a:pt x="75" y="33"/>
                    </a:lnTo>
                    <a:lnTo>
                      <a:pt x="75" y="33"/>
                    </a:lnTo>
                    <a:lnTo>
                      <a:pt x="75" y="33"/>
                    </a:lnTo>
                    <a:lnTo>
                      <a:pt x="51" y="17"/>
                    </a:lnTo>
                    <a:lnTo>
                      <a:pt x="68" y="26"/>
                    </a:lnTo>
                    <a:lnTo>
                      <a:pt x="68" y="26"/>
                    </a:lnTo>
                    <a:lnTo>
                      <a:pt x="33" y="42"/>
                    </a:lnTo>
                    <a:lnTo>
                      <a:pt x="33" y="33"/>
                    </a:lnTo>
                    <a:lnTo>
                      <a:pt x="33" y="33"/>
                    </a:lnTo>
                    <a:lnTo>
                      <a:pt x="17" y="59"/>
                    </a:lnTo>
                    <a:lnTo>
                      <a:pt x="26" y="51"/>
                    </a:lnTo>
                    <a:lnTo>
                      <a:pt x="26" y="51"/>
                    </a:lnTo>
                    <a:lnTo>
                      <a:pt x="42" y="84"/>
                    </a:lnTo>
                    <a:lnTo>
                      <a:pt x="33" y="75"/>
                    </a:lnTo>
                    <a:lnTo>
                      <a:pt x="33" y="75"/>
                    </a:lnTo>
                    <a:lnTo>
                      <a:pt x="68" y="84"/>
                    </a:lnTo>
                    <a:lnTo>
                      <a:pt x="59" y="84"/>
                    </a:lnTo>
                    <a:lnTo>
                      <a:pt x="59" y="84"/>
                    </a:lnTo>
                    <a:lnTo>
                      <a:pt x="84" y="75"/>
                    </a:lnTo>
                    <a:lnTo>
                      <a:pt x="75" y="84"/>
                    </a:lnTo>
                    <a:lnTo>
                      <a:pt x="75" y="84"/>
                    </a:lnTo>
                    <a:lnTo>
                      <a:pt x="93" y="51"/>
                    </a:lnTo>
                    <a:lnTo>
                      <a:pt x="93" y="51"/>
                    </a:lnTo>
                    <a:lnTo>
                      <a:pt x="118" y="59"/>
                    </a:lnTo>
                    <a:lnTo>
                      <a:pt x="118" y="59"/>
                    </a:lnTo>
                    <a:lnTo>
                      <a:pt x="102" y="93"/>
                    </a:lnTo>
                    <a:lnTo>
                      <a:pt x="102" y="93"/>
                    </a:lnTo>
                    <a:lnTo>
                      <a:pt x="93" y="102"/>
                    </a:lnTo>
                    <a:lnTo>
                      <a:pt x="68" y="110"/>
                    </a:lnTo>
                    <a:lnTo>
                      <a:pt x="68" y="110"/>
                    </a:lnTo>
                    <a:lnTo>
                      <a:pt x="59" y="110"/>
                    </a:lnTo>
                    <a:lnTo>
                      <a:pt x="26" y="102"/>
                    </a:lnTo>
                    <a:lnTo>
                      <a:pt x="26" y="102"/>
                    </a:lnTo>
                    <a:lnTo>
                      <a:pt x="17" y="9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2"/>
                    </a:lnTo>
                    <a:lnTo>
                      <a:pt x="17" y="17"/>
                    </a:lnTo>
                    <a:lnTo>
                      <a:pt x="17" y="17"/>
                    </a:lnTo>
                    <a:lnTo>
                      <a:pt x="26" y="17"/>
                    </a:lnTo>
                    <a:lnTo>
                      <a:pt x="59" y="0"/>
                    </a:lnTo>
                    <a:lnTo>
                      <a:pt x="59" y="0"/>
                    </a:lnTo>
                    <a:lnTo>
                      <a:pt x="68" y="0"/>
                    </a:lnTo>
                    <a:lnTo>
                      <a:pt x="93" y="17"/>
                    </a:lnTo>
                    <a:lnTo>
                      <a:pt x="93" y="17"/>
                    </a:lnTo>
                    <a:lnTo>
                      <a:pt x="93" y="17"/>
                    </a:lnTo>
                    <a:lnTo>
                      <a:pt x="111" y="42"/>
                    </a:lnTo>
                    <a:lnTo>
                      <a:pt x="93" y="59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1" name="Freeform 38"/>
              <p:cNvSpPr>
                <a:spLocks/>
              </p:cNvSpPr>
              <p:nvPr/>
            </p:nvSpPr>
            <p:spPr bwMode="auto">
              <a:xfrm>
                <a:off x="2248" y="2304"/>
                <a:ext cx="13" cy="9"/>
              </a:xfrm>
              <a:custGeom>
                <a:avLst/>
                <a:gdLst>
                  <a:gd name="T0" fmla="*/ 0 w 25"/>
                  <a:gd name="T1" fmla="*/ 9 h 17"/>
                  <a:gd name="T2" fmla="*/ 0 w 25"/>
                  <a:gd name="T3" fmla="*/ 9 h 17"/>
                  <a:gd name="T4" fmla="*/ 0 w 25"/>
                  <a:gd name="T5" fmla="*/ 17 h 17"/>
                  <a:gd name="T6" fmla="*/ 18 w 25"/>
                  <a:gd name="T7" fmla="*/ 0 h 17"/>
                  <a:gd name="T8" fmla="*/ 25 w 25"/>
                  <a:gd name="T9" fmla="*/ 17 h 17"/>
                  <a:gd name="T10" fmla="*/ 25 w 25"/>
                  <a:gd name="T11" fmla="*/ 17 h 17"/>
                  <a:gd name="T12" fmla="*/ 0 w 25"/>
                  <a:gd name="T13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17">
                    <a:moveTo>
                      <a:pt x="0" y="9"/>
                    </a:moveTo>
                    <a:lnTo>
                      <a:pt x="0" y="9"/>
                    </a:lnTo>
                    <a:lnTo>
                      <a:pt x="0" y="17"/>
                    </a:lnTo>
                    <a:lnTo>
                      <a:pt x="18" y="0"/>
                    </a:lnTo>
                    <a:lnTo>
                      <a:pt x="25" y="17"/>
                    </a:lnTo>
                    <a:lnTo>
                      <a:pt x="25" y="17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2" name="Rectangle 39"/>
              <p:cNvSpPr>
                <a:spLocks noChangeArrowheads="1"/>
              </p:cNvSpPr>
              <p:nvPr/>
            </p:nvSpPr>
            <p:spPr bwMode="auto">
              <a:xfrm>
                <a:off x="4722" y="1389"/>
                <a:ext cx="424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Out </a:t>
                </a:r>
                <a:endParaRPr lang="en-CA" altLang="en-US" sz="1500" dirty="0"/>
              </a:p>
            </p:txBody>
          </p:sp>
          <p:sp>
            <p:nvSpPr>
              <p:cNvPr id="103" name="Rectangle 40"/>
              <p:cNvSpPr>
                <a:spLocks noChangeArrowheads="1"/>
              </p:cNvSpPr>
              <p:nvPr/>
            </p:nvSpPr>
            <p:spPr bwMode="auto">
              <a:xfrm>
                <a:off x="2865" y="2233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D</a:t>
                </a:r>
                <a:r>
                  <a:rPr lang="en-CA" altLang="en-US" sz="1600" dirty="0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CA" altLang="en-US" sz="1600" dirty="0"/>
              </a:p>
            </p:txBody>
          </p:sp>
          <p:sp>
            <p:nvSpPr>
              <p:cNvPr id="104" name="Rectangle 43"/>
              <p:cNvSpPr>
                <a:spLocks noChangeArrowheads="1"/>
              </p:cNvSpPr>
              <p:nvPr/>
            </p:nvSpPr>
            <p:spPr bwMode="auto">
              <a:xfrm>
                <a:off x="537" y="2903"/>
                <a:ext cx="2327" cy="12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5" name="Rectangle 44"/>
              <p:cNvSpPr>
                <a:spLocks noChangeArrowheads="1"/>
              </p:cNvSpPr>
              <p:nvPr/>
            </p:nvSpPr>
            <p:spPr bwMode="auto">
              <a:xfrm>
                <a:off x="3286" y="2233"/>
                <a:ext cx="237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CA" altLang="en-US" sz="1500" dirty="0"/>
              </a:p>
            </p:txBody>
          </p:sp>
          <p:sp>
            <p:nvSpPr>
              <p:cNvPr id="106" name="Rectangle 45"/>
              <p:cNvSpPr>
                <a:spLocks noChangeArrowheads="1"/>
              </p:cNvSpPr>
              <p:nvPr/>
            </p:nvSpPr>
            <p:spPr bwMode="auto">
              <a:xfrm>
                <a:off x="-41" y="2724"/>
                <a:ext cx="627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CA" altLang="en-US" sz="1500" dirty="0"/>
              </a:p>
            </p:txBody>
          </p:sp>
          <p:sp>
            <p:nvSpPr>
              <p:cNvPr id="107" name="Rectangle 46"/>
              <p:cNvSpPr>
                <a:spLocks noChangeArrowheads="1"/>
              </p:cNvSpPr>
              <p:nvPr/>
            </p:nvSpPr>
            <p:spPr bwMode="auto">
              <a:xfrm>
                <a:off x="3652" y="762"/>
                <a:ext cx="589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select</a:t>
                </a:r>
                <a:endParaRPr lang="en-CA" altLang="en-US" sz="1500" dirty="0"/>
              </a:p>
            </p:txBody>
          </p:sp>
          <p:sp>
            <p:nvSpPr>
              <p:cNvPr id="108" name="Rectangle 47"/>
              <p:cNvSpPr>
                <a:spLocks noChangeArrowheads="1"/>
              </p:cNvSpPr>
              <p:nvPr/>
            </p:nvSpPr>
            <p:spPr bwMode="auto">
              <a:xfrm>
                <a:off x="4291" y="1438"/>
                <a:ext cx="13" cy="4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9" name="Rectangle 48"/>
              <p:cNvSpPr>
                <a:spLocks noChangeArrowheads="1"/>
              </p:cNvSpPr>
              <p:nvPr/>
            </p:nvSpPr>
            <p:spPr bwMode="auto">
              <a:xfrm>
                <a:off x="4291" y="1184"/>
                <a:ext cx="13" cy="4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0" name="Rectangle 49"/>
              <p:cNvSpPr>
                <a:spLocks noChangeArrowheads="1"/>
              </p:cNvSpPr>
              <p:nvPr/>
            </p:nvSpPr>
            <p:spPr bwMode="auto">
              <a:xfrm>
                <a:off x="4291" y="767"/>
                <a:ext cx="13" cy="659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1" name="Rectangle 50"/>
              <p:cNvSpPr>
                <a:spLocks noChangeArrowheads="1"/>
              </p:cNvSpPr>
              <p:nvPr/>
            </p:nvSpPr>
            <p:spPr bwMode="auto">
              <a:xfrm>
                <a:off x="2853" y="2046"/>
                <a:ext cx="639" cy="25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2" name="Rectangle 51"/>
              <p:cNvSpPr>
                <a:spLocks noChangeArrowheads="1"/>
              </p:cNvSpPr>
              <p:nvPr/>
            </p:nvSpPr>
            <p:spPr bwMode="auto">
              <a:xfrm>
                <a:off x="3466" y="2059"/>
                <a:ext cx="26" cy="1010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3" name="Rectangle 52"/>
              <p:cNvSpPr>
                <a:spLocks noChangeArrowheads="1"/>
              </p:cNvSpPr>
              <p:nvPr/>
            </p:nvSpPr>
            <p:spPr bwMode="auto">
              <a:xfrm>
                <a:off x="2841" y="3043"/>
                <a:ext cx="638" cy="26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4" name="Rectangle 53"/>
              <p:cNvSpPr>
                <a:spLocks noChangeArrowheads="1"/>
              </p:cNvSpPr>
              <p:nvPr/>
            </p:nvSpPr>
            <p:spPr bwMode="auto">
              <a:xfrm>
                <a:off x="2841" y="2046"/>
                <a:ext cx="25" cy="1011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5" name="Freeform 54"/>
              <p:cNvSpPr>
                <a:spLocks/>
              </p:cNvSpPr>
              <p:nvPr/>
            </p:nvSpPr>
            <p:spPr bwMode="auto">
              <a:xfrm>
                <a:off x="4156" y="1357"/>
                <a:ext cx="275" cy="639"/>
              </a:xfrm>
              <a:custGeom>
                <a:avLst/>
                <a:gdLst>
                  <a:gd name="T0" fmla="*/ 0 w 550"/>
                  <a:gd name="T1" fmla="*/ 1276 h 1276"/>
                  <a:gd name="T2" fmla="*/ 0 w 550"/>
                  <a:gd name="T3" fmla="*/ 33 h 1276"/>
                  <a:gd name="T4" fmla="*/ 0 w 550"/>
                  <a:gd name="T5" fmla="*/ 0 h 1276"/>
                  <a:gd name="T6" fmla="*/ 42 w 550"/>
                  <a:gd name="T7" fmla="*/ 17 h 1276"/>
                  <a:gd name="T8" fmla="*/ 541 w 550"/>
                  <a:gd name="T9" fmla="*/ 262 h 1276"/>
                  <a:gd name="T10" fmla="*/ 550 w 550"/>
                  <a:gd name="T11" fmla="*/ 262 h 1276"/>
                  <a:gd name="T12" fmla="*/ 550 w 550"/>
                  <a:gd name="T13" fmla="*/ 278 h 1276"/>
                  <a:gd name="T14" fmla="*/ 550 w 550"/>
                  <a:gd name="T15" fmla="*/ 1032 h 1276"/>
                  <a:gd name="T16" fmla="*/ 550 w 550"/>
                  <a:gd name="T17" fmla="*/ 1056 h 1276"/>
                  <a:gd name="T18" fmla="*/ 541 w 550"/>
                  <a:gd name="T19" fmla="*/ 1056 h 1276"/>
                  <a:gd name="T20" fmla="*/ 499 w 550"/>
                  <a:gd name="T21" fmla="*/ 1032 h 1276"/>
                  <a:gd name="T22" fmla="*/ 499 w 550"/>
                  <a:gd name="T23" fmla="*/ 278 h 1276"/>
                  <a:gd name="T24" fmla="*/ 550 w 550"/>
                  <a:gd name="T25" fmla="*/ 278 h 1276"/>
                  <a:gd name="T26" fmla="*/ 516 w 550"/>
                  <a:gd name="T27" fmla="*/ 304 h 1276"/>
                  <a:gd name="T28" fmla="*/ 16 w 550"/>
                  <a:gd name="T29" fmla="*/ 60 h 1276"/>
                  <a:gd name="T30" fmla="*/ 42 w 550"/>
                  <a:gd name="T31" fmla="*/ 17 h 1276"/>
                  <a:gd name="T32" fmla="*/ 51 w 550"/>
                  <a:gd name="T33" fmla="*/ 33 h 1276"/>
                  <a:gd name="T34" fmla="*/ 51 w 550"/>
                  <a:gd name="T35" fmla="*/ 1276 h 1276"/>
                  <a:gd name="T36" fmla="*/ 0 w 550"/>
                  <a:gd name="T37" fmla="*/ 1276 h 1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0" h="1276">
                    <a:moveTo>
                      <a:pt x="0" y="1276"/>
                    </a:moveTo>
                    <a:lnTo>
                      <a:pt x="0" y="33"/>
                    </a:lnTo>
                    <a:lnTo>
                      <a:pt x="0" y="0"/>
                    </a:lnTo>
                    <a:lnTo>
                      <a:pt x="42" y="17"/>
                    </a:lnTo>
                    <a:lnTo>
                      <a:pt x="541" y="262"/>
                    </a:lnTo>
                    <a:lnTo>
                      <a:pt x="550" y="262"/>
                    </a:lnTo>
                    <a:lnTo>
                      <a:pt x="550" y="278"/>
                    </a:lnTo>
                    <a:lnTo>
                      <a:pt x="550" y="1032"/>
                    </a:lnTo>
                    <a:lnTo>
                      <a:pt x="550" y="1056"/>
                    </a:lnTo>
                    <a:lnTo>
                      <a:pt x="541" y="1056"/>
                    </a:lnTo>
                    <a:lnTo>
                      <a:pt x="499" y="1032"/>
                    </a:lnTo>
                    <a:lnTo>
                      <a:pt x="499" y="278"/>
                    </a:lnTo>
                    <a:lnTo>
                      <a:pt x="550" y="278"/>
                    </a:lnTo>
                    <a:lnTo>
                      <a:pt x="516" y="304"/>
                    </a:lnTo>
                    <a:lnTo>
                      <a:pt x="16" y="60"/>
                    </a:lnTo>
                    <a:lnTo>
                      <a:pt x="42" y="17"/>
                    </a:lnTo>
                    <a:lnTo>
                      <a:pt x="51" y="33"/>
                    </a:lnTo>
                    <a:lnTo>
                      <a:pt x="51" y="1276"/>
                    </a:lnTo>
                    <a:lnTo>
                      <a:pt x="0" y="1276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6" name="Freeform 55"/>
              <p:cNvSpPr>
                <a:spLocks/>
              </p:cNvSpPr>
              <p:nvPr/>
            </p:nvSpPr>
            <p:spPr bwMode="auto">
              <a:xfrm>
                <a:off x="4156" y="1865"/>
                <a:ext cx="270" cy="152"/>
              </a:xfrm>
              <a:custGeom>
                <a:avLst/>
                <a:gdLst>
                  <a:gd name="T0" fmla="*/ 541 w 541"/>
                  <a:gd name="T1" fmla="*/ 42 h 305"/>
                  <a:gd name="T2" fmla="*/ 42 w 541"/>
                  <a:gd name="T3" fmla="*/ 287 h 305"/>
                  <a:gd name="T4" fmla="*/ 0 w 541"/>
                  <a:gd name="T5" fmla="*/ 305 h 305"/>
                  <a:gd name="T6" fmla="*/ 0 w 541"/>
                  <a:gd name="T7" fmla="*/ 262 h 305"/>
                  <a:gd name="T8" fmla="*/ 16 w 541"/>
                  <a:gd name="T9" fmla="*/ 245 h 305"/>
                  <a:gd name="T10" fmla="*/ 516 w 541"/>
                  <a:gd name="T11" fmla="*/ 0 h 305"/>
                  <a:gd name="T12" fmla="*/ 541 w 541"/>
                  <a:gd name="T13" fmla="*/ 42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1" h="305">
                    <a:moveTo>
                      <a:pt x="541" y="42"/>
                    </a:moveTo>
                    <a:lnTo>
                      <a:pt x="42" y="287"/>
                    </a:lnTo>
                    <a:lnTo>
                      <a:pt x="0" y="305"/>
                    </a:lnTo>
                    <a:lnTo>
                      <a:pt x="0" y="262"/>
                    </a:lnTo>
                    <a:lnTo>
                      <a:pt x="16" y="245"/>
                    </a:lnTo>
                    <a:lnTo>
                      <a:pt x="516" y="0"/>
                    </a:lnTo>
                    <a:lnTo>
                      <a:pt x="541" y="42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7" name="Rectangle 56"/>
              <p:cNvSpPr>
                <a:spLocks noChangeArrowheads="1"/>
              </p:cNvSpPr>
              <p:nvPr/>
            </p:nvSpPr>
            <p:spPr bwMode="auto">
              <a:xfrm>
                <a:off x="2701" y="1727"/>
                <a:ext cx="865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Flip-flop </a:t>
                </a:r>
                <a:endParaRPr lang="en-CA" altLang="en-US" sz="1500" dirty="0"/>
              </a:p>
            </p:txBody>
          </p:sp>
          <p:sp>
            <p:nvSpPr>
              <p:cNvPr id="118" name="Rectangle 57"/>
              <p:cNvSpPr>
                <a:spLocks noChangeArrowheads="1"/>
              </p:cNvSpPr>
              <p:nvPr/>
            </p:nvSpPr>
            <p:spPr bwMode="auto">
              <a:xfrm>
                <a:off x="244" y="1832"/>
                <a:ext cx="29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400" dirty="0">
                    <a:solidFill>
                      <a:srgbClr val="000000"/>
                    </a:solidFill>
                    <a:latin typeface="Times-Roman" charset="0"/>
                  </a:rPr>
                  <a:t>In1</a:t>
                </a:r>
                <a:endParaRPr lang="en-CA" altLang="en-US" sz="1400" dirty="0"/>
              </a:p>
            </p:txBody>
          </p:sp>
          <p:sp>
            <p:nvSpPr>
              <p:cNvPr id="120" name="Rectangle 59"/>
              <p:cNvSpPr>
                <a:spLocks noChangeArrowheads="1"/>
              </p:cNvSpPr>
              <p:nvPr/>
            </p:nvSpPr>
            <p:spPr bwMode="auto">
              <a:xfrm>
                <a:off x="239" y="2033"/>
                <a:ext cx="29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400" dirty="0">
                    <a:solidFill>
                      <a:srgbClr val="000000"/>
                    </a:solidFill>
                    <a:latin typeface="Times-Roman" charset="0"/>
                  </a:rPr>
                  <a:t>In2</a:t>
                </a:r>
              </a:p>
            </p:txBody>
          </p:sp>
          <p:sp>
            <p:nvSpPr>
              <p:cNvPr id="122" name="Rectangle 61"/>
              <p:cNvSpPr>
                <a:spLocks noChangeArrowheads="1"/>
              </p:cNvSpPr>
              <p:nvPr/>
            </p:nvSpPr>
            <p:spPr bwMode="auto">
              <a:xfrm>
                <a:off x="239" y="2243"/>
                <a:ext cx="29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400" dirty="0">
                    <a:solidFill>
                      <a:srgbClr val="000000"/>
                    </a:solidFill>
                    <a:latin typeface="Times-Roman" charset="0"/>
                  </a:rPr>
                  <a:t>In3</a:t>
                </a:r>
              </a:p>
            </p:txBody>
          </p:sp>
          <p:sp>
            <p:nvSpPr>
              <p:cNvPr id="123" name="Rectangle 62"/>
              <p:cNvSpPr>
                <a:spLocks noChangeArrowheads="1"/>
              </p:cNvSpPr>
              <p:nvPr/>
            </p:nvSpPr>
            <p:spPr bwMode="auto">
              <a:xfrm>
                <a:off x="1052" y="1928"/>
                <a:ext cx="748" cy="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4" name="Rectangle 63"/>
              <p:cNvSpPr>
                <a:spLocks noChangeArrowheads="1"/>
              </p:cNvSpPr>
              <p:nvPr/>
            </p:nvSpPr>
            <p:spPr bwMode="auto">
              <a:xfrm>
                <a:off x="1774" y="1940"/>
                <a:ext cx="26" cy="74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5" name="Rectangle 64"/>
              <p:cNvSpPr>
                <a:spLocks noChangeArrowheads="1"/>
              </p:cNvSpPr>
              <p:nvPr/>
            </p:nvSpPr>
            <p:spPr bwMode="auto">
              <a:xfrm>
                <a:off x="1039" y="2663"/>
                <a:ext cx="749" cy="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6" name="Rectangle 65"/>
              <p:cNvSpPr>
                <a:spLocks noChangeArrowheads="1"/>
              </p:cNvSpPr>
              <p:nvPr/>
            </p:nvSpPr>
            <p:spPr bwMode="auto">
              <a:xfrm>
                <a:off x="1039" y="1928"/>
                <a:ext cx="25" cy="74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7" name="Rectangle 66"/>
              <p:cNvSpPr>
                <a:spLocks noChangeArrowheads="1"/>
              </p:cNvSpPr>
              <p:nvPr/>
            </p:nvSpPr>
            <p:spPr bwMode="auto">
              <a:xfrm>
                <a:off x="730" y="2046"/>
                <a:ext cx="5" cy="1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8" name="Rectangle 68"/>
              <p:cNvSpPr>
                <a:spLocks noChangeArrowheads="1"/>
              </p:cNvSpPr>
              <p:nvPr/>
            </p:nvSpPr>
            <p:spPr bwMode="auto">
              <a:xfrm>
                <a:off x="584" y="2046"/>
                <a:ext cx="465" cy="1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0" name="Rectangle 71"/>
              <p:cNvSpPr>
                <a:spLocks noChangeArrowheads="1"/>
              </p:cNvSpPr>
              <p:nvPr/>
            </p:nvSpPr>
            <p:spPr bwMode="auto">
              <a:xfrm>
                <a:off x="584" y="2189"/>
                <a:ext cx="465" cy="1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1" name="Rectangle 72"/>
              <p:cNvSpPr>
                <a:spLocks noChangeArrowheads="1"/>
              </p:cNvSpPr>
              <p:nvPr/>
            </p:nvSpPr>
            <p:spPr bwMode="auto">
              <a:xfrm>
                <a:off x="730" y="2562"/>
                <a:ext cx="5" cy="1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2" name="Rectangle 74"/>
              <p:cNvSpPr>
                <a:spLocks noChangeArrowheads="1"/>
              </p:cNvSpPr>
              <p:nvPr/>
            </p:nvSpPr>
            <p:spPr bwMode="auto">
              <a:xfrm>
                <a:off x="584" y="2356"/>
                <a:ext cx="465" cy="1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4" name="Rectangle 76"/>
              <p:cNvSpPr>
                <a:spLocks noChangeArrowheads="1"/>
              </p:cNvSpPr>
              <p:nvPr/>
            </p:nvSpPr>
            <p:spPr bwMode="auto">
              <a:xfrm>
                <a:off x="1090" y="2159"/>
                <a:ext cx="685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4-LUT </a:t>
                </a:r>
                <a:endParaRPr lang="en-CA" altLang="en-US" sz="1500" dirty="0"/>
              </a:p>
            </p:txBody>
          </p:sp>
        </p:grpSp>
      </p:grpSp>
      <p:sp>
        <p:nvSpPr>
          <p:cNvPr id="68" name="Line 133"/>
          <p:cNvSpPr>
            <a:spLocks noChangeShapeType="1"/>
          </p:cNvSpPr>
          <p:nvPr/>
        </p:nvSpPr>
        <p:spPr bwMode="auto">
          <a:xfrm flipV="1">
            <a:off x="2464067" y="3157085"/>
            <a:ext cx="2319689" cy="702645"/>
          </a:xfrm>
          <a:prstGeom prst="line">
            <a:avLst/>
          </a:prstGeom>
          <a:noFill/>
          <a:ln w="20638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5" name="Line 133"/>
          <p:cNvSpPr>
            <a:spLocks noChangeShapeType="1"/>
          </p:cNvSpPr>
          <p:nvPr/>
        </p:nvSpPr>
        <p:spPr bwMode="auto">
          <a:xfrm>
            <a:off x="2358190" y="4215865"/>
            <a:ext cx="1520792" cy="1193534"/>
          </a:xfrm>
          <a:prstGeom prst="line">
            <a:avLst/>
          </a:prstGeom>
          <a:noFill/>
          <a:ln w="20638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3" name="Rectangle 52"/>
          <p:cNvSpPr/>
          <p:nvPr/>
        </p:nvSpPr>
        <p:spPr>
          <a:xfrm>
            <a:off x="4622451" y="3738641"/>
            <a:ext cx="3226869" cy="1670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Title 1"/>
          <p:cNvSpPr>
            <a:spLocks noGrp="1"/>
          </p:cNvSpPr>
          <p:nvPr>
            <p:ph type="title"/>
          </p:nvPr>
        </p:nvSpPr>
        <p:spPr>
          <a:xfrm>
            <a:off x="460375" y="534988"/>
            <a:ext cx="8223250" cy="914400"/>
          </a:xfrm>
        </p:spPr>
        <p:txBody>
          <a:bodyPr/>
          <a:lstStyle/>
          <a:p>
            <a:r>
              <a:rPr lang="en-GB" dirty="0"/>
              <a:t>1.3. FPGA Logic Elements</a:t>
            </a:r>
          </a:p>
        </p:txBody>
      </p:sp>
      <p:sp>
        <p:nvSpPr>
          <p:cNvPr id="137" name="Oval 136"/>
          <p:cNvSpPr/>
          <p:nvPr/>
        </p:nvSpPr>
        <p:spPr>
          <a:xfrm>
            <a:off x="3353607" y="2972103"/>
            <a:ext cx="5322277" cy="30459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TextBox 71"/>
          <p:cNvSpPr txBox="1"/>
          <p:nvPr/>
        </p:nvSpPr>
        <p:spPr>
          <a:xfrm>
            <a:off x="4876598" y="5408887"/>
            <a:ext cx="2328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Logic Element (LE)</a:t>
            </a:r>
          </a:p>
        </p:txBody>
      </p:sp>
      <p:sp>
        <p:nvSpPr>
          <p:cNvPr id="73" name="Rectangle 74"/>
          <p:cNvSpPr>
            <a:spLocks noChangeArrowheads="1"/>
          </p:cNvSpPr>
          <p:nvPr/>
        </p:nvSpPr>
        <p:spPr bwMode="auto">
          <a:xfrm>
            <a:off x="4331833" y="4789444"/>
            <a:ext cx="397069" cy="1024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8" name="Rectangle 61"/>
          <p:cNvSpPr>
            <a:spLocks noChangeArrowheads="1"/>
          </p:cNvSpPr>
          <p:nvPr/>
        </p:nvSpPr>
        <p:spPr bwMode="auto">
          <a:xfrm>
            <a:off x="4043833" y="4736546"/>
            <a:ext cx="24846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 dirty="0">
                <a:solidFill>
                  <a:srgbClr val="000000"/>
                </a:solidFill>
                <a:latin typeface="Times-Roman" charset="0"/>
              </a:rPr>
              <a:t>In4</a:t>
            </a:r>
          </a:p>
        </p:txBody>
      </p:sp>
    </p:spTree>
    <p:extLst>
      <p:ext uri="{BB962C8B-B14F-4D97-AF65-F5344CB8AC3E}">
        <p14:creationId xmlns:p14="http://schemas.microsoft.com/office/powerpoint/2010/main" val="1525757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754"/>
    </mc:Choice>
    <mc:Fallback xmlns="">
      <p:transition spd="slow" advTm="7875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ontent Placeholder 2"/>
          <p:cNvSpPr txBox="1">
            <a:spLocks/>
          </p:cNvSpPr>
          <p:nvPr/>
        </p:nvSpPr>
        <p:spPr bwMode="auto">
          <a:xfrm>
            <a:off x="460375" y="1753200"/>
            <a:ext cx="822325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Cyclone-series logic elements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 eaLnBrk="1" hangingPunct="1">
              <a:defRPr/>
            </a:pPr>
            <a:endParaRPr lang="en-US" kern="0" dirty="0"/>
          </a:p>
          <a:p>
            <a:endParaRPr lang="en-US" b="1" kern="0" dirty="0"/>
          </a:p>
          <a:p>
            <a:endParaRPr lang="en-GB" kern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64" name="TextBox 63"/>
          <p:cNvSpPr txBox="1"/>
          <p:nvPr/>
        </p:nvSpPr>
        <p:spPr>
          <a:xfrm>
            <a:off x="4044612" y="5211771"/>
            <a:ext cx="2328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Logic Element (LE)</a:t>
            </a:r>
          </a:p>
        </p:txBody>
      </p:sp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1678312" y="2210608"/>
            <a:ext cx="6170541" cy="2782292"/>
            <a:chOff x="1678317" y="2514931"/>
            <a:chExt cx="5492252" cy="2476450"/>
          </a:xfrm>
        </p:grpSpPr>
        <p:sp>
          <p:nvSpPr>
            <p:cNvPr id="63" name="Rectangle 62"/>
            <p:cNvSpPr/>
            <p:nvPr/>
          </p:nvSpPr>
          <p:spPr>
            <a:xfrm>
              <a:off x="2502837" y="2920277"/>
              <a:ext cx="4214545" cy="20711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5" name="Group 4"/>
            <p:cNvGrpSpPr>
              <a:grpSpLocks noChangeAspect="1"/>
            </p:cNvGrpSpPr>
            <p:nvPr/>
          </p:nvGrpSpPr>
          <p:grpSpPr>
            <a:xfrm>
              <a:off x="1678317" y="2514931"/>
              <a:ext cx="5492252" cy="2442763"/>
              <a:chOff x="-65086" y="2355721"/>
              <a:chExt cx="8234363" cy="3662363"/>
            </a:xfrm>
          </p:grpSpPr>
          <p:sp>
            <p:nvSpPr>
              <p:cNvPr id="6" name="Rectangle 22"/>
              <p:cNvSpPr>
                <a:spLocks noChangeArrowheads="1"/>
              </p:cNvSpPr>
              <p:nvPr/>
            </p:nvSpPr>
            <p:spPr bwMode="auto">
              <a:xfrm>
                <a:off x="7007225" y="3817808"/>
                <a:ext cx="6350" cy="1905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7" name="Rectangle 29"/>
              <p:cNvSpPr>
                <a:spLocks noChangeArrowheads="1"/>
              </p:cNvSpPr>
              <p:nvPr/>
            </p:nvSpPr>
            <p:spPr bwMode="auto">
              <a:xfrm>
                <a:off x="6616700" y="3603495"/>
                <a:ext cx="7938" cy="1905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" name="Rectangle 30"/>
              <p:cNvSpPr>
                <a:spLocks noChangeArrowheads="1"/>
              </p:cNvSpPr>
              <p:nvPr/>
            </p:nvSpPr>
            <p:spPr bwMode="auto">
              <a:xfrm>
                <a:off x="3535363" y="3603495"/>
                <a:ext cx="3081337" cy="19050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Rectangle 33"/>
              <p:cNvSpPr>
                <a:spLocks noChangeArrowheads="1"/>
              </p:cNvSpPr>
              <p:nvPr/>
            </p:nvSpPr>
            <p:spPr bwMode="auto">
              <a:xfrm>
                <a:off x="4529138" y="4803645"/>
                <a:ext cx="6350" cy="2063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" name="Rectangle 34"/>
              <p:cNvSpPr>
                <a:spLocks noChangeArrowheads="1"/>
              </p:cNvSpPr>
              <p:nvPr/>
            </p:nvSpPr>
            <p:spPr bwMode="auto">
              <a:xfrm>
                <a:off x="2824163" y="4803645"/>
                <a:ext cx="6350" cy="20638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Rectangle 41"/>
              <p:cNvSpPr>
                <a:spLocks noChangeArrowheads="1"/>
              </p:cNvSpPr>
              <p:nvPr/>
            </p:nvSpPr>
            <p:spPr bwMode="auto">
              <a:xfrm>
                <a:off x="4529138" y="5595808"/>
                <a:ext cx="6350" cy="1905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2" name="Rectangle 42"/>
              <p:cNvSpPr>
                <a:spLocks noChangeArrowheads="1"/>
              </p:cNvSpPr>
              <p:nvPr/>
            </p:nvSpPr>
            <p:spPr bwMode="auto">
              <a:xfrm>
                <a:off x="3932238" y="5595808"/>
                <a:ext cx="6350" cy="19050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Rectangle 67"/>
              <p:cNvSpPr>
                <a:spLocks noChangeArrowheads="1"/>
              </p:cNvSpPr>
              <p:nvPr/>
            </p:nvSpPr>
            <p:spPr bwMode="auto">
              <a:xfrm>
                <a:off x="1670050" y="4394070"/>
                <a:ext cx="6350" cy="2063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Rectangle 70"/>
              <p:cNvSpPr>
                <a:spLocks noChangeArrowheads="1"/>
              </p:cNvSpPr>
              <p:nvPr/>
            </p:nvSpPr>
            <p:spPr bwMode="auto">
              <a:xfrm>
                <a:off x="1670050" y="4803645"/>
                <a:ext cx="6350" cy="2063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Rectangle 73"/>
              <p:cNvSpPr>
                <a:spLocks noChangeArrowheads="1"/>
              </p:cNvSpPr>
              <p:nvPr/>
            </p:nvSpPr>
            <p:spPr bwMode="auto">
              <a:xfrm>
                <a:off x="1670050" y="5213220"/>
                <a:ext cx="6350" cy="1905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16" name="Group 77"/>
              <p:cNvGrpSpPr>
                <a:grpSpLocks/>
              </p:cNvGrpSpPr>
              <p:nvPr/>
            </p:nvGrpSpPr>
            <p:grpSpPr bwMode="auto">
              <a:xfrm>
                <a:off x="-65086" y="2355721"/>
                <a:ext cx="8234363" cy="3662363"/>
                <a:chOff x="-41" y="762"/>
                <a:chExt cx="5187" cy="2307"/>
              </a:xfrm>
            </p:grpSpPr>
            <p:sp>
              <p:nvSpPr>
                <p:cNvPr id="17" name="Freeform 17"/>
                <p:cNvSpPr>
                  <a:spLocks/>
                </p:cNvSpPr>
                <p:nvPr/>
              </p:nvSpPr>
              <p:spPr bwMode="auto">
                <a:xfrm>
                  <a:off x="2849" y="2743"/>
                  <a:ext cx="8" cy="13"/>
                </a:xfrm>
                <a:custGeom>
                  <a:avLst/>
                  <a:gdLst>
                    <a:gd name="T0" fmla="*/ 16 w 16"/>
                    <a:gd name="T1" fmla="*/ 0 h 27"/>
                    <a:gd name="T2" fmla="*/ 7 w 16"/>
                    <a:gd name="T3" fmla="*/ 0 h 27"/>
                    <a:gd name="T4" fmla="*/ 0 w 16"/>
                    <a:gd name="T5" fmla="*/ 27 h 27"/>
                    <a:gd name="T6" fmla="*/ 7 w 16"/>
                    <a:gd name="T7" fmla="*/ 27 h 27"/>
                    <a:gd name="T8" fmla="*/ 16 w 16"/>
                    <a:gd name="T9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" h="27">
                      <a:moveTo>
                        <a:pt x="16" y="0"/>
                      </a:moveTo>
                      <a:lnTo>
                        <a:pt x="7" y="0"/>
                      </a:lnTo>
                      <a:lnTo>
                        <a:pt x="0" y="27"/>
                      </a:lnTo>
                      <a:lnTo>
                        <a:pt x="7" y="27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8" name="Freeform 18"/>
                <p:cNvSpPr>
                  <a:spLocks/>
                </p:cNvSpPr>
                <p:nvPr/>
              </p:nvSpPr>
              <p:spPr bwMode="auto">
                <a:xfrm>
                  <a:off x="2853" y="2831"/>
                  <a:ext cx="148" cy="72"/>
                </a:xfrm>
                <a:custGeom>
                  <a:avLst/>
                  <a:gdLst>
                    <a:gd name="T0" fmla="*/ 9 w 296"/>
                    <a:gd name="T1" fmla="*/ 0 h 145"/>
                    <a:gd name="T2" fmla="*/ 0 w 296"/>
                    <a:gd name="T3" fmla="*/ 27 h 145"/>
                    <a:gd name="T4" fmla="*/ 254 w 296"/>
                    <a:gd name="T5" fmla="*/ 145 h 145"/>
                    <a:gd name="T6" fmla="*/ 262 w 296"/>
                    <a:gd name="T7" fmla="*/ 145 h 145"/>
                    <a:gd name="T8" fmla="*/ 296 w 296"/>
                    <a:gd name="T9" fmla="*/ 127 h 145"/>
                    <a:gd name="T10" fmla="*/ 262 w 296"/>
                    <a:gd name="T11" fmla="*/ 120 h 145"/>
                    <a:gd name="T12" fmla="*/ 9 w 296"/>
                    <a:gd name="T13" fmla="*/ 0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6" h="145">
                      <a:moveTo>
                        <a:pt x="9" y="0"/>
                      </a:moveTo>
                      <a:lnTo>
                        <a:pt x="0" y="27"/>
                      </a:lnTo>
                      <a:lnTo>
                        <a:pt x="254" y="145"/>
                      </a:lnTo>
                      <a:lnTo>
                        <a:pt x="262" y="145"/>
                      </a:lnTo>
                      <a:lnTo>
                        <a:pt x="296" y="127"/>
                      </a:lnTo>
                      <a:lnTo>
                        <a:pt x="262" y="120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9" name="Freeform 19"/>
                <p:cNvSpPr>
                  <a:spLocks/>
                </p:cNvSpPr>
                <p:nvPr/>
              </p:nvSpPr>
              <p:spPr bwMode="auto">
                <a:xfrm>
                  <a:off x="2849" y="2866"/>
                  <a:ext cx="8" cy="13"/>
                </a:xfrm>
                <a:custGeom>
                  <a:avLst/>
                  <a:gdLst>
                    <a:gd name="T0" fmla="*/ 16 w 16"/>
                    <a:gd name="T1" fmla="*/ 25 h 25"/>
                    <a:gd name="T2" fmla="*/ 7 w 16"/>
                    <a:gd name="T3" fmla="*/ 25 h 25"/>
                    <a:gd name="T4" fmla="*/ 0 w 16"/>
                    <a:gd name="T5" fmla="*/ 0 h 25"/>
                    <a:gd name="T6" fmla="*/ 7 w 16"/>
                    <a:gd name="T7" fmla="*/ 0 h 25"/>
                    <a:gd name="T8" fmla="*/ 16 w 16"/>
                    <a:gd name="T9" fmla="*/ 2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6" h="25">
                      <a:moveTo>
                        <a:pt x="16" y="25"/>
                      </a:moveTo>
                      <a:lnTo>
                        <a:pt x="7" y="25"/>
                      </a:lnTo>
                      <a:lnTo>
                        <a:pt x="0" y="0"/>
                      </a:lnTo>
                      <a:lnTo>
                        <a:pt x="7" y="0"/>
                      </a:lnTo>
                      <a:lnTo>
                        <a:pt x="16" y="25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0" name="Freeform 20"/>
                <p:cNvSpPr>
                  <a:spLocks/>
                </p:cNvSpPr>
                <p:nvPr/>
              </p:nvSpPr>
              <p:spPr bwMode="auto">
                <a:xfrm>
                  <a:off x="2853" y="2903"/>
                  <a:ext cx="131" cy="76"/>
                </a:xfrm>
                <a:custGeom>
                  <a:avLst/>
                  <a:gdLst>
                    <a:gd name="T0" fmla="*/ 262 w 262"/>
                    <a:gd name="T1" fmla="*/ 25 h 152"/>
                    <a:gd name="T2" fmla="*/ 254 w 262"/>
                    <a:gd name="T3" fmla="*/ 0 h 152"/>
                    <a:gd name="T4" fmla="*/ 0 w 262"/>
                    <a:gd name="T5" fmla="*/ 127 h 152"/>
                    <a:gd name="T6" fmla="*/ 9 w 262"/>
                    <a:gd name="T7" fmla="*/ 152 h 152"/>
                    <a:gd name="T8" fmla="*/ 262 w 262"/>
                    <a:gd name="T9" fmla="*/ 25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2" h="152">
                      <a:moveTo>
                        <a:pt x="262" y="25"/>
                      </a:moveTo>
                      <a:lnTo>
                        <a:pt x="254" y="0"/>
                      </a:lnTo>
                      <a:lnTo>
                        <a:pt x="0" y="127"/>
                      </a:lnTo>
                      <a:lnTo>
                        <a:pt x="9" y="152"/>
                      </a:lnTo>
                      <a:lnTo>
                        <a:pt x="262" y="25"/>
                      </a:lnTo>
                      <a:close/>
                    </a:path>
                  </a:pathLst>
                </a:cu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1" name="Rectangle 21"/>
                <p:cNvSpPr>
                  <a:spLocks noChangeArrowheads="1"/>
                </p:cNvSpPr>
                <p:nvPr/>
              </p:nvSpPr>
              <p:spPr bwMode="auto">
                <a:xfrm>
                  <a:off x="4989" y="1683"/>
                  <a:ext cx="4" cy="12"/>
                </a:xfrm>
                <a:prstGeom prst="rect">
                  <a:avLst/>
                </a:prstGeom>
                <a:solidFill>
                  <a:srgbClr val="00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2" name="Rectangle 23"/>
                <p:cNvSpPr>
                  <a:spLocks noChangeArrowheads="1"/>
                </p:cNvSpPr>
                <p:nvPr/>
              </p:nvSpPr>
              <p:spPr bwMode="auto">
                <a:xfrm>
                  <a:off x="4418" y="1683"/>
                  <a:ext cx="571" cy="12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3" name="Rectangle 24"/>
                <p:cNvSpPr>
                  <a:spLocks noChangeArrowheads="1"/>
                </p:cNvSpPr>
                <p:nvPr/>
              </p:nvSpPr>
              <p:spPr bwMode="auto">
                <a:xfrm>
                  <a:off x="3475" y="2304"/>
                  <a:ext cx="4" cy="13"/>
                </a:xfrm>
                <a:prstGeom prst="rect">
                  <a:avLst/>
                </a:prstGeom>
                <a:solidFill>
                  <a:srgbClr val="00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4" name="Rectangle 25"/>
                <p:cNvSpPr>
                  <a:spLocks noChangeArrowheads="1"/>
                </p:cNvSpPr>
                <p:nvPr/>
              </p:nvSpPr>
              <p:spPr bwMode="auto">
                <a:xfrm>
                  <a:off x="3479" y="2304"/>
                  <a:ext cx="258" cy="13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" name="Rectangle 26"/>
                <p:cNvSpPr>
                  <a:spLocks noChangeArrowheads="1"/>
                </p:cNvSpPr>
                <p:nvPr/>
              </p:nvSpPr>
              <p:spPr bwMode="auto">
                <a:xfrm>
                  <a:off x="3724" y="1806"/>
                  <a:ext cx="13" cy="502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6" name="Rectangle 27"/>
                <p:cNvSpPr>
                  <a:spLocks noChangeArrowheads="1"/>
                </p:cNvSpPr>
                <p:nvPr/>
              </p:nvSpPr>
              <p:spPr bwMode="auto">
                <a:xfrm>
                  <a:off x="4168" y="1806"/>
                  <a:ext cx="5" cy="12"/>
                </a:xfrm>
                <a:prstGeom prst="rect">
                  <a:avLst/>
                </a:prstGeom>
                <a:solidFill>
                  <a:srgbClr val="00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7" name="Rectangle 28"/>
                <p:cNvSpPr>
                  <a:spLocks noChangeArrowheads="1"/>
                </p:cNvSpPr>
                <p:nvPr/>
              </p:nvSpPr>
              <p:spPr bwMode="auto">
                <a:xfrm>
                  <a:off x="3729" y="1806"/>
                  <a:ext cx="439" cy="12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8" name="Rectangle 31"/>
                <p:cNvSpPr>
                  <a:spLocks noChangeArrowheads="1"/>
                </p:cNvSpPr>
                <p:nvPr/>
              </p:nvSpPr>
              <p:spPr bwMode="auto">
                <a:xfrm>
                  <a:off x="2227" y="2308"/>
                  <a:ext cx="13" cy="5"/>
                </a:xfrm>
                <a:prstGeom prst="rect">
                  <a:avLst/>
                </a:prstGeom>
                <a:solidFill>
                  <a:srgbClr val="00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9" name="Rectangle 32"/>
                <p:cNvSpPr>
                  <a:spLocks noChangeArrowheads="1"/>
                </p:cNvSpPr>
                <p:nvPr/>
              </p:nvSpPr>
              <p:spPr bwMode="auto">
                <a:xfrm>
                  <a:off x="2227" y="1552"/>
                  <a:ext cx="13" cy="756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0" name="Rectangle 35"/>
                <p:cNvSpPr>
                  <a:spLocks noChangeArrowheads="1"/>
                </p:cNvSpPr>
                <p:nvPr/>
              </p:nvSpPr>
              <p:spPr bwMode="auto">
                <a:xfrm>
                  <a:off x="1783" y="2304"/>
                  <a:ext cx="1070" cy="13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1" name="Freeform 36"/>
                <p:cNvSpPr>
                  <a:spLocks/>
                </p:cNvSpPr>
                <p:nvPr/>
              </p:nvSpPr>
              <p:spPr bwMode="auto">
                <a:xfrm>
                  <a:off x="2206" y="2287"/>
                  <a:ext cx="47" cy="42"/>
                </a:xfrm>
                <a:custGeom>
                  <a:avLst/>
                  <a:gdLst>
                    <a:gd name="T0" fmla="*/ 94 w 94"/>
                    <a:gd name="T1" fmla="*/ 43 h 85"/>
                    <a:gd name="T2" fmla="*/ 76 w 94"/>
                    <a:gd name="T3" fmla="*/ 18 h 85"/>
                    <a:gd name="T4" fmla="*/ 51 w 94"/>
                    <a:gd name="T5" fmla="*/ 0 h 85"/>
                    <a:gd name="T6" fmla="*/ 18 w 94"/>
                    <a:gd name="T7" fmla="*/ 18 h 85"/>
                    <a:gd name="T8" fmla="*/ 0 w 94"/>
                    <a:gd name="T9" fmla="*/ 43 h 85"/>
                    <a:gd name="T10" fmla="*/ 18 w 94"/>
                    <a:gd name="T11" fmla="*/ 76 h 85"/>
                    <a:gd name="T12" fmla="*/ 51 w 94"/>
                    <a:gd name="T13" fmla="*/ 85 h 85"/>
                    <a:gd name="T14" fmla="*/ 76 w 94"/>
                    <a:gd name="T15" fmla="*/ 76 h 85"/>
                    <a:gd name="T16" fmla="*/ 94 w 94"/>
                    <a:gd name="T17" fmla="*/ 43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94" h="85">
                      <a:moveTo>
                        <a:pt x="94" y="43"/>
                      </a:moveTo>
                      <a:lnTo>
                        <a:pt x="76" y="18"/>
                      </a:lnTo>
                      <a:lnTo>
                        <a:pt x="51" y="0"/>
                      </a:lnTo>
                      <a:lnTo>
                        <a:pt x="18" y="18"/>
                      </a:lnTo>
                      <a:lnTo>
                        <a:pt x="0" y="43"/>
                      </a:lnTo>
                      <a:lnTo>
                        <a:pt x="18" y="76"/>
                      </a:lnTo>
                      <a:lnTo>
                        <a:pt x="51" y="85"/>
                      </a:lnTo>
                      <a:lnTo>
                        <a:pt x="76" y="76"/>
                      </a:lnTo>
                      <a:lnTo>
                        <a:pt x="94" y="43"/>
                      </a:lnTo>
                      <a:close/>
                    </a:path>
                  </a:pathLst>
                </a:cu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" name="Freeform 37"/>
                <p:cNvSpPr>
                  <a:spLocks/>
                </p:cNvSpPr>
                <p:nvPr/>
              </p:nvSpPr>
              <p:spPr bwMode="auto">
                <a:xfrm>
                  <a:off x="2208" y="2283"/>
                  <a:ext cx="59" cy="55"/>
                </a:xfrm>
                <a:custGeom>
                  <a:avLst/>
                  <a:gdLst>
                    <a:gd name="T0" fmla="*/ 93 w 118"/>
                    <a:gd name="T1" fmla="*/ 59 h 110"/>
                    <a:gd name="T2" fmla="*/ 75 w 118"/>
                    <a:gd name="T3" fmla="*/ 33 h 110"/>
                    <a:gd name="T4" fmla="*/ 75 w 118"/>
                    <a:gd name="T5" fmla="*/ 33 h 110"/>
                    <a:gd name="T6" fmla="*/ 75 w 118"/>
                    <a:gd name="T7" fmla="*/ 33 h 110"/>
                    <a:gd name="T8" fmla="*/ 51 w 118"/>
                    <a:gd name="T9" fmla="*/ 17 h 110"/>
                    <a:gd name="T10" fmla="*/ 68 w 118"/>
                    <a:gd name="T11" fmla="*/ 26 h 110"/>
                    <a:gd name="T12" fmla="*/ 68 w 118"/>
                    <a:gd name="T13" fmla="*/ 26 h 110"/>
                    <a:gd name="T14" fmla="*/ 33 w 118"/>
                    <a:gd name="T15" fmla="*/ 42 h 110"/>
                    <a:gd name="T16" fmla="*/ 33 w 118"/>
                    <a:gd name="T17" fmla="*/ 33 h 110"/>
                    <a:gd name="T18" fmla="*/ 33 w 118"/>
                    <a:gd name="T19" fmla="*/ 33 h 110"/>
                    <a:gd name="T20" fmla="*/ 17 w 118"/>
                    <a:gd name="T21" fmla="*/ 59 h 110"/>
                    <a:gd name="T22" fmla="*/ 26 w 118"/>
                    <a:gd name="T23" fmla="*/ 51 h 110"/>
                    <a:gd name="T24" fmla="*/ 26 w 118"/>
                    <a:gd name="T25" fmla="*/ 51 h 110"/>
                    <a:gd name="T26" fmla="*/ 42 w 118"/>
                    <a:gd name="T27" fmla="*/ 84 h 110"/>
                    <a:gd name="T28" fmla="*/ 33 w 118"/>
                    <a:gd name="T29" fmla="*/ 75 h 110"/>
                    <a:gd name="T30" fmla="*/ 33 w 118"/>
                    <a:gd name="T31" fmla="*/ 75 h 110"/>
                    <a:gd name="T32" fmla="*/ 68 w 118"/>
                    <a:gd name="T33" fmla="*/ 84 h 110"/>
                    <a:gd name="T34" fmla="*/ 59 w 118"/>
                    <a:gd name="T35" fmla="*/ 84 h 110"/>
                    <a:gd name="T36" fmla="*/ 59 w 118"/>
                    <a:gd name="T37" fmla="*/ 84 h 110"/>
                    <a:gd name="T38" fmla="*/ 84 w 118"/>
                    <a:gd name="T39" fmla="*/ 75 h 110"/>
                    <a:gd name="T40" fmla="*/ 75 w 118"/>
                    <a:gd name="T41" fmla="*/ 84 h 110"/>
                    <a:gd name="T42" fmla="*/ 75 w 118"/>
                    <a:gd name="T43" fmla="*/ 84 h 110"/>
                    <a:gd name="T44" fmla="*/ 93 w 118"/>
                    <a:gd name="T45" fmla="*/ 51 h 110"/>
                    <a:gd name="T46" fmla="*/ 93 w 118"/>
                    <a:gd name="T47" fmla="*/ 51 h 110"/>
                    <a:gd name="T48" fmla="*/ 118 w 118"/>
                    <a:gd name="T49" fmla="*/ 59 h 110"/>
                    <a:gd name="T50" fmla="*/ 118 w 118"/>
                    <a:gd name="T51" fmla="*/ 59 h 110"/>
                    <a:gd name="T52" fmla="*/ 102 w 118"/>
                    <a:gd name="T53" fmla="*/ 93 h 110"/>
                    <a:gd name="T54" fmla="*/ 102 w 118"/>
                    <a:gd name="T55" fmla="*/ 93 h 110"/>
                    <a:gd name="T56" fmla="*/ 93 w 118"/>
                    <a:gd name="T57" fmla="*/ 102 h 110"/>
                    <a:gd name="T58" fmla="*/ 68 w 118"/>
                    <a:gd name="T59" fmla="*/ 110 h 110"/>
                    <a:gd name="T60" fmla="*/ 68 w 118"/>
                    <a:gd name="T61" fmla="*/ 110 h 110"/>
                    <a:gd name="T62" fmla="*/ 59 w 118"/>
                    <a:gd name="T63" fmla="*/ 110 h 110"/>
                    <a:gd name="T64" fmla="*/ 26 w 118"/>
                    <a:gd name="T65" fmla="*/ 102 h 110"/>
                    <a:gd name="T66" fmla="*/ 26 w 118"/>
                    <a:gd name="T67" fmla="*/ 102 h 110"/>
                    <a:gd name="T68" fmla="*/ 17 w 118"/>
                    <a:gd name="T69" fmla="*/ 93 h 110"/>
                    <a:gd name="T70" fmla="*/ 0 w 118"/>
                    <a:gd name="T71" fmla="*/ 59 h 110"/>
                    <a:gd name="T72" fmla="*/ 0 w 118"/>
                    <a:gd name="T73" fmla="*/ 59 h 110"/>
                    <a:gd name="T74" fmla="*/ 0 w 118"/>
                    <a:gd name="T75" fmla="*/ 42 h 110"/>
                    <a:gd name="T76" fmla="*/ 17 w 118"/>
                    <a:gd name="T77" fmla="*/ 17 h 110"/>
                    <a:gd name="T78" fmla="*/ 17 w 118"/>
                    <a:gd name="T79" fmla="*/ 17 h 110"/>
                    <a:gd name="T80" fmla="*/ 26 w 118"/>
                    <a:gd name="T81" fmla="*/ 17 h 110"/>
                    <a:gd name="T82" fmla="*/ 59 w 118"/>
                    <a:gd name="T83" fmla="*/ 0 h 110"/>
                    <a:gd name="T84" fmla="*/ 59 w 118"/>
                    <a:gd name="T85" fmla="*/ 0 h 110"/>
                    <a:gd name="T86" fmla="*/ 68 w 118"/>
                    <a:gd name="T87" fmla="*/ 0 h 110"/>
                    <a:gd name="T88" fmla="*/ 93 w 118"/>
                    <a:gd name="T89" fmla="*/ 17 h 110"/>
                    <a:gd name="T90" fmla="*/ 93 w 118"/>
                    <a:gd name="T91" fmla="*/ 17 h 110"/>
                    <a:gd name="T92" fmla="*/ 93 w 118"/>
                    <a:gd name="T93" fmla="*/ 17 h 110"/>
                    <a:gd name="T94" fmla="*/ 111 w 118"/>
                    <a:gd name="T95" fmla="*/ 42 h 110"/>
                    <a:gd name="T96" fmla="*/ 93 w 118"/>
                    <a:gd name="T97" fmla="*/ 59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118" h="110">
                      <a:moveTo>
                        <a:pt x="93" y="59"/>
                      </a:moveTo>
                      <a:lnTo>
                        <a:pt x="75" y="33"/>
                      </a:lnTo>
                      <a:lnTo>
                        <a:pt x="75" y="33"/>
                      </a:lnTo>
                      <a:lnTo>
                        <a:pt x="75" y="33"/>
                      </a:lnTo>
                      <a:lnTo>
                        <a:pt x="51" y="17"/>
                      </a:lnTo>
                      <a:lnTo>
                        <a:pt x="68" y="26"/>
                      </a:lnTo>
                      <a:lnTo>
                        <a:pt x="68" y="26"/>
                      </a:lnTo>
                      <a:lnTo>
                        <a:pt x="33" y="42"/>
                      </a:lnTo>
                      <a:lnTo>
                        <a:pt x="33" y="33"/>
                      </a:lnTo>
                      <a:lnTo>
                        <a:pt x="33" y="33"/>
                      </a:lnTo>
                      <a:lnTo>
                        <a:pt x="17" y="59"/>
                      </a:lnTo>
                      <a:lnTo>
                        <a:pt x="26" y="51"/>
                      </a:lnTo>
                      <a:lnTo>
                        <a:pt x="26" y="51"/>
                      </a:lnTo>
                      <a:lnTo>
                        <a:pt x="42" y="84"/>
                      </a:lnTo>
                      <a:lnTo>
                        <a:pt x="33" y="75"/>
                      </a:lnTo>
                      <a:lnTo>
                        <a:pt x="33" y="75"/>
                      </a:lnTo>
                      <a:lnTo>
                        <a:pt x="68" y="84"/>
                      </a:lnTo>
                      <a:lnTo>
                        <a:pt x="59" y="84"/>
                      </a:lnTo>
                      <a:lnTo>
                        <a:pt x="59" y="84"/>
                      </a:lnTo>
                      <a:lnTo>
                        <a:pt x="84" y="75"/>
                      </a:lnTo>
                      <a:lnTo>
                        <a:pt x="75" y="84"/>
                      </a:lnTo>
                      <a:lnTo>
                        <a:pt x="75" y="84"/>
                      </a:lnTo>
                      <a:lnTo>
                        <a:pt x="93" y="51"/>
                      </a:lnTo>
                      <a:lnTo>
                        <a:pt x="93" y="51"/>
                      </a:lnTo>
                      <a:lnTo>
                        <a:pt x="118" y="59"/>
                      </a:lnTo>
                      <a:lnTo>
                        <a:pt x="118" y="59"/>
                      </a:lnTo>
                      <a:lnTo>
                        <a:pt x="102" y="93"/>
                      </a:lnTo>
                      <a:lnTo>
                        <a:pt x="102" y="93"/>
                      </a:lnTo>
                      <a:lnTo>
                        <a:pt x="93" y="102"/>
                      </a:lnTo>
                      <a:lnTo>
                        <a:pt x="68" y="110"/>
                      </a:lnTo>
                      <a:lnTo>
                        <a:pt x="68" y="110"/>
                      </a:lnTo>
                      <a:lnTo>
                        <a:pt x="59" y="110"/>
                      </a:lnTo>
                      <a:lnTo>
                        <a:pt x="26" y="102"/>
                      </a:lnTo>
                      <a:lnTo>
                        <a:pt x="26" y="102"/>
                      </a:lnTo>
                      <a:lnTo>
                        <a:pt x="17" y="93"/>
                      </a:lnTo>
                      <a:lnTo>
                        <a:pt x="0" y="59"/>
                      </a:lnTo>
                      <a:lnTo>
                        <a:pt x="0" y="59"/>
                      </a:lnTo>
                      <a:lnTo>
                        <a:pt x="0" y="42"/>
                      </a:lnTo>
                      <a:lnTo>
                        <a:pt x="17" y="17"/>
                      </a:lnTo>
                      <a:lnTo>
                        <a:pt x="17" y="17"/>
                      </a:lnTo>
                      <a:lnTo>
                        <a:pt x="26" y="17"/>
                      </a:lnTo>
                      <a:lnTo>
                        <a:pt x="59" y="0"/>
                      </a:lnTo>
                      <a:lnTo>
                        <a:pt x="59" y="0"/>
                      </a:lnTo>
                      <a:lnTo>
                        <a:pt x="68" y="0"/>
                      </a:lnTo>
                      <a:lnTo>
                        <a:pt x="93" y="17"/>
                      </a:lnTo>
                      <a:lnTo>
                        <a:pt x="93" y="17"/>
                      </a:lnTo>
                      <a:lnTo>
                        <a:pt x="93" y="17"/>
                      </a:lnTo>
                      <a:lnTo>
                        <a:pt x="111" y="42"/>
                      </a:lnTo>
                      <a:lnTo>
                        <a:pt x="93" y="59"/>
                      </a:lnTo>
                      <a:close/>
                    </a:path>
                  </a:pathLst>
                </a:cu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3" name="Freeform 38"/>
                <p:cNvSpPr>
                  <a:spLocks/>
                </p:cNvSpPr>
                <p:nvPr/>
              </p:nvSpPr>
              <p:spPr bwMode="auto">
                <a:xfrm>
                  <a:off x="2248" y="2304"/>
                  <a:ext cx="13" cy="9"/>
                </a:xfrm>
                <a:custGeom>
                  <a:avLst/>
                  <a:gdLst>
                    <a:gd name="T0" fmla="*/ 0 w 25"/>
                    <a:gd name="T1" fmla="*/ 9 h 17"/>
                    <a:gd name="T2" fmla="*/ 0 w 25"/>
                    <a:gd name="T3" fmla="*/ 9 h 17"/>
                    <a:gd name="T4" fmla="*/ 0 w 25"/>
                    <a:gd name="T5" fmla="*/ 17 h 17"/>
                    <a:gd name="T6" fmla="*/ 18 w 25"/>
                    <a:gd name="T7" fmla="*/ 0 h 17"/>
                    <a:gd name="T8" fmla="*/ 25 w 25"/>
                    <a:gd name="T9" fmla="*/ 17 h 17"/>
                    <a:gd name="T10" fmla="*/ 25 w 25"/>
                    <a:gd name="T11" fmla="*/ 17 h 17"/>
                    <a:gd name="T12" fmla="*/ 0 w 25"/>
                    <a:gd name="T13" fmla="*/ 9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5" h="17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0" y="17"/>
                      </a:lnTo>
                      <a:lnTo>
                        <a:pt x="18" y="0"/>
                      </a:lnTo>
                      <a:lnTo>
                        <a:pt x="25" y="17"/>
                      </a:lnTo>
                      <a:lnTo>
                        <a:pt x="25" y="17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" name="Rectangle 39"/>
                <p:cNvSpPr>
                  <a:spLocks noChangeArrowheads="1"/>
                </p:cNvSpPr>
                <p:nvPr/>
              </p:nvSpPr>
              <p:spPr bwMode="auto">
                <a:xfrm>
                  <a:off x="4722" y="1389"/>
                  <a:ext cx="424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CA" altLang="en-US" sz="1500" dirty="0">
                      <a:solidFill>
                        <a:srgbClr val="000000"/>
                      </a:solidFill>
                      <a:latin typeface="Times-Roman" charset="0"/>
                    </a:rPr>
                    <a:t>Out </a:t>
                  </a:r>
                  <a:endParaRPr lang="en-CA" altLang="en-US" sz="1500" dirty="0"/>
                </a:p>
              </p:txBody>
            </p:sp>
            <p:sp>
              <p:nvSpPr>
                <p:cNvPr id="35" name="Rectangle 40"/>
                <p:cNvSpPr>
                  <a:spLocks noChangeArrowheads="1"/>
                </p:cNvSpPr>
                <p:nvPr/>
              </p:nvSpPr>
              <p:spPr bwMode="auto">
                <a:xfrm>
                  <a:off x="2865" y="2233"/>
                  <a:ext cx="231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CA" altLang="en-US" sz="1500" dirty="0">
                      <a:solidFill>
                        <a:srgbClr val="000000"/>
                      </a:solidFill>
                      <a:latin typeface="Times-Roman" charset="0"/>
                    </a:rPr>
                    <a:t>D</a:t>
                  </a:r>
                  <a:r>
                    <a:rPr lang="en-CA" altLang="en-US" sz="1600" dirty="0">
                      <a:solidFill>
                        <a:srgbClr val="000000"/>
                      </a:solidFill>
                      <a:latin typeface="Times-Roman" charset="0"/>
                    </a:rPr>
                    <a:t> </a:t>
                  </a:r>
                  <a:endParaRPr lang="en-CA" altLang="en-US" sz="1600" dirty="0"/>
                </a:p>
              </p:txBody>
            </p:sp>
            <p:sp>
              <p:nvSpPr>
                <p:cNvPr id="36" name="Rectangle 43"/>
                <p:cNvSpPr>
                  <a:spLocks noChangeArrowheads="1"/>
                </p:cNvSpPr>
                <p:nvPr/>
              </p:nvSpPr>
              <p:spPr bwMode="auto">
                <a:xfrm>
                  <a:off x="537" y="2903"/>
                  <a:ext cx="2327" cy="12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7" name="Rectangle 44"/>
                <p:cNvSpPr>
                  <a:spLocks noChangeArrowheads="1"/>
                </p:cNvSpPr>
                <p:nvPr/>
              </p:nvSpPr>
              <p:spPr bwMode="auto">
                <a:xfrm>
                  <a:off x="3286" y="2233"/>
                  <a:ext cx="237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CA" altLang="en-US" sz="1500" dirty="0">
                      <a:solidFill>
                        <a:srgbClr val="000000"/>
                      </a:solidFill>
                      <a:latin typeface="Times-Roman" charset="0"/>
                    </a:rPr>
                    <a:t>Q </a:t>
                  </a:r>
                  <a:endParaRPr lang="en-CA" altLang="en-US" sz="1500" dirty="0"/>
                </a:p>
              </p:txBody>
            </p:sp>
            <p:sp>
              <p:nvSpPr>
                <p:cNvPr id="38" name="Rectangle 45"/>
                <p:cNvSpPr>
                  <a:spLocks noChangeArrowheads="1"/>
                </p:cNvSpPr>
                <p:nvPr/>
              </p:nvSpPr>
              <p:spPr bwMode="auto">
                <a:xfrm>
                  <a:off x="-41" y="2724"/>
                  <a:ext cx="627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CA" altLang="en-US" sz="1500" dirty="0">
                      <a:solidFill>
                        <a:srgbClr val="000000"/>
                      </a:solidFill>
                      <a:latin typeface="Times-Roman" charset="0"/>
                    </a:rPr>
                    <a:t>Clock </a:t>
                  </a:r>
                  <a:endParaRPr lang="en-CA" altLang="en-US" sz="1500" dirty="0"/>
                </a:p>
              </p:txBody>
            </p:sp>
            <p:sp>
              <p:nvSpPr>
                <p:cNvPr id="39" name="Rectangle 46"/>
                <p:cNvSpPr>
                  <a:spLocks noChangeArrowheads="1"/>
                </p:cNvSpPr>
                <p:nvPr/>
              </p:nvSpPr>
              <p:spPr bwMode="auto">
                <a:xfrm>
                  <a:off x="3723" y="762"/>
                  <a:ext cx="589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CA" altLang="en-US" sz="1500" dirty="0">
                      <a:solidFill>
                        <a:srgbClr val="000000"/>
                      </a:solidFill>
                      <a:latin typeface="Times-Roman" charset="0"/>
                    </a:rPr>
                    <a:t>select</a:t>
                  </a:r>
                  <a:endParaRPr lang="en-CA" altLang="en-US" sz="1500" dirty="0"/>
                </a:p>
              </p:txBody>
            </p:sp>
            <p:sp>
              <p:nvSpPr>
                <p:cNvPr id="40" name="Rectangle 47"/>
                <p:cNvSpPr>
                  <a:spLocks noChangeArrowheads="1"/>
                </p:cNvSpPr>
                <p:nvPr/>
              </p:nvSpPr>
              <p:spPr bwMode="auto">
                <a:xfrm>
                  <a:off x="4291" y="1438"/>
                  <a:ext cx="13" cy="4"/>
                </a:xfrm>
                <a:prstGeom prst="rect">
                  <a:avLst/>
                </a:prstGeom>
                <a:solidFill>
                  <a:srgbClr val="00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1" name="Rectangle 48"/>
                <p:cNvSpPr>
                  <a:spLocks noChangeArrowheads="1"/>
                </p:cNvSpPr>
                <p:nvPr/>
              </p:nvSpPr>
              <p:spPr bwMode="auto">
                <a:xfrm>
                  <a:off x="4291" y="1184"/>
                  <a:ext cx="13" cy="4"/>
                </a:xfrm>
                <a:prstGeom prst="rect">
                  <a:avLst/>
                </a:prstGeom>
                <a:solidFill>
                  <a:srgbClr val="00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2" name="Rectangle 49"/>
                <p:cNvSpPr>
                  <a:spLocks noChangeArrowheads="1"/>
                </p:cNvSpPr>
                <p:nvPr/>
              </p:nvSpPr>
              <p:spPr bwMode="auto">
                <a:xfrm>
                  <a:off x="4291" y="767"/>
                  <a:ext cx="13" cy="659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3" name="Rectangle 50"/>
                <p:cNvSpPr>
                  <a:spLocks noChangeArrowheads="1"/>
                </p:cNvSpPr>
                <p:nvPr/>
              </p:nvSpPr>
              <p:spPr bwMode="auto">
                <a:xfrm>
                  <a:off x="2853" y="2046"/>
                  <a:ext cx="639" cy="25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4" name="Rectangle 51"/>
                <p:cNvSpPr>
                  <a:spLocks noChangeArrowheads="1"/>
                </p:cNvSpPr>
                <p:nvPr/>
              </p:nvSpPr>
              <p:spPr bwMode="auto">
                <a:xfrm>
                  <a:off x="3466" y="2059"/>
                  <a:ext cx="26" cy="1010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5" name="Rectangle 52"/>
                <p:cNvSpPr>
                  <a:spLocks noChangeArrowheads="1"/>
                </p:cNvSpPr>
                <p:nvPr/>
              </p:nvSpPr>
              <p:spPr bwMode="auto">
                <a:xfrm>
                  <a:off x="2841" y="3043"/>
                  <a:ext cx="638" cy="26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6" name="Rectangle 53"/>
                <p:cNvSpPr>
                  <a:spLocks noChangeArrowheads="1"/>
                </p:cNvSpPr>
                <p:nvPr/>
              </p:nvSpPr>
              <p:spPr bwMode="auto">
                <a:xfrm>
                  <a:off x="2841" y="2046"/>
                  <a:ext cx="25" cy="1011"/>
                </a:xfrm>
                <a:prstGeom prst="rect">
                  <a:avLst/>
                </a:pr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7" name="Freeform 54"/>
                <p:cNvSpPr>
                  <a:spLocks/>
                </p:cNvSpPr>
                <p:nvPr/>
              </p:nvSpPr>
              <p:spPr bwMode="auto">
                <a:xfrm>
                  <a:off x="4156" y="1357"/>
                  <a:ext cx="275" cy="639"/>
                </a:xfrm>
                <a:custGeom>
                  <a:avLst/>
                  <a:gdLst>
                    <a:gd name="T0" fmla="*/ 0 w 550"/>
                    <a:gd name="T1" fmla="*/ 1276 h 1276"/>
                    <a:gd name="T2" fmla="*/ 0 w 550"/>
                    <a:gd name="T3" fmla="*/ 33 h 1276"/>
                    <a:gd name="T4" fmla="*/ 0 w 550"/>
                    <a:gd name="T5" fmla="*/ 0 h 1276"/>
                    <a:gd name="T6" fmla="*/ 42 w 550"/>
                    <a:gd name="T7" fmla="*/ 17 h 1276"/>
                    <a:gd name="T8" fmla="*/ 541 w 550"/>
                    <a:gd name="T9" fmla="*/ 262 h 1276"/>
                    <a:gd name="T10" fmla="*/ 550 w 550"/>
                    <a:gd name="T11" fmla="*/ 262 h 1276"/>
                    <a:gd name="T12" fmla="*/ 550 w 550"/>
                    <a:gd name="T13" fmla="*/ 278 h 1276"/>
                    <a:gd name="T14" fmla="*/ 550 w 550"/>
                    <a:gd name="T15" fmla="*/ 1032 h 1276"/>
                    <a:gd name="T16" fmla="*/ 550 w 550"/>
                    <a:gd name="T17" fmla="*/ 1056 h 1276"/>
                    <a:gd name="T18" fmla="*/ 541 w 550"/>
                    <a:gd name="T19" fmla="*/ 1056 h 1276"/>
                    <a:gd name="T20" fmla="*/ 499 w 550"/>
                    <a:gd name="T21" fmla="*/ 1032 h 1276"/>
                    <a:gd name="T22" fmla="*/ 499 w 550"/>
                    <a:gd name="T23" fmla="*/ 278 h 1276"/>
                    <a:gd name="T24" fmla="*/ 550 w 550"/>
                    <a:gd name="T25" fmla="*/ 278 h 1276"/>
                    <a:gd name="T26" fmla="*/ 516 w 550"/>
                    <a:gd name="T27" fmla="*/ 304 h 1276"/>
                    <a:gd name="T28" fmla="*/ 16 w 550"/>
                    <a:gd name="T29" fmla="*/ 60 h 1276"/>
                    <a:gd name="T30" fmla="*/ 42 w 550"/>
                    <a:gd name="T31" fmla="*/ 17 h 1276"/>
                    <a:gd name="T32" fmla="*/ 51 w 550"/>
                    <a:gd name="T33" fmla="*/ 33 h 1276"/>
                    <a:gd name="T34" fmla="*/ 51 w 550"/>
                    <a:gd name="T35" fmla="*/ 1276 h 1276"/>
                    <a:gd name="T36" fmla="*/ 0 w 550"/>
                    <a:gd name="T37" fmla="*/ 1276 h 12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550" h="1276">
                      <a:moveTo>
                        <a:pt x="0" y="1276"/>
                      </a:moveTo>
                      <a:lnTo>
                        <a:pt x="0" y="33"/>
                      </a:lnTo>
                      <a:lnTo>
                        <a:pt x="0" y="0"/>
                      </a:lnTo>
                      <a:lnTo>
                        <a:pt x="42" y="17"/>
                      </a:lnTo>
                      <a:lnTo>
                        <a:pt x="541" y="262"/>
                      </a:lnTo>
                      <a:lnTo>
                        <a:pt x="550" y="262"/>
                      </a:lnTo>
                      <a:lnTo>
                        <a:pt x="550" y="278"/>
                      </a:lnTo>
                      <a:lnTo>
                        <a:pt x="550" y="1032"/>
                      </a:lnTo>
                      <a:lnTo>
                        <a:pt x="550" y="1056"/>
                      </a:lnTo>
                      <a:lnTo>
                        <a:pt x="541" y="1056"/>
                      </a:lnTo>
                      <a:lnTo>
                        <a:pt x="499" y="1032"/>
                      </a:lnTo>
                      <a:lnTo>
                        <a:pt x="499" y="278"/>
                      </a:lnTo>
                      <a:lnTo>
                        <a:pt x="550" y="278"/>
                      </a:lnTo>
                      <a:lnTo>
                        <a:pt x="516" y="304"/>
                      </a:lnTo>
                      <a:lnTo>
                        <a:pt x="16" y="60"/>
                      </a:lnTo>
                      <a:lnTo>
                        <a:pt x="42" y="17"/>
                      </a:lnTo>
                      <a:lnTo>
                        <a:pt x="51" y="33"/>
                      </a:lnTo>
                      <a:lnTo>
                        <a:pt x="51" y="1276"/>
                      </a:lnTo>
                      <a:lnTo>
                        <a:pt x="0" y="1276"/>
                      </a:lnTo>
                      <a:close/>
                    </a:path>
                  </a:pathLst>
                </a:cu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8" name="Freeform 55"/>
                <p:cNvSpPr>
                  <a:spLocks/>
                </p:cNvSpPr>
                <p:nvPr/>
              </p:nvSpPr>
              <p:spPr bwMode="auto">
                <a:xfrm>
                  <a:off x="4156" y="1865"/>
                  <a:ext cx="270" cy="152"/>
                </a:xfrm>
                <a:custGeom>
                  <a:avLst/>
                  <a:gdLst>
                    <a:gd name="T0" fmla="*/ 541 w 541"/>
                    <a:gd name="T1" fmla="*/ 42 h 305"/>
                    <a:gd name="T2" fmla="*/ 42 w 541"/>
                    <a:gd name="T3" fmla="*/ 287 h 305"/>
                    <a:gd name="T4" fmla="*/ 0 w 541"/>
                    <a:gd name="T5" fmla="*/ 305 h 305"/>
                    <a:gd name="T6" fmla="*/ 0 w 541"/>
                    <a:gd name="T7" fmla="*/ 262 h 305"/>
                    <a:gd name="T8" fmla="*/ 16 w 541"/>
                    <a:gd name="T9" fmla="*/ 245 h 305"/>
                    <a:gd name="T10" fmla="*/ 516 w 541"/>
                    <a:gd name="T11" fmla="*/ 0 h 305"/>
                    <a:gd name="T12" fmla="*/ 541 w 541"/>
                    <a:gd name="T13" fmla="*/ 42 h 3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41" h="305">
                      <a:moveTo>
                        <a:pt x="541" y="42"/>
                      </a:moveTo>
                      <a:lnTo>
                        <a:pt x="42" y="287"/>
                      </a:lnTo>
                      <a:lnTo>
                        <a:pt x="0" y="305"/>
                      </a:lnTo>
                      <a:lnTo>
                        <a:pt x="0" y="262"/>
                      </a:lnTo>
                      <a:lnTo>
                        <a:pt x="16" y="245"/>
                      </a:lnTo>
                      <a:lnTo>
                        <a:pt x="516" y="0"/>
                      </a:lnTo>
                      <a:lnTo>
                        <a:pt x="541" y="42"/>
                      </a:lnTo>
                      <a:close/>
                    </a:path>
                  </a:pathLst>
                </a:custGeom>
                <a:solidFill>
                  <a:srgbClr val="0078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9" name="Rectangle 56"/>
                <p:cNvSpPr>
                  <a:spLocks noChangeArrowheads="1"/>
                </p:cNvSpPr>
                <p:nvPr/>
              </p:nvSpPr>
              <p:spPr bwMode="auto">
                <a:xfrm>
                  <a:off x="2701" y="1727"/>
                  <a:ext cx="865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CA" altLang="en-US" sz="1500" dirty="0">
                      <a:solidFill>
                        <a:srgbClr val="000000"/>
                      </a:solidFill>
                      <a:latin typeface="Times-Roman" charset="0"/>
                    </a:rPr>
                    <a:t>Flip-flop </a:t>
                  </a:r>
                  <a:endParaRPr lang="en-CA" altLang="en-US" sz="1500" dirty="0"/>
                </a:p>
              </p:txBody>
            </p:sp>
            <p:sp>
              <p:nvSpPr>
                <p:cNvPr id="50" name="Rectangle 57"/>
                <p:cNvSpPr>
                  <a:spLocks noChangeArrowheads="1"/>
                </p:cNvSpPr>
                <p:nvPr/>
              </p:nvSpPr>
              <p:spPr bwMode="auto">
                <a:xfrm>
                  <a:off x="247" y="1832"/>
                  <a:ext cx="291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CA" altLang="en-US" sz="1400" dirty="0">
                      <a:solidFill>
                        <a:srgbClr val="000000"/>
                      </a:solidFill>
                      <a:latin typeface="Times-Roman" charset="0"/>
                    </a:rPr>
                    <a:t>In1</a:t>
                  </a:r>
                  <a:endParaRPr lang="en-CA" altLang="en-US" sz="1400" dirty="0"/>
                </a:p>
              </p:txBody>
            </p:sp>
            <p:sp>
              <p:nvSpPr>
                <p:cNvPr id="51" name="Rectangle 59"/>
                <p:cNvSpPr>
                  <a:spLocks noChangeArrowheads="1"/>
                </p:cNvSpPr>
                <p:nvPr/>
              </p:nvSpPr>
              <p:spPr bwMode="auto">
                <a:xfrm>
                  <a:off x="243" y="2033"/>
                  <a:ext cx="291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CA" altLang="en-US" sz="1400" dirty="0">
                      <a:solidFill>
                        <a:srgbClr val="000000"/>
                      </a:solidFill>
                      <a:latin typeface="Times-Roman" charset="0"/>
                    </a:rPr>
                    <a:t>In2</a:t>
                  </a:r>
                </a:p>
              </p:txBody>
            </p:sp>
            <p:sp>
              <p:nvSpPr>
                <p:cNvPr id="52" name="Rectangle 61"/>
                <p:cNvSpPr>
                  <a:spLocks noChangeArrowheads="1"/>
                </p:cNvSpPr>
                <p:nvPr/>
              </p:nvSpPr>
              <p:spPr bwMode="auto">
                <a:xfrm>
                  <a:off x="239" y="2380"/>
                  <a:ext cx="235" cy="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CA" altLang="en-US" sz="1400" dirty="0">
                      <a:solidFill>
                        <a:srgbClr val="000000"/>
                      </a:solidFill>
                      <a:latin typeface="Times-Roman" charset="0"/>
                    </a:rPr>
                    <a:t>In4</a:t>
                  </a:r>
                </a:p>
              </p:txBody>
            </p:sp>
            <p:sp>
              <p:nvSpPr>
                <p:cNvPr id="53" name="Rectangle 62"/>
                <p:cNvSpPr>
                  <a:spLocks noChangeArrowheads="1"/>
                </p:cNvSpPr>
                <p:nvPr/>
              </p:nvSpPr>
              <p:spPr bwMode="auto">
                <a:xfrm>
                  <a:off x="1052" y="1928"/>
                  <a:ext cx="748" cy="2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4" name="Rectangle 63"/>
                <p:cNvSpPr>
                  <a:spLocks noChangeArrowheads="1"/>
                </p:cNvSpPr>
                <p:nvPr/>
              </p:nvSpPr>
              <p:spPr bwMode="auto">
                <a:xfrm>
                  <a:off x="1774" y="1940"/>
                  <a:ext cx="26" cy="749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5" name="Rectangle 64"/>
                <p:cNvSpPr>
                  <a:spLocks noChangeArrowheads="1"/>
                </p:cNvSpPr>
                <p:nvPr/>
              </p:nvSpPr>
              <p:spPr bwMode="auto">
                <a:xfrm>
                  <a:off x="1039" y="2663"/>
                  <a:ext cx="749" cy="26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6" name="Rectangle 65"/>
                <p:cNvSpPr>
                  <a:spLocks noChangeArrowheads="1"/>
                </p:cNvSpPr>
                <p:nvPr/>
              </p:nvSpPr>
              <p:spPr bwMode="auto">
                <a:xfrm>
                  <a:off x="1039" y="1928"/>
                  <a:ext cx="25" cy="74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7" name="Rectangle 66"/>
                <p:cNvSpPr>
                  <a:spLocks noChangeArrowheads="1"/>
                </p:cNvSpPr>
                <p:nvPr/>
              </p:nvSpPr>
              <p:spPr bwMode="auto">
                <a:xfrm>
                  <a:off x="730" y="2046"/>
                  <a:ext cx="5" cy="1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8" name="Rectangle 68"/>
                <p:cNvSpPr>
                  <a:spLocks noChangeArrowheads="1"/>
                </p:cNvSpPr>
                <p:nvPr/>
              </p:nvSpPr>
              <p:spPr bwMode="auto">
                <a:xfrm>
                  <a:off x="534" y="2046"/>
                  <a:ext cx="496" cy="1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59" name="Rectangle 71"/>
                <p:cNvSpPr>
                  <a:spLocks noChangeArrowheads="1"/>
                </p:cNvSpPr>
                <p:nvPr/>
              </p:nvSpPr>
              <p:spPr bwMode="auto">
                <a:xfrm>
                  <a:off x="534" y="2170"/>
                  <a:ext cx="496" cy="1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0" name="Rectangle 72"/>
                <p:cNvSpPr>
                  <a:spLocks noChangeArrowheads="1"/>
                </p:cNvSpPr>
                <p:nvPr/>
              </p:nvSpPr>
              <p:spPr bwMode="auto">
                <a:xfrm>
                  <a:off x="730" y="2562"/>
                  <a:ext cx="5" cy="1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1" name="Rectangle 74"/>
                <p:cNvSpPr>
                  <a:spLocks noChangeArrowheads="1"/>
                </p:cNvSpPr>
                <p:nvPr/>
              </p:nvSpPr>
              <p:spPr bwMode="auto">
                <a:xfrm>
                  <a:off x="534" y="2356"/>
                  <a:ext cx="496" cy="12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62" name="Rectangle 76"/>
                <p:cNvSpPr>
                  <a:spLocks noChangeArrowheads="1"/>
                </p:cNvSpPr>
                <p:nvPr/>
              </p:nvSpPr>
              <p:spPr bwMode="auto">
                <a:xfrm>
                  <a:off x="1223" y="2155"/>
                  <a:ext cx="492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CA" altLang="en-US" sz="1500" dirty="0">
                      <a:solidFill>
                        <a:srgbClr val="000000"/>
                      </a:solidFill>
                      <a:latin typeface="Times-Roman" charset="0"/>
                    </a:rPr>
                    <a:t>4-LUT </a:t>
                  </a:r>
                  <a:endParaRPr lang="en-CA" altLang="en-US" sz="1500" dirty="0"/>
                </a:p>
              </p:txBody>
            </p:sp>
          </p:grpSp>
        </p:grpSp>
        <p:sp>
          <p:nvSpPr>
            <p:cNvPr id="66" name="Rectangle 61"/>
            <p:cNvSpPr>
              <a:spLocks noChangeArrowheads="1"/>
            </p:cNvSpPr>
            <p:nvPr/>
          </p:nvSpPr>
          <p:spPr bwMode="auto">
            <a:xfrm>
              <a:off x="1982917" y="4038196"/>
              <a:ext cx="24846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en-US" sz="1400" dirty="0">
                  <a:solidFill>
                    <a:srgbClr val="000000"/>
                  </a:solidFill>
                  <a:latin typeface="Times-Roman" charset="0"/>
                </a:rPr>
                <a:t>In3</a:t>
              </a:r>
            </a:p>
          </p:txBody>
        </p:sp>
        <p:sp>
          <p:nvSpPr>
            <p:cNvPr id="67" name="Rectangle 74"/>
            <p:cNvSpPr>
              <a:spLocks noChangeArrowheads="1"/>
            </p:cNvSpPr>
            <p:nvPr/>
          </p:nvSpPr>
          <p:spPr bwMode="auto">
            <a:xfrm>
              <a:off x="2287515" y="4355135"/>
              <a:ext cx="525600" cy="1270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1.3. FPGA Logic Elements</a:t>
            </a:r>
          </a:p>
        </p:txBody>
      </p:sp>
    </p:spTree>
    <p:extLst>
      <p:ext uri="{BB962C8B-B14F-4D97-AF65-F5344CB8AC3E}">
        <p14:creationId xmlns:p14="http://schemas.microsoft.com/office/powerpoint/2010/main" val="609961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40"/>
    </mc:Choice>
    <mc:Fallback xmlns="">
      <p:transition spd="slow" advTm="994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136" name="Title 1"/>
          <p:cNvSpPr>
            <a:spLocks noGrp="1"/>
          </p:cNvSpPr>
          <p:nvPr>
            <p:ph type="title"/>
          </p:nvPr>
        </p:nvSpPr>
        <p:spPr>
          <a:xfrm>
            <a:off x="460375" y="534988"/>
            <a:ext cx="8223250" cy="914400"/>
          </a:xfrm>
        </p:spPr>
        <p:txBody>
          <a:bodyPr/>
          <a:lstStyle/>
          <a:p>
            <a:r>
              <a:rPr lang="en-GB" dirty="0"/>
              <a:t>1.3. FPGA Logic Elements</a:t>
            </a:r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5840098" y="5102272"/>
            <a:ext cx="1777876" cy="763512"/>
            <a:chOff x="5594636" y="4508704"/>
            <a:chExt cx="2279332" cy="978862"/>
          </a:xfrm>
        </p:grpSpPr>
        <p:sp>
          <p:nvSpPr>
            <p:cNvPr id="73" name="Line 8"/>
            <p:cNvSpPr>
              <a:spLocks noChangeShapeType="1"/>
            </p:cNvSpPr>
            <p:nvPr/>
          </p:nvSpPr>
          <p:spPr bwMode="auto">
            <a:xfrm>
              <a:off x="7441968" y="5283897"/>
              <a:ext cx="4320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9" name="Line 11"/>
            <p:cNvSpPr>
              <a:spLocks noChangeShapeType="1"/>
            </p:cNvSpPr>
            <p:nvPr/>
          </p:nvSpPr>
          <p:spPr bwMode="auto">
            <a:xfrm>
              <a:off x="5740485" y="5367145"/>
              <a:ext cx="111600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" name="Freeform 15"/>
            <p:cNvSpPr>
              <a:spLocks noChangeAspect="1"/>
            </p:cNvSpPr>
            <p:nvPr/>
          </p:nvSpPr>
          <p:spPr bwMode="auto">
            <a:xfrm>
              <a:off x="6905426" y="5043701"/>
              <a:ext cx="509586" cy="443865"/>
            </a:xfrm>
            <a:custGeom>
              <a:avLst/>
              <a:gdLst>
                <a:gd name="T0" fmla="*/ 0 w 123"/>
                <a:gd name="T1" fmla="*/ 739775 h 107"/>
                <a:gd name="T2" fmla="*/ 476443 w 123"/>
                <a:gd name="T3" fmla="*/ 739775 h 107"/>
                <a:gd name="T4" fmla="*/ 849312 w 123"/>
                <a:gd name="T5" fmla="*/ 366431 h 107"/>
                <a:gd name="T6" fmla="*/ 476443 w 123"/>
                <a:gd name="T7" fmla="*/ 0 h 107"/>
                <a:gd name="T8" fmla="*/ 0 w 123"/>
                <a:gd name="T9" fmla="*/ 0 h 107"/>
                <a:gd name="T10" fmla="*/ 0 w 123"/>
                <a:gd name="T11" fmla="*/ 739775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3"/>
                <a:gd name="T19" fmla="*/ 0 h 107"/>
                <a:gd name="T20" fmla="*/ 123 w 123"/>
                <a:gd name="T21" fmla="*/ 107 h 1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3" h="107">
                  <a:moveTo>
                    <a:pt x="0" y="107"/>
                  </a:moveTo>
                  <a:cubicBezTo>
                    <a:pt x="69" y="107"/>
                    <a:pt x="69" y="107"/>
                    <a:pt x="69" y="107"/>
                  </a:cubicBezTo>
                  <a:cubicBezTo>
                    <a:pt x="99" y="107"/>
                    <a:pt x="123" y="83"/>
                    <a:pt x="123" y="53"/>
                  </a:cubicBezTo>
                  <a:cubicBezTo>
                    <a:pt x="123" y="24"/>
                    <a:pt x="99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7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16"/>
            <p:cNvSpPr>
              <a:spLocks/>
            </p:cNvSpPr>
            <p:nvPr/>
          </p:nvSpPr>
          <p:spPr bwMode="auto">
            <a:xfrm>
              <a:off x="6594299" y="4761117"/>
              <a:ext cx="316816" cy="326231"/>
            </a:xfrm>
            <a:custGeom>
              <a:avLst/>
              <a:gdLst>
                <a:gd name="T0" fmla="*/ 0 w 566"/>
                <a:gd name="T1" fmla="*/ 0 h 274"/>
                <a:gd name="T2" fmla="*/ 657225 w 566"/>
                <a:gd name="T3" fmla="*/ 0 h 274"/>
                <a:gd name="T4" fmla="*/ 657225 w 566"/>
                <a:gd name="T5" fmla="*/ 434975 h 274"/>
                <a:gd name="T6" fmla="*/ 898525 w 566"/>
                <a:gd name="T7" fmla="*/ 434975 h 2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6"/>
                <a:gd name="T13" fmla="*/ 0 h 274"/>
                <a:gd name="T14" fmla="*/ 566 w 566"/>
                <a:gd name="T15" fmla="*/ 274 h 2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6" h="274">
                  <a:moveTo>
                    <a:pt x="0" y="0"/>
                  </a:moveTo>
                  <a:lnTo>
                    <a:pt x="414" y="0"/>
                  </a:lnTo>
                  <a:lnTo>
                    <a:pt x="414" y="274"/>
                  </a:lnTo>
                  <a:lnTo>
                    <a:pt x="566" y="274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Line 20"/>
            <p:cNvSpPr>
              <a:spLocks noChangeShapeType="1"/>
            </p:cNvSpPr>
            <p:nvPr/>
          </p:nvSpPr>
          <p:spPr bwMode="auto">
            <a:xfrm>
              <a:off x="5793863" y="4906373"/>
              <a:ext cx="24407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0" name="Freeform 22"/>
            <p:cNvSpPr>
              <a:spLocks noChangeAspect="1"/>
            </p:cNvSpPr>
            <p:nvPr/>
          </p:nvSpPr>
          <p:spPr bwMode="auto">
            <a:xfrm>
              <a:off x="6043668" y="4527897"/>
              <a:ext cx="491395" cy="430887"/>
            </a:xfrm>
            <a:custGeom>
              <a:avLst/>
              <a:gdLst>
                <a:gd name="T0" fmla="*/ 0 w 123"/>
                <a:gd name="T1" fmla="*/ 746125 h 108"/>
                <a:gd name="T2" fmla="*/ 477334 w 123"/>
                <a:gd name="T3" fmla="*/ 746125 h 108"/>
                <a:gd name="T4" fmla="*/ 850900 w 123"/>
                <a:gd name="T5" fmla="*/ 373063 h 108"/>
                <a:gd name="T6" fmla="*/ 477334 w 123"/>
                <a:gd name="T7" fmla="*/ 0 h 108"/>
                <a:gd name="T8" fmla="*/ 0 w 123"/>
                <a:gd name="T9" fmla="*/ 0 h 108"/>
                <a:gd name="T10" fmla="*/ 0 w 123"/>
                <a:gd name="T11" fmla="*/ 746125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23"/>
                <a:gd name="T19" fmla="*/ 0 h 108"/>
                <a:gd name="T20" fmla="*/ 123 w 123"/>
                <a:gd name="T21" fmla="*/ 108 h 1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23" h="108">
                  <a:moveTo>
                    <a:pt x="0" y="108"/>
                  </a:moveTo>
                  <a:cubicBezTo>
                    <a:pt x="69" y="108"/>
                    <a:pt x="69" y="108"/>
                    <a:pt x="69" y="108"/>
                  </a:cubicBezTo>
                  <a:cubicBezTo>
                    <a:pt x="99" y="108"/>
                    <a:pt x="123" y="84"/>
                    <a:pt x="123" y="54"/>
                  </a:cubicBezTo>
                  <a:cubicBezTo>
                    <a:pt x="123" y="24"/>
                    <a:pt x="99" y="0"/>
                    <a:pt x="69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8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Line 23"/>
            <p:cNvSpPr>
              <a:spLocks noChangeShapeType="1"/>
            </p:cNvSpPr>
            <p:nvPr/>
          </p:nvSpPr>
          <p:spPr bwMode="auto">
            <a:xfrm>
              <a:off x="5798626" y="4626577"/>
              <a:ext cx="23931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3" name="Oval 25"/>
            <p:cNvSpPr>
              <a:spLocks noChangeArrowheads="1"/>
            </p:cNvSpPr>
            <p:nvPr/>
          </p:nvSpPr>
          <p:spPr bwMode="auto">
            <a:xfrm>
              <a:off x="6551887" y="4724207"/>
              <a:ext cx="77391" cy="78581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Oval 27"/>
            <p:cNvSpPr>
              <a:spLocks noChangeArrowheads="1"/>
            </p:cNvSpPr>
            <p:nvPr/>
          </p:nvSpPr>
          <p:spPr bwMode="auto">
            <a:xfrm>
              <a:off x="6840000" y="5326664"/>
              <a:ext cx="77391" cy="77391"/>
            </a:xfrm>
            <a:prstGeom prst="ellipse">
              <a:avLst/>
            </a:prstGeom>
            <a:solidFill>
              <a:srgbClr val="FFFFFF"/>
            </a:solidFill>
            <a:ln w="14288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Rectangle 29"/>
            <p:cNvSpPr>
              <a:spLocks noChangeArrowheads="1"/>
            </p:cNvSpPr>
            <p:nvPr/>
          </p:nvSpPr>
          <p:spPr bwMode="auto">
            <a:xfrm>
              <a:off x="5642856" y="4508704"/>
              <a:ext cx="145916" cy="31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Helvetica" pitchFamily="34" charset="0"/>
                </a:rPr>
                <a:t>a</a:t>
              </a:r>
              <a:endParaRPr lang="en-US" sz="1600" dirty="0"/>
            </a:p>
          </p:txBody>
        </p:sp>
        <p:sp>
          <p:nvSpPr>
            <p:cNvPr id="158" name="Rectangle 30"/>
            <p:cNvSpPr>
              <a:spLocks noChangeArrowheads="1"/>
            </p:cNvSpPr>
            <p:nvPr/>
          </p:nvSpPr>
          <p:spPr bwMode="auto">
            <a:xfrm>
              <a:off x="5594636" y="5104289"/>
              <a:ext cx="131528" cy="31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Helvetica" pitchFamily="34" charset="0"/>
                </a:rPr>
                <a:t>c</a:t>
              </a:r>
            </a:p>
          </p:txBody>
        </p:sp>
        <p:sp>
          <p:nvSpPr>
            <p:cNvPr id="159" name="Rectangle 31"/>
            <p:cNvSpPr>
              <a:spLocks noChangeArrowheads="1"/>
            </p:cNvSpPr>
            <p:nvPr/>
          </p:nvSpPr>
          <p:spPr bwMode="auto">
            <a:xfrm>
              <a:off x="5638093" y="4796835"/>
              <a:ext cx="145916" cy="315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Helvetica" pitchFamily="34" charset="0"/>
                </a:rPr>
                <a:t>b</a:t>
              </a:r>
            </a:p>
          </p:txBody>
        </p:sp>
      </p:grpSp>
      <p:sp>
        <p:nvSpPr>
          <p:cNvPr id="268" name="Rectangle 38"/>
          <p:cNvSpPr>
            <a:spLocks noChangeArrowheads="1"/>
          </p:cNvSpPr>
          <p:nvPr/>
        </p:nvSpPr>
        <p:spPr bwMode="auto">
          <a:xfrm>
            <a:off x="7313382" y="5408887"/>
            <a:ext cx="83837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Helvetica" pitchFamily="34" charset="0"/>
              </a:rPr>
              <a:t>f = (</a:t>
            </a:r>
            <a:r>
              <a:rPr lang="en-US" sz="1600" dirty="0" err="1">
                <a:solidFill>
                  <a:srgbClr val="000000"/>
                </a:solidFill>
                <a:latin typeface="Helvetica" pitchFamily="34" charset="0"/>
              </a:rPr>
              <a:t>ab</a:t>
            </a:r>
            <a:r>
              <a:rPr lang="en-US" sz="1600" dirty="0">
                <a:solidFill>
                  <a:srgbClr val="000000"/>
                </a:solidFill>
                <a:latin typeface="Helvetica" pitchFamily="34" charset="0"/>
              </a:rPr>
              <a:t>)'c'</a:t>
            </a:r>
            <a:endParaRPr lang="en-US" sz="1600" dirty="0"/>
          </a:p>
        </p:txBody>
      </p:sp>
      <p:sp>
        <p:nvSpPr>
          <p:cNvPr id="269" name="Line 133"/>
          <p:cNvSpPr>
            <a:spLocks noChangeShapeType="1"/>
          </p:cNvSpPr>
          <p:nvPr/>
        </p:nvSpPr>
        <p:spPr bwMode="auto">
          <a:xfrm rot="16200000">
            <a:off x="6908289" y="4409678"/>
            <a:ext cx="504000" cy="1587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0" name="Freeform 138"/>
          <p:cNvSpPr>
            <a:spLocks/>
          </p:cNvSpPr>
          <p:nvPr/>
        </p:nvSpPr>
        <p:spPr bwMode="auto">
          <a:xfrm rot="16200000">
            <a:off x="7052340" y="4123835"/>
            <a:ext cx="217487" cy="96838"/>
          </a:xfrm>
          <a:custGeom>
            <a:avLst/>
            <a:gdLst>
              <a:gd name="T0" fmla="*/ 217487 w 100"/>
              <a:gd name="T1" fmla="*/ 48419 h 50"/>
              <a:gd name="T2" fmla="*/ 0 w 100"/>
              <a:gd name="T3" fmla="*/ 0 h 50"/>
              <a:gd name="T4" fmla="*/ 0 w 100"/>
              <a:gd name="T5" fmla="*/ 96838 h 50"/>
              <a:gd name="T6" fmla="*/ 217487 w 100"/>
              <a:gd name="T7" fmla="*/ 48419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272" name="Oval 271"/>
          <p:cNvSpPr>
            <a:spLocks noChangeAspect="1"/>
          </p:cNvSpPr>
          <p:nvPr/>
        </p:nvSpPr>
        <p:spPr>
          <a:xfrm>
            <a:off x="979842" y="3816000"/>
            <a:ext cx="908982" cy="9359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3" name="Oval 272"/>
          <p:cNvSpPr/>
          <p:nvPr/>
        </p:nvSpPr>
        <p:spPr>
          <a:xfrm>
            <a:off x="4571169" y="1601412"/>
            <a:ext cx="4572830" cy="44166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4" name="Line 133"/>
          <p:cNvSpPr>
            <a:spLocks noChangeShapeType="1"/>
          </p:cNvSpPr>
          <p:nvPr/>
        </p:nvSpPr>
        <p:spPr bwMode="auto">
          <a:xfrm flipV="1">
            <a:off x="1315842" y="1801632"/>
            <a:ext cx="4601347" cy="2032606"/>
          </a:xfrm>
          <a:prstGeom prst="line">
            <a:avLst/>
          </a:prstGeom>
          <a:noFill/>
          <a:ln w="20638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5" name="Line 133"/>
          <p:cNvSpPr>
            <a:spLocks noChangeShapeType="1"/>
          </p:cNvSpPr>
          <p:nvPr/>
        </p:nvSpPr>
        <p:spPr bwMode="auto">
          <a:xfrm>
            <a:off x="1268059" y="4735317"/>
            <a:ext cx="4726684" cy="1112257"/>
          </a:xfrm>
          <a:prstGeom prst="line">
            <a:avLst/>
          </a:prstGeom>
          <a:noFill/>
          <a:ln w="20638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6" name="Rectangle 76"/>
          <p:cNvSpPr>
            <a:spLocks noChangeArrowheads="1"/>
          </p:cNvSpPr>
          <p:nvPr/>
        </p:nvSpPr>
        <p:spPr bwMode="auto">
          <a:xfrm>
            <a:off x="5790392" y="1827477"/>
            <a:ext cx="216969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500" dirty="0">
                <a:solidFill>
                  <a:srgbClr val="000000"/>
                </a:solidFill>
                <a:latin typeface="Times-Roman" charset="0"/>
              </a:rPr>
              <a:t>4-Look Up Table (4-LUT) </a:t>
            </a:r>
            <a:endParaRPr lang="en-CA" altLang="en-US" sz="1500" dirty="0"/>
          </a:p>
        </p:txBody>
      </p:sp>
      <p:grpSp>
        <p:nvGrpSpPr>
          <p:cNvPr id="279" name="Group 198"/>
          <p:cNvGrpSpPr>
            <a:grpSpLocks/>
          </p:cNvGrpSpPr>
          <p:nvPr/>
        </p:nvGrpSpPr>
        <p:grpSpPr bwMode="auto">
          <a:xfrm>
            <a:off x="6094990" y="2058309"/>
            <a:ext cx="1468438" cy="2773363"/>
            <a:chOff x="4656" y="768"/>
            <a:chExt cx="925" cy="1747"/>
          </a:xfrm>
        </p:grpSpPr>
        <p:sp>
          <p:nvSpPr>
            <p:cNvPr id="280" name="Rectangle 24"/>
            <p:cNvSpPr>
              <a:spLocks noChangeArrowheads="1"/>
            </p:cNvSpPr>
            <p:nvPr/>
          </p:nvSpPr>
          <p:spPr bwMode="auto">
            <a:xfrm>
              <a:off x="4656" y="768"/>
              <a:ext cx="925" cy="1747"/>
            </a:xfrm>
            <a:prstGeom prst="rect">
              <a:avLst/>
            </a:prstGeom>
            <a:solidFill>
              <a:srgbClr val="D4E0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Rectangle 25"/>
            <p:cNvSpPr>
              <a:spLocks noChangeArrowheads="1"/>
            </p:cNvSpPr>
            <p:nvPr/>
          </p:nvSpPr>
          <p:spPr bwMode="auto">
            <a:xfrm>
              <a:off x="5047" y="785"/>
              <a:ext cx="4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c</a:t>
              </a:r>
              <a:endParaRPr lang="en-US"/>
            </a:p>
          </p:txBody>
        </p:sp>
        <p:sp>
          <p:nvSpPr>
            <p:cNvPr id="282" name="Rectangle 26"/>
            <p:cNvSpPr>
              <a:spLocks noChangeArrowheads="1"/>
            </p:cNvSpPr>
            <p:nvPr/>
          </p:nvSpPr>
          <p:spPr bwMode="auto">
            <a:xfrm>
              <a:off x="5047" y="92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283" name="Rectangle 27"/>
            <p:cNvSpPr>
              <a:spLocks noChangeArrowheads="1"/>
            </p:cNvSpPr>
            <p:nvPr/>
          </p:nvSpPr>
          <p:spPr bwMode="auto">
            <a:xfrm>
              <a:off x="5047" y="106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284" name="Rectangle 28"/>
            <p:cNvSpPr>
              <a:spLocks noChangeArrowheads="1"/>
            </p:cNvSpPr>
            <p:nvPr/>
          </p:nvSpPr>
          <p:spPr bwMode="auto">
            <a:xfrm>
              <a:off x="5047" y="119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285" name="Rectangle 29"/>
            <p:cNvSpPr>
              <a:spLocks noChangeArrowheads="1"/>
            </p:cNvSpPr>
            <p:nvPr/>
          </p:nvSpPr>
          <p:spPr bwMode="auto">
            <a:xfrm>
              <a:off x="5047" y="133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286" name="Rectangle 30"/>
            <p:cNvSpPr>
              <a:spLocks noChangeArrowheads="1"/>
            </p:cNvSpPr>
            <p:nvPr/>
          </p:nvSpPr>
          <p:spPr bwMode="auto">
            <a:xfrm>
              <a:off x="5047" y="147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287" name="Rectangle 31"/>
            <p:cNvSpPr>
              <a:spLocks noChangeArrowheads="1"/>
            </p:cNvSpPr>
            <p:nvPr/>
          </p:nvSpPr>
          <p:spPr bwMode="auto">
            <a:xfrm>
              <a:off x="5047" y="161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288" name="Rectangle 32"/>
            <p:cNvSpPr>
              <a:spLocks noChangeArrowheads="1"/>
            </p:cNvSpPr>
            <p:nvPr/>
          </p:nvSpPr>
          <p:spPr bwMode="auto">
            <a:xfrm>
              <a:off x="5047" y="174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289" name="Rectangle 33"/>
            <p:cNvSpPr>
              <a:spLocks noChangeArrowheads="1"/>
            </p:cNvSpPr>
            <p:nvPr/>
          </p:nvSpPr>
          <p:spPr bwMode="auto">
            <a:xfrm>
              <a:off x="5047" y="188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290" name="Rectangle 34"/>
            <p:cNvSpPr>
              <a:spLocks noChangeArrowheads="1"/>
            </p:cNvSpPr>
            <p:nvPr/>
          </p:nvSpPr>
          <p:spPr bwMode="auto">
            <a:xfrm>
              <a:off x="5047" y="202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291" name="Rectangle 35"/>
            <p:cNvSpPr>
              <a:spLocks noChangeArrowheads="1"/>
            </p:cNvSpPr>
            <p:nvPr/>
          </p:nvSpPr>
          <p:spPr bwMode="auto">
            <a:xfrm>
              <a:off x="5047" y="216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298" name="Rectangle 42"/>
            <p:cNvSpPr>
              <a:spLocks noChangeArrowheads="1"/>
            </p:cNvSpPr>
            <p:nvPr/>
          </p:nvSpPr>
          <p:spPr bwMode="auto">
            <a:xfrm>
              <a:off x="5205" y="78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d</a:t>
              </a:r>
              <a:endParaRPr lang="en-US"/>
            </a:p>
          </p:txBody>
        </p:sp>
        <p:sp>
          <p:nvSpPr>
            <p:cNvPr id="299" name="Rectangle 43"/>
            <p:cNvSpPr>
              <a:spLocks noChangeArrowheads="1"/>
            </p:cNvSpPr>
            <p:nvPr/>
          </p:nvSpPr>
          <p:spPr bwMode="auto">
            <a:xfrm>
              <a:off x="5205" y="92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 dirty="0"/>
            </a:p>
          </p:txBody>
        </p:sp>
        <p:sp>
          <p:nvSpPr>
            <p:cNvPr id="300" name="Rectangle 44"/>
            <p:cNvSpPr>
              <a:spLocks noChangeArrowheads="1"/>
            </p:cNvSpPr>
            <p:nvPr/>
          </p:nvSpPr>
          <p:spPr bwMode="auto">
            <a:xfrm>
              <a:off x="5205" y="106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301" name="Rectangle 45"/>
            <p:cNvSpPr>
              <a:spLocks noChangeArrowheads="1"/>
            </p:cNvSpPr>
            <p:nvPr/>
          </p:nvSpPr>
          <p:spPr bwMode="auto">
            <a:xfrm>
              <a:off x="5205" y="119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02" name="Rectangle 46"/>
            <p:cNvSpPr>
              <a:spLocks noChangeArrowheads="1"/>
            </p:cNvSpPr>
            <p:nvPr/>
          </p:nvSpPr>
          <p:spPr bwMode="auto">
            <a:xfrm>
              <a:off x="5205" y="133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303" name="Rectangle 47"/>
            <p:cNvSpPr>
              <a:spLocks noChangeArrowheads="1"/>
            </p:cNvSpPr>
            <p:nvPr/>
          </p:nvSpPr>
          <p:spPr bwMode="auto">
            <a:xfrm>
              <a:off x="5205" y="147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04" name="Rectangle 48"/>
            <p:cNvSpPr>
              <a:spLocks noChangeArrowheads="1"/>
            </p:cNvSpPr>
            <p:nvPr/>
          </p:nvSpPr>
          <p:spPr bwMode="auto">
            <a:xfrm>
              <a:off x="5205" y="161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305" name="Rectangle 49"/>
            <p:cNvSpPr>
              <a:spLocks noChangeArrowheads="1"/>
            </p:cNvSpPr>
            <p:nvPr/>
          </p:nvSpPr>
          <p:spPr bwMode="auto">
            <a:xfrm>
              <a:off x="5205" y="174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06" name="Rectangle 50"/>
            <p:cNvSpPr>
              <a:spLocks noChangeArrowheads="1"/>
            </p:cNvSpPr>
            <p:nvPr/>
          </p:nvSpPr>
          <p:spPr bwMode="auto">
            <a:xfrm>
              <a:off x="5205" y="188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307" name="Rectangle 51"/>
            <p:cNvSpPr>
              <a:spLocks noChangeArrowheads="1"/>
            </p:cNvSpPr>
            <p:nvPr/>
          </p:nvSpPr>
          <p:spPr bwMode="auto">
            <a:xfrm>
              <a:off x="5205" y="202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08" name="Rectangle 52"/>
            <p:cNvSpPr>
              <a:spLocks noChangeArrowheads="1"/>
            </p:cNvSpPr>
            <p:nvPr/>
          </p:nvSpPr>
          <p:spPr bwMode="auto">
            <a:xfrm>
              <a:off x="5205" y="216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315" name="Rectangle 59"/>
            <p:cNvSpPr>
              <a:spLocks noChangeArrowheads="1"/>
            </p:cNvSpPr>
            <p:nvPr/>
          </p:nvSpPr>
          <p:spPr bwMode="auto">
            <a:xfrm>
              <a:off x="4725" y="785"/>
              <a:ext cx="4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a</a:t>
              </a:r>
              <a:endParaRPr lang="en-US"/>
            </a:p>
          </p:txBody>
        </p:sp>
        <p:sp>
          <p:nvSpPr>
            <p:cNvPr id="316" name="Rectangle 60"/>
            <p:cNvSpPr>
              <a:spLocks noChangeArrowheads="1"/>
            </p:cNvSpPr>
            <p:nvPr/>
          </p:nvSpPr>
          <p:spPr bwMode="auto">
            <a:xfrm>
              <a:off x="4725" y="92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17" name="Rectangle 61"/>
            <p:cNvSpPr>
              <a:spLocks noChangeArrowheads="1"/>
            </p:cNvSpPr>
            <p:nvPr/>
          </p:nvSpPr>
          <p:spPr bwMode="auto">
            <a:xfrm>
              <a:off x="4725" y="106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18" name="Rectangle 62"/>
            <p:cNvSpPr>
              <a:spLocks noChangeArrowheads="1"/>
            </p:cNvSpPr>
            <p:nvPr/>
          </p:nvSpPr>
          <p:spPr bwMode="auto">
            <a:xfrm>
              <a:off x="4725" y="119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19" name="Rectangle 63"/>
            <p:cNvSpPr>
              <a:spLocks noChangeArrowheads="1"/>
            </p:cNvSpPr>
            <p:nvPr/>
          </p:nvSpPr>
          <p:spPr bwMode="auto">
            <a:xfrm>
              <a:off x="4725" y="133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20" name="Rectangle 64"/>
            <p:cNvSpPr>
              <a:spLocks noChangeArrowheads="1"/>
            </p:cNvSpPr>
            <p:nvPr/>
          </p:nvSpPr>
          <p:spPr bwMode="auto">
            <a:xfrm>
              <a:off x="4725" y="147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21" name="Rectangle 65"/>
            <p:cNvSpPr>
              <a:spLocks noChangeArrowheads="1"/>
            </p:cNvSpPr>
            <p:nvPr/>
          </p:nvSpPr>
          <p:spPr bwMode="auto">
            <a:xfrm>
              <a:off x="4725" y="161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22" name="Rectangle 66"/>
            <p:cNvSpPr>
              <a:spLocks noChangeArrowheads="1"/>
            </p:cNvSpPr>
            <p:nvPr/>
          </p:nvSpPr>
          <p:spPr bwMode="auto">
            <a:xfrm>
              <a:off x="4725" y="174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23" name="Rectangle 67"/>
            <p:cNvSpPr>
              <a:spLocks noChangeArrowheads="1"/>
            </p:cNvSpPr>
            <p:nvPr/>
          </p:nvSpPr>
          <p:spPr bwMode="auto">
            <a:xfrm>
              <a:off x="4725" y="188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24" name="Rectangle 68"/>
            <p:cNvSpPr>
              <a:spLocks noChangeArrowheads="1"/>
            </p:cNvSpPr>
            <p:nvPr/>
          </p:nvSpPr>
          <p:spPr bwMode="auto">
            <a:xfrm>
              <a:off x="4725" y="202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325" name="Rectangle 69"/>
            <p:cNvSpPr>
              <a:spLocks noChangeArrowheads="1"/>
            </p:cNvSpPr>
            <p:nvPr/>
          </p:nvSpPr>
          <p:spPr bwMode="auto">
            <a:xfrm>
              <a:off x="4725" y="216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 dirty="0"/>
            </a:p>
          </p:txBody>
        </p:sp>
        <p:sp>
          <p:nvSpPr>
            <p:cNvPr id="332" name="Rectangle 76"/>
            <p:cNvSpPr>
              <a:spLocks noChangeArrowheads="1"/>
            </p:cNvSpPr>
            <p:nvPr/>
          </p:nvSpPr>
          <p:spPr bwMode="auto">
            <a:xfrm>
              <a:off x="4883" y="78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b</a:t>
              </a:r>
              <a:endParaRPr lang="en-US"/>
            </a:p>
          </p:txBody>
        </p:sp>
        <p:sp>
          <p:nvSpPr>
            <p:cNvPr id="333" name="Rectangle 77"/>
            <p:cNvSpPr>
              <a:spLocks noChangeArrowheads="1"/>
            </p:cNvSpPr>
            <p:nvPr/>
          </p:nvSpPr>
          <p:spPr bwMode="auto">
            <a:xfrm>
              <a:off x="4883" y="92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34" name="Rectangle 78"/>
            <p:cNvSpPr>
              <a:spLocks noChangeArrowheads="1"/>
            </p:cNvSpPr>
            <p:nvPr/>
          </p:nvSpPr>
          <p:spPr bwMode="auto">
            <a:xfrm>
              <a:off x="4883" y="106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35" name="Rectangle 79"/>
            <p:cNvSpPr>
              <a:spLocks noChangeArrowheads="1"/>
            </p:cNvSpPr>
            <p:nvPr/>
          </p:nvSpPr>
          <p:spPr bwMode="auto">
            <a:xfrm>
              <a:off x="4883" y="119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36" name="Rectangle 80"/>
            <p:cNvSpPr>
              <a:spLocks noChangeArrowheads="1"/>
            </p:cNvSpPr>
            <p:nvPr/>
          </p:nvSpPr>
          <p:spPr bwMode="auto">
            <a:xfrm>
              <a:off x="4883" y="133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37" name="Rectangle 81"/>
            <p:cNvSpPr>
              <a:spLocks noChangeArrowheads="1"/>
            </p:cNvSpPr>
            <p:nvPr/>
          </p:nvSpPr>
          <p:spPr bwMode="auto">
            <a:xfrm>
              <a:off x="4883" y="147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338" name="Rectangle 82"/>
            <p:cNvSpPr>
              <a:spLocks noChangeArrowheads="1"/>
            </p:cNvSpPr>
            <p:nvPr/>
          </p:nvSpPr>
          <p:spPr bwMode="auto">
            <a:xfrm>
              <a:off x="4883" y="161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339" name="Rectangle 83"/>
            <p:cNvSpPr>
              <a:spLocks noChangeArrowheads="1"/>
            </p:cNvSpPr>
            <p:nvPr/>
          </p:nvSpPr>
          <p:spPr bwMode="auto">
            <a:xfrm>
              <a:off x="4883" y="1748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340" name="Rectangle 84"/>
            <p:cNvSpPr>
              <a:spLocks noChangeArrowheads="1"/>
            </p:cNvSpPr>
            <p:nvPr/>
          </p:nvSpPr>
          <p:spPr bwMode="auto">
            <a:xfrm>
              <a:off x="4883" y="1885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/>
            </a:p>
          </p:txBody>
        </p:sp>
        <p:sp>
          <p:nvSpPr>
            <p:cNvPr id="341" name="Rectangle 85"/>
            <p:cNvSpPr>
              <a:spLocks noChangeArrowheads="1"/>
            </p:cNvSpPr>
            <p:nvPr/>
          </p:nvSpPr>
          <p:spPr bwMode="auto">
            <a:xfrm>
              <a:off x="4883" y="2023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42" name="Rectangle 86"/>
            <p:cNvSpPr>
              <a:spLocks noChangeArrowheads="1"/>
            </p:cNvSpPr>
            <p:nvPr/>
          </p:nvSpPr>
          <p:spPr bwMode="auto">
            <a:xfrm>
              <a:off x="4883" y="2160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0</a:t>
              </a:r>
              <a:endParaRPr lang="en-US"/>
            </a:p>
          </p:txBody>
        </p:sp>
        <p:sp>
          <p:nvSpPr>
            <p:cNvPr id="349" name="Rectangle 93"/>
            <p:cNvSpPr>
              <a:spLocks noChangeArrowheads="1"/>
            </p:cNvSpPr>
            <p:nvPr/>
          </p:nvSpPr>
          <p:spPr bwMode="auto">
            <a:xfrm>
              <a:off x="5431" y="785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sz="1300">
                  <a:solidFill>
                    <a:srgbClr val="000000"/>
                  </a:solidFill>
                  <a:latin typeface="Myriad Roman" charset="0"/>
                </a:rPr>
                <a:t>F</a:t>
              </a:r>
              <a:endParaRPr lang="en-US"/>
            </a:p>
          </p:txBody>
        </p:sp>
        <p:sp>
          <p:nvSpPr>
            <p:cNvPr id="350" name="Line 94"/>
            <p:cNvSpPr>
              <a:spLocks noChangeShapeType="1"/>
            </p:cNvSpPr>
            <p:nvPr/>
          </p:nvSpPr>
          <p:spPr bwMode="auto">
            <a:xfrm>
              <a:off x="4656" y="909"/>
              <a:ext cx="925" cy="1"/>
            </a:xfrm>
            <a:prstGeom prst="line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1" name="Line 95"/>
            <p:cNvSpPr>
              <a:spLocks noChangeShapeType="1"/>
            </p:cNvSpPr>
            <p:nvPr/>
          </p:nvSpPr>
          <p:spPr bwMode="auto">
            <a:xfrm>
              <a:off x="5340" y="768"/>
              <a:ext cx="1" cy="1610"/>
            </a:xfrm>
            <a:prstGeom prst="line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cxnSp>
        <p:nvCxnSpPr>
          <p:cNvPr id="5" name="Straight Connector 4"/>
          <p:cNvCxnSpPr/>
          <p:nvPr/>
        </p:nvCxnSpPr>
        <p:spPr>
          <a:xfrm>
            <a:off x="6590582" y="4519944"/>
            <a:ext cx="3717" cy="25868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Rectangle 43"/>
          <p:cNvSpPr>
            <a:spLocks noChangeArrowheads="1"/>
          </p:cNvSpPr>
          <p:nvPr/>
        </p:nvSpPr>
        <p:spPr bwMode="auto">
          <a:xfrm>
            <a:off x="7313382" y="2284552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Myriad Roman" charset="0"/>
              </a:rPr>
              <a:t>0</a:t>
            </a:r>
            <a:endParaRPr lang="en-US" dirty="0"/>
          </a:p>
        </p:txBody>
      </p:sp>
      <p:sp>
        <p:nvSpPr>
          <p:cNvPr id="357" name="Rectangle 43"/>
          <p:cNvSpPr>
            <a:spLocks noChangeArrowheads="1"/>
          </p:cNvSpPr>
          <p:nvPr/>
        </p:nvSpPr>
        <p:spPr bwMode="auto">
          <a:xfrm>
            <a:off x="7313382" y="2500552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Myriad Roman" charset="0"/>
              </a:rPr>
              <a:t>0</a:t>
            </a:r>
            <a:endParaRPr lang="en-US" dirty="0"/>
          </a:p>
        </p:txBody>
      </p:sp>
      <p:sp>
        <p:nvSpPr>
          <p:cNvPr id="358" name="Rectangle 43"/>
          <p:cNvSpPr>
            <a:spLocks noChangeArrowheads="1"/>
          </p:cNvSpPr>
          <p:nvPr/>
        </p:nvSpPr>
        <p:spPr bwMode="auto">
          <a:xfrm>
            <a:off x="7313382" y="2716552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Myriad Roman" charset="0"/>
              </a:rPr>
              <a:t>0</a:t>
            </a:r>
            <a:endParaRPr lang="en-US" dirty="0"/>
          </a:p>
        </p:txBody>
      </p:sp>
      <p:sp>
        <p:nvSpPr>
          <p:cNvPr id="359" name="Rectangle 43"/>
          <p:cNvSpPr>
            <a:spLocks noChangeArrowheads="1"/>
          </p:cNvSpPr>
          <p:nvPr/>
        </p:nvSpPr>
        <p:spPr bwMode="auto">
          <a:xfrm>
            <a:off x="7313382" y="2932552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Myriad Roman" charset="0"/>
              </a:rPr>
              <a:t>0</a:t>
            </a:r>
            <a:endParaRPr lang="en-US" dirty="0"/>
          </a:p>
        </p:txBody>
      </p:sp>
      <p:sp>
        <p:nvSpPr>
          <p:cNvPr id="360" name="Rectangle 43"/>
          <p:cNvSpPr>
            <a:spLocks noChangeArrowheads="1"/>
          </p:cNvSpPr>
          <p:nvPr/>
        </p:nvSpPr>
        <p:spPr bwMode="auto">
          <a:xfrm>
            <a:off x="7313382" y="3184552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Myriad Roman" charset="0"/>
              </a:rPr>
              <a:t>0</a:t>
            </a:r>
            <a:endParaRPr lang="en-US" dirty="0"/>
          </a:p>
        </p:txBody>
      </p:sp>
      <p:sp>
        <p:nvSpPr>
          <p:cNvPr id="361" name="Rectangle 43"/>
          <p:cNvSpPr>
            <a:spLocks noChangeArrowheads="1"/>
          </p:cNvSpPr>
          <p:nvPr/>
        </p:nvSpPr>
        <p:spPr bwMode="auto">
          <a:xfrm>
            <a:off x="7313382" y="3407712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Myriad Roman" charset="0"/>
              </a:rPr>
              <a:t>0</a:t>
            </a:r>
            <a:endParaRPr lang="en-US" dirty="0"/>
          </a:p>
        </p:txBody>
      </p:sp>
      <p:sp>
        <p:nvSpPr>
          <p:cNvPr id="362" name="Rectangle 43"/>
          <p:cNvSpPr>
            <a:spLocks noChangeArrowheads="1"/>
          </p:cNvSpPr>
          <p:nvPr/>
        </p:nvSpPr>
        <p:spPr bwMode="auto">
          <a:xfrm>
            <a:off x="7313382" y="3606150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Myriad Roman" charset="0"/>
              </a:rPr>
              <a:t>0</a:t>
            </a:r>
            <a:endParaRPr lang="en-US" dirty="0"/>
          </a:p>
        </p:txBody>
      </p:sp>
      <p:sp>
        <p:nvSpPr>
          <p:cNvPr id="363" name="Rectangle 43"/>
          <p:cNvSpPr>
            <a:spLocks noChangeArrowheads="1"/>
          </p:cNvSpPr>
          <p:nvPr/>
        </p:nvSpPr>
        <p:spPr bwMode="auto">
          <a:xfrm>
            <a:off x="7313382" y="3832552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Myriad Roman" charset="0"/>
              </a:rPr>
              <a:t>0</a:t>
            </a:r>
            <a:endParaRPr lang="en-US" dirty="0"/>
          </a:p>
        </p:txBody>
      </p:sp>
      <p:sp>
        <p:nvSpPr>
          <p:cNvPr id="364" name="Rectangle 43"/>
          <p:cNvSpPr>
            <a:spLocks noChangeArrowheads="1"/>
          </p:cNvSpPr>
          <p:nvPr/>
        </p:nvSpPr>
        <p:spPr bwMode="auto">
          <a:xfrm>
            <a:off x="7313382" y="4016908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Myriad Roman" charset="0"/>
              </a:rPr>
              <a:t>0</a:t>
            </a:r>
            <a:endParaRPr lang="en-US" dirty="0"/>
          </a:p>
        </p:txBody>
      </p:sp>
      <p:sp>
        <p:nvSpPr>
          <p:cNvPr id="365" name="Rectangle 43"/>
          <p:cNvSpPr>
            <a:spLocks noChangeArrowheads="1"/>
          </p:cNvSpPr>
          <p:nvPr/>
        </p:nvSpPr>
        <p:spPr bwMode="auto">
          <a:xfrm>
            <a:off x="7313382" y="4264552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Myriad Roman" charset="0"/>
              </a:rPr>
              <a:t>0</a:t>
            </a:r>
            <a:endParaRPr lang="en-US" dirty="0"/>
          </a:p>
        </p:txBody>
      </p:sp>
      <p:cxnSp>
        <p:nvCxnSpPr>
          <p:cNvPr id="366" name="Straight Connector 365"/>
          <p:cNvCxnSpPr/>
          <p:nvPr/>
        </p:nvCxnSpPr>
        <p:spPr>
          <a:xfrm>
            <a:off x="7344000" y="4519944"/>
            <a:ext cx="3717" cy="258681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tangle 146"/>
          <p:cNvSpPr/>
          <p:nvPr/>
        </p:nvSpPr>
        <p:spPr>
          <a:xfrm>
            <a:off x="901065" y="3323172"/>
            <a:ext cx="3314527" cy="16288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9" name="Group 148"/>
          <p:cNvGrpSpPr>
            <a:grpSpLocks noChangeAspect="1"/>
          </p:cNvGrpSpPr>
          <p:nvPr/>
        </p:nvGrpSpPr>
        <p:grpSpPr>
          <a:xfrm>
            <a:off x="100231" y="3004388"/>
            <a:ext cx="4471769" cy="1921109"/>
            <a:chOff x="-355599" y="2355721"/>
            <a:chExt cx="8524876" cy="3662363"/>
          </a:xfrm>
        </p:grpSpPr>
        <p:sp>
          <p:nvSpPr>
            <p:cNvPr id="156" name="Rectangle 22"/>
            <p:cNvSpPr>
              <a:spLocks noChangeArrowheads="1"/>
            </p:cNvSpPr>
            <p:nvPr/>
          </p:nvSpPr>
          <p:spPr bwMode="auto">
            <a:xfrm>
              <a:off x="7007225" y="3817808"/>
              <a:ext cx="6350" cy="190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0" name="Rectangle 29"/>
            <p:cNvSpPr>
              <a:spLocks noChangeArrowheads="1"/>
            </p:cNvSpPr>
            <p:nvPr/>
          </p:nvSpPr>
          <p:spPr bwMode="auto">
            <a:xfrm>
              <a:off x="6616700" y="3603495"/>
              <a:ext cx="7938" cy="190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1" name="Rectangle 30"/>
            <p:cNvSpPr>
              <a:spLocks noChangeArrowheads="1"/>
            </p:cNvSpPr>
            <p:nvPr/>
          </p:nvSpPr>
          <p:spPr bwMode="auto">
            <a:xfrm>
              <a:off x="3535363" y="3603495"/>
              <a:ext cx="3081337" cy="19050"/>
            </a:xfrm>
            <a:prstGeom prst="rect">
              <a:avLst/>
            </a:prstGeom>
            <a:solidFill>
              <a:srgbClr val="0078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2" name="Rectangle 33"/>
            <p:cNvSpPr>
              <a:spLocks noChangeArrowheads="1"/>
            </p:cNvSpPr>
            <p:nvPr/>
          </p:nvSpPr>
          <p:spPr bwMode="auto">
            <a:xfrm>
              <a:off x="4529138" y="4803645"/>
              <a:ext cx="6350" cy="2063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3" name="Rectangle 34"/>
            <p:cNvSpPr>
              <a:spLocks noChangeArrowheads="1"/>
            </p:cNvSpPr>
            <p:nvPr/>
          </p:nvSpPr>
          <p:spPr bwMode="auto">
            <a:xfrm>
              <a:off x="2824163" y="4803645"/>
              <a:ext cx="6350" cy="20638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0" name="Rectangle 41"/>
            <p:cNvSpPr>
              <a:spLocks noChangeArrowheads="1"/>
            </p:cNvSpPr>
            <p:nvPr/>
          </p:nvSpPr>
          <p:spPr bwMode="auto">
            <a:xfrm>
              <a:off x="4529138" y="5595808"/>
              <a:ext cx="6350" cy="190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2" name="Rectangle 42"/>
            <p:cNvSpPr>
              <a:spLocks noChangeArrowheads="1"/>
            </p:cNvSpPr>
            <p:nvPr/>
          </p:nvSpPr>
          <p:spPr bwMode="auto">
            <a:xfrm>
              <a:off x="3932238" y="5595808"/>
              <a:ext cx="6350" cy="19050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0" name="Rectangle 67"/>
            <p:cNvSpPr>
              <a:spLocks noChangeArrowheads="1"/>
            </p:cNvSpPr>
            <p:nvPr/>
          </p:nvSpPr>
          <p:spPr bwMode="auto">
            <a:xfrm>
              <a:off x="1670050" y="4394070"/>
              <a:ext cx="6350" cy="206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2" name="Rectangle 70"/>
            <p:cNvSpPr>
              <a:spLocks noChangeArrowheads="1"/>
            </p:cNvSpPr>
            <p:nvPr/>
          </p:nvSpPr>
          <p:spPr bwMode="auto">
            <a:xfrm>
              <a:off x="1670050" y="4803645"/>
              <a:ext cx="6350" cy="206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4" name="Rectangle 73"/>
            <p:cNvSpPr>
              <a:spLocks noChangeArrowheads="1"/>
            </p:cNvSpPr>
            <p:nvPr/>
          </p:nvSpPr>
          <p:spPr bwMode="auto">
            <a:xfrm>
              <a:off x="1670050" y="5213220"/>
              <a:ext cx="635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227" name="Group 77"/>
            <p:cNvGrpSpPr>
              <a:grpSpLocks/>
            </p:cNvGrpSpPr>
            <p:nvPr/>
          </p:nvGrpSpPr>
          <p:grpSpPr bwMode="auto">
            <a:xfrm>
              <a:off x="-355599" y="2355721"/>
              <a:ext cx="8524876" cy="3662363"/>
              <a:chOff x="-224" y="762"/>
              <a:chExt cx="5370" cy="2307"/>
            </a:xfrm>
          </p:grpSpPr>
          <p:sp>
            <p:nvSpPr>
              <p:cNvPr id="228" name="Freeform 17"/>
              <p:cNvSpPr>
                <a:spLocks/>
              </p:cNvSpPr>
              <p:nvPr/>
            </p:nvSpPr>
            <p:spPr bwMode="auto">
              <a:xfrm>
                <a:off x="2849" y="2743"/>
                <a:ext cx="8" cy="13"/>
              </a:xfrm>
              <a:custGeom>
                <a:avLst/>
                <a:gdLst>
                  <a:gd name="T0" fmla="*/ 16 w 16"/>
                  <a:gd name="T1" fmla="*/ 0 h 27"/>
                  <a:gd name="T2" fmla="*/ 7 w 16"/>
                  <a:gd name="T3" fmla="*/ 0 h 27"/>
                  <a:gd name="T4" fmla="*/ 0 w 16"/>
                  <a:gd name="T5" fmla="*/ 27 h 27"/>
                  <a:gd name="T6" fmla="*/ 7 w 16"/>
                  <a:gd name="T7" fmla="*/ 27 h 27"/>
                  <a:gd name="T8" fmla="*/ 16 w 16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7">
                    <a:moveTo>
                      <a:pt x="16" y="0"/>
                    </a:moveTo>
                    <a:lnTo>
                      <a:pt x="7" y="0"/>
                    </a:lnTo>
                    <a:lnTo>
                      <a:pt x="0" y="27"/>
                    </a:lnTo>
                    <a:lnTo>
                      <a:pt x="7" y="27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9" name="Freeform 18"/>
              <p:cNvSpPr>
                <a:spLocks/>
              </p:cNvSpPr>
              <p:nvPr/>
            </p:nvSpPr>
            <p:spPr bwMode="auto">
              <a:xfrm>
                <a:off x="2853" y="2831"/>
                <a:ext cx="148" cy="72"/>
              </a:xfrm>
              <a:custGeom>
                <a:avLst/>
                <a:gdLst>
                  <a:gd name="T0" fmla="*/ 9 w 296"/>
                  <a:gd name="T1" fmla="*/ 0 h 145"/>
                  <a:gd name="T2" fmla="*/ 0 w 296"/>
                  <a:gd name="T3" fmla="*/ 27 h 145"/>
                  <a:gd name="T4" fmla="*/ 254 w 296"/>
                  <a:gd name="T5" fmla="*/ 145 h 145"/>
                  <a:gd name="T6" fmla="*/ 262 w 296"/>
                  <a:gd name="T7" fmla="*/ 145 h 145"/>
                  <a:gd name="T8" fmla="*/ 296 w 296"/>
                  <a:gd name="T9" fmla="*/ 127 h 145"/>
                  <a:gd name="T10" fmla="*/ 262 w 296"/>
                  <a:gd name="T11" fmla="*/ 120 h 145"/>
                  <a:gd name="T12" fmla="*/ 9 w 296"/>
                  <a:gd name="T13" fmla="*/ 0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6" h="145">
                    <a:moveTo>
                      <a:pt x="9" y="0"/>
                    </a:moveTo>
                    <a:lnTo>
                      <a:pt x="0" y="27"/>
                    </a:lnTo>
                    <a:lnTo>
                      <a:pt x="254" y="145"/>
                    </a:lnTo>
                    <a:lnTo>
                      <a:pt x="262" y="145"/>
                    </a:lnTo>
                    <a:lnTo>
                      <a:pt x="296" y="127"/>
                    </a:lnTo>
                    <a:lnTo>
                      <a:pt x="262" y="120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0" name="Freeform 19"/>
              <p:cNvSpPr>
                <a:spLocks/>
              </p:cNvSpPr>
              <p:nvPr/>
            </p:nvSpPr>
            <p:spPr bwMode="auto">
              <a:xfrm>
                <a:off x="2849" y="2866"/>
                <a:ext cx="8" cy="13"/>
              </a:xfrm>
              <a:custGeom>
                <a:avLst/>
                <a:gdLst>
                  <a:gd name="T0" fmla="*/ 16 w 16"/>
                  <a:gd name="T1" fmla="*/ 25 h 25"/>
                  <a:gd name="T2" fmla="*/ 7 w 16"/>
                  <a:gd name="T3" fmla="*/ 25 h 25"/>
                  <a:gd name="T4" fmla="*/ 0 w 16"/>
                  <a:gd name="T5" fmla="*/ 0 h 25"/>
                  <a:gd name="T6" fmla="*/ 7 w 16"/>
                  <a:gd name="T7" fmla="*/ 0 h 25"/>
                  <a:gd name="T8" fmla="*/ 16 w 16"/>
                  <a:gd name="T9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" h="25">
                    <a:moveTo>
                      <a:pt x="16" y="25"/>
                    </a:moveTo>
                    <a:lnTo>
                      <a:pt x="7" y="25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16" y="25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1" name="Freeform 20"/>
              <p:cNvSpPr>
                <a:spLocks/>
              </p:cNvSpPr>
              <p:nvPr/>
            </p:nvSpPr>
            <p:spPr bwMode="auto">
              <a:xfrm>
                <a:off x="2853" y="2903"/>
                <a:ext cx="131" cy="76"/>
              </a:xfrm>
              <a:custGeom>
                <a:avLst/>
                <a:gdLst>
                  <a:gd name="T0" fmla="*/ 262 w 262"/>
                  <a:gd name="T1" fmla="*/ 25 h 152"/>
                  <a:gd name="T2" fmla="*/ 254 w 262"/>
                  <a:gd name="T3" fmla="*/ 0 h 152"/>
                  <a:gd name="T4" fmla="*/ 0 w 262"/>
                  <a:gd name="T5" fmla="*/ 127 h 152"/>
                  <a:gd name="T6" fmla="*/ 9 w 262"/>
                  <a:gd name="T7" fmla="*/ 152 h 152"/>
                  <a:gd name="T8" fmla="*/ 262 w 262"/>
                  <a:gd name="T9" fmla="*/ 25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2" h="152">
                    <a:moveTo>
                      <a:pt x="262" y="25"/>
                    </a:moveTo>
                    <a:lnTo>
                      <a:pt x="254" y="0"/>
                    </a:lnTo>
                    <a:lnTo>
                      <a:pt x="0" y="127"/>
                    </a:lnTo>
                    <a:lnTo>
                      <a:pt x="9" y="152"/>
                    </a:lnTo>
                    <a:lnTo>
                      <a:pt x="262" y="25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2" name="Rectangle 21"/>
              <p:cNvSpPr>
                <a:spLocks noChangeArrowheads="1"/>
              </p:cNvSpPr>
              <p:nvPr/>
            </p:nvSpPr>
            <p:spPr bwMode="auto">
              <a:xfrm>
                <a:off x="4989" y="1683"/>
                <a:ext cx="4" cy="12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3" name="Rectangle 23"/>
              <p:cNvSpPr>
                <a:spLocks noChangeArrowheads="1"/>
              </p:cNvSpPr>
              <p:nvPr/>
            </p:nvSpPr>
            <p:spPr bwMode="auto">
              <a:xfrm>
                <a:off x="4418" y="1683"/>
                <a:ext cx="571" cy="12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4" name="Rectangle 24"/>
              <p:cNvSpPr>
                <a:spLocks noChangeArrowheads="1"/>
              </p:cNvSpPr>
              <p:nvPr/>
            </p:nvSpPr>
            <p:spPr bwMode="auto">
              <a:xfrm>
                <a:off x="3475" y="2304"/>
                <a:ext cx="4" cy="13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6" name="Rectangle 27"/>
              <p:cNvSpPr>
                <a:spLocks noChangeArrowheads="1"/>
              </p:cNvSpPr>
              <p:nvPr/>
            </p:nvSpPr>
            <p:spPr bwMode="auto">
              <a:xfrm>
                <a:off x="4168" y="1806"/>
                <a:ext cx="5" cy="12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8" name="Rectangle 237"/>
              <p:cNvSpPr>
                <a:spLocks noChangeArrowheads="1"/>
              </p:cNvSpPr>
              <p:nvPr/>
            </p:nvSpPr>
            <p:spPr bwMode="auto">
              <a:xfrm>
                <a:off x="2227" y="2308"/>
                <a:ext cx="13" cy="5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9" name="Rectangle 238"/>
              <p:cNvSpPr>
                <a:spLocks noChangeArrowheads="1"/>
              </p:cNvSpPr>
              <p:nvPr/>
            </p:nvSpPr>
            <p:spPr bwMode="auto">
              <a:xfrm>
                <a:off x="2227" y="1552"/>
                <a:ext cx="13" cy="756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0" name="Rectangle 35"/>
              <p:cNvSpPr>
                <a:spLocks noChangeArrowheads="1"/>
              </p:cNvSpPr>
              <p:nvPr/>
            </p:nvSpPr>
            <p:spPr bwMode="auto">
              <a:xfrm>
                <a:off x="1783" y="2304"/>
                <a:ext cx="1070" cy="13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1" name="Freeform 36"/>
              <p:cNvSpPr>
                <a:spLocks/>
              </p:cNvSpPr>
              <p:nvPr/>
            </p:nvSpPr>
            <p:spPr bwMode="auto">
              <a:xfrm>
                <a:off x="2206" y="2287"/>
                <a:ext cx="47" cy="42"/>
              </a:xfrm>
              <a:custGeom>
                <a:avLst/>
                <a:gdLst>
                  <a:gd name="T0" fmla="*/ 94 w 94"/>
                  <a:gd name="T1" fmla="*/ 43 h 85"/>
                  <a:gd name="T2" fmla="*/ 76 w 94"/>
                  <a:gd name="T3" fmla="*/ 18 h 85"/>
                  <a:gd name="T4" fmla="*/ 51 w 94"/>
                  <a:gd name="T5" fmla="*/ 0 h 85"/>
                  <a:gd name="T6" fmla="*/ 18 w 94"/>
                  <a:gd name="T7" fmla="*/ 18 h 85"/>
                  <a:gd name="T8" fmla="*/ 0 w 94"/>
                  <a:gd name="T9" fmla="*/ 43 h 85"/>
                  <a:gd name="T10" fmla="*/ 18 w 94"/>
                  <a:gd name="T11" fmla="*/ 76 h 85"/>
                  <a:gd name="T12" fmla="*/ 51 w 94"/>
                  <a:gd name="T13" fmla="*/ 85 h 85"/>
                  <a:gd name="T14" fmla="*/ 76 w 94"/>
                  <a:gd name="T15" fmla="*/ 76 h 85"/>
                  <a:gd name="T16" fmla="*/ 94 w 94"/>
                  <a:gd name="T17" fmla="*/ 43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85">
                    <a:moveTo>
                      <a:pt x="94" y="43"/>
                    </a:moveTo>
                    <a:lnTo>
                      <a:pt x="76" y="18"/>
                    </a:lnTo>
                    <a:lnTo>
                      <a:pt x="51" y="0"/>
                    </a:lnTo>
                    <a:lnTo>
                      <a:pt x="18" y="18"/>
                    </a:lnTo>
                    <a:lnTo>
                      <a:pt x="0" y="43"/>
                    </a:lnTo>
                    <a:lnTo>
                      <a:pt x="18" y="76"/>
                    </a:lnTo>
                    <a:lnTo>
                      <a:pt x="51" y="85"/>
                    </a:lnTo>
                    <a:lnTo>
                      <a:pt x="76" y="76"/>
                    </a:lnTo>
                    <a:lnTo>
                      <a:pt x="94" y="43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2" name="Freeform 37"/>
              <p:cNvSpPr>
                <a:spLocks/>
              </p:cNvSpPr>
              <p:nvPr/>
            </p:nvSpPr>
            <p:spPr bwMode="auto">
              <a:xfrm>
                <a:off x="2208" y="2283"/>
                <a:ext cx="59" cy="55"/>
              </a:xfrm>
              <a:custGeom>
                <a:avLst/>
                <a:gdLst>
                  <a:gd name="T0" fmla="*/ 93 w 118"/>
                  <a:gd name="T1" fmla="*/ 59 h 110"/>
                  <a:gd name="T2" fmla="*/ 75 w 118"/>
                  <a:gd name="T3" fmla="*/ 33 h 110"/>
                  <a:gd name="T4" fmla="*/ 75 w 118"/>
                  <a:gd name="T5" fmla="*/ 33 h 110"/>
                  <a:gd name="T6" fmla="*/ 75 w 118"/>
                  <a:gd name="T7" fmla="*/ 33 h 110"/>
                  <a:gd name="T8" fmla="*/ 51 w 118"/>
                  <a:gd name="T9" fmla="*/ 17 h 110"/>
                  <a:gd name="T10" fmla="*/ 68 w 118"/>
                  <a:gd name="T11" fmla="*/ 26 h 110"/>
                  <a:gd name="T12" fmla="*/ 68 w 118"/>
                  <a:gd name="T13" fmla="*/ 26 h 110"/>
                  <a:gd name="T14" fmla="*/ 33 w 118"/>
                  <a:gd name="T15" fmla="*/ 42 h 110"/>
                  <a:gd name="T16" fmla="*/ 33 w 118"/>
                  <a:gd name="T17" fmla="*/ 33 h 110"/>
                  <a:gd name="T18" fmla="*/ 33 w 118"/>
                  <a:gd name="T19" fmla="*/ 33 h 110"/>
                  <a:gd name="T20" fmla="*/ 17 w 118"/>
                  <a:gd name="T21" fmla="*/ 59 h 110"/>
                  <a:gd name="T22" fmla="*/ 26 w 118"/>
                  <a:gd name="T23" fmla="*/ 51 h 110"/>
                  <a:gd name="T24" fmla="*/ 26 w 118"/>
                  <a:gd name="T25" fmla="*/ 51 h 110"/>
                  <a:gd name="T26" fmla="*/ 42 w 118"/>
                  <a:gd name="T27" fmla="*/ 84 h 110"/>
                  <a:gd name="T28" fmla="*/ 33 w 118"/>
                  <a:gd name="T29" fmla="*/ 75 h 110"/>
                  <a:gd name="T30" fmla="*/ 33 w 118"/>
                  <a:gd name="T31" fmla="*/ 75 h 110"/>
                  <a:gd name="T32" fmla="*/ 68 w 118"/>
                  <a:gd name="T33" fmla="*/ 84 h 110"/>
                  <a:gd name="T34" fmla="*/ 59 w 118"/>
                  <a:gd name="T35" fmla="*/ 84 h 110"/>
                  <a:gd name="T36" fmla="*/ 59 w 118"/>
                  <a:gd name="T37" fmla="*/ 84 h 110"/>
                  <a:gd name="T38" fmla="*/ 84 w 118"/>
                  <a:gd name="T39" fmla="*/ 75 h 110"/>
                  <a:gd name="T40" fmla="*/ 75 w 118"/>
                  <a:gd name="T41" fmla="*/ 84 h 110"/>
                  <a:gd name="T42" fmla="*/ 75 w 118"/>
                  <a:gd name="T43" fmla="*/ 84 h 110"/>
                  <a:gd name="T44" fmla="*/ 93 w 118"/>
                  <a:gd name="T45" fmla="*/ 51 h 110"/>
                  <a:gd name="T46" fmla="*/ 93 w 118"/>
                  <a:gd name="T47" fmla="*/ 51 h 110"/>
                  <a:gd name="T48" fmla="*/ 118 w 118"/>
                  <a:gd name="T49" fmla="*/ 59 h 110"/>
                  <a:gd name="T50" fmla="*/ 118 w 118"/>
                  <a:gd name="T51" fmla="*/ 59 h 110"/>
                  <a:gd name="T52" fmla="*/ 102 w 118"/>
                  <a:gd name="T53" fmla="*/ 93 h 110"/>
                  <a:gd name="T54" fmla="*/ 102 w 118"/>
                  <a:gd name="T55" fmla="*/ 93 h 110"/>
                  <a:gd name="T56" fmla="*/ 93 w 118"/>
                  <a:gd name="T57" fmla="*/ 102 h 110"/>
                  <a:gd name="T58" fmla="*/ 68 w 118"/>
                  <a:gd name="T59" fmla="*/ 110 h 110"/>
                  <a:gd name="T60" fmla="*/ 68 w 118"/>
                  <a:gd name="T61" fmla="*/ 110 h 110"/>
                  <a:gd name="T62" fmla="*/ 59 w 118"/>
                  <a:gd name="T63" fmla="*/ 110 h 110"/>
                  <a:gd name="T64" fmla="*/ 26 w 118"/>
                  <a:gd name="T65" fmla="*/ 102 h 110"/>
                  <a:gd name="T66" fmla="*/ 26 w 118"/>
                  <a:gd name="T67" fmla="*/ 102 h 110"/>
                  <a:gd name="T68" fmla="*/ 17 w 118"/>
                  <a:gd name="T69" fmla="*/ 93 h 110"/>
                  <a:gd name="T70" fmla="*/ 0 w 118"/>
                  <a:gd name="T71" fmla="*/ 59 h 110"/>
                  <a:gd name="T72" fmla="*/ 0 w 118"/>
                  <a:gd name="T73" fmla="*/ 59 h 110"/>
                  <a:gd name="T74" fmla="*/ 0 w 118"/>
                  <a:gd name="T75" fmla="*/ 42 h 110"/>
                  <a:gd name="T76" fmla="*/ 17 w 118"/>
                  <a:gd name="T77" fmla="*/ 17 h 110"/>
                  <a:gd name="T78" fmla="*/ 17 w 118"/>
                  <a:gd name="T79" fmla="*/ 17 h 110"/>
                  <a:gd name="T80" fmla="*/ 26 w 118"/>
                  <a:gd name="T81" fmla="*/ 17 h 110"/>
                  <a:gd name="T82" fmla="*/ 59 w 118"/>
                  <a:gd name="T83" fmla="*/ 0 h 110"/>
                  <a:gd name="T84" fmla="*/ 59 w 118"/>
                  <a:gd name="T85" fmla="*/ 0 h 110"/>
                  <a:gd name="T86" fmla="*/ 68 w 118"/>
                  <a:gd name="T87" fmla="*/ 0 h 110"/>
                  <a:gd name="T88" fmla="*/ 93 w 118"/>
                  <a:gd name="T89" fmla="*/ 17 h 110"/>
                  <a:gd name="T90" fmla="*/ 93 w 118"/>
                  <a:gd name="T91" fmla="*/ 17 h 110"/>
                  <a:gd name="T92" fmla="*/ 93 w 118"/>
                  <a:gd name="T93" fmla="*/ 17 h 110"/>
                  <a:gd name="T94" fmla="*/ 111 w 118"/>
                  <a:gd name="T95" fmla="*/ 42 h 110"/>
                  <a:gd name="T96" fmla="*/ 93 w 118"/>
                  <a:gd name="T97" fmla="*/ 59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18" h="110">
                    <a:moveTo>
                      <a:pt x="93" y="59"/>
                    </a:moveTo>
                    <a:lnTo>
                      <a:pt x="75" y="33"/>
                    </a:lnTo>
                    <a:lnTo>
                      <a:pt x="75" y="33"/>
                    </a:lnTo>
                    <a:lnTo>
                      <a:pt x="75" y="33"/>
                    </a:lnTo>
                    <a:lnTo>
                      <a:pt x="51" y="17"/>
                    </a:lnTo>
                    <a:lnTo>
                      <a:pt x="68" y="26"/>
                    </a:lnTo>
                    <a:lnTo>
                      <a:pt x="68" y="26"/>
                    </a:lnTo>
                    <a:lnTo>
                      <a:pt x="33" y="42"/>
                    </a:lnTo>
                    <a:lnTo>
                      <a:pt x="33" y="33"/>
                    </a:lnTo>
                    <a:lnTo>
                      <a:pt x="33" y="33"/>
                    </a:lnTo>
                    <a:lnTo>
                      <a:pt x="17" y="59"/>
                    </a:lnTo>
                    <a:lnTo>
                      <a:pt x="26" y="51"/>
                    </a:lnTo>
                    <a:lnTo>
                      <a:pt x="26" y="51"/>
                    </a:lnTo>
                    <a:lnTo>
                      <a:pt x="42" y="84"/>
                    </a:lnTo>
                    <a:lnTo>
                      <a:pt x="33" y="75"/>
                    </a:lnTo>
                    <a:lnTo>
                      <a:pt x="33" y="75"/>
                    </a:lnTo>
                    <a:lnTo>
                      <a:pt x="68" y="84"/>
                    </a:lnTo>
                    <a:lnTo>
                      <a:pt x="59" y="84"/>
                    </a:lnTo>
                    <a:lnTo>
                      <a:pt x="59" y="84"/>
                    </a:lnTo>
                    <a:lnTo>
                      <a:pt x="84" y="75"/>
                    </a:lnTo>
                    <a:lnTo>
                      <a:pt x="75" y="84"/>
                    </a:lnTo>
                    <a:lnTo>
                      <a:pt x="75" y="84"/>
                    </a:lnTo>
                    <a:lnTo>
                      <a:pt x="93" y="51"/>
                    </a:lnTo>
                    <a:lnTo>
                      <a:pt x="93" y="51"/>
                    </a:lnTo>
                    <a:lnTo>
                      <a:pt x="118" y="59"/>
                    </a:lnTo>
                    <a:lnTo>
                      <a:pt x="118" y="59"/>
                    </a:lnTo>
                    <a:lnTo>
                      <a:pt x="102" y="93"/>
                    </a:lnTo>
                    <a:lnTo>
                      <a:pt x="102" y="93"/>
                    </a:lnTo>
                    <a:lnTo>
                      <a:pt x="93" y="102"/>
                    </a:lnTo>
                    <a:lnTo>
                      <a:pt x="68" y="110"/>
                    </a:lnTo>
                    <a:lnTo>
                      <a:pt x="68" y="110"/>
                    </a:lnTo>
                    <a:lnTo>
                      <a:pt x="59" y="110"/>
                    </a:lnTo>
                    <a:lnTo>
                      <a:pt x="26" y="102"/>
                    </a:lnTo>
                    <a:lnTo>
                      <a:pt x="26" y="102"/>
                    </a:lnTo>
                    <a:lnTo>
                      <a:pt x="17" y="93"/>
                    </a:lnTo>
                    <a:lnTo>
                      <a:pt x="0" y="59"/>
                    </a:lnTo>
                    <a:lnTo>
                      <a:pt x="0" y="59"/>
                    </a:lnTo>
                    <a:lnTo>
                      <a:pt x="0" y="42"/>
                    </a:lnTo>
                    <a:lnTo>
                      <a:pt x="17" y="17"/>
                    </a:lnTo>
                    <a:lnTo>
                      <a:pt x="17" y="17"/>
                    </a:lnTo>
                    <a:lnTo>
                      <a:pt x="26" y="17"/>
                    </a:lnTo>
                    <a:lnTo>
                      <a:pt x="59" y="0"/>
                    </a:lnTo>
                    <a:lnTo>
                      <a:pt x="59" y="0"/>
                    </a:lnTo>
                    <a:lnTo>
                      <a:pt x="68" y="0"/>
                    </a:lnTo>
                    <a:lnTo>
                      <a:pt x="93" y="17"/>
                    </a:lnTo>
                    <a:lnTo>
                      <a:pt x="93" y="17"/>
                    </a:lnTo>
                    <a:lnTo>
                      <a:pt x="93" y="17"/>
                    </a:lnTo>
                    <a:lnTo>
                      <a:pt x="111" y="42"/>
                    </a:lnTo>
                    <a:lnTo>
                      <a:pt x="93" y="59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3" name="Freeform 38"/>
              <p:cNvSpPr>
                <a:spLocks/>
              </p:cNvSpPr>
              <p:nvPr/>
            </p:nvSpPr>
            <p:spPr bwMode="auto">
              <a:xfrm>
                <a:off x="2248" y="2304"/>
                <a:ext cx="13" cy="9"/>
              </a:xfrm>
              <a:custGeom>
                <a:avLst/>
                <a:gdLst>
                  <a:gd name="T0" fmla="*/ 0 w 25"/>
                  <a:gd name="T1" fmla="*/ 9 h 17"/>
                  <a:gd name="T2" fmla="*/ 0 w 25"/>
                  <a:gd name="T3" fmla="*/ 9 h 17"/>
                  <a:gd name="T4" fmla="*/ 0 w 25"/>
                  <a:gd name="T5" fmla="*/ 17 h 17"/>
                  <a:gd name="T6" fmla="*/ 18 w 25"/>
                  <a:gd name="T7" fmla="*/ 0 h 17"/>
                  <a:gd name="T8" fmla="*/ 25 w 25"/>
                  <a:gd name="T9" fmla="*/ 17 h 17"/>
                  <a:gd name="T10" fmla="*/ 25 w 25"/>
                  <a:gd name="T11" fmla="*/ 17 h 17"/>
                  <a:gd name="T12" fmla="*/ 0 w 25"/>
                  <a:gd name="T13" fmla="*/ 9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" h="17">
                    <a:moveTo>
                      <a:pt x="0" y="9"/>
                    </a:moveTo>
                    <a:lnTo>
                      <a:pt x="0" y="9"/>
                    </a:lnTo>
                    <a:lnTo>
                      <a:pt x="0" y="17"/>
                    </a:lnTo>
                    <a:lnTo>
                      <a:pt x="18" y="0"/>
                    </a:lnTo>
                    <a:lnTo>
                      <a:pt x="25" y="17"/>
                    </a:lnTo>
                    <a:lnTo>
                      <a:pt x="25" y="17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4" name="Rectangle 39"/>
              <p:cNvSpPr>
                <a:spLocks noChangeArrowheads="1"/>
              </p:cNvSpPr>
              <p:nvPr/>
            </p:nvSpPr>
            <p:spPr bwMode="auto">
              <a:xfrm>
                <a:off x="4722" y="1389"/>
                <a:ext cx="424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Out </a:t>
                </a:r>
                <a:endParaRPr lang="en-CA" altLang="en-US" sz="1500" dirty="0"/>
              </a:p>
            </p:txBody>
          </p:sp>
          <p:sp>
            <p:nvSpPr>
              <p:cNvPr id="245" name="Rectangle 40"/>
              <p:cNvSpPr>
                <a:spLocks noChangeArrowheads="1"/>
              </p:cNvSpPr>
              <p:nvPr/>
            </p:nvSpPr>
            <p:spPr bwMode="auto">
              <a:xfrm>
                <a:off x="2865" y="2233"/>
                <a:ext cx="23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D</a:t>
                </a:r>
                <a:r>
                  <a:rPr lang="en-CA" altLang="en-US" sz="1600" dirty="0">
                    <a:solidFill>
                      <a:srgbClr val="000000"/>
                    </a:solidFill>
                    <a:latin typeface="Times-Roman" charset="0"/>
                  </a:rPr>
                  <a:t> </a:t>
                </a:r>
                <a:endParaRPr lang="en-CA" altLang="en-US" sz="1600" dirty="0"/>
              </a:p>
            </p:txBody>
          </p:sp>
          <p:sp>
            <p:nvSpPr>
              <p:cNvPr id="246" name="Rectangle 43"/>
              <p:cNvSpPr>
                <a:spLocks noChangeArrowheads="1"/>
              </p:cNvSpPr>
              <p:nvPr/>
            </p:nvSpPr>
            <p:spPr bwMode="auto">
              <a:xfrm>
                <a:off x="537" y="2903"/>
                <a:ext cx="2327" cy="12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7" name="Rectangle 44"/>
              <p:cNvSpPr>
                <a:spLocks noChangeArrowheads="1"/>
              </p:cNvSpPr>
              <p:nvPr/>
            </p:nvSpPr>
            <p:spPr bwMode="auto">
              <a:xfrm>
                <a:off x="3286" y="2233"/>
                <a:ext cx="237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Q </a:t>
                </a:r>
                <a:endParaRPr lang="en-CA" altLang="en-US" sz="1500" dirty="0"/>
              </a:p>
            </p:txBody>
          </p:sp>
          <p:sp>
            <p:nvSpPr>
              <p:cNvPr id="248" name="Rectangle 45"/>
              <p:cNvSpPr>
                <a:spLocks noChangeArrowheads="1"/>
              </p:cNvSpPr>
              <p:nvPr/>
            </p:nvSpPr>
            <p:spPr bwMode="auto">
              <a:xfrm>
                <a:off x="-224" y="2724"/>
                <a:ext cx="627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Clock </a:t>
                </a:r>
                <a:endParaRPr lang="en-CA" altLang="en-US" sz="1500" dirty="0"/>
              </a:p>
            </p:txBody>
          </p:sp>
          <p:sp>
            <p:nvSpPr>
              <p:cNvPr id="249" name="Rectangle 46"/>
              <p:cNvSpPr>
                <a:spLocks noChangeArrowheads="1"/>
              </p:cNvSpPr>
              <p:nvPr/>
            </p:nvSpPr>
            <p:spPr bwMode="auto">
              <a:xfrm>
                <a:off x="3617" y="762"/>
                <a:ext cx="589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select</a:t>
                </a:r>
                <a:endParaRPr lang="en-CA" altLang="en-US" sz="1500" dirty="0"/>
              </a:p>
            </p:txBody>
          </p:sp>
          <p:sp>
            <p:nvSpPr>
              <p:cNvPr id="250" name="Rectangle 47"/>
              <p:cNvSpPr>
                <a:spLocks noChangeArrowheads="1"/>
              </p:cNvSpPr>
              <p:nvPr/>
            </p:nvSpPr>
            <p:spPr bwMode="auto">
              <a:xfrm>
                <a:off x="4291" y="1438"/>
                <a:ext cx="13" cy="4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1" name="Rectangle 48"/>
              <p:cNvSpPr>
                <a:spLocks noChangeArrowheads="1"/>
              </p:cNvSpPr>
              <p:nvPr/>
            </p:nvSpPr>
            <p:spPr bwMode="auto">
              <a:xfrm>
                <a:off x="4291" y="1184"/>
                <a:ext cx="13" cy="4"/>
              </a:xfrm>
              <a:prstGeom prst="rect">
                <a:avLst/>
              </a:prstGeom>
              <a:solidFill>
                <a:srgbClr val="00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2" name="Rectangle 49"/>
              <p:cNvSpPr>
                <a:spLocks noChangeArrowheads="1"/>
              </p:cNvSpPr>
              <p:nvPr/>
            </p:nvSpPr>
            <p:spPr bwMode="auto">
              <a:xfrm>
                <a:off x="4291" y="767"/>
                <a:ext cx="13" cy="659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3" name="Rectangle 50"/>
              <p:cNvSpPr>
                <a:spLocks noChangeArrowheads="1"/>
              </p:cNvSpPr>
              <p:nvPr/>
            </p:nvSpPr>
            <p:spPr bwMode="auto">
              <a:xfrm>
                <a:off x="2853" y="2046"/>
                <a:ext cx="639" cy="25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4" name="Rectangle 51"/>
              <p:cNvSpPr>
                <a:spLocks noChangeArrowheads="1"/>
              </p:cNvSpPr>
              <p:nvPr/>
            </p:nvSpPr>
            <p:spPr bwMode="auto">
              <a:xfrm>
                <a:off x="3466" y="2059"/>
                <a:ext cx="26" cy="1010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5" name="Rectangle 52"/>
              <p:cNvSpPr>
                <a:spLocks noChangeArrowheads="1"/>
              </p:cNvSpPr>
              <p:nvPr/>
            </p:nvSpPr>
            <p:spPr bwMode="auto">
              <a:xfrm>
                <a:off x="2841" y="3043"/>
                <a:ext cx="638" cy="26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6" name="Rectangle 53"/>
              <p:cNvSpPr>
                <a:spLocks noChangeArrowheads="1"/>
              </p:cNvSpPr>
              <p:nvPr/>
            </p:nvSpPr>
            <p:spPr bwMode="auto">
              <a:xfrm>
                <a:off x="2841" y="2046"/>
                <a:ext cx="25" cy="1011"/>
              </a:xfrm>
              <a:prstGeom prst="rect">
                <a:avLst/>
              </a:pr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7" name="Freeform 54"/>
              <p:cNvSpPr>
                <a:spLocks/>
              </p:cNvSpPr>
              <p:nvPr/>
            </p:nvSpPr>
            <p:spPr bwMode="auto">
              <a:xfrm>
                <a:off x="4156" y="1357"/>
                <a:ext cx="275" cy="639"/>
              </a:xfrm>
              <a:custGeom>
                <a:avLst/>
                <a:gdLst>
                  <a:gd name="T0" fmla="*/ 0 w 550"/>
                  <a:gd name="T1" fmla="*/ 1276 h 1276"/>
                  <a:gd name="T2" fmla="*/ 0 w 550"/>
                  <a:gd name="T3" fmla="*/ 33 h 1276"/>
                  <a:gd name="T4" fmla="*/ 0 w 550"/>
                  <a:gd name="T5" fmla="*/ 0 h 1276"/>
                  <a:gd name="T6" fmla="*/ 42 w 550"/>
                  <a:gd name="T7" fmla="*/ 17 h 1276"/>
                  <a:gd name="T8" fmla="*/ 541 w 550"/>
                  <a:gd name="T9" fmla="*/ 262 h 1276"/>
                  <a:gd name="T10" fmla="*/ 550 w 550"/>
                  <a:gd name="T11" fmla="*/ 262 h 1276"/>
                  <a:gd name="T12" fmla="*/ 550 w 550"/>
                  <a:gd name="T13" fmla="*/ 278 h 1276"/>
                  <a:gd name="T14" fmla="*/ 550 w 550"/>
                  <a:gd name="T15" fmla="*/ 1032 h 1276"/>
                  <a:gd name="T16" fmla="*/ 550 w 550"/>
                  <a:gd name="T17" fmla="*/ 1056 h 1276"/>
                  <a:gd name="T18" fmla="*/ 541 w 550"/>
                  <a:gd name="T19" fmla="*/ 1056 h 1276"/>
                  <a:gd name="T20" fmla="*/ 499 w 550"/>
                  <a:gd name="T21" fmla="*/ 1032 h 1276"/>
                  <a:gd name="T22" fmla="*/ 499 w 550"/>
                  <a:gd name="T23" fmla="*/ 278 h 1276"/>
                  <a:gd name="T24" fmla="*/ 550 w 550"/>
                  <a:gd name="T25" fmla="*/ 278 h 1276"/>
                  <a:gd name="T26" fmla="*/ 516 w 550"/>
                  <a:gd name="T27" fmla="*/ 304 h 1276"/>
                  <a:gd name="T28" fmla="*/ 16 w 550"/>
                  <a:gd name="T29" fmla="*/ 60 h 1276"/>
                  <a:gd name="T30" fmla="*/ 42 w 550"/>
                  <a:gd name="T31" fmla="*/ 17 h 1276"/>
                  <a:gd name="T32" fmla="*/ 51 w 550"/>
                  <a:gd name="T33" fmla="*/ 33 h 1276"/>
                  <a:gd name="T34" fmla="*/ 51 w 550"/>
                  <a:gd name="T35" fmla="*/ 1276 h 1276"/>
                  <a:gd name="T36" fmla="*/ 0 w 550"/>
                  <a:gd name="T37" fmla="*/ 1276 h 1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50" h="1276">
                    <a:moveTo>
                      <a:pt x="0" y="1276"/>
                    </a:moveTo>
                    <a:lnTo>
                      <a:pt x="0" y="33"/>
                    </a:lnTo>
                    <a:lnTo>
                      <a:pt x="0" y="0"/>
                    </a:lnTo>
                    <a:lnTo>
                      <a:pt x="42" y="17"/>
                    </a:lnTo>
                    <a:lnTo>
                      <a:pt x="541" y="262"/>
                    </a:lnTo>
                    <a:lnTo>
                      <a:pt x="550" y="262"/>
                    </a:lnTo>
                    <a:lnTo>
                      <a:pt x="550" y="278"/>
                    </a:lnTo>
                    <a:lnTo>
                      <a:pt x="550" y="1032"/>
                    </a:lnTo>
                    <a:lnTo>
                      <a:pt x="550" y="1056"/>
                    </a:lnTo>
                    <a:lnTo>
                      <a:pt x="541" y="1056"/>
                    </a:lnTo>
                    <a:lnTo>
                      <a:pt x="499" y="1032"/>
                    </a:lnTo>
                    <a:lnTo>
                      <a:pt x="499" y="278"/>
                    </a:lnTo>
                    <a:lnTo>
                      <a:pt x="550" y="278"/>
                    </a:lnTo>
                    <a:lnTo>
                      <a:pt x="516" y="304"/>
                    </a:lnTo>
                    <a:lnTo>
                      <a:pt x="16" y="60"/>
                    </a:lnTo>
                    <a:lnTo>
                      <a:pt x="42" y="17"/>
                    </a:lnTo>
                    <a:lnTo>
                      <a:pt x="51" y="33"/>
                    </a:lnTo>
                    <a:lnTo>
                      <a:pt x="51" y="1276"/>
                    </a:lnTo>
                    <a:lnTo>
                      <a:pt x="0" y="1276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8" name="Freeform 55"/>
              <p:cNvSpPr>
                <a:spLocks/>
              </p:cNvSpPr>
              <p:nvPr/>
            </p:nvSpPr>
            <p:spPr bwMode="auto">
              <a:xfrm>
                <a:off x="4156" y="1865"/>
                <a:ext cx="270" cy="152"/>
              </a:xfrm>
              <a:custGeom>
                <a:avLst/>
                <a:gdLst>
                  <a:gd name="T0" fmla="*/ 541 w 541"/>
                  <a:gd name="T1" fmla="*/ 42 h 305"/>
                  <a:gd name="T2" fmla="*/ 42 w 541"/>
                  <a:gd name="T3" fmla="*/ 287 h 305"/>
                  <a:gd name="T4" fmla="*/ 0 w 541"/>
                  <a:gd name="T5" fmla="*/ 305 h 305"/>
                  <a:gd name="T6" fmla="*/ 0 w 541"/>
                  <a:gd name="T7" fmla="*/ 262 h 305"/>
                  <a:gd name="T8" fmla="*/ 16 w 541"/>
                  <a:gd name="T9" fmla="*/ 245 h 305"/>
                  <a:gd name="T10" fmla="*/ 516 w 541"/>
                  <a:gd name="T11" fmla="*/ 0 h 305"/>
                  <a:gd name="T12" fmla="*/ 541 w 541"/>
                  <a:gd name="T13" fmla="*/ 42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1" h="305">
                    <a:moveTo>
                      <a:pt x="541" y="42"/>
                    </a:moveTo>
                    <a:lnTo>
                      <a:pt x="42" y="287"/>
                    </a:lnTo>
                    <a:lnTo>
                      <a:pt x="0" y="305"/>
                    </a:lnTo>
                    <a:lnTo>
                      <a:pt x="0" y="262"/>
                    </a:lnTo>
                    <a:lnTo>
                      <a:pt x="16" y="245"/>
                    </a:lnTo>
                    <a:lnTo>
                      <a:pt x="516" y="0"/>
                    </a:lnTo>
                    <a:lnTo>
                      <a:pt x="541" y="42"/>
                    </a:lnTo>
                    <a:close/>
                  </a:path>
                </a:pathLst>
              </a:custGeom>
              <a:solidFill>
                <a:srgbClr val="0078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9" name="Rectangle 56"/>
              <p:cNvSpPr>
                <a:spLocks noChangeArrowheads="1"/>
              </p:cNvSpPr>
              <p:nvPr/>
            </p:nvSpPr>
            <p:spPr bwMode="auto">
              <a:xfrm>
                <a:off x="2701" y="1727"/>
                <a:ext cx="865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Flip-flop </a:t>
                </a:r>
                <a:endParaRPr lang="en-CA" altLang="en-US" sz="1500" dirty="0"/>
              </a:p>
            </p:txBody>
          </p:sp>
          <p:sp>
            <p:nvSpPr>
              <p:cNvPr id="260" name="Rectangle 57"/>
              <p:cNvSpPr>
                <a:spLocks noChangeArrowheads="1"/>
              </p:cNvSpPr>
              <p:nvPr/>
            </p:nvSpPr>
            <p:spPr bwMode="auto">
              <a:xfrm>
                <a:off x="247" y="1832"/>
                <a:ext cx="1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400" dirty="0">
                    <a:solidFill>
                      <a:srgbClr val="000000"/>
                    </a:solidFill>
                    <a:latin typeface="Times-Roman" charset="0"/>
                  </a:rPr>
                  <a:t>a</a:t>
                </a:r>
                <a:endParaRPr lang="en-CA" altLang="en-US" sz="1400" dirty="0"/>
              </a:p>
            </p:txBody>
          </p:sp>
          <p:sp>
            <p:nvSpPr>
              <p:cNvPr id="261" name="Rectangle 59"/>
              <p:cNvSpPr>
                <a:spLocks noChangeArrowheads="1"/>
              </p:cNvSpPr>
              <p:nvPr/>
            </p:nvSpPr>
            <p:spPr bwMode="auto">
              <a:xfrm>
                <a:off x="243" y="2033"/>
                <a:ext cx="1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400" dirty="0">
                    <a:solidFill>
                      <a:srgbClr val="000000"/>
                    </a:solidFill>
                    <a:latin typeface="Times-Roman" charset="0"/>
                  </a:rPr>
                  <a:t>b</a:t>
                </a:r>
              </a:p>
            </p:txBody>
          </p:sp>
          <p:sp>
            <p:nvSpPr>
              <p:cNvPr id="262" name="Rectangle 61"/>
              <p:cNvSpPr>
                <a:spLocks noChangeArrowheads="1"/>
              </p:cNvSpPr>
              <p:nvPr/>
            </p:nvSpPr>
            <p:spPr bwMode="auto">
              <a:xfrm>
                <a:off x="239" y="2380"/>
                <a:ext cx="119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400" dirty="0">
                    <a:solidFill>
                      <a:srgbClr val="000000"/>
                    </a:solidFill>
                    <a:latin typeface="Times-Roman" charset="0"/>
                  </a:rPr>
                  <a:t>d</a:t>
                </a:r>
              </a:p>
            </p:txBody>
          </p:sp>
          <p:sp>
            <p:nvSpPr>
              <p:cNvPr id="263" name="Rectangle 62"/>
              <p:cNvSpPr>
                <a:spLocks noChangeArrowheads="1"/>
              </p:cNvSpPr>
              <p:nvPr/>
            </p:nvSpPr>
            <p:spPr bwMode="auto">
              <a:xfrm>
                <a:off x="1052" y="1928"/>
                <a:ext cx="748" cy="2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4" name="Rectangle 63"/>
              <p:cNvSpPr>
                <a:spLocks noChangeArrowheads="1"/>
              </p:cNvSpPr>
              <p:nvPr/>
            </p:nvSpPr>
            <p:spPr bwMode="auto">
              <a:xfrm>
                <a:off x="1774" y="1940"/>
                <a:ext cx="26" cy="74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5" name="Rectangle 64"/>
              <p:cNvSpPr>
                <a:spLocks noChangeArrowheads="1"/>
              </p:cNvSpPr>
              <p:nvPr/>
            </p:nvSpPr>
            <p:spPr bwMode="auto">
              <a:xfrm>
                <a:off x="1039" y="2663"/>
                <a:ext cx="749" cy="2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6" name="Rectangle 65"/>
              <p:cNvSpPr>
                <a:spLocks noChangeArrowheads="1"/>
              </p:cNvSpPr>
              <p:nvPr/>
            </p:nvSpPr>
            <p:spPr bwMode="auto">
              <a:xfrm>
                <a:off x="1039" y="1928"/>
                <a:ext cx="25" cy="74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7" name="Rectangle 66"/>
              <p:cNvSpPr>
                <a:spLocks noChangeArrowheads="1"/>
              </p:cNvSpPr>
              <p:nvPr/>
            </p:nvSpPr>
            <p:spPr bwMode="auto">
              <a:xfrm>
                <a:off x="730" y="2046"/>
                <a:ext cx="5" cy="1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1" name="Rectangle 68"/>
              <p:cNvSpPr>
                <a:spLocks noChangeArrowheads="1"/>
              </p:cNvSpPr>
              <p:nvPr/>
            </p:nvSpPr>
            <p:spPr bwMode="auto">
              <a:xfrm>
                <a:off x="534" y="2046"/>
                <a:ext cx="496" cy="1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2" name="Rectangle 71"/>
              <p:cNvSpPr>
                <a:spLocks noChangeArrowheads="1"/>
              </p:cNvSpPr>
              <p:nvPr/>
            </p:nvSpPr>
            <p:spPr bwMode="auto">
              <a:xfrm>
                <a:off x="534" y="2170"/>
                <a:ext cx="496" cy="1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3" name="Rectangle 72"/>
              <p:cNvSpPr>
                <a:spLocks noChangeArrowheads="1"/>
              </p:cNvSpPr>
              <p:nvPr/>
            </p:nvSpPr>
            <p:spPr bwMode="auto">
              <a:xfrm>
                <a:off x="730" y="2562"/>
                <a:ext cx="5" cy="1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4" name="Rectangle 74"/>
              <p:cNvSpPr>
                <a:spLocks noChangeArrowheads="1"/>
              </p:cNvSpPr>
              <p:nvPr/>
            </p:nvSpPr>
            <p:spPr bwMode="auto">
              <a:xfrm>
                <a:off x="534" y="2356"/>
                <a:ext cx="496" cy="1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95" name="Rectangle 76"/>
              <p:cNvSpPr>
                <a:spLocks noChangeArrowheads="1"/>
              </p:cNvSpPr>
              <p:nvPr/>
            </p:nvSpPr>
            <p:spPr bwMode="auto">
              <a:xfrm>
                <a:off x="1056" y="2155"/>
                <a:ext cx="49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CA" altLang="en-US" sz="1500" dirty="0">
                    <a:solidFill>
                      <a:srgbClr val="000000"/>
                    </a:solidFill>
                    <a:latin typeface="Times-Roman" charset="0"/>
                  </a:rPr>
                  <a:t>4-LUT </a:t>
                </a:r>
                <a:endParaRPr lang="en-CA" altLang="en-US" sz="1500" dirty="0"/>
              </a:p>
            </p:txBody>
          </p:sp>
        </p:grpSp>
      </p:grpSp>
      <p:sp>
        <p:nvSpPr>
          <p:cNvPr id="152" name="Rectangle 61"/>
          <p:cNvSpPr>
            <a:spLocks noChangeArrowheads="1"/>
          </p:cNvSpPr>
          <p:nvPr/>
        </p:nvSpPr>
        <p:spPr bwMode="auto">
          <a:xfrm>
            <a:off x="492175" y="4202358"/>
            <a:ext cx="8976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en-US" sz="1400" dirty="0">
                <a:solidFill>
                  <a:srgbClr val="000000"/>
                </a:solidFill>
                <a:latin typeface="Times-Roman" charset="0"/>
              </a:rPr>
              <a:t>c</a:t>
            </a:r>
          </a:p>
        </p:txBody>
      </p:sp>
      <p:cxnSp>
        <p:nvCxnSpPr>
          <p:cNvPr id="296" name="Elbow Connector 295"/>
          <p:cNvCxnSpPr>
            <a:cxnSpLocks/>
            <a:stCxn id="247" idx="3"/>
          </p:cNvCxnSpPr>
          <p:nvPr/>
        </p:nvCxnSpPr>
        <p:spPr>
          <a:xfrm flipV="1">
            <a:off x="3220476" y="3895411"/>
            <a:ext cx="527120" cy="446342"/>
          </a:xfrm>
          <a:prstGeom prst="bentConnector3">
            <a:avLst/>
          </a:prstGeom>
          <a:ln>
            <a:solidFill>
              <a:srgbClr val="0A64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/>
          <p:cNvCxnSpPr/>
          <p:nvPr/>
        </p:nvCxnSpPr>
        <p:spPr>
          <a:xfrm flipH="1">
            <a:off x="591543" y="4787264"/>
            <a:ext cx="2061011" cy="0"/>
          </a:xfrm>
          <a:prstGeom prst="line">
            <a:avLst/>
          </a:prstGeom>
          <a:ln>
            <a:solidFill>
              <a:srgbClr val="0078C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ectangle 74">
            <a:extLst>
              <a:ext uri="{FF2B5EF4-FFF2-40B4-BE49-F238E27FC236}">
                <a16:creationId xmlns:a16="http://schemas.microsoft.com/office/drawing/2014/main" id="{FE6B2360-5588-0F42-ADBB-EF0A5D19B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761" y="4462990"/>
            <a:ext cx="413035" cy="999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6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302"/>
    </mc:Choice>
    <mc:Fallback xmlns="">
      <p:transition spd="slow" advTm="1363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8" name="Rectangle 7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1.4. Modern Commercial FPGAs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359139" y="2153677"/>
            <a:ext cx="570036" cy="3089454"/>
            <a:chOff x="893" y="1021"/>
            <a:chExt cx="405" cy="2195"/>
          </a:xfrm>
        </p:grpSpPr>
        <p:sp>
          <p:nvSpPr>
            <p:cNvPr id="34081" name="Rectangle 3"/>
            <p:cNvSpPr>
              <a:spLocks noChangeArrowheads="1"/>
            </p:cNvSpPr>
            <p:nvPr/>
          </p:nvSpPr>
          <p:spPr bwMode="auto">
            <a:xfrm>
              <a:off x="893" y="2967"/>
              <a:ext cx="249" cy="249"/>
            </a:xfrm>
            <a:prstGeom prst="rect">
              <a:avLst/>
            </a:prstGeom>
            <a:solidFill>
              <a:srgbClr val="33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82" name="Rectangle 4"/>
            <p:cNvSpPr>
              <a:spLocks noChangeArrowheads="1"/>
            </p:cNvSpPr>
            <p:nvPr/>
          </p:nvSpPr>
          <p:spPr bwMode="auto">
            <a:xfrm>
              <a:off x="893" y="1270"/>
              <a:ext cx="249" cy="249"/>
            </a:xfrm>
            <a:prstGeom prst="rect">
              <a:avLst/>
            </a:prstGeom>
            <a:solidFill>
              <a:srgbClr val="33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83" name="Rectangle 5"/>
            <p:cNvSpPr>
              <a:spLocks noChangeArrowheads="1"/>
            </p:cNvSpPr>
            <p:nvPr/>
          </p:nvSpPr>
          <p:spPr bwMode="auto">
            <a:xfrm>
              <a:off x="893" y="1519"/>
              <a:ext cx="249" cy="249"/>
            </a:xfrm>
            <a:prstGeom prst="rect">
              <a:avLst/>
            </a:prstGeom>
            <a:solidFill>
              <a:srgbClr val="33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84" name="Rectangle 6"/>
            <p:cNvSpPr>
              <a:spLocks noChangeArrowheads="1"/>
            </p:cNvSpPr>
            <p:nvPr/>
          </p:nvSpPr>
          <p:spPr bwMode="auto">
            <a:xfrm>
              <a:off x="893" y="2220"/>
              <a:ext cx="249" cy="249"/>
            </a:xfrm>
            <a:prstGeom prst="rect">
              <a:avLst/>
            </a:prstGeom>
            <a:solidFill>
              <a:srgbClr val="33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85" name="Rectangle 7"/>
            <p:cNvSpPr>
              <a:spLocks noChangeArrowheads="1"/>
            </p:cNvSpPr>
            <p:nvPr/>
          </p:nvSpPr>
          <p:spPr bwMode="auto">
            <a:xfrm>
              <a:off x="893" y="2469"/>
              <a:ext cx="249" cy="249"/>
            </a:xfrm>
            <a:prstGeom prst="rect">
              <a:avLst/>
            </a:prstGeom>
            <a:solidFill>
              <a:srgbClr val="33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86" name="Rectangle 8"/>
            <p:cNvSpPr>
              <a:spLocks noChangeArrowheads="1"/>
            </p:cNvSpPr>
            <p:nvPr/>
          </p:nvSpPr>
          <p:spPr bwMode="auto">
            <a:xfrm>
              <a:off x="893" y="2718"/>
              <a:ext cx="249" cy="249"/>
            </a:xfrm>
            <a:prstGeom prst="rect">
              <a:avLst/>
            </a:prstGeom>
            <a:solidFill>
              <a:srgbClr val="33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87" name="Rectangle 9"/>
            <p:cNvSpPr>
              <a:spLocks noChangeArrowheads="1"/>
            </p:cNvSpPr>
            <p:nvPr/>
          </p:nvSpPr>
          <p:spPr bwMode="auto">
            <a:xfrm>
              <a:off x="893" y="1021"/>
              <a:ext cx="249" cy="249"/>
            </a:xfrm>
            <a:prstGeom prst="rect">
              <a:avLst/>
            </a:prstGeom>
            <a:solidFill>
              <a:srgbClr val="33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88" name="Text Box 10"/>
            <p:cNvSpPr txBox="1">
              <a:spLocks noChangeArrowheads="1"/>
            </p:cNvSpPr>
            <p:nvPr/>
          </p:nvSpPr>
          <p:spPr bwMode="auto">
            <a:xfrm>
              <a:off x="913" y="1860"/>
              <a:ext cx="385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r>
                <a:rPr lang="en-US" sz="2800"/>
                <a:t>…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112150" y="2112859"/>
            <a:ext cx="4656001" cy="3479331"/>
            <a:chOff x="1388" y="1002"/>
            <a:chExt cx="3308" cy="2472"/>
          </a:xfrm>
        </p:grpSpPr>
        <p:sp>
          <p:nvSpPr>
            <p:cNvPr id="34020" name="Text Box 12"/>
            <p:cNvSpPr txBox="1">
              <a:spLocks noChangeArrowheads="1"/>
            </p:cNvSpPr>
            <p:nvPr/>
          </p:nvSpPr>
          <p:spPr bwMode="auto">
            <a:xfrm>
              <a:off x="2822" y="2260"/>
              <a:ext cx="34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800"/>
                <a:t>…</a:t>
              </a:r>
            </a:p>
          </p:txBody>
        </p:sp>
        <p:grpSp>
          <p:nvGrpSpPr>
            <p:cNvPr id="4" name="Group 13"/>
            <p:cNvGrpSpPr>
              <a:grpSpLocks/>
            </p:cNvGrpSpPr>
            <p:nvPr/>
          </p:nvGrpSpPr>
          <p:grpSpPr bwMode="auto">
            <a:xfrm>
              <a:off x="1388" y="1030"/>
              <a:ext cx="405" cy="2435"/>
              <a:chOff x="1378" y="1030"/>
              <a:chExt cx="405" cy="2435"/>
            </a:xfrm>
          </p:grpSpPr>
          <p:sp>
            <p:nvSpPr>
              <p:cNvPr id="34072" name="Rectangle 14"/>
              <p:cNvSpPr>
                <a:spLocks noChangeArrowheads="1"/>
              </p:cNvSpPr>
              <p:nvPr/>
            </p:nvSpPr>
            <p:spPr bwMode="auto">
              <a:xfrm>
                <a:off x="1378" y="297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73" name="Rectangle 15"/>
              <p:cNvSpPr>
                <a:spLocks noChangeArrowheads="1"/>
              </p:cNvSpPr>
              <p:nvPr/>
            </p:nvSpPr>
            <p:spPr bwMode="auto">
              <a:xfrm>
                <a:off x="1378" y="127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74" name="Rectangle 16"/>
              <p:cNvSpPr>
                <a:spLocks noChangeArrowheads="1"/>
              </p:cNvSpPr>
              <p:nvPr/>
            </p:nvSpPr>
            <p:spPr bwMode="auto">
              <a:xfrm>
                <a:off x="1378" y="152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75" name="Rectangle 17"/>
              <p:cNvSpPr>
                <a:spLocks noChangeArrowheads="1"/>
              </p:cNvSpPr>
              <p:nvPr/>
            </p:nvSpPr>
            <p:spPr bwMode="auto">
              <a:xfrm>
                <a:off x="1378" y="222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76" name="Rectangle 18"/>
              <p:cNvSpPr>
                <a:spLocks noChangeArrowheads="1"/>
              </p:cNvSpPr>
              <p:nvPr/>
            </p:nvSpPr>
            <p:spPr bwMode="auto">
              <a:xfrm>
                <a:off x="1378" y="247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77" name="Rectangle 19"/>
              <p:cNvSpPr>
                <a:spLocks noChangeArrowheads="1"/>
              </p:cNvSpPr>
              <p:nvPr/>
            </p:nvSpPr>
            <p:spPr bwMode="auto">
              <a:xfrm>
                <a:off x="1378" y="2727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78" name="Rectangle 20"/>
              <p:cNvSpPr>
                <a:spLocks noChangeArrowheads="1"/>
              </p:cNvSpPr>
              <p:nvPr/>
            </p:nvSpPr>
            <p:spPr bwMode="auto">
              <a:xfrm>
                <a:off x="1378" y="1030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79" name="Text Box 21"/>
              <p:cNvSpPr txBox="1">
                <a:spLocks noChangeArrowheads="1"/>
              </p:cNvSpPr>
              <p:nvPr/>
            </p:nvSpPr>
            <p:spPr bwMode="auto">
              <a:xfrm>
                <a:off x="1398" y="1869"/>
                <a:ext cx="385" cy="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r>
                  <a:rPr lang="en-US" sz="2800"/>
                  <a:t>…</a:t>
                </a:r>
              </a:p>
            </p:txBody>
          </p:sp>
          <p:sp>
            <p:nvSpPr>
              <p:cNvPr id="34080" name="Rectangle 22"/>
              <p:cNvSpPr>
                <a:spLocks noChangeArrowheads="1"/>
              </p:cNvSpPr>
              <p:nvPr/>
            </p:nvSpPr>
            <p:spPr bwMode="auto">
              <a:xfrm>
                <a:off x="1378" y="321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23"/>
            <p:cNvGrpSpPr>
              <a:grpSpLocks/>
            </p:cNvGrpSpPr>
            <p:nvPr/>
          </p:nvGrpSpPr>
          <p:grpSpPr bwMode="auto">
            <a:xfrm>
              <a:off x="1892" y="1039"/>
              <a:ext cx="405" cy="2435"/>
              <a:chOff x="1378" y="1030"/>
              <a:chExt cx="405" cy="2435"/>
            </a:xfrm>
          </p:grpSpPr>
          <p:sp>
            <p:nvSpPr>
              <p:cNvPr id="34063" name="Rectangle 24"/>
              <p:cNvSpPr>
                <a:spLocks noChangeArrowheads="1"/>
              </p:cNvSpPr>
              <p:nvPr/>
            </p:nvSpPr>
            <p:spPr bwMode="auto">
              <a:xfrm>
                <a:off x="1378" y="297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64" name="Rectangle 25"/>
              <p:cNvSpPr>
                <a:spLocks noChangeArrowheads="1"/>
              </p:cNvSpPr>
              <p:nvPr/>
            </p:nvSpPr>
            <p:spPr bwMode="auto">
              <a:xfrm>
                <a:off x="1378" y="127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65" name="Rectangle 26"/>
              <p:cNvSpPr>
                <a:spLocks noChangeArrowheads="1"/>
              </p:cNvSpPr>
              <p:nvPr/>
            </p:nvSpPr>
            <p:spPr bwMode="auto">
              <a:xfrm>
                <a:off x="1378" y="152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66" name="Rectangle 27"/>
              <p:cNvSpPr>
                <a:spLocks noChangeArrowheads="1"/>
              </p:cNvSpPr>
              <p:nvPr/>
            </p:nvSpPr>
            <p:spPr bwMode="auto">
              <a:xfrm>
                <a:off x="1378" y="222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67" name="Rectangle 28"/>
              <p:cNvSpPr>
                <a:spLocks noChangeArrowheads="1"/>
              </p:cNvSpPr>
              <p:nvPr/>
            </p:nvSpPr>
            <p:spPr bwMode="auto">
              <a:xfrm>
                <a:off x="1378" y="247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68" name="Rectangle 29"/>
              <p:cNvSpPr>
                <a:spLocks noChangeArrowheads="1"/>
              </p:cNvSpPr>
              <p:nvPr/>
            </p:nvSpPr>
            <p:spPr bwMode="auto">
              <a:xfrm>
                <a:off x="1378" y="2727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69" name="Rectangle 30"/>
              <p:cNvSpPr>
                <a:spLocks noChangeArrowheads="1"/>
              </p:cNvSpPr>
              <p:nvPr/>
            </p:nvSpPr>
            <p:spPr bwMode="auto">
              <a:xfrm>
                <a:off x="1378" y="1030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70" name="Text Box 31"/>
              <p:cNvSpPr txBox="1">
                <a:spLocks noChangeArrowheads="1"/>
              </p:cNvSpPr>
              <p:nvPr/>
            </p:nvSpPr>
            <p:spPr bwMode="auto">
              <a:xfrm>
                <a:off x="1398" y="1869"/>
                <a:ext cx="385" cy="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r>
                  <a:rPr lang="en-US" sz="2800"/>
                  <a:t>…</a:t>
                </a:r>
              </a:p>
            </p:txBody>
          </p:sp>
          <p:sp>
            <p:nvSpPr>
              <p:cNvPr id="34071" name="Rectangle 32"/>
              <p:cNvSpPr>
                <a:spLocks noChangeArrowheads="1"/>
              </p:cNvSpPr>
              <p:nvPr/>
            </p:nvSpPr>
            <p:spPr bwMode="auto">
              <a:xfrm>
                <a:off x="1378" y="321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" name="Group 33"/>
            <p:cNvGrpSpPr>
              <a:grpSpLocks/>
            </p:cNvGrpSpPr>
            <p:nvPr/>
          </p:nvGrpSpPr>
          <p:grpSpPr bwMode="auto">
            <a:xfrm>
              <a:off x="2427" y="1039"/>
              <a:ext cx="405" cy="2435"/>
              <a:chOff x="1378" y="1030"/>
              <a:chExt cx="405" cy="2435"/>
            </a:xfrm>
          </p:grpSpPr>
          <p:sp>
            <p:nvSpPr>
              <p:cNvPr id="34054" name="Rectangle 34"/>
              <p:cNvSpPr>
                <a:spLocks noChangeArrowheads="1"/>
              </p:cNvSpPr>
              <p:nvPr/>
            </p:nvSpPr>
            <p:spPr bwMode="auto">
              <a:xfrm>
                <a:off x="1378" y="297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55" name="Rectangle 35"/>
              <p:cNvSpPr>
                <a:spLocks noChangeArrowheads="1"/>
              </p:cNvSpPr>
              <p:nvPr/>
            </p:nvSpPr>
            <p:spPr bwMode="auto">
              <a:xfrm>
                <a:off x="1378" y="127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56" name="Rectangle 36"/>
              <p:cNvSpPr>
                <a:spLocks noChangeArrowheads="1"/>
              </p:cNvSpPr>
              <p:nvPr/>
            </p:nvSpPr>
            <p:spPr bwMode="auto">
              <a:xfrm>
                <a:off x="1378" y="152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57" name="Rectangle 37"/>
              <p:cNvSpPr>
                <a:spLocks noChangeArrowheads="1"/>
              </p:cNvSpPr>
              <p:nvPr/>
            </p:nvSpPr>
            <p:spPr bwMode="auto">
              <a:xfrm>
                <a:off x="1378" y="222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58" name="Rectangle 38"/>
              <p:cNvSpPr>
                <a:spLocks noChangeArrowheads="1"/>
              </p:cNvSpPr>
              <p:nvPr/>
            </p:nvSpPr>
            <p:spPr bwMode="auto">
              <a:xfrm>
                <a:off x="1378" y="247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59" name="Rectangle 39"/>
              <p:cNvSpPr>
                <a:spLocks noChangeArrowheads="1"/>
              </p:cNvSpPr>
              <p:nvPr/>
            </p:nvSpPr>
            <p:spPr bwMode="auto">
              <a:xfrm>
                <a:off x="1378" y="2727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60" name="Rectangle 40"/>
              <p:cNvSpPr>
                <a:spLocks noChangeArrowheads="1"/>
              </p:cNvSpPr>
              <p:nvPr/>
            </p:nvSpPr>
            <p:spPr bwMode="auto">
              <a:xfrm>
                <a:off x="1378" y="1030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61" name="Text Box 41"/>
              <p:cNvSpPr txBox="1">
                <a:spLocks noChangeArrowheads="1"/>
              </p:cNvSpPr>
              <p:nvPr/>
            </p:nvSpPr>
            <p:spPr bwMode="auto">
              <a:xfrm>
                <a:off x="1398" y="1869"/>
                <a:ext cx="385" cy="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r>
                  <a:rPr lang="en-US" sz="2800"/>
                  <a:t>…</a:t>
                </a:r>
              </a:p>
            </p:txBody>
          </p:sp>
          <p:sp>
            <p:nvSpPr>
              <p:cNvPr id="34062" name="Rectangle 42"/>
              <p:cNvSpPr>
                <a:spLocks noChangeArrowheads="1"/>
              </p:cNvSpPr>
              <p:nvPr/>
            </p:nvSpPr>
            <p:spPr bwMode="auto">
              <a:xfrm>
                <a:off x="1378" y="321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7" name="Group 43"/>
            <p:cNvGrpSpPr>
              <a:grpSpLocks/>
            </p:cNvGrpSpPr>
            <p:nvPr/>
          </p:nvGrpSpPr>
          <p:grpSpPr bwMode="auto">
            <a:xfrm>
              <a:off x="3286" y="1002"/>
              <a:ext cx="405" cy="2435"/>
              <a:chOff x="1378" y="1030"/>
              <a:chExt cx="405" cy="2435"/>
            </a:xfrm>
          </p:grpSpPr>
          <p:sp>
            <p:nvSpPr>
              <p:cNvPr id="34045" name="Rectangle 44"/>
              <p:cNvSpPr>
                <a:spLocks noChangeArrowheads="1"/>
              </p:cNvSpPr>
              <p:nvPr/>
            </p:nvSpPr>
            <p:spPr bwMode="auto">
              <a:xfrm>
                <a:off x="1378" y="297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46" name="Rectangle 45"/>
              <p:cNvSpPr>
                <a:spLocks noChangeArrowheads="1"/>
              </p:cNvSpPr>
              <p:nvPr/>
            </p:nvSpPr>
            <p:spPr bwMode="auto">
              <a:xfrm>
                <a:off x="1378" y="127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47" name="Rectangle 46"/>
              <p:cNvSpPr>
                <a:spLocks noChangeArrowheads="1"/>
              </p:cNvSpPr>
              <p:nvPr/>
            </p:nvSpPr>
            <p:spPr bwMode="auto">
              <a:xfrm>
                <a:off x="1378" y="152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48" name="Rectangle 47"/>
              <p:cNvSpPr>
                <a:spLocks noChangeArrowheads="1"/>
              </p:cNvSpPr>
              <p:nvPr/>
            </p:nvSpPr>
            <p:spPr bwMode="auto">
              <a:xfrm>
                <a:off x="1378" y="222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49" name="Rectangle 48"/>
              <p:cNvSpPr>
                <a:spLocks noChangeArrowheads="1"/>
              </p:cNvSpPr>
              <p:nvPr/>
            </p:nvSpPr>
            <p:spPr bwMode="auto">
              <a:xfrm>
                <a:off x="1378" y="247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50" name="Rectangle 49"/>
              <p:cNvSpPr>
                <a:spLocks noChangeArrowheads="1"/>
              </p:cNvSpPr>
              <p:nvPr/>
            </p:nvSpPr>
            <p:spPr bwMode="auto">
              <a:xfrm>
                <a:off x="1378" y="2727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51" name="Rectangle 50"/>
              <p:cNvSpPr>
                <a:spLocks noChangeArrowheads="1"/>
              </p:cNvSpPr>
              <p:nvPr/>
            </p:nvSpPr>
            <p:spPr bwMode="auto">
              <a:xfrm>
                <a:off x="1378" y="1030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52" name="Text Box 51"/>
              <p:cNvSpPr txBox="1">
                <a:spLocks noChangeArrowheads="1"/>
              </p:cNvSpPr>
              <p:nvPr/>
            </p:nvSpPr>
            <p:spPr bwMode="auto">
              <a:xfrm>
                <a:off x="1398" y="1869"/>
                <a:ext cx="385" cy="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r>
                  <a:rPr lang="en-US" sz="2800"/>
                  <a:t>…</a:t>
                </a:r>
              </a:p>
            </p:txBody>
          </p:sp>
          <p:sp>
            <p:nvSpPr>
              <p:cNvPr id="34053" name="Rectangle 52"/>
              <p:cNvSpPr>
                <a:spLocks noChangeArrowheads="1"/>
              </p:cNvSpPr>
              <p:nvPr/>
            </p:nvSpPr>
            <p:spPr bwMode="auto">
              <a:xfrm>
                <a:off x="1378" y="321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" name="Group 53"/>
            <p:cNvGrpSpPr>
              <a:grpSpLocks/>
            </p:cNvGrpSpPr>
            <p:nvPr/>
          </p:nvGrpSpPr>
          <p:grpSpPr bwMode="auto">
            <a:xfrm>
              <a:off x="3792" y="1002"/>
              <a:ext cx="405" cy="2435"/>
              <a:chOff x="1378" y="1030"/>
              <a:chExt cx="405" cy="2435"/>
            </a:xfrm>
          </p:grpSpPr>
          <p:sp>
            <p:nvSpPr>
              <p:cNvPr id="34036" name="Rectangle 54"/>
              <p:cNvSpPr>
                <a:spLocks noChangeArrowheads="1"/>
              </p:cNvSpPr>
              <p:nvPr/>
            </p:nvSpPr>
            <p:spPr bwMode="auto">
              <a:xfrm>
                <a:off x="1378" y="297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37" name="Rectangle 55"/>
              <p:cNvSpPr>
                <a:spLocks noChangeArrowheads="1"/>
              </p:cNvSpPr>
              <p:nvPr/>
            </p:nvSpPr>
            <p:spPr bwMode="auto">
              <a:xfrm>
                <a:off x="1378" y="127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38" name="Rectangle 56"/>
              <p:cNvSpPr>
                <a:spLocks noChangeArrowheads="1"/>
              </p:cNvSpPr>
              <p:nvPr/>
            </p:nvSpPr>
            <p:spPr bwMode="auto">
              <a:xfrm>
                <a:off x="1378" y="152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39" name="Rectangle 57"/>
              <p:cNvSpPr>
                <a:spLocks noChangeArrowheads="1"/>
              </p:cNvSpPr>
              <p:nvPr/>
            </p:nvSpPr>
            <p:spPr bwMode="auto">
              <a:xfrm>
                <a:off x="1378" y="222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40" name="Rectangle 58"/>
              <p:cNvSpPr>
                <a:spLocks noChangeArrowheads="1"/>
              </p:cNvSpPr>
              <p:nvPr/>
            </p:nvSpPr>
            <p:spPr bwMode="auto">
              <a:xfrm>
                <a:off x="1378" y="247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41" name="Rectangle 59"/>
              <p:cNvSpPr>
                <a:spLocks noChangeArrowheads="1"/>
              </p:cNvSpPr>
              <p:nvPr/>
            </p:nvSpPr>
            <p:spPr bwMode="auto">
              <a:xfrm>
                <a:off x="1378" y="2727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42" name="Rectangle 60"/>
              <p:cNvSpPr>
                <a:spLocks noChangeArrowheads="1"/>
              </p:cNvSpPr>
              <p:nvPr/>
            </p:nvSpPr>
            <p:spPr bwMode="auto">
              <a:xfrm>
                <a:off x="1378" y="1030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43" name="Text Box 61"/>
              <p:cNvSpPr txBox="1">
                <a:spLocks noChangeArrowheads="1"/>
              </p:cNvSpPr>
              <p:nvPr/>
            </p:nvSpPr>
            <p:spPr bwMode="auto">
              <a:xfrm>
                <a:off x="1398" y="1869"/>
                <a:ext cx="385" cy="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r>
                  <a:rPr lang="en-US" sz="2800"/>
                  <a:t>…</a:t>
                </a:r>
              </a:p>
            </p:txBody>
          </p:sp>
          <p:sp>
            <p:nvSpPr>
              <p:cNvPr id="34044" name="Rectangle 62"/>
              <p:cNvSpPr>
                <a:spLocks noChangeArrowheads="1"/>
              </p:cNvSpPr>
              <p:nvPr/>
            </p:nvSpPr>
            <p:spPr bwMode="auto">
              <a:xfrm>
                <a:off x="1378" y="321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9" name="Group 63"/>
            <p:cNvGrpSpPr>
              <a:grpSpLocks/>
            </p:cNvGrpSpPr>
            <p:nvPr/>
          </p:nvGrpSpPr>
          <p:grpSpPr bwMode="auto">
            <a:xfrm>
              <a:off x="4291" y="1002"/>
              <a:ext cx="405" cy="2435"/>
              <a:chOff x="1378" y="1030"/>
              <a:chExt cx="405" cy="2435"/>
            </a:xfrm>
          </p:grpSpPr>
          <p:sp>
            <p:nvSpPr>
              <p:cNvPr id="34027" name="Rectangle 64"/>
              <p:cNvSpPr>
                <a:spLocks noChangeArrowheads="1"/>
              </p:cNvSpPr>
              <p:nvPr/>
            </p:nvSpPr>
            <p:spPr bwMode="auto">
              <a:xfrm>
                <a:off x="1378" y="297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28" name="Rectangle 65"/>
              <p:cNvSpPr>
                <a:spLocks noChangeArrowheads="1"/>
              </p:cNvSpPr>
              <p:nvPr/>
            </p:nvSpPr>
            <p:spPr bwMode="auto">
              <a:xfrm>
                <a:off x="1378" y="127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29" name="Rectangle 66"/>
              <p:cNvSpPr>
                <a:spLocks noChangeArrowheads="1"/>
              </p:cNvSpPr>
              <p:nvPr/>
            </p:nvSpPr>
            <p:spPr bwMode="auto">
              <a:xfrm>
                <a:off x="1378" y="152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30" name="Rectangle 67"/>
              <p:cNvSpPr>
                <a:spLocks noChangeArrowheads="1"/>
              </p:cNvSpPr>
              <p:nvPr/>
            </p:nvSpPr>
            <p:spPr bwMode="auto">
              <a:xfrm>
                <a:off x="1378" y="2229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31" name="Rectangle 68"/>
              <p:cNvSpPr>
                <a:spLocks noChangeArrowheads="1"/>
              </p:cNvSpPr>
              <p:nvPr/>
            </p:nvSpPr>
            <p:spPr bwMode="auto">
              <a:xfrm>
                <a:off x="1378" y="2478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32" name="Rectangle 69"/>
              <p:cNvSpPr>
                <a:spLocks noChangeArrowheads="1"/>
              </p:cNvSpPr>
              <p:nvPr/>
            </p:nvSpPr>
            <p:spPr bwMode="auto">
              <a:xfrm>
                <a:off x="1378" y="2727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33" name="Rectangle 70"/>
              <p:cNvSpPr>
                <a:spLocks noChangeArrowheads="1"/>
              </p:cNvSpPr>
              <p:nvPr/>
            </p:nvSpPr>
            <p:spPr bwMode="auto">
              <a:xfrm>
                <a:off x="1378" y="1030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34" name="Text Box 71"/>
              <p:cNvSpPr txBox="1">
                <a:spLocks noChangeArrowheads="1"/>
              </p:cNvSpPr>
              <p:nvPr/>
            </p:nvSpPr>
            <p:spPr bwMode="auto">
              <a:xfrm>
                <a:off x="1398" y="1869"/>
                <a:ext cx="385" cy="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r>
                  <a:rPr lang="en-US" sz="2800"/>
                  <a:t>…</a:t>
                </a:r>
              </a:p>
            </p:txBody>
          </p:sp>
          <p:sp>
            <p:nvSpPr>
              <p:cNvPr id="34035" name="Rectangle 72"/>
              <p:cNvSpPr>
                <a:spLocks noChangeArrowheads="1"/>
              </p:cNvSpPr>
              <p:nvPr/>
            </p:nvSpPr>
            <p:spPr bwMode="auto">
              <a:xfrm>
                <a:off x="1378" y="3216"/>
                <a:ext cx="249" cy="249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" name="Group 77"/>
          <p:cNvGrpSpPr>
            <a:grpSpLocks/>
          </p:cNvGrpSpPr>
          <p:nvPr/>
        </p:nvGrpSpPr>
        <p:grpSpPr bwMode="auto">
          <a:xfrm>
            <a:off x="2616034" y="4567533"/>
            <a:ext cx="2396968" cy="486994"/>
            <a:chOff x="1786" y="2746"/>
            <a:chExt cx="1703" cy="346"/>
          </a:xfrm>
        </p:grpSpPr>
        <p:sp>
          <p:nvSpPr>
            <p:cNvPr id="34016" name="Rectangle 78"/>
            <p:cNvSpPr>
              <a:spLocks noChangeArrowheads="1"/>
            </p:cNvSpPr>
            <p:nvPr/>
          </p:nvSpPr>
          <p:spPr bwMode="auto">
            <a:xfrm>
              <a:off x="1786" y="2746"/>
              <a:ext cx="892" cy="346"/>
            </a:xfrm>
            <a:prstGeom prst="rect">
              <a:avLst/>
            </a:prstGeom>
            <a:solidFill>
              <a:srgbClr val="33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17" name="Text Box 79"/>
            <p:cNvSpPr txBox="1">
              <a:spLocks noChangeArrowheads="1"/>
            </p:cNvSpPr>
            <p:nvPr/>
          </p:nvSpPr>
          <p:spPr bwMode="auto">
            <a:xfrm>
              <a:off x="2678" y="2859"/>
              <a:ext cx="81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/>
                <a:t>Logic element</a:t>
              </a:r>
            </a:p>
          </p:txBody>
        </p:sp>
      </p:grpSp>
      <p:grpSp>
        <p:nvGrpSpPr>
          <p:cNvPr id="12" name="Group 80"/>
          <p:cNvGrpSpPr>
            <a:grpSpLocks/>
          </p:cNvGrpSpPr>
          <p:nvPr/>
        </p:nvGrpSpPr>
        <p:grpSpPr bwMode="auto">
          <a:xfrm>
            <a:off x="1359138" y="5241718"/>
            <a:ext cx="793827" cy="357503"/>
            <a:chOff x="893" y="3225"/>
            <a:chExt cx="564" cy="254"/>
          </a:xfrm>
        </p:grpSpPr>
        <p:sp>
          <p:nvSpPr>
            <p:cNvPr id="34014" name="Rectangle 81"/>
            <p:cNvSpPr>
              <a:spLocks noChangeArrowheads="1"/>
            </p:cNvSpPr>
            <p:nvPr/>
          </p:nvSpPr>
          <p:spPr bwMode="auto">
            <a:xfrm>
              <a:off x="893" y="3225"/>
              <a:ext cx="249" cy="249"/>
            </a:xfrm>
            <a:prstGeom prst="rect">
              <a:avLst/>
            </a:prstGeom>
            <a:solidFill>
              <a:srgbClr val="3366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015" name="Text Box 82"/>
            <p:cNvSpPr txBox="1">
              <a:spLocks noChangeArrowheads="1"/>
            </p:cNvSpPr>
            <p:nvPr/>
          </p:nvSpPr>
          <p:spPr bwMode="auto">
            <a:xfrm>
              <a:off x="1120" y="3282"/>
              <a:ext cx="337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dirty="0"/>
                <a:t>LAB</a:t>
              </a:r>
            </a:p>
          </p:txBody>
        </p:sp>
      </p:grpSp>
      <p:grpSp>
        <p:nvGrpSpPr>
          <p:cNvPr id="13" name="Group 83"/>
          <p:cNvGrpSpPr>
            <a:grpSpLocks/>
          </p:cNvGrpSpPr>
          <p:nvPr/>
        </p:nvGrpSpPr>
        <p:grpSpPr bwMode="auto">
          <a:xfrm>
            <a:off x="1088899" y="2529478"/>
            <a:ext cx="2782622" cy="2038055"/>
            <a:chOff x="701" y="1298"/>
            <a:chExt cx="1977" cy="1448"/>
          </a:xfrm>
        </p:grpSpPr>
        <p:grpSp>
          <p:nvGrpSpPr>
            <p:cNvPr id="14" name="Group 84"/>
            <p:cNvGrpSpPr>
              <a:grpSpLocks/>
            </p:cNvGrpSpPr>
            <p:nvPr/>
          </p:nvGrpSpPr>
          <p:grpSpPr bwMode="auto">
            <a:xfrm>
              <a:off x="1786" y="1298"/>
              <a:ext cx="892" cy="1448"/>
              <a:chOff x="1786" y="1298"/>
              <a:chExt cx="892" cy="1448"/>
            </a:xfrm>
          </p:grpSpPr>
          <p:sp>
            <p:nvSpPr>
              <p:cNvPr id="34010" name="Rectangle 85"/>
              <p:cNvSpPr>
                <a:spLocks noChangeArrowheads="1"/>
              </p:cNvSpPr>
              <p:nvPr/>
            </p:nvSpPr>
            <p:spPr bwMode="auto">
              <a:xfrm>
                <a:off x="1786" y="2400"/>
                <a:ext cx="892" cy="346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11" name="Rectangle 86"/>
              <p:cNvSpPr>
                <a:spLocks noChangeArrowheads="1"/>
              </p:cNvSpPr>
              <p:nvPr/>
            </p:nvSpPr>
            <p:spPr bwMode="auto">
              <a:xfrm>
                <a:off x="1786" y="2054"/>
                <a:ext cx="892" cy="346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012" name="Text Box 87"/>
              <p:cNvSpPr txBox="1">
                <a:spLocks noChangeArrowheads="1"/>
              </p:cNvSpPr>
              <p:nvPr/>
            </p:nvSpPr>
            <p:spPr bwMode="auto">
              <a:xfrm>
                <a:off x="2067" y="1689"/>
                <a:ext cx="385" cy="2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eaVert" wrap="none">
                <a:spAutoFit/>
              </a:bodyPr>
              <a:lstStyle/>
              <a:p>
                <a:r>
                  <a:rPr lang="en-US" sz="2800"/>
                  <a:t>…</a:t>
                </a:r>
              </a:p>
            </p:txBody>
          </p:sp>
          <p:sp>
            <p:nvSpPr>
              <p:cNvPr id="34013" name="Rectangle 88"/>
              <p:cNvSpPr>
                <a:spLocks noChangeArrowheads="1"/>
              </p:cNvSpPr>
              <p:nvPr/>
            </p:nvSpPr>
            <p:spPr bwMode="auto">
              <a:xfrm>
                <a:off x="1786" y="1298"/>
                <a:ext cx="892" cy="346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4008" name="Text Box 89"/>
            <p:cNvSpPr txBox="1">
              <a:spLocks noChangeArrowheads="1"/>
            </p:cNvSpPr>
            <p:nvPr/>
          </p:nvSpPr>
          <p:spPr bwMode="auto">
            <a:xfrm>
              <a:off x="701" y="1779"/>
              <a:ext cx="960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/>
                <a:t>Logic array block</a:t>
              </a:r>
              <a:br>
                <a:rPr lang="en-US" sz="1400" dirty="0"/>
              </a:br>
              <a:r>
                <a:rPr lang="en-US" sz="1400" dirty="0"/>
                <a:t>(LAB)</a:t>
              </a:r>
            </a:p>
          </p:txBody>
        </p:sp>
        <p:sp>
          <p:nvSpPr>
            <p:cNvPr id="34009" name="Rectangle 90"/>
            <p:cNvSpPr>
              <a:spLocks noChangeArrowheads="1"/>
            </p:cNvSpPr>
            <p:nvPr/>
          </p:nvSpPr>
          <p:spPr bwMode="auto">
            <a:xfrm>
              <a:off x="1786" y="1298"/>
              <a:ext cx="892" cy="144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92"/>
          <p:cNvGrpSpPr>
            <a:grpSpLocks/>
          </p:cNvGrpSpPr>
          <p:nvPr/>
        </p:nvGrpSpPr>
        <p:grpSpPr bwMode="auto">
          <a:xfrm>
            <a:off x="901702" y="1720167"/>
            <a:ext cx="6207063" cy="4264714"/>
            <a:chOff x="568" y="723"/>
            <a:chExt cx="4410" cy="3030"/>
          </a:xfrm>
        </p:grpSpPr>
        <p:grpSp>
          <p:nvGrpSpPr>
            <p:cNvPr id="17" name="Group 93"/>
            <p:cNvGrpSpPr>
              <a:grpSpLocks/>
            </p:cNvGrpSpPr>
            <p:nvPr/>
          </p:nvGrpSpPr>
          <p:grpSpPr bwMode="auto">
            <a:xfrm>
              <a:off x="568" y="3657"/>
              <a:ext cx="4399" cy="96"/>
              <a:chOff x="568" y="3657"/>
              <a:chExt cx="4399" cy="96"/>
            </a:xfrm>
          </p:grpSpPr>
          <p:grpSp>
            <p:nvGrpSpPr>
              <p:cNvPr id="18" name="Group 94"/>
              <p:cNvGrpSpPr>
                <a:grpSpLocks/>
              </p:cNvGrpSpPr>
              <p:nvPr/>
            </p:nvGrpSpPr>
            <p:grpSpPr bwMode="auto">
              <a:xfrm>
                <a:off x="568" y="3657"/>
                <a:ext cx="576" cy="96"/>
                <a:chOff x="605" y="3734"/>
                <a:chExt cx="576" cy="96"/>
              </a:xfrm>
            </p:grpSpPr>
            <p:sp>
              <p:nvSpPr>
                <p:cNvPr id="34001" name="Rectangle 95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002" name="Rectangle 96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003" name="Rectangle 97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004" name="Rectangle 98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005" name="Rectangle 99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006" name="Rectangle 100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101"/>
              <p:cNvGrpSpPr>
                <a:grpSpLocks/>
              </p:cNvGrpSpPr>
              <p:nvPr/>
            </p:nvGrpSpPr>
            <p:grpSpPr bwMode="auto">
              <a:xfrm>
                <a:off x="1332" y="3657"/>
                <a:ext cx="576" cy="96"/>
                <a:chOff x="605" y="3734"/>
                <a:chExt cx="576" cy="96"/>
              </a:xfrm>
            </p:grpSpPr>
            <p:sp>
              <p:nvSpPr>
                <p:cNvPr id="33995" name="Rectangle 102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96" name="Rectangle 103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97" name="Rectangle 104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98" name="Rectangle 105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99" name="Rectangle 106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000" name="Rectangle 107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108"/>
              <p:cNvGrpSpPr>
                <a:grpSpLocks/>
              </p:cNvGrpSpPr>
              <p:nvPr/>
            </p:nvGrpSpPr>
            <p:grpSpPr bwMode="auto">
              <a:xfrm>
                <a:off x="2097" y="3657"/>
                <a:ext cx="480" cy="96"/>
                <a:chOff x="605" y="3734"/>
                <a:chExt cx="480" cy="96"/>
              </a:xfrm>
            </p:grpSpPr>
            <p:sp>
              <p:nvSpPr>
                <p:cNvPr id="33989" name="Rectangle 109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90" name="Rectangle 110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91" name="Rectangle 111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92" name="Rectangle 112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93" name="Rectangle 113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115"/>
              <p:cNvGrpSpPr>
                <a:grpSpLocks/>
              </p:cNvGrpSpPr>
              <p:nvPr/>
            </p:nvGrpSpPr>
            <p:grpSpPr bwMode="auto">
              <a:xfrm>
                <a:off x="2957" y="3657"/>
                <a:ext cx="480" cy="96"/>
                <a:chOff x="701" y="3734"/>
                <a:chExt cx="480" cy="96"/>
              </a:xfrm>
            </p:grpSpPr>
            <p:sp>
              <p:nvSpPr>
                <p:cNvPr id="33984" name="Rectangle 117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85" name="Rectangle 118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86" name="Rectangle 119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87" name="Rectangle 120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88" name="Rectangle 121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122"/>
              <p:cNvGrpSpPr>
                <a:grpSpLocks/>
              </p:cNvGrpSpPr>
              <p:nvPr/>
            </p:nvGrpSpPr>
            <p:grpSpPr bwMode="auto">
              <a:xfrm>
                <a:off x="3626" y="3657"/>
                <a:ext cx="576" cy="96"/>
                <a:chOff x="605" y="3734"/>
                <a:chExt cx="576" cy="96"/>
              </a:xfrm>
            </p:grpSpPr>
            <p:sp>
              <p:nvSpPr>
                <p:cNvPr id="33977" name="Rectangle 123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78" name="Rectangle 124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79" name="Rectangle 125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80" name="Rectangle 126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81" name="Rectangle 127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82" name="Rectangle 128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129"/>
              <p:cNvGrpSpPr>
                <a:grpSpLocks/>
              </p:cNvGrpSpPr>
              <p:nvPr/>
            </p:nvGrpSpPr>
            <p:grpSpPr bwMode="auto">
              <a:xfrm>
                <a:off x="4391" y="3657"/>
                <a:ext cx="576" cy="96"/>
                <a:chOff x="605" y="3734"/>
                <a:chExt cx="576" cy="96"/>
              </a:xfrm>
            </p:grpSpPr>
            <p:sp>
              <p:nvSpPr>
                <p:cNvPr id="33971" name="Rectangle 130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72" name="Rectangle 131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73" name="Rectangle 132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74" name="Rectangle 133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75" name="Rectangle 134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76" name="Rectangle 135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4" name="Group 136"/>
            <p:cNvGrpSpPr>
              <a:grpSpLocks/>
            </p:cNvGrpSpPr>
            <p:nvPr/>
          </p:nvGrpSpPr>
          <p:grpSpPr bwMode="auto">
            <a:xfrm>
              <a:off x="574" y="723"/>
              <a:ext cx="4399" cy="96"/>
              <a:chOff x="568" y="3657"/>
              <a:chExt cx="4399" cy="96"/>
            </a:xfrm>
          </p:grpSpPr>
          <p:grpSp>
            <p:nvGrpSpPr>
              <p:cNvPr id="25" name="Group 137"/>
              <p:cNvGrpSpPr>
                <a:grpSpLocks/>
              </p:cNvGrpSpPr>
              <p:nvPr/>
            </p:nvGrpSpPr>
            <p:grpSpPr bwMode="auto">
              <a:xfrm>
                <a:off x="568" y="3657"/>
                <a:ext cx="576" cy="96"/>
                <a:chOff x="605" y="3734"/>
                <a:chExt cx="576" cy="96"/>
              </a:xfrm>
            </p:grpSpPr>
            <p:sp>
              <p:nvSpPr>
                <p:cNvPr id="33959" name="Rectangle 138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60" name="Rectangle 139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61" name="Rectangle 140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62" name="Rectangle 141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63" name="Rectangle 142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64" name="Rectangle 143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6" name="Group 144"/>
              <p:cNvGrpSpPr>
                <a:grpSpLocks/>
              </p:cNvGrpSpPr>
              <p:nvPr/>
            </p:nvGrpSpPr>
            <p:grpSpPr bwMode="auto">
              <a:xfrm>
                <a:off x="1332" y="3657"/>
                <a:ext cx="576" cy="96"/>
                <a:chOff x="605" y="3734"/>
                <a:chExt cx="576" cy="96"/>
              </a:xfrm>
            </p:grpSpPr>
            <p:sp>
              <p:nvSpPr>
                <p:cNvPr id="33953" name="Rectangle 145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54" name="Rectangle 146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55" name="Rectangle 147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56" name="Rectangle 148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57" name="Rectangle 149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58" name="Rectangle 150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7" name="Group 151"/>
              <p:cNvGrpSpPr>
                <a:grpSpLocks/>
              </p:cNvGrpSpPr>
              <p:nvPr/>
            </p:nvGrpSpPr>
            <p:grpSpPr bwMode="auto">
              <a:xfrm>
                <a:off x="2097" y="3657"/>
                <a:ext cx="480" cy="96"/>
                <a:chOff x="605" y="3734"/>
                <a:chExt cx="480" cy="96"/>
              </a:xfrm>
            </p:grpSpPr>
            <p:sp>
              <p:nvSpPr>
                <p:cNvPr id="33947" name="Rectangle 152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48" name="Rectangle 153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49" name="Rectangle 154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50" name="Rectangle 155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51" name="Rectangle 156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" name="Group 158"/>
              <p:cNvGrpSpPr>
                <a:grpSpLocks/>
              </p:cNvGrpSpPr>
              <p:nvPr/>
            </p:nvGrpSpPr>
            <p:grpSpPr bwMode="auto">
              <a:xfrm>
                <a:off x="2957" y="3657"/>
                <a:ext cx="480" cy="96"/>
                <a:chOff x="701" y="3734"/>
                <a:chExt cx="480" cy="96"/>
              </a:xfrm>
            </p:grpSpPr>
            <p:sp>
              <p:nvSpPr>
                <p:cNvPr id="33942" name="Rectangle 160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43" name="Rectangle 161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44" name="Rectangle 162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45" name="Rectangle 163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46" name="Rectangle 164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9" name="Group 165"/>
              <p:cNvGrpSpPr>
                <a:grpSpLocks/>
              </p:cNvGrpSpPr>
              <p:nvPr/>
            </p:nvGrpSpPr>
            <p:grpSpPr bwMode="auto">
              <a:xfrm>
                <a:off x="3626" y="3657"/>
                <a:ext cx="576" cy="96"/>
                <a:chOff x="605" y="3734"/>
                <a:chExt cx="576" cy="96"/>
              </a:xfrm>
            </p:grpSpPr>
            <p:sp>
              <p:nvSpPr>
                <p:cNvPr id="33935" name="Rectangle 166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36" name="Rectangle 167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37" name="Rectangle 168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38" name="Rectangle 169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39" name="Rectangle 170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40" name="Rectangle 171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0" name="Group 172"/>
              <p:cNvGrpSpPr>
                <a:grpSpLocks/>
              </p:cNvGrpSpPr>
              <p:nvPr/>
            </p:nvGrpSpPr>
            <p:grpSpPr bwMode="auto">
              <a:xfrm>
                <a:off x="4391" y="3657"/>
                <a:ext cx="576" cy="96"/>
                <a:chOff x="605" y="3734"/>
                <a:chExt cx="576" cy="96"/>
              </a:xfrm>
            </p:grpSpPr>
            <p:sp>
              <p:nvSpPr>
                <p:cNvPr id="33929" name="Rectangle 173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30" name="Rectangle 174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31" name="Rectangle 175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32" name="Rectangle 176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33" name="Rectangle 177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34" name="Rectangle 178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1" name="Group 179"/>
            <p:cNvGrpSpPr>
              <a:grpSpLocks/>
            </p:cNvGrpSpPr>
            <p:nvPr/>
          </p:nvGrpSpPr>
          <p:grpSpPr bwMode="auto">
            <a:xfrm>
              <a:off x="582" y="943"/>
              <a:ext cx="96" cy="2599"/>
              <a:chOff x="582" y="953"/>
              <a:chExt cx="96" cy="2599"/>
            </a:xfrm>
          </p:grpSpPr>
          <p:grpSp>
            <p:nvGrpSpPr>
              <p:cNvPr id="33861" name="Group 180"/>
              <p:cNvGrpSpPr>
                <a:grpSpLocks/>
              </p:cNvGrpSpPr>
              <p:nvPr/>
            </p:nvGrpSpPr>
            <p:grpSpPr bwMode="auto">
              <a:xfrm rot="5400000">
                <a:off x="342" y="1193"/>
                <a:ext cx="576" cy="96"/>
                <a:chOff x="605" y="3734"/>
                <a:chExt cx="576" cy="96"/>
              </a:xfrm>
            </p:grpSpPr>
            <p:sp>
              <p:nvSpPr>
                <p:cNvPr id="33917" name="Rectangle 181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18" name="Rectangle 182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19" name="Rectangle 183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20" name="Rectangle 184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21" name="Rectangle 185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22" name="Rectangle 186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3863" name="Group 187"/>
              <p:cNvGrpSpPr>
                <a:grpSpLocks/>
              </p:cNvGrpSpPr>
              <p:nvPr/>
            </p:nvGrpSpPr>
            <p:grpSpPr bwMode="auto">
              <a:xfrm rot="5400000">
                <a:off x="342" y="1867"/>
                <a:ext cx="576" cy="96"/>
                <a:chOff x="605" y="3734"/>
                <a:chExt cx="576" cy="96"/>
              </a:xfrm>
            </p:grpSpPr>
            <p:sp>
              <p:nvSpPr>
                <p:cNvPr id="33911" name="Rectangle 188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12" name="Rectangle 189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13" name="Rectangle 190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14" name="Rectangle 191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15" name="Rectangle 192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16" name="Rectangle 193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3864" name="Group 194"/>
              <p:cNvGrpSpPr>
                <a:grpSpLocks/>
              </p:cNvGrpSpPr>
              <p:nvPr/>
            </p:nvGrpSpPr>
            <p:grpSpPr bwMode="auto">
              <a:xfrm rot="5400000">
                <a:off x="342" y="2541"/>
                <a:ext cx="576" cy="96"/>
                <a:chOff x="605" y="3734"/>
                <a:chExt cx="576" cy="96"/>
              </a:xfrm>
            </p:grpSpPr>
            <p:sp>
              <p:nvSpPr>
                <p:cNvPr id="33905" name="Rectangle 195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06" name="Rectangle 196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07" name="Rectangle 197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08" name="Rectangle 198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09" name="Rectangle 199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10" name="Rectangle 200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3865" name="Group 201"/>
              <p:cNvGrpSpPr>
                <a:grpSpLocks/>
              </p:cNvGrpSpPr>
              <p:nvPr/>
            </p:nvGrpSpPr>
            <p:grpSpPr bwMode="auto">
              <a:xfrm rot="5400000">
                <a:off x="342" y="3216"/>
                <a:ext cx="576" cy="96"/>
                <a:chOff x="605" y="3734"/>
                <a:chExt cx="576" cy="96"/>
              </a:xfrm>
            </p:grpSpPr>
            <p:sp>
              <p:nvSpPr>
                <p:cNvPr id="33899" name="Rectangle 202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00" name="Rectangle 203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01" name="Rectangle 204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02" name="Rectangle 205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03" name="Rectangle 206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904" name="Rectangle 207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3866" name="Group 208"/>
            <p:cNvGrpSpPr>
              <a:grpSpLocks/>
            </p:cNvGrpSpPr>
            <p:nvPr/>
          </p:nvGrpSpPr>
          <p:grpSpPr bwMode="auto">
            <a:xfrm>
              <a:off x="4882" y="943"/>
              <a:ext cx="96" cy="2599"/>
              <a:chOff x="582" y="953"/>
              <a:chExt cx="96" cy="2599"/>
            </a:xfrm>
          </p:grpSpPr>
          <p:grpSp>
            <p:nvGrpSpPr>
              <p:cNvPr id="33867" name="Group 209"/>
              <p:cNvGrpSpPr>
                <a:grpSpLocks/>
              </p:cNvGrpSpPr>
              <p:nvPr/>
            </p:nvGrpSpPr>
            <p:grpSpPr bwMode="auto">
              <a:xfrm rot="5400000">
                <a:off x="342" y="1193"/>
                <a:ext cx="576" cy="96"/>
                <a:chOff x="605" y="3734"/>
                <a:chExt cx="576" cy="96"/>
              </a:xfrm>
            </p:grpSpPr>
            <p:sp>
              <p:nvSpPr>
                <p:cNvPr id="33889" name="Rectangle 210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90" name="Rectangle 211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91" name="Rectangle 212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92" name="Rectangle 213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93" name="Rectangle 214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94" name="Rectangle 215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3868" name="Group 216"/>
              <p:cNvGrpSpPr>
                <a:grpSpLocks/>
              </p:cNvGrpSpPr>
              <p:nvPr/>
            </p:nvGrpSpPr>
            <p:grpSpPr bwMode="auto">
              <a:xfrm rot="5400000">
                <a:off x="342" y="1867"/>
                <a:ext cx="576" cy="96"/>
                <a:chOff x="605" y="3734"/>
                <a:chExt cx="576" cy="96"/>
              </a:xfrm>
            </p:grpSpPr>
            <p:sp>
              <p:nvSpPr>
                <p:cNvPr id="33883" name="Rectangle 217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84" name="Rectangle 218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85" name="Rectangle 219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86" name="Rectangle 220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87" name="Rectangle 221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88" name="Rectangle 222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3869" name="Group 223"/>
              <p:cNvGrpSpPr>
                <a:grpSpLocks/>
              </p:cNvGrpSpPr>
              <p:nvPr/>
            </p:nvGrpSpPr>
            <p:grpSpPr bwMode="auto">
              <a:xfrm rot="5400000">
                <a:off x="342" y="2541"/>
                <a:ext cx="576" cy="96"/>
                <a:chOff x="605" y="3734"/>
                <a:chExt cx="576" cy="96"/>
              </a:xfrm>
            </p:grpSpPr>
            <p:sp>
              <p:nvSpPr>
                <p:cNvPr id="33877" name="Rectangle 224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78" name="Rectangle 225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79" name="Rectangle 226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80" name="Rectangle 227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81" name="Rectangle 228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82" name="Rectangle 229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3870" name="Group 230"/>
              <p:cNvGrpSpPr>
                <a:grpSpLocks/>
              </p:cNvGrpSpPr>
              <p:nvPr/>
            </p:nvGrpSpPr>
            <p:grpSpPr bwMode="auto">
              <a:xfrm rot="5400000">
                <a:off x="342" y="3216"/>
                <a:ext cx="576" cy="96"/>
                <a:chOff x="605" y="3734"/>
                <a:chExt cx="576" cy="96"/>
              </a:xfrm>
            </p:grpSpPr>
            <p:sp>
              <p:nvSpPr>
                <p:cNvPr id="33871" name="Rectangle 231"/>
                <p:cNvSpPr>
                  <a:spLocks noChangeArrowheads="1"/>
                </p:cNvSpPr>
                <p:nvPr/>
              </p:nvSpPr>
              <p:spPr bwMode="auto">
                <a:xfrm>
                  <a:off x="60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72" name="Rectangle 232"/>
                <p:cNvSpPr>
                  <a:spLocks noChangeArrowheads="1"/>
                </p:cNvSpPr>
                <p:nvPr/>
              </p:nvSpPr>
              <p:spPr bwMode="auto">
                <a:xfrm>
                  <a:off x="701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73" name="Rectangle 233"/>
                <p:cNvSpPr>
                  <a:spLocks noChangeArrowheads="1"/>
                </p:cNvSpPr>
                <p:nvPr/>
              </p:nvSpPr>
              <p:spPr bwMode="auto">
                <a:xfrm>
                  <a:off x="797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74" name="Rectangle 234"/>
                <p:cNvSpPr>
                  <a:spLocks noChangeArrowheads="1"/>
                </p:cNvSpPr>
                <p:nvPr/>
              </p:nvSpPr>
              <p:spPr bwMode="auto">
                <a:xfrm>
                  <a:off x="893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75" name="Rectangle 235"/>
                <p:cNvSpPr>
                  <a:spLocks noChangeArrowheads="1"/>
                </p:cNvSpPr>
                <p:nvPr/>
              </p:nvSpPr>
              <p:spPr bwMode="auto">
                <a:xfrm>
                  <a:off x="989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76" name="Rectangle 236"/>
                <p:cNvSpPr>
                  <a:spLocks noChangeArrowheads="1"/>
                </p:cNvSpPr>
                <p:nvPr/>
              </p:nvSpPr>
              <p:spPr bwMode="auto">
                <a:xfrm>
                  <a:off x="1085" y="3734"/>
                  <a:ext cx="96" cy="96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3862" name="Text Box 237"/>
          <p:cNvSpPr txBox="1">
            <a:spLocks noChangeArrowheads="1"/>
          </p:cNvSpPr>
          <p:nvPr/>
        </p:nvSpPr>
        <p:spPr bwMode="auto">
          <a:xfrm>
            <a:off x="7197437" y="1677942"/>
            <a:ext cx="688266" cy="270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/>
              <a:t>IO cells</a:t>
            </a:r>
          </a:p>
        </p:txBody>
      </p:sp>
      <p:grpSp>
        <p:nvGrpSpPr>
          <p:cNvPr id="33895" name="Group 238"/>
          <p:cNvGrpSpPr>
            <a:grpSpLocks/>
          </p:cNvGrpSpPr>
          <p:nvPr/>
        </p:nvGrpSpPr>
        <p:grpSpPr bwMode="auto">
          <a:xfrm>
            <a:off x="1131124" y="1997444"/>
            <a:ext cx="5728513" cy="3748163"/>
            <a:chOff x="731" y="920"/>
            <a:chExt cx="4070" cy="2663"/>
          </a:xfrm>
        </p:grpSpPr>
        <p:sp>
          <p:nvSpPr>
            <p:cNvPr id="33830" name="Line 239"/>
            <p:cNvSpPr>
              <a:spLocks noChangeShapeType="1"/>
            </p:cNvSpPr>
            <p:nvPr/>
          </p:nvSpPr>
          <p:spPr bwMode="auto">
            <a:xfrm>
              <a:off x="2781" y="928"/>
              <a:ext cx="0" cy="2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31" name="Line 240"/>
            <p:cNvSpPr>
              <a:spLocks noChangeShapeType="1"/>
            </p:cNvSpPr>
            <p:nvPr/>
          </p:nvSpPr>
          <p:spPr bwMode="auto">
            <a:xfrm>
              <a:off x="2862" y="928"/>
              <a:ext cx="0" cy="2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32" name="Line 241"/>
            <p:cNvSpPr>
              <a:spLocks noChangeShapeType="1"/>
            </p:cNvSpPr>
            <p:nvPr/>
          </p:nvSpPr>
          <p:spPr bwMode="auto">
            <a:xfrm>
              <a:off x="3253" y="928"/>
              <a:ext cx="0" cy="2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896" name="Group 242"/>
            <p:cNvGrpSpPr>
              <a:grpSpLocks/>
            </p:cNvGrpSpPr>
            <p:nvPr/>
          </p:nvGrpSpPr>
          <p:grpSpPr bwMode="auto">
            <a:xfrm>
              <a:off x="1207" y="928"/>
              <a:ext cx="162" cy="2655"/>
              <a:chOff x="3622" y="999"/>
              <a:chExt cx="162" cy="2599"/>
            </a:xfrm>
          </p:grpSpPr>
          <p:sp>
            <p:nvSpPr>
              <p:cNvPr id="33858" name="Line 243"/>
              <p:cNvSpPr>
                <a:spLocks noChangeShapeType="1"/>
              </p:cNvSpPr>
              <p:nvPr/>
            </p:nvSpPr>
            <p:spPr bwMode="auto">
              <a:xfrm>
                <a:off x="3622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9" name="Line 244"/>
              <p:cNvSpPr>
                <a:spLocks noChangeShapeType="1"/>
              </p:cNvSpPr>
              <p:nvPr/>
            </p:nvSpPr>
            <p:spPr bwMode="auto">
              <a:xfrm>
                <a:off x="3703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60" name="Line 245"/>
              <p:cNvSpPr>
                <a:spLocks noChangeShapeType="1"/>
              </p:cNvSpPr>
              <p:nvPr/>
            </p:nvSpPr>
            <p:spPr bwMode="auto">
              <a:xfrm>
                <a:off x="3784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897" name="Group 246"/>
            <p:cNvGrpSpPr>
              <a:grpSpLocks/>
            </p:cNvGrpSpPr>
            <p:nvPr/>
          </p:nvGrpSpPr>
          <p:grpSpPr bwMode="auto">
            <a:xfrm>
              <a:off x="1726" y="928"/>
              <a:ext cx="162" cy="2655"/>
              <a:chOff x="3622" y="999"/>
              <a:chExt cx="162" cy="2599"/>
            </a:xfrm>
          </p:grpSpPr>
          <p:sp>
            <p:nvSpPr>
              <p:cNvPr id="33855" name="Line 247"/>
              <p:cNvSpPr>
                <a:spLocks noChangeShapeType="1"/>
              </p:cNvSpPr>
              <p:nvPr/>
            </p:nvSpPr>
            <p:spPr bwMode="auto">
              <a:xfrm>
                <a:off x="3622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6" name="Line 248"/>
              <p:cNvSpPr>
                <a:spLocks noChangeShapeType="1"/>
              </p:cNvSpPr>
              <p:nvPr/>
            </p:nvSpPr>
            <p:spPr bwMode="auto">
              <a:xfrm>
                <a:off x="3703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7" name="Line 249"/>
              <p:cNvSpPr>
                <a:spLocks noChangeShapeType="1"/>
              </p:cNvSpPr>
              <p:nvPr/>
            </p:nvSpPr>
            <p:spPr bwMode="auto">
              <a:xfrm>
                <a:off x="3784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898" name="Group 250"/>
            <p:cNvGrpSpPr>
              <a:grpSpLocks/>
            </p:cNvGrpSpPr>
            <p:nvPr/>
          </p:nvGrpSpPr>
          <p:grpSpPr bwMode="auto">
            <a:xfrm>
              <a:off x="3626" y="928"/>
              <a:ext cx="162" cy="2655"/>
              <a:chOff x="3622" y="999"/>
              <a:chExt cx="162" cy="2599"/>
            </a:xfrm>
          </p:grpSpPr>
          <p:sp>
            <p:nvSpPr>
              <p:cNvPr id="33852" name="Line 251"/>
              <p:cNvSpPr>
                <a:spLocks noChangeShapeType="1"/>
              </p:cNvSpPr>
              <p:nvPr/>
            </p:nvSpPr>
            <p:spPr bwMode="auto">
              <a:xfrm>
                <a:off x="3622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3" name="Line 252"/>
              <p:cNvSpPr>
                <a:spLocks noChangeShapeType="1"/>
              </p:cNvSpPr>
              <p:nvPr/>
            </p:nvSpPr>
            <p:spPr bwMode="auto">
              <a:xfrm>
                <a:off x="3703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4" name="Line 253"/>
              <p:cNvSpPr>
                <a:spLocks noChangeShapeType="1"/>
              </p:cNvSpPr>
              <p:nvPr/>
            </p:nvSpPr>
            <p:spPr bwMode="auto">
              <a:xfrm>
                <a:off x="3784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23" name="Group 254"/>
            <p:cNvGrpSpPr>
              <a:grpSpLocks/>
            </p:cNvGrpSpPr>
            <p:nvPr/>
          </p:nvGrpSpPr>
          <p:grpSpPr bwMode="auto">
            <a:xfrm>
              <a:off x="731" y="928"/>
              <a:ext cx="162" cy="2655"/>
              <a:chOff x="3622" y="999"/>
              <a:chExt cx="162" cy="2599"/>
            </a:xfrm>
          </p:grpSpPr>
          <p:sp>
            <p:nvSpPr>
              <p:cNvPr id="33849" name="Line 255"/>
              <p:cNvSpPr>
                <a:spLocks noChangeShapeType="1"/>
              </p:cNvSpPr>
              <p:nvPr/>
            </p:nvSpPr>
            <p:spPr bwMode="auto">
              <a:xfrm>
                <a:off x="3622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0" name="Line 256"/>
              <p:cNvSpPr>
                <a:spLocks noChangeShapeType="1"/>
              </p:cNvSpPr>
              <p:nvPr/>
            </p:nvSpPr>
            <p:spPr bwMode="auto">
              <a:xfrm>
                <a:off x="3703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51" name="Line 257"/>
              <p:cNvSpPr>
                <a:spLocks noChangeShapeType="1"/>
              </p:cNvSpPr>
              <p:nvPr/>
            </p:nvSpPr>
            <p:spPr bwMode="auto">
              <a:xfrm>
                <a:off x="3784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24" name="Group 258"/>
            <p:cNvGrpSpPr>
              <a:grpSpLocks/>
            </p:cNvGrpSpPr>
            <p:nvPr/>
          </p:nvGrpSpPr>
          <p:grpSpPr bwMode="auto">
            <a:xfrm>
              <a:off x="4126" y="928"/>
              <a:ext cx="162" cy="2655"/>
              <a:chOff x="3622" y="999"/>
              <a:chExt cx="162" cy="2599"/>
            </a:xfrm>
          </p:grpSpPr>
          <p:sp>
            <p:nvSpPr>
              <p:cNvPr id="33846" name="Line 259"/>
              <p:cNvSpPr>
                <a:spLocks noChangeShapeType="1"/>
              </p:cNvSpPr>
              <p:nvPr/>
            </p:nvSpPr>
            <p:spPr bwMode="auto">
              <a:xfrm>
                <a:off x="3622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7" name="Line 260"/>
              <p:cNvSpPr>
                <a:spLocks noChangeShapeType="1"/>
              </p:cNvSpPr>
              <p:nvPr/>
            </p:nvSpPr>
            <p:spPr bwMode="auto">
              <a:xfrm>
                <a:off x="3703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8" name="Line 261"/>
              <p:cNvSpPr>
                <a:spLocks noChangeShapeType="1"/>
              </p:cNvSpPr>
              <p:nvPr/>
            </p:nvSpPr>
            <p:spPr bwMode="auto">
              <a:xfrm>
                <a:off x="3784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25" name="Group 262"/>
            <p:cNvGrpSpPr>
              <a:grpSpLocks/>
            </p:cNvGrpSpPr>
            <p:nvPr/>
          </p:nvGrpSpPr>
          <p:grpSpPr bwMode="auto">
            <a:xfrm>
              <a:off x="4639" y="928"/>
              <a:ext cx="162" cy="2655"/>
              <a:chOff x="3622" y="999"/>
              <a:chExt cx="162" cy="2599"/>
            </a:xfrm>
          </p:grpSpPr>
          <p:sp>
            <p:nvSpPr>
              <p:cNvPr id="33843" name="Line 263"/>
              <p:cNvSpPr>
                <a:spLocks noChangeShapeType="1"/>
              </p:cNvSpPr>
              <p:nvPr/>
            </p:nvSpPr>
            <p:spPr bwMode="auto">
              <a:xfrm>
                <a:off x="3622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4" name="Line 264"/>
              <p:cNvSpPr>
                <a:spLocks noChangeShapeType="1"/>
              </p:cNvSpPr>
              <p:nvPr/>
            </p:nvSpPr>
            <p:spPr bwMode="auto">
              <a:xfrm>
                <a:off x="3703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5" name="Line 265"/>
              <p:cNvSpPr>
                <a:spLocks noChangeShapeType="1"/>
              </p:cNvSpPr>
              <p:nvPr/>
            </p:nvSpPr>
            <p:spPr bwMode="auto">
              <a:xfrm>
                <a:off x="3784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926" name="Group 266"/>
            <p:cNvGrpSpPr>
              <a:grpSpLocks/>
            </p:cNvGrpSpPr>
            <p:nvPr/>
          </p:nvGrpSpPr>
          <p:grpSpPr bwMode="auto">
            <a:xfrm>
              <a:off x="2239" y="920"/>
              <a:ext cx="162" cy="2655"/>
              <a:chOff x="3622" y="999"/>
              <a:chExt cx="162" cy="2599"/>
            </a:xfrm>
          </p:grpSpPr>
          <p:sp>
            <p:nvSpPr>
              <p:cNvPr id="33840" name="Line 267"/>
              <p:cNvSpPr>
                <a:spLocks noChangeShapeType="1"/>
              </p:cNvSpPr>
              <p:nvPr/>
            </p:nvSpPr>
            <p:spPr bwMode="auto">
              <a:xfrm>
                <a:off x="3622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1" name="Line 268"/>
              <p:cNvSpPr>
                <a:spLocks noChangeShapeType="1"/>
              </p:cNvSpPr>
              <p:nvPr/>
            </p:nvSpPr>
            <p:spPr bwMode="auto">
              <a:xfrm>
                <a:off x="3703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42" name="Line 269"/>
              <p:cNvSpPr>
                <a:spLocks noChangeShapeType="1"/>
              </p:cNvSpPr>
              <p:nvPr/>
            </p:nvSpPr>
            <p:spPr bwMode="auto">
              <a:xfrm>
                <a:off x="3784" y="999"/>
                <a:ext cx="0" cy="25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3927" name="Group 270"/>
          <p:cNvGrpSpPr>
            <a:grpSpLocks/>
          </p:cNvGrpSpPr>
          <p:nvPr/>
        </p:nvGrpSpPr>
        <p:grpSpPr bwMode="auto">
          <a:xfrm>
            <a:off x="1083270" y="2029817"/>
            <a:ext cx="5814370" cy="3696086"/>
            <a:chOff x="697" y="943"/>
            <a:chExt cx="4131" cy="2626"/>
          </a:xfrm>
        </p:grpSpPr>
        <p:sp>
          <p:nvSpPr>
            <p:cNvPr id="33808" name="Line 271"/>
            <p:cNvSpPr>
              <a:spLocks noChangeShapeType="1"/>
            </p:cNvSpPr>
            <p:nvPr/>
          </p:nvSpPr>
          <p:spPr bwMode="auto">
            <a:xfrm>
              <a:off x="697" y="94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09" name="Line 272"/>
            <p:cNvSpPr>
              <a:spLocks noChangeShapeType="1"/>
            </p:cNvSpPr>
            <p:nvPr/>
          </p:nvSpPr>
          <p:spPr bwMode="auto">
            <a:xfrm>
              <a:off x="697" y="1068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0" name="Line 273"/>
            <p:cNvSpPr>
              <a:spLocks noChangeShapeType="1"/>
            </p:cNvSpPr>
            <p:nvPr/>
          </p:nvSpPr>
          <p:spPr bwMode="auto">
            <a:xfrm>
              <a:off x="697" y="119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1" name="Line 274"/>
            <p:cNvSpPr>
              <a:spLocks noChangeShapeType="1"/>
            </p:cNvSpPr>
            <p:nvPr/>
          </p:nvSpPr>
          <p:spPr bwMode="auto">
            <a:xfrm>
              <a:off x="697" y="1318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2" name="Line 275"/>
            <p:cNvSpPr>
              <a:spLocks noChangeShapeType="1"/>
            </p:cNvSpPr>
            <p:nvPr/>
          </p:nvSpPr>
          <p:spPr bwMode="auto">
            <a:xfrm>
              <a:off x="697" y="144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3" name="Line 276"/>
            <p:cNvSpPr>
              <a:spLocks noChangeShapeType="1"/>
            </p:cNvSpPr>
            <p:nvPr/>
          </p:nvSpPr>
          <p:spPr bwMode="auto">
            <a:xfrm>
              <a:off x="697" y="1568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4" name="Line 277"/>
            <p:cNvSpPr>
              <a:spLocks noChangeShapeType="1"/>
            </p:cNvSpPr>
            <p:nvPr/>
          </p:nvSpPr>
          <p:spPr bwMode="auto">
            <a:xfrm>
              <a:off x="697" y="169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5" name="Line 278"/>
            <p:cNvSpPr>
              <a:spLocks noChangeShapeType="1"/>
            </p:cNvSpPr>
            <p:nvPr/>
          </p:nvSpPr>
          <p:spPr bwMode="auto">
            <a:xfrm>
              <a:off x="697" y="1818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6" name="Line 279"/>
            <p:cNvSpPr>
              <a:spLocks noChangeShapeType="1"/>
            </p:cNvSpPr>
            <p:nvPr/>
          </p:nvSpPr>
          <p:spPr bwMode="auto">
            <a:xfrm>
              <a:off x="697" y="194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7" name="Line 280"/>
            <p:cNvSpPr>
              <a:spLocks noChangeShapeType="1"/>
            </p:cNvSpPr>
            <p:nvPr/>
          </p:nvSpPr>
          <p:spPr bwMode="auto">
            <a:xfrm>
              <a:off x="697" y="2068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8" name="Line 281"/>
            <p:cNvSpPr>
              <a:spLocks noChangeShapeType="1"/>
            </p:cNvSpPr>
            <p:nvPr/>
          </p:nvSpPr>
          <p:spPr bwMode="auto">
            <a:xfrm>
              <a:off x="697" y="219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19" name="Line 282"/>
            <p:cNvSpPr>
              <a:spLocks noChangeShapeType="1"/>
            </p:cNvSpPr>
            <p:nvPr/>
          </p:nvSpPr>
          <p:spPr bwMode="auto">
            <a:xfrm>
              <a:off x="697" y="2318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20" name="Line 283"/>
            <p:cNvSpPr>
              <a:spLocks noChangeShapeType="1"/>
            </p:cNvSpPr>
            <p:nvPr/>
          </p:nvSpPr>
          <p:spPr bwMode="auto">
            <a:xfrm>
              <a:off x="697" y="244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21" name="Line 284"/>
            <p:cNvSpPr>
              <a:spLocks noChangeShapeType="1"/>
            </p:cNvSpPr>
            <p:nvPr/>
          </p:nvSpPr>
          <p:spPr bwMode="auto">
            <a:xfrm>
              <a:off x="697" y="2568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22" name="Line 285"/>
            <p:cNvSpPr>
              <a:spLocks noChangeShapeType="1"/>
            </p:cNvSpPr>
            <p:nvPr/>
          </p:nvSpPr>
          <p:spPr bwMode="auto">
            <a:xfrm>
              <a:off x="697" y="269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23" name="Line 286"/>
            <p:cNvSpPr>
              <a:spLocks noChangeShapeType="1"/>
            </p:cNvSpPr>
            <p:nvPr/>
          </p:nvSpPr>
          <p:spPr bwMode="auto">
            <a:xfrm>
              <a:off x="697" y="2818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24" name="Line 287"/>
            <p:cNvSpPr>
              <a:spLocks noChangeShapeType="1"/>
            </p:cNvSpPr>
            <p:nvPr/>
          </p:nvSpPr>
          <p:spPr bwMode="auto">
            <a:xfrm>
              <a:off x="697" y="294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25" name="Line 288"/>
            <p:cNvSpPr>
              <a:spLocks noChangeShapeType="1"/>
            </p:cNvSpPr>
            <p:nvPr/>
          </p:nvSpPr>
          <p:spPr bwMode="auto">
            <a:xfrm>
              <a:off x="697" y="3068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26" name="Line 289"/>
            <p:cNvSpPr>
              <a:spLocks noChangeShapeType="1"/>
            </p:cNvSpPr>
            <p:nvPr/>
          </p:nvSpPr>
          <p:spPr bwMode="auto">
            <a:xfrm>
              <a:off x="697" y="319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27" name="Line 290"/>
            <p:cNvSpPr>
              <a:spLocks noChangeShapeType="1"/>
            </p:cNvSpPr>
            <p:nvPr/>
          </p:nvSpPr>
          <p:spPr bwMode="auto">
            <a:xfrm>
              <a:off x="697" y="3318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28" name="Line 291"/>
            <p:cNvSpPr>
              <a:spLocks noChangeShapeType="1"/>
            </p:cNvSpPr>
            <p:nvPr/>
          </p:nvSpPr>
          <p:spPr bwMode="auto">
            <a:xfrm>
              <a:off x="697" y="3443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829" name="Line 292"/>
            <p:cNvSpPr>
              <a:spLocks noChangeShapeType="1"/>
            </p:cNvSpPr>
            <p:nvPr/>
          </p:nvSpPr>
          <p:spPr bwMode="auto">
            <a:xfrm>
              <a:off x="697" y="3569"/>
              <a:ext cx="4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928" name="Group 293"/>
          <p:cNvGrpSpPr>
            <a:grpSpLocks/>
          </p:cNvGrpSpPr>
          <p:nvPr/>
        </p:nvGrpSpPr>
        <p:grpSpPr bwMode="auto">
          <a:xfrm>
            <a:off x="6768152" y="5256599"/>
            <a:ext cx="1915604" cy="660954"/>
            <a:chOff x="4730" y="3391"/>
            <a:chExt cx="1361" cy="403"/>
          </a:xfrm>
        </p:grpSpPr>
        <p:sp>
          <p:nvSpPr>
            <p:cNvPr id="33806" name="Text Box 294"/>
            <p:cNvSpPr txBox="1">
              <a:spLocks noChangeArrowheads="1"/>
            </p:cNvSpPr>
            <p:nvPr/>
          </p:nvSpPr>
          <p:spPr bwMode="auto">
            <a:xfrm>
              <a:off x="5117" y="3391"/>
              <a:ext cx="974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dirty="0"/>
                <a:t>Programmable </a:t>
              </a:r>
            </a:p>
            <a:p>
              <a:r>
                <a:rPr lang="en-US" sz="1400" dirty="0"/>
                <a:t>switch</a:t>
              </a:r>
            </a:p>
          </p:txBody>
        </p:sp>
        <p:sp>
          <p:nvSpPr>
            <p:cNvPr id="33807" name="Line 295"/>
            <p:cNvSpPr>
              <a:spLocks noChangeShapeType="1"/>
            </p:cNvSpPr>
            <p:nvPr/>
          </p:nvSpPr>
          <p:spPr bwMode="auto">
            <a:xfrm flipH="1" flipV="1">
              <a:off x="4730" y="3654"/>
              <a:ext cx="874" cy="1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8" name="Rectangle 297"/>
          <p:cNvSpPr>
            <a:spLocks noChangeAspect="1"/>
          </p:cNvSpPr>
          <p:nvPr/>
        </p:nvSpPr>
        <p:spPr>
          <a:xfrm>
            <a:off x="1746000" y="1674000"/>
            <a:ext cx="213785" cy="2242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1" name="Rectangle 300"/>
          <p:cNvSpPr>
            <a:spLocks noChangeAspect="1"/>
          </p:cNvSpPr>
          <p:nvPr/>
        </p:nvSpPr>
        <p:spPr>
          <a:xfrm>
            <a:off x="6048000" y="1681712"/>
            <a:ext cx="213785" cy="2242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2" name="Rectangle 301"/>
          <p:cNvSpPr>
            <a:spLocks noChangeAspect="1"/>
          </p:cNvSpPr>
          <p:nvPr/>
        </p:nvSpPr>
        <p:spPr>
          <a:xfrm>
            <a:off x="1735200" y="5793785"/>
            <a:ext cx="213785" cy="2242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3" name="Rectangle 302"/>
          <p:cNvSpPr>
            <a:spLocks noChangeAspect="1"/>
          </p:cNvSpPr>
          <p:nvPr/>
        </p:nvSpPr>
        <p:spPr>
          <a:xfrm>
            <a:off x="6048000" y="5796000"/>
            <a:ext cx="213785" cy="2242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4" name="Rectangle 303"/>
          <p:cNvSpPr>
            <a:spLocks noChangeAspect="1"/>
          </p:cNvSpPr>
          <p:nvPr/>
        </p:nvSpPr>
        <p:spPr>
          <a:xfrm>
            <a:off x="3810505" y="1681712"/>
            <a:ext cx="399730" cy="22429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5" name="Rectangle 304"/>
          <p:cNvSpPr>
            <a:spLocks noChangeAspect="1"/>
          </p:cNvSpPr>
          <p:nvPr/>
        </p:nvSpPr>
        <p:spPr>
          <a:xfrm>
            <a:off x="3810505" y="5793785"/>
            <a:ext cx="399730" cy="22429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6" name="Text Box 237"/>
          <p:cNvSpPr txBox="1">
            <a:spLocks noChangeArrowheads="1"/>
          </p:cNvSpPr>
          <p:nvPr/>
        </p:nvSpPr>
        <p:spPr bwMode="auto">
          <a:xfrm>
            <a:off x="155329" y="1855287"/>
            <a:ext cx="5036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/>
              <a:t>PLL</a:t>
            </a:r>
          </a:p>
        </p:txBody>
      </p:sp>
      <p:sp>
        <p:nvSpPr>
          <p:cNvPr id="307" name="Text Box 237"/>
          <p:cNvSpPr txBox="1">
            <a:spLocks noChangeArrowheads="1"/>
          </p:cNvSpPr>
          <p:nvPr/>
        </p:nvSpPr>
        <p:spPr bwMode="auto">
          <a:xfrm>
            <a:off x="3335777" y="1909725"/>
            <a:ext cx="138852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/>
              <a:t>Clock Manager</a:t>
            </a:r>
          </a:p>
        </p:txBody>
      </p:sp>
      <p:sp>
        <p:nvSpPr>
          <p:cNvPr id="308" name="Rectangle 307"/>
          <p:cNvSpPr>
            <a:spLocks noChangeAspect="1"/>
          </p:cNvSpPr>
          <p:nvPr/>
        </p:nvSpPr>
        <p:spPr>
          <a:xfrm>
            <a:off x="6642700" y="2390585"/>
            <a:ext cx="213785" cy="4232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9" name="Rectangle 308"/>
          <p:cNvSpPr>
            <a:spLocks noChangeAspect="1"/>
          </p:cNvSpPr>
          <p:nvPr/>
        </p:nvSpPr>
        <p:spPr>
          <a:xfrm>
            <a:off x="6642700" y="3614989"/>
            <a:ext cx="213785" cy="4232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0" name="Rectangle 309"/>
          <p:cNvSpPr>
            <a:spLocks noChangeAspect="1"/>
          </p:cNvSpPr>
          <p:nvPr/>
        </p:nvSpPr>
        <p:spPr>
          <a:xfrm>
            <a:off x="6642700" y="4681082"/>
            <a:ext cx="213785" cy="4232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1" name="Rectangle 310"/>
          <p:cNvSpPr>
            <a:spLocks noChangeAspect="1"/>
          </p:cNvSpPr>
          <p:nvPr/>
        </p:nvSpPr>
        <p:spPr>
          <a:xfrm>
            <a:off x="4267402" y="2396597"/>
            <a:ext cx="213785" cy="4232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2" name="Rectangle 311"/>
          <p:cNvSpPr>
            <a:spLocks noChangeAspect="1"/>
          </p:cNvSpPr>
          <p:nvPr/>
        </p:nvSpPr>
        <p:spPr>
          <a:xfrm>
            <a:off x="4267402" y="3614989"/>
            <a:ext cx="213785" cy="4232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3" name="Rectangle 312"/>
          <p:cNvSpPr>
            <a:spLocks noChangeAspect="1"/>
          </p:cNvSpPr>
          <p:nvPr/>
        </p:nvSpPr>
        <p:spPr>
          <a:xfrm>
            <a:off x="4267402" y="4681082"/>
            <a:ext cx="213785" cy="4232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4" name="Rectangle 313"/>
          <p:cNvSpPr>
            <a:spLocks noChangeAspect="1"/>
          </p:cNvSpPr>
          <p:nvPr/>
        </p:nvSpPr>
        <p:spPr>
          <a:xfrm>
            <a:off x="1080000" y="2394000"/>
            <a:ext cx="213785" cy="4232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5" name="Rectangle 314"/>
          <p:cNvSpPr>
            <a:spLocks noChangeAspect="1"/>
          </p:cNvSpPr>
          <p:nvPr/>
        </p:nvSpPr>
        <p:spPr>
          <a:xfrm>
            <a:off x="1080000" y="3614989"/>
            <a:ext cx="213785" cy="4232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6" name="Rectangle 315"/>
          <p:cNvSpPr>
            <a:spLocks noChangeAspect="1"/>
          </p:cNvSpPr>
          <p:nvPr/>
        </p:nvSpPr>
        <p:spPr>
          <a:xfrm>
            <a:off x="1080000" y="4681082"/>
            <a:ext cx="213785" cy="42320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7" name="Text Box 294"/>
          <p:cNvSpPr txBox="1">
            <a:spLocks noChangeArrowheads="1"/>
          </p:cNvSpPr>
          <p:nvPr/>
        </p:nvSpPr>
        <p:spPr bwMode="auto">
          <a:xfrm>
            <a:off x="7477070" y="3098469"/>
            <a:ext cx="137090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dirty="0"/>
              <a:t>SRAM block</a:t>
            </a:r>
          </a:p>
        </p:txBody>
      </p:sp>
      <p:sp>
        <p:nvSpPr>
          <p:cNvPr id="318" name="Line 295"/>
          <p:cNvSpPr>
            <a:spLocks noChangeShapeType="1"/>
          </p:cNvSpPr>
          <p:nvPr/>
        </p:nvSpPr>
        <p:spPr bwMode="auto">
          <a:xfrm flipH="1" flipV="1">
            <a:off x="6745630" y="2827693"/>
            <a:ext cx="1230153" cy="2296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Line 295"/>
          <p:cNvSpPr>
            <a:spLocks noChangeShapeType="1"/>
          </p:cNvSpPr>
          <p:nvPr/>
        </p:nvSpPr>
        <p:spPr bwMode="auto">
          <a:xfrm flipV="1">
            <a:off x="612226" y="1909724"/>
            <a:ext cx="1041079" cy="9898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Rectangle 319"/>
          <p:cNvSpPr>
            <a:spLocks noChangeAspect="1"/>
          </p:cNvSpPr>
          <p:nvPr/>
        </p:nvSpPr>
        <p:spPr>
          <a:xfrm>
            <a:off x="4324569" y="3252357"/>
            <a:ext cx="399730" cy="2242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1" name="Rectangle 320"/>
          <p:cNvSpPr>
            <a:spLocks noChangeAspect="1"/>
          </p:cNvSpPr>
          <p:nvPr/>
        </p:nvSpPr>
        <p:spPr>
          <a:xfrm>
            <a:off x="3353608" y="3276701"/>
            <a:ext cx="399730" cy="22429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2" name="Text Box 294"/>
          <p:cNvSpPr txBox="1">
            <a:spLocks noChangeArrowheads="1"/>
          </p:cNvSpPr>
          <p:nvPr/>
        </p:nvSpPr>
        <p:spPr bwMode="auto">
          <a:xfrm>
            <a:off x="3744000" y="3236506"/>
            <a:ext cx="5853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400" dirty="0"/>
              <a:t>DSP</a:t>
            </a:r>
          </a:p>
        </p:txBody>
      </p:sp>
      <p:sp>
        <p:nvSpPr>
          <p:cNvPr id="323" name="Line 295"/>
          <p:cNvSpPr>
            <a:spLocks noChangeShapeType="1"/>
          </p:cNvSpPr>
          <p:nvPr/>
        </p:nvSpPr>
        <p:spPr bwMode="auto">
          <a:xfrm flipV="1">
            <a:off x="4030039" y="3397423"/>
            <a:ext cx="267520" cy="19612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Line 295"/>
          <p:cNvSpPr>
            <a:spLocks noChangeShapeType="1"/>
          </p:cNvSpPr>
          <p:nvPr/>
        </p:nvSpPr>
        <p:spPr bwMode="auto">
          <a:xfrm rot="16200000" flipV="1">
            <a:off x="3795532" y="3400151"/>
            <a:ext cx="185988" cy="2436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11</a:t>
            </a:fld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53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575"/>
    </mc:Choice>
    <mc:Fallback xmlns="">
      <p:transition spd="slow" advTm="10857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62" grpId="0"/>
      <p:bldP spid="298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/>
      <p:bldP spid="307" grpId="0"/>
      <p:bldP spid="308" grpId="0" animBg="1"/>
      <p:bldP spid="309" grpId="0" animBg="1"/>
      <p:bldP spid="310" grpId="0" animBg="1"/>
      <p:bldP spid="311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/>
      <p:bldP spid="318" grpId="0" animBg="1"/>
      <p:bldP spid="319" grpId="0" animBg="1"/>
      <p:bldP spid="320" grpId="0" animBg="1"/>
      <p:bldP spid="321" grpId="0" animBg="1"/>
      <p:bldP spid="322" grpId="0"/>
      <p:bldP spid="323" grpId="0" animBg="1"/>
      <p:bldP spid="3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0800" y="1753711"/>
            <a:ext cx="8223250" cy="3959225"/>
          </a:xfrm>
        </p:spPr>
        <p:txBody>
          <a:bodyPr/>
          <a:lstStyle/>
          <a:p>
            <a:r>
              <a:rPr lang="en-US" b="1" dirty="0"/>
              <a:t>Size metrics</a:t>
            </a:r>
          </a:p>
          <a:p>
            <a:pPr lvl="1" eaLnBrk="1" hangingPunct="1">
              <a:defRPr/>
            </a:pPr>
            <a:r>
              <a:rPr lang="en-GB" dirty="0"/>
              <a:t>How many basic gates can be built on the circuit</a:t>
            </a:r>
          </a:p>
          <a:p>
            <a:pPr lvl="1" eaLnBrk="1" hangingPunct="1">
              <a:defRPr/>
            </a:pPr>
            <a:r>
              <a:rPr lang="en-GB" dirty="0"/>
              <a:t>Common measure: number of two-input NAND gates</a:t>
            </a:r>
            <a:endParaRPr lang="en-US" b="1" dirty="0"/>
          </a:p>
          <a:p>
            <a:pPr lvl="1" eaLnBrk="1" hangingPunct="1">
              <a:defRPr/>
            </a:pPr>
            <a:endParaRPr lang="en-GB" dirty="0"/>
          </a:p>
          <a:p>
            <a:endParaRPr lang="en-US" b="1" dirty="0"/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1.4. Circuit </a:t>
            </a:r>
            <a:r>
              <a:rPr lang="en-GB" dirty="0"/>
              <a:t>Size 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12</a:t>
            </a:fld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495" y="2892868"/>
            <a:ext cx="3564000" cy="312521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79759"/>
              </p:ext>
            </p:extLst>
          </p:nvPr>
        </p:nvGraphicFramePr>
        <p:xfrm>
          <a:off x="460375" y="3541482"/>
          <a:ext cx="4833138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0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Design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SPLD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~200 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CPLD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~10,000</a:t>
                      </a:r>
                      <a:r>
                        <a:rPr lang="en-GB" baseline="0" dirty="0"/>
                        <a:t> gates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FPGA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~1,000,000 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112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43"/>
    </mc:Choice>
    <mc:Fallback xmlns="">
      <p:transition spd="slow" advTm="3874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 FPGA Lookup Tables (LUTs) 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800" y="1753711"/>
            <a:ext cx="8305800" cy="1739900"/>
          </a:xfrm>
        </p:spPr>
        <p:txBody>
          <a:bodyPr/>
          <a:lstStyle/>
          <a:p>
            <a:pPr eaLnBrk="1" hangingPunct="1"/>
            <a:r>
              <a:rPr lang="en-US" altLang="en-US" b="1" dirty="0"/>
              <a:t>Look Up Table (LUT)</a:t>
            </a:r>
            <a:endParaRPr lang="en-US" altLang="en-US" b="1" u="sng" dirty="0"/>
          </a:p>
          <a:p>
            <a:pPr lvl="1" eaLnBrk="1" hangingPunct="1"/>
            <a:r>
              <a:rPr lang="en-US" altLang="en-US" dirty="0"/>
              <a:t>Use a set of 1-bit storage elements to implement logic functions</a:t>
            </a:r>
          </a:p>
          <a:p>
            <a:pPr lvl="0" eaLnBrk="1" hangingPunct="1"/>
            <a:r>
              <a:rPr lang="en-US" altLang="en-US" b="1" dirty="0">
                <a:solidFill>
                  <a:srgbClr val="000000"/>
                </a:solidFill>
              </a:rPr>
              <a:t>Example</a:t>
            </a:r>
            <a:endParaRPr lang="en-US" altLang="en-US" b="1" u="sng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/>
              <a:t>A 2-input LUT</a:t>
            </a:r>
          </a:p>
          <a:p>
            <a:pPr lvl="1" eaLnBrk="1" hangingPunct="1"/>
            <a:r>
              <a:rPr lang="en-US" altLang="en-US" dirty="0"/>
              <a:t>Capable of implementing any logic function of two</a:t>
            </a:r>
          </a:p>
        </p:txBody>
      </p:sp>
      <p:sp>
        <p:nvSpPr>
          <p:cNvPr id="17419" name="Rectangle 467"/>
          <p:cNvSpPr>
            <a:spLocks noChangeArrowheads="1"/>
          </p:cNvSpPr>
          <p:nvPr/>
        </p:nvSpPr>
        <p:spPr bwMode="auto">
          <a:xfrm>
            <a:off x="1740058" y="3956227"/>
            <a:ext cx="1084263" cy="1608138"/>
          </a:xfrm>
          <a:prstGeom prst="rect">
            <a:avLst/>
          </a:prstGeom>
          <a:solidFill>
            <a:srgbClr val="D4E0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422" name="Rectangle 473"/>
          <p:cNvSpPr>
            <a:spLocks noChangeArrowheads="1"/>
          </p:cNvSpPr>
          <p:nvPr/>
        </p:nvSpPr>
        <p:spPr bwMode="auto">
          <a:xfrm>
            <a:off x="1801649" y="4013231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x</a:t>
            </a:r>
          </a:p>
        </p:txBody>
      </p:sp>
      <p:sp>
        <p:nvSpPr>
          <p:cNvPr id="17423" name="Rectangle 474"/>
          <p:cNvSpPr>
            <a:spLocks noChangeArrowheads="1"/>
          </p:cNvSpPr>
          <p:nvPr/>
        </p:nvSpPr>
        <p:spPr bwMode="auto">
          <a:xfrm>
            <a:off x="1795621" y="4335640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 dirty="0"/>
          </a:p>
        </p:txBody>
      </p:sp>
      <p:sp>
        <p:nvSpPr>
          <p:cNvPr id="17424" name="Rectangle 475"/>
          <p:cNvSpPr>
            <a:spLocks noChangeArrowheads="1"/>
          </p:cNvSpPr>
          <p:nvPr/>
        </p:nvSpPr>
        <p:spPr bwMode="auto">
          <a:xfrm>
            <a:off x="1795621" y="4618215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 dirty="0"/>
          </a:p>
        </p:txBody>
      </p:sp>
      <p:sp>
        <p:nvSpPr>
          <p:cNvPr id="17425" name="Rectangle 476"/>
          <p:cNvSpPr>
            <a:spLocks noChangeArrowheads="1"/>
          </p:cNvSpPr>
          <p:nvPr/>
        </p:nvSpPr>
        <p:spPr bwMode="auto">
          <a:xfrm>
            <a:off x="1795621" y="4899202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7426" name="Rectangle 477"/>
          <p:cNvSpPr>
            <a:spLocks noChangeArrowheads="1"/>
          </p:cNvSpPr>
          <p:nvPr/>
        </p:nvSpPr>
        <p:spPr bwMode="auto">
          <a:xfrm>
            <a:off x="1795621" y="5177015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7427" name="Rectangle 478"/>
          <p:cNvSpPr>
            <a:spLocks noChangeArrowheads="1"/>
          </p:cNvSpPr>
          <p:nvPr/>
        </p:nvSpPr>
        <p:spPr bwMode="auto">
          <a:xfrm>
            <a:off x="2080813" y="403020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y</a:t>
            </a:r>
          </a:p>
        </p:txBody>
      </p:sp>
      <p:sp>
        <p:nvSpPr>
          <p:cNvPr id="17428" name="Rectangle 479"/>
          <p:cNvSpPr>
            <a:spLocks noChangeArrowheads="1"/>
          </p:cNvSpPr>
          <p:nvPr/>
        </p:nvSpPr>
        <p:spPr bwMode="auto">
          <a:xfrm>
            <a:off x="2087721" y="4335640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 dirty="0"/>
          </a:p>
        </p:txBody>
      </p:sp>
      <p:sp>
        <p:nvSpPr>
          <p:cNvPr id="17429" name="Rectangle 480"/>
          <p:cNvSpPr>
            <a:spLocks noChangeArrowheads="1"/>
          </p:cNvSpPr>
          <p:nvPr/>
        </p:nvSpPr>
        <p:spPr bwMode="auto">
          <a:xfrm>
            <a:off x="2087721" y="4618215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7430" name="Rectangle 481"/>
          <p:cNvSpPr>
            <a:spLocks noChangeArrowheads="1"/>
          </p:cNvSpPr>
          <p:nvPr/>
        </p:nvSpPr>
        <p:spPr bwMode="auto">
          <a:xfrm>
            <a:off x="2087721" y="4899202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17431" name="Rectangle 482"/>
          <p:cNvSpPr>
            <a:spLocks noChangeArrowheads="1"/>
          </p:cNvSpPr>
          <p:nvPr/>
        </p:nvSpPr>
        <p:spPr bwMode="auto">
          <a:xfrm>
            <a:off x="2087721" y="5177015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7432" name="Rectangle 483"/>
          <p:cNvSpPr>
            <a:spLocks noChangeArrowheads="1"/>
          </p:cNvSpPr>
          <p:nvPr/>
        </p:nvSpPr>
        <p:spPr bwMode="auto">
          <a:xfrm>
            <a:off x="2551271" y="4057827"/>
            <a:ext cx="1410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F</a:t>
            </a:r>
          </a:p>
        </p:txBody>
      </p:sp>
      <p:sp>
        <p:nvSpPr>
          <p:cNvPr id="17433" name="Rectangle 484"/>
          <p:cNvSpPr>
            <a:spLocks noChangeArrowheads="1"/>
          </p:cNvSpPr>
          <p:nvPr/>
        </p:nvSpPr>
        <p:spPr bwMode="auto">
          <a:xfrm>
            <a:off x="2557621" y="4335640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7434" name="Rectangle 485"/>
          <p:cNvSpPr>
            <a:spLocks noChangeArrowheads="1"/>
          </p:cNvSpPr>
          <p:nvPr/>
        </p:nvSpPr>
        <p:spPr bwMode="auto">
          <a:xfrm>
            <a:off x="2557621" y="4618215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17435" name="Rectangle 486"/>
          <p:cNvSpPr>
            <a:spLocks noChangeArrowheads="1"/>
          </p:cNvSpPr>
          <p:nvPr/>
        </p:nvSpPr>
        <p:spPr bwMode="auto">
          <a:xfrm>
            <a:off x="2557621" y="4899202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17436" name="Rectangle 487"/>
          <p:cNvSpPr>
            <a:spLocks noChangeArrowheads="1"/>
          </p:cNvSpPr>
          <p:nvPr/>
        </p:nvSpPr>
        <p:spPr bwMode="auto">
          <a:xfrm>
            <a:off x="2557621" y="5177015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7437" name="Line 488"/>
          <p:cNvSpPr>
            <a:spLocks noChangeShapeType="1"/>
          </p:cNvSpPr>
          <p:nvPr/>
        </p:nvSpPr>
        <p:spPr bwMode="auto">
          <a:xfrm>
            <a:off x="1740058" y="4327702"/>
            <a:ext cx="1084263" cy="1588"/>
          </a:xfrm>
          <a:prstGeom prst="line">
            <a:avLst/>
          </a:prstGeom>
          <a:noFill/>
          <a:ln w="2381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7438" name="Line 489"/>
          <p:cNvSpPr>
            <a:spLocks noChangeShapeType="1"/>
          </p:cNvSpPr>
          <p:nvPr/>
        </p:nvSpPr>
        <p:spPr bwMode="auto">
          <a:xfrm>
            <a:off x="2379821" y="3960990"/>
            <a:ext cx="1587" cy="1603375"/>
          </a:xfrm>
          <a:prstGeom prst="line">
            <a:avLst/>
          </a:prstGeom>
          <a:noFill/>
          <a:ln w="2381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5" name="Group 540"/>
          <p:cNvGrpSpPr>
            <a:grpSpLocks/>
          </p:cNvGrpSpPr>
          <p:nvPr/>
        </p:nvGrpSpPr>
        <p:grpSpPr bwMode="auto">
          <a:xfrm>
            <a:off x="3821950" y="3733598"/>
            <a:ext cx="1776413" cy="1963738"/>
            <a:chOff x="978" y="1926"/>
            <a:chExt cx="1119" cy="1237"/>
          </a:xfrm>
        </p:grpSpPr>
        <p:sp>
          <p:nvSpPr>
            <p:cNvPr id="17507" name="Rectangle 349"/>
            <p:cNvSpPr>
              <a:spLocks noChangeArrowheads="1"/>
            </p:cNvSpPr>
            <p:nvPr/>
          </p:nvSpPr>
          <p:spPr bwMode="auto">
            <a:xfrm>
              <a:off x="1582" y="2302"/>
              <a:ext cx="404" cy="657"/>
            </a:xfrm>
            <a:prstGeom prst="rect">
              <a:avLst/>
            </a:prstGeom>
            <a:solidFill>
              <a:srgbClr val="D4E0F3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510" name="Line 492"/>
            <p:cNvSpPr>
              <a:spLocks noChangeShapeType="1"/>
            </p:cNvSpPr>
            <p:nvPr/>
          </p:nvSpPr>
          <p:spPr bwMode="auto">
            <a:xfrm>
              <a:off x="1052" y="2187"/>
              <a:ext cx="135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11" name="Freeform 493"/>
            <p:cNvSpPr>
              <a:spLocks/>
            </p:cNvSpPr>
            <p:nvPr/>
          </p:nvSpPr>
          <p:spPr bwMode="auto">
            <a:xfrm>
              <a:off x="1168" y="2156"/>
              <a:ext cx="123" cy="62"/>
            </a:xfrm>
            <a:custGeom>
              <a:avLst/>
              <a:gdLst>
                <a:gd name="T0" fmla="*/ 123 w 123"/>
                <a:gd name="T1" fmla="*/ 31 h 62"/>
                <a:gd name="T2" fmla="*/ 0 w 123"/>
                <a:gd name="T3" fmla="*/ 0 h 62"/>
                <a:gd name="T4" fmla="*/ 0 w 123"/>
                <a:gd name="T5" fmla="*/ 62 h 62"/>
                <a:gd name="T6" fmla="*/ 123 w 123"/>
                <a:gd name="T7" fmla="*/ 31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2"/>
                <a:gd name="T14" fmla="*/ 123 w 123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2">
                  <a:moveTo>
                    <a:pt x="123" y="31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516" name="Rectangle 498"/>
            <p:cNvSpPr>
              <a:spLocks noChangeArrowheads="1"/>
            </p:cNvSpPr>
            <p:nvPr/>
          </p:nvSpPr>
          <p:spPr bwMode="auto">
            <a:xfrm>
              <a:off x="1426" y="1962"/>
              <a:ext cx="12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4x</a:t>
              </a:r>
              <a:endParaRPr lang="en-US" altLang="en-US"/>
            </a:p>
          </p:txBody>
        </p:sp>
        <p:sp>
          <p:nvSpPr>
            <p:cNvPr id="17517" name="Rectangle 500"/>
            <p:cNvSpPr>
              <a:spLocks noChangeArrowheads="1"/>
            </p:cNvSpPr>
            <p:nvPr/>
          </p:nvSpPr>
          <p:spPr bwMode="auto">
            <a:xfrm>
              <a:off x="1562" y="1962"/>
              <a:ext cx="40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 Mem.</a:t>
              </a:r>
              <a:endParaRPr lang="en-US" altLang="en-US"/>
            </a:p>
          </p:txBody>
        </p:sp>
        <p:sp>
          <p:nvSpPr>
            <p:cNvPr id="17518" name="Rectangle 501"/>
            <p:cNvSpPr>
              <a:spLocks noChangeArrowheads="1"/>
            </p:cNvSpPr>
            <p:nvPr/>
          </p:nvSpPr>
          <p:spPr bwMode="auto">
            <a:xfrm>
              <a:off x="1298" y="1926"/>
              <a:ext cx="799" cy="1237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519" name="Line 502"/>
            <p:cNvSpPr>
              <a:spLocks noChangeShapeType="1"/>
            </p:cNvSpPr>
            <p:nvPr/>
          </p:nvSpPr>
          <p:spPr bwMode="auto">
            <a:xfrm>
              <a:off x="1582" y="2468"/>
              <a:ext cx="404" cy="1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20" name="Line 503"/>
            <p:cNvSpPr>
              <a:spLocks noChangeShapeType="1"/>
            </p:cNvSpPr>
            <p:nvPr/>
          </p:nvSpPr>
          <p:spPr bwMode="auto">
            <a:xfrm>
              <a:off x="1582" y="2633"/>
              <a:ext cx="404" cy="1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21" name="Line 504"/>
            <p:cNvSpPr>
              <a:spLocks noChangeShapeType="1"/>
            </p:cNvSpPr>
            <p:nvPr/>
          </p:nvSpPr>
          <p:spPr bwMode="auto">
            <a:xfrm>
              <a:off x="1582" y="2798"/>
              <a:ext cx="404" cy="1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522" name="Rectangle 509"/>
            <p:cNvSpPr>
              <a:spLocks noChangeArrowheads="1"/>
            </p:cNvSpPr>
            <p:nvPr/>
          </p:nvSpPr>
          <p:spPr bwMode="auto">
            <a:xfrm>
              <a:off x="1490" y="2312"/>
              <a:ext cx="126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7523" name="Rectangle 510"/>
            <p:cNvSpPr>
              <a:spLocks noChangeArrowheads="1"/>
            </p:cNvSpPr>
            <p:nvPr/>
          </p:nvSpPr>
          <p:spPr bwMode="auto">
            <a:xfrm>
              <a:off x="1490" y="2478"/>
              <a:ext cx="12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7524" name="Rectangle 511"/>
            <p:cNvSpPr>
              <a:spLocks noChangeArrowheads="1"/>
            </p:cNvSpPr>
            <p:nvPr/>
          </p:nvSpPr>
          <p:spPr bwMode="auto">
            <a:xfrm>
              <a:off x="1490" y="2642"/>
              <a:ext cx="12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/>
            </a:p>
          </p:txBody>
        </p:sp>
        <p:sp>
          <p:nvSpPr>
            <p:cNvPr id="17525" name="Rectangle 512"/>
            <p:cNvSpPr>
              <a:spLocks noChangeArrowheads="1"/>
            </p:cNvSpPr>
            <p:nvPr/>
          </p:nvSpPr>
          <p:spPr bwMode="auto">
            <a:xfrm>
              <a:off x="1490" y="2803"/>
              <a:ext cx="12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/>
            </a:p>
          </p:txBody>
        </p:sp>
        <p:sp>
          <p:nvSpPr>
            <p:cNvPr id="17526" name="Rectangle 513"/>
            <p:cNvSpPr>
              <a:spLocks noChangeArrowheads="1"/>
            </p:cNvSpPr>
            <p:nvPr/>
          </p:nvSpPr>
          <p:spPr bwMode="auto">
            <a:xfrm>
              <a:off x="1317" y="2108"/>
              <a:ext cx="1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rd</a:t>
              </a:r>
              <a:endParaRPr lang="en-US" altLang="en-US"/>
            </a:p>
          </p:txBody>
        </p:sp>
        <p:sp>
          <p:nvSpPr>
            <p:cNvPr id="17529" name="Rectangle 516"/>
            <p:cNvSpPr>
              <a:spLocks noChangeArrowheads="1"/>
            </p:cNvSpPr>
            <p:nvPr/>
          </p:nvSpPr>
          <p:spPr bwMode="auto">
            <a:xfrm>
              <a:off x="978" y="2107"/>
              <a:ext cx="12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</p:grpSp>
      <p:grpSp>
        <p:nvGrpSpPr>
          <p:cNvPr id="6" name="Group 531"/>
          <p:cNvGrpSpPr>
            <a:grpSpLocks/>
          </p:cNvGrpSpPr>
          <p:nvPr/>
        </p:nvGrpSpPr>
        <p:grpSpPr bwMode="auto">
          <a:xfrm>
            <a:off x="2896711" y="4346373"/>
            <a:ext cx="2543175" cy="1054100"/>
            <a:chOff x="274" y="2312"/>
            <a:chExt cx="1602" cy="664"/>
          </a:xfrm>
        </p:grpSpPr>
        <p:sp>
          <p:nvSpPr>
            <p:cNvPr id="17495" name="Freeform 393"/>
            <p:cNvSpPr>
              <a:spLocks/>
            </p:cNvSpPr>
            <p:nvPr/>
          </p:nvSpPr>
          <p:spPr bwMode="auto">
            <a:xfrm>
              <a:off x="1613" y="2352"/>
              <a:ext cx="123" cy="62"/>
            </a:xfrm>
            <a:custGeom>
              <a:avLst/>
              <a:gdLst>
                <a:gd name="T0" fmla="*/ 123 w 123"/>
                <a:gd name="T1" fmla="*/ 31 h 62"/>
                <a:gd name="T2" fmla="*/ 0 w 123"/>
                <a:gd name="T3" fmla="*/ 0 h 62"/>
                <a:gd name="T4" fmla="*/ 0 w 123"/>
                <a:gd name="T5" fmla="*/ 62 h 62"/>
                <a:gd name="T6" fmla="*/ 123 w 123"/>
                <a:gd name="T7" fmla="*/ 31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2"/>
                <a:gd name="T14" fmla="*/ 123 w 123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2">
                  <a:moveTo>
                    <a:pt x="123" y="31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499" name="Rectangle 505"/>
            <p:cNvSpPr>
              <a:spLocks noChangeArrowheads="1"/>
            </p:cNvSpPr>
            <p:nvPr/>
          </p:nvSpPr>
          <p:spPr bwMode="auto">
            <a:xfrm>
              <a:off x="1749" y="2312"/>
              <a:ext cx="127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7500" name="Rectangle 506"/>
            <p:cNvSpPr>
              <a:spLocks noChangeArrowheads="1"/>
            </p:cNvSpPr>
            <p:nvPr/>
          </p:nvSpPr>
          <p:spPr bwMode="auto">
            <a:xfrm>
              <a:off x="1749" y="2478"/>
              <a:ext cx="1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7501" name="Rectangle 507"/>
            <p:cNvSpPr>
              <a:spLocks noChangeArrowheads="1"/>
            </p:cNvSpPr>
            <p:nvPr/>
          </p:nvSpPr>
          <p:spPr bwMode="auto">
            <a:xfrm>
              <a:off x="1749" y="2642"/>
              <a:ext cx="1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7502" name="Rectangle 508"/>
            <p:cNvSpPr>
              <a:spLocks noChangeArrowheads="1"/>
            </p:cNvSpPr>
            <p:nvPr/>
          </p:nvSpPr>
          <p:spPr bwMode="auto">
            <a:xfrm>
              <a:off x="1749" y="2803"/>
              <a:ext cx="12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7503" name="Line 524"/>
            <p:cNvSpPr>
              <a:spLocks noChangeShapeType="1"/>
            </p:cNvSpPr>
            <p:nvPr/>
          </p:nvSpPr>
          <p:spPr bwMode="auto">
            <a:xfrm>
              <a:off x="274" y="2384"/>
              <a:ext cx="13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13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1468825" y="5721625"/>
                <a:ext cx="16267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825" y="5721625"/>
                <a:ext cx="1626727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2996" r="-2622" b="-3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rapezoid 1"/>
          <p:cNvSpPr/>
          <p:nvPr/>
        </p:nvSpPr>
        <p:spPr>
          <a:xfrm rot="5400000">
            <a:off x="6026564" y="4500661"/>
            <a:ext cx="1292386" cy="672054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Line 490"/>
          <p:cNvSpPr>
            <a:spLocks noChangeShapeType="1"/>
          </p:cNvSpPr>
          <p:nvPr/>
        </p:nvSpPr>
        <p:spPr bwMode="auto">
          <a:xfrm rot="5400000">
            <a:off x="7114353" y="4692534"/>
            <a:ext cx="1588" cy="212725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" name="Freeform 491"/>
          <p:cNvSpPr>
            <a:spLocks/>
          </p:cNvSpPr>
          <p:nvPr/>
        </p:nvSpPr>
        <p:spPr bwMode="auto">
          <a:xfrm rot="16200000">
            <a:off x="7240255" y="4707501"/>
            <a:ext cx="96838" cy="195263"/>
          </a:xfrm>
          <a:custGeom>
            <a:avLst/>
            <a:gdLst>
              <a:gd name="T0" fmla="*/ 31 w 61"/>
              <a:gd name="T1" fmla="*/ 123 h 123"/>
              <a:gd name="T2" fmla="*/ 61 w 61"/>
              <a:gd name="T3" fmla="*/ 0 h 123"/>
              <a:gd name="T4" fmla="*/ 0 w 61"/>
              <a:gd name="T5" fmla="*/ 0 h 123"/>
              <a:gd name="T6" fmla="*/ 31 w 61"/>
              <a:gd name="T7" fmla="*/ 123 h 123"/>
              <a:gd name="T8" fmla="*/ 0 60000 65536"/>
              <a:gd name="T9" fmla="*/ 0 60000 65536"/>
              <a:gd name="T10" fmla="*/ 0 60000 65536"/>
              <a:gd name="T11" fmla="*/ 0 60000 65536"/>
              <a:gd name="T12" fmla="*/ 0 w 61"/>
              <a:gd name="T13" fmla="*/ 0 h 123"/>
              <a:gd name="T14" fmla="*/ 61 w 61"/>
              <a:gd name="T15" fmla="*/ 123 h 1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" h="123">
                <a:moveTo>
                  <a:pt x="31" y="123"/>
                </a:moveTo>
                <a:lnTo>
                  <a:pt x="61" y="0"/>
                </a:lnTo>
                <a:lnTo>
                  <a:pt x="0" y="0"/>
                </a:lnTo>
                <a:lnTo>
                  <a:pt x="31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2" name="Rectangle 520"/>
          <p:cNvSpPr>
            <a:spLocks noChangeArrowheads="1"/>
          </p:cNvSpPr>
          <p:nvPr/>
        </p:nvSpPr>
        <p:spPr bwMode="auto">
          <a:xfrm>
            <a:off x="7440542" y="4704508"/>
            <a:ext cx="21272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 dirty="0">
                <a:solidFill>
                  <a:srgbClr val="000000"/>
                </a:solidFill>
                <a:latin typeface="Helvetica" pitchFamily="34" charset="0"/>
              </a:rPr>
              <a:t>F</a:t>
            </a:r>
            <a:endParaRPr lang="en-US" alt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598363" y="4409873"/>
            <a:ext cx="73836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5598363" y="4714673"/>
            <a:ext cx="73836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5598363" y="4968673"/>
            <a:ext cx="73836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5598363" y="5260772"/>
            <a:ext cx="73836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 rot="16200000">
            <a:off x="6355590" y="5554938"/>
            <a:ext cx="379413" cy="98425"/>
            <a:chOff x="6933969" y="5810120"/>
            <a:chExt cx="379413" cy="98425"/>
          </a:xfrm>
        </p:grpSpPr>
        <p:sp>
          <p:nvSpPr>
            <p:cNvPr id="82" name="Line 496"/>
            <p:cNvSpPr>
              <a:spLocks noChangeShapeType="1"/>
            </p:cNvSpPr>
            <p:nvPr/>
          </p:nvSpPr>
          <p:spPr bwMode="auto">
            <a:xfrm>
              <a:off x="6933969" y="5859332"/>
              <a:ext cx="214313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497"/>
            <p:cNvSpPr>
              <a:spLocks/>
            </p:cNvSpPr>
            <p:nvPr/>
          </p:nvSpPr>
          <p:spPr bwMode="auto">
            <a:xfrm>
              <a:off x="7118119" y="5810120"/>
              <a:ext cx="195263" cy="98425"/>
            </a:xfrm>
            <a:custGeom>
              <a:avLst/>
              <a:gdLst>
                <a:gd name="T0" fmla="*/ 123 w 123"/>
                <a:gd name="T1" fmla="*/ 31 h 62"/>
                <a:gd name="T2" fmla="*/ 0 w 123"/>
                <a:gd name="T3" fmla="*/ 0 h 62"/>
                <a:gd name="T4" fmla="*/ 0 w 123"/>
                <a:gd name="T5" fmla="*/ 62 h 62"/>
                <a:gd name="T6" fmla="*/ 123 w 123"/>
                <a:gd name="T7" fmla="*/ 31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2"/>
                <a:gd name="T14" fmla="*/ 123 w 123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2">
                  <a:moveTo>
                    <a:pt x="123" y="31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1" name="Group 10"/>
          <p:cNvGrpSpPr/>
          <p:nvPr/>
        </p:nvGrpSpPr>
        <p:grpSpPr>
          <a:xfrm rot="16200000">
            <a:off x="6631985" y="5503006"/>
            <a:ext cx="379413" cy="96838"/>
            <a:chOff x="6933969" y="5633907"/>
            <a:chExt cx="379413" cy="96838"/>
          </a:xfrm>
        </p:grpSpPr>
        <p:sp>
          <p:nvSpPr>
            <p:cNvPr id="80" name="Line 494"/>
            <p:cNvSpPr>
              <a:spLocks noChangeShapeType="1"/>
            </p:cNvSpPr>
            <p:nvPr/>
          </p:nvSpPr>
          <p:spPr bwMode="auto">
            <a:xfrm>
              <a:off x="6933969" y="5683120"/>
              <a:ext cx="214313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495"/>
            <p:cNvSpPr>
              <a:spLocks/>
            </p:cNvSpPr>
            <p:nvPr/>
          </p:nvSpPr>
          <p:spPr bwMode="auto">
            <a:xfrm>
              <a:off x="7118119" y="5633907"/>
              <a:ext cx="195263" cy="96838"/>
            </a:xfrm>
            <a:custGeom>
              <a:avLst/>
              <a:gdLst>
                <a:gd name="T0" fmla="*/ 123 w 123"/>
                <a:gd name="T1" fmla="*/ 31 h 61"/>
                <a:gd name="T2" fmla="*/ 0 w 123"/>
                <a:gd name="T3" fmla="*/ 0 h 61"/>
                <a:gd name="T4" fmla="*/ 0 w 123"/>
                <a:gd name="T5" fmla="*/ 61 h 61"/>
                <a:gd name="T6" fmla="*/ 123 w 123"/>
                <a:gd name="T7" fmla="*/ 31 h 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1"/>
                <a:gd name="T14" fmla="*/ 123 w 123"/>
                <a:gd name="T15" fmla="*/ 61 h 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1">
                  <a:moveTo>
                    <a:pt x="123" y="31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90" name="Freeform 393"/>
          <p:cNvSpPr>
            <a:spLocks/>
          </p:cNvSpPr>
          <p:nvPr/>
        </p:nvSpPr>
        <p:spPr bwMode="auto">
          <a:xfrm>
            <a:off x="6134965" y="4356927"/>
            <a:ext cx="195263" cy="98425"/>
          </a:xfrm>
          <a:custGeom>
            <a:avLst/>
            <a:gdLst>
              <a:gd name="T0" fmla="*/ 123 w 123"/>
              <a:gd name="T1" fmla="*/ 31 h 62"/>
              <a:gd name="T2" fmla="*/ 0 w 123"/>
              <a:gd name="T3" fmla="*/ 0 h 62"/>
              <a:gd name="T4" fmla="*/ 0 w 123"/>
              <a:gd name="T5" fmla="*/ 62 h 62"/>
              <a:gd name="T6" fmla="*/ 123 w 123"/>
              <a:gd name="T7" fmla="*/ 31 h 62"/>
              <a:gd name="T8" fmla="*/ 0 60000 65536"/>
              <a:gd name="T9" fmla="*/ 0 60000 65536"/>
              <a:gd name="T10" fmla="*/ 0 60000 65536"/>
              <a:gd name="T11" fmla="*/ 0 60000 65536"/>
              <a:gd name="T12" fmla="*/ 0 w 123"/>
              <a:gd name="T13" fmla="*/ 0 h 62"/>
              <a:gd name="T14" fmla="*/ 123 w 123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3" h="62">
                <a:moveTo>
                  <a:pt x="123" y="31"/>
                </a:moveTo>
                <a:lnTo>
                  <a:pt x="0" y="0"/>
                </a:lnTo>
                <a:lnTo>
                  <a:pt x="0" y="62"/>
                </a:lnTo>
                <a:lnTo>
                  <a:pt x="123" y="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1" name="Freeform 393"/>
          <p:cNvSpPr>
            <a:spLocks/>
          </p:cNvSpPr>
          <p:nvPr/>
        </p:nvSpPr>
        <p:spPr bwMode="auto">
          <a:xfrm>
            <a:off x="6120000" y="4662000"/>
            <a:ext cx="195263" cy="98425"/>
          </a:xfrm>
          <a:custGeom>
            <a:avLst/>
            <a:gdLst>
              <a:gd name="T0" fmla="*/ 123 w 123"/>
              <a:gd name="T1" fmla="*/ 31 h 62"/>
              <a:gd name="T2" fmla="*/ 0 w 123"/>
              <a:gd name="T3" fmla="*/ 0 h 62"/>
              <a:gd name="T4" fmla="*/ 0 w 123"/>
              <a:gd name="T5" fmla="*/ 62 h 62"/>
              <a:gd name="T6" fmla="*/ 123 w 123"/>
              <a:gd name="T7" fmla="*/ 31 h 62"/>
              <a:gd name="T8" fmla="*/ 0 60000 65536"/>
              <a:gd name="T9" fmla="*/ 0 60000 65536"/>
              <a:gd name="T10" fmla="*/ 0 60000 65536"/>
              <a:gd name="T11" fmla="*/ 0 60000 65536"/>
              <a:gd name="T12" fmla="*/ 0 w 123"/>
              <a:gd name="T13" fmla="*/ 0 h 62"/>
              <a:gd name="T14" fmla="*/ 123 w 123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3" h="62">
                <a:moveTo>
                  <a:pt x="123" y="31"/>
                </a:moveTo>
                <a:lnTo>
                  <a:pt x="0" y="0"/>
                </a:lnTo>
                <a:lnTo>
                  <a:pt x="0" y="62"/>
                </a:lnTo>
                <a:lnTo>
                  <a:pt x="123" y="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2" name="Freeform 393"/>
          <p:cNvSpPr>
            <a:spLocks/>
          </p:cNvSpPr>
          <p:nvPr/>
        </p:nvSpPr>
        <p:spPr bwMode="auto">
          <a:xfrm>
            <a:off x="6138216" y="4914000"/>
            <a:ext cx="195263" cy="98425"/>
          </a:xfrm>
          <a:custGeom>
            <a:avLst/>
            <a:gdLst>
              <a:gd name="T0" fmla="*/ 123 w 123"/>
              <a:gd name="T1" fmla="*/ 31 h 62"/>
              <a:gd name="T2" fmla="*/ 0 w 123"/>
              <a:gd name="T3" fmla="*/ 0 h 62"/>
              <a:gd name="T4" fmla="*/ 0 w 123"/>
              <a:gd name="T5" fmla="*/ 62 h 62"/>
              <a:gd name="T6" fmla="*/ 123 w 123"/>
              <a:gd name="T7" fmla="*/ 31 h 62"/>
              <a:gd name="T8" fmla="*/ 0 60000 65536"/>
              <a:gd name="T9" fmla="*/ 0 60000 65536"/>
              <a:gd name="T10" fmla="*/ 0 60000 65536"/>
              <a:gd name="T11" fmla="*/ 0 60000 65536"/>
              <a:gd name="T12" fmla="*/ 0 w 123"/>
              <a:gd name="T13" fmla="*/ 0 h 62"/>
              <a:gd name="T14" fmla="*/ 123 w 123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3" h="62">
                <a:moveTo>
                  <a:pt x="123" y="31"/>
                </a:moveTo>
                <a:lnTo>
                  <a:pt x="0" y="0"/>
                </a:lnTo>
                <a:lnTo>
                  <a:pt x="0" y="62"/>
                </a:lnTo>
                <a:lnTo>
                  <a:pt x="123" y="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3" name="Freeform 393"/>
          <p:cNvSpPr>
            <a:spLocks/>
          </p:cNvSpPr>
          <p:nvPr/>
        </p:nvSpPr>
        <p:spPr bwMode="auto">
          <a:xfrm>
            <a:off x="6165375" y="5211559"/>
            <a:ext cx="195263" cy="98425"/>
          </a:xfrm>
          <a:custGeom>
            <a:avLst/>
            <a:gdLst>
              <a:gd name="T0" fmla="*/ 123 w 123"/>
              <a:gd name="T1" fmla="*/ 31 h 62"/>
              <a:gd name="T2" fmla="*/ 0 w 123"/>
              <a:gd name="T3" fmla="*/ 0 h 62"/>
              <a:gd name="T4" fmla="*/ 0 w 123"/>
              <a:gd name="T5" fmla="*/ 62 h 62"/>
              <a:gd name="T6" fmla="*/ 123 w 123"/>
              <a:gd name="T7" fmla="*/ 31 h 62"/>
              <a:gd name="T8" fmla="*/ 0 60000 65536"/>
              <a:gd name="T9" fmla="*/ 0 60000 65536"/>
              <a:gd name="T10" fmla="*/ 0 60000 65536"/>
              <a:gd name="T11" fmla="*/ 0 60000 65536"/>
              <a:gd name="T12" fmla="*/ 0 w 123"/>
              <a:gd name="T13" fmla="*/ 0 h 62"/>
              <a:gd name="T14" fmla="*/ 123 w 123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3" h="62">
                <a:moveTo>
                  <a:pt x="123" y="31"/>
                </a:moveTo>
                <a:lnTo>
                  <a:pt x="0" y="0"/>
                </a:lnTo>
                <a:lnTo>
                  <a:pt x="0" y="62"/>
                </a:lnTo>
                <a:lnTo>
                  <a:pt x="123" y="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402613" y="5710565"/>
            <a:ext cx="279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81998" y="5633975"/>
            <a:ext cx="279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5439887" y="3790748"/>
            <a:ext cx="1056336" cy="4994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52060" y="3613268"/>
            <a:ext cx="149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SRAM cells</a:t>
            </a:r>
          </a:p>
        </p:txBody>
      </p:sp>
      <p:sp>
        <p:nvSpPr>
          <p:cNvPr id="99" name="Left-Right Arrow 98"/>
          <p:cNvSpPr/>
          <p:nvPr/>
        </p:nvSpPr>
        <p:spPr bwMode="auto">
          <a:xfrm>
            <a:off x="3189824" y="4686098"/>
            <a:ext cx="695325" cy="331788"/>
          </a:xfrm>
          <a:prstGeom prst="left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60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2141"/>
    </mc:Choice>
    <mc:Fallback xmlns="">
      <p:transition spd="slow" advTm="1721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FPGA Look up Tables (LUTs)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14</a:t>
            </a:fld>
            <a:endParaRPr lang="de-DE" dirty="0"/>
          </a:p>
        </p:txBody>
      </p:sp>
      <p:grpSp>
        <p:nvGrpSpPr>
          <p:cNvPr id="7" name="Group 551"/>
          <p:cNvGrpSpPr>
            <a:grpSpLocks/>
          </p:cNvGrpSpPr>
          <p:nvPr/>
        </p:nvGrpSpPr>
        <p:grpSpPr bwMode="auto">
          <a:xfrm>
            <a:off x="6603062" y="2819804"/>
            <a:ext cx="1776413" cy="2908300"/>
            <a:chOff x="4472" y="1926"/>
            <a:chExt cx="1119" cy="1832"/>
          </a:xfrm>
        </p:grpSpPr>
        <p:sp>
          <p:nvSpPr>
            <p:cNvPr id="8" name="Line 350"/>
            <p:cNvSpPr>
              <a:spLocks noChangeShapeType="1"/>
            </p:cNvSpPr>
            <p:nvPr/>
          </p:nvSpPr>
          <p:spPr bwMode="auto">
            <a:xfrm>
              <a:off x="5192" y="3163"/>
              <a:ext cx="1" cy="13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351"/>
            <p:cNvSpPr>
              <a:spLocks/>
            </p:cNvSpPr>
            <p:nvPr/>
          </p:nvSpPr>
          <p:spPr bwMode="auto">
            <a:xfrm>
              <a:off x="5161" y="3255"/>
              <a:ext cx="62" cy="123"/>
            </a:xfrm>
            <a:custGeom>
              <a:avLst/>
              <a:gdLst>
                <a:gd name="T0" fmla="*/ 31 w 62"/>
                <a:gd name="T1" fmla="*/ 123 h 123"/>
                <a:gd name="T2" fmla="*/ 62 w 62"/>
                <a:gd name="T3" fmla="*/ 0 h 123"/>
                <a:gd name="T4" fmla="*/ 0 w 62"/>
                <a:gd name="T5" fmla="*/ 0 h 123"/>
                <a:gd name="T6" fmla="*/ 31 w 62"/>
                <a:gd name="T7" fmla="*/ 123 h 1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"/>
                <a:gd name="T13" fmla="*/ 0 h 123"/>
                <a:gd name="T14" fmla="*/ 62 w 62"/>
                <a:gd name="T15" fmla="*/ 123 h 1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" h="123">
                  <a:moveTo>
                    <a:pt x="31" y="123"/>
                  </a:moveTo>
                  <a:lnTo>
                    <a:pt x="62" y="0"/>
                  </a:lnTo>
                  <a:lnTo>
                    <a:pt x="0" y="0"/>
                  </a:lnTo>
                  <a:lnTo>
                    <a:pt x="31" y="1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Line 352"/>
            <p:cNvSpPr>
              <a:spLocks noChangeShapeType="1"/>
            </p:cNvSpPr>
            <p:nvPr/>
          </p:nvSpPr>
          <p:spPr bwMode="auto">
            <a:xfrm>
              <a:off x="5384" y="3163"/>
              <a:ext cx="1" cy="134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353"/>
            <p:cNvSpPr>
              <a:spLocks/>
            </p:cNvSpPr>
            <p:nvPr/>
          </p:nvSpPr>
          <p:spPr bwMode="auto">
            <a:xfrm>
              <a:off x="5353" y="3255"/>
              <a:ext cx="62" cy="123"/>
            </a:xfrm>
            <a:custGeom>
              <a:avLst/>
              <a:gdLst>
                <a:gd name="T0" fmla="*/ 31 w 62"/>
                <a:gd name="T1" fmla="*/ 123 h 123"/>
                <a:gd name="T2" fmla="*/ 62 w 62"/>
                <a:gd name="T3" fmla="*/ 0 h 123"/>
                <a:gd name="T4" fmla="*/ 0 w 62"/>
                <a:gd name="T5" fmla="*/ 0 h 123"/>
                <a:gd name="T6" fmla="*/ 31 w 62"/>
                <a:gd name="T7" fmla="*/ 123 h 1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"/>
                <a:gd name="T13" fmla="*/ 0 h 123"/>
                <a:gd name="T14" fmla="*/ 62 w 62"/>
                <a:gd name="T15" fmla="*/ 123 h 1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" h="123">
                  <a:moveTo>
                    <a:pt x="31" y="123"/>
                  </a:moveTo>
                  <a:lnTo>
                    <a:pt x="62" y="0"/>
                  </a:lnTo>
                  <a:lnTo>
                    <a:pt x="0" y="0"/>
                  </a:lnTo>
                  <a:lnTo>
                    <a:pt x="31" y="1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Line 354"/>
            <p:cNvSpPr>
              <a:spLocks noChangeShapeType="1"/>
            </p:cNvSpPr>
            <p:nvPr/>
          </p:nvSpPr>
          <p:spPr bwMode="auto">
            <a:xfrm>
              <a:off x="4547" y="2337"/>
              <a:ext cx="134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355"/>
            <p:cNvSpPr>
              <a:spLocks/>
            </p:cNvSpPr>
            <p:nvPr/>
          </p:nvSpPr>
          <p:spPr bwMode="auto">
            <a:xfrm>
              <a:off x="4662" y="2306"/>
              <a:ext cx="123" cy="62"/>
            </a:xfrm>
            <a:custGeom>
              <a:avLst/>
              <a:gdLst>
                <a:gd name="T0" fmla="*/ 123 w 123"/>
                <a:gd name="T1" fmla="*/ 31 h 62"/>
                <a:gd name="T2" fmla="*/ 0 w 123"/>
                <a:gd name="T3" fmla="*/ 0 h 62"/>
                <a:gd name="T4" fmla="*/ 0 w 123"/>
                <a:gd name="T5" fmla="*/ 62 h 62"/>
                <a:gd name="T6" fmla="*/ 123 w 123"/>
                <a:gd name="T7" fmla="*/ 31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2"/>
                <a:gd name="T14" fmla="*/ 123 w 123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2">
                  <a:moveTo>
                    <a:pt x="123" y="31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Line 356"/>
            <p:cNvSpPr>
              <a:spLocks noChangeShapeType="1"/>
            </p:cNvSpPr>
            <p:nvPr/>
          </p:nvSpPr>
          <p:spPr bwMode="auto">
            <a:xfrm>
              <a:off x="4547" y="2971"/>
              <a:ext cx="134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357"/>
            <p:cNvSpPr>
              <a:spLocks/>
            </p:cNvSpPr>
            <p:nvPr/>
          </p:nvSpPr>
          <p:spPr bwMode="auto">
            <a:xfrm>
              <a:off x="4662" y="2940"/>
              <a:ext cx="123" cy="61"/>
            </a:xfrm>
            <a:custGeom>
              <a:avLst/>
              <a:gdLst>
                <a:gd name="T0" fmla="*/ 123 w 123"/>
                <a:gd name="T1" fmla="*/ 31 h 61"/>
                <a:gd name="T2" fmla="*/ 0 w 123"/>
                <a:gd name="T3" fmla="*/ 0 h 61"/>
                <a:gd name="T4" fmla="*/ 0 w 123"/>
                <a:gd name="T5" fmla="*/ 61 h 61"/>
                <a:gd name="T6" fmla="*/ 123 w 123"/>
                <a:gd name="T7" fmla="*/ 31 h 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1"/>
                <a:gd name="T14" fmla="*/ 123 w 123"/>
                <a:gd name="T15" fmla="*/ 61 h 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1">
                  <a:moveTo>
                    <a:pt x="123" y="31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" name="Line 358"/>
            <p:cNvSpPr>
              <a:spLocks noChangeShapeType="1"/>
            </p:cNvSpPr>
            <p:nvPr/>
          </p:nvSpPr>
          <p:spPr bwMode="auto">
            <a:xfrm>
              <a:off x="4547" y="3082"/>
              <a:ext cx="134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359"/>
            <p:cNvSpPr>
              <a:spLocks/>
            </p:cNvSpPr>
            <p:nvPr/>
          </p:nvSpPr>
          <p:spPr bwMode="auto">
            <a:xfrm>
              <a:off x="4662" y="3051"/>
              <a:ext cx="123" cy="62"/>
            </a:xfrm>
            <a:custGeom>
              <a:avLst/>
              <a:gdLst>
                <a:gd name="T0" fmla="*/ 123 w 123"/>
                <a:gd name="T1" fmla="*/ 31 h 62"/>
                <a:gd name="T2" fmla="*/ 0 w 123"/>
                <a:gd name="T3" fmla="*/ 0 h 62"/>
                <a:gd name="T4" fmla="*/ 0 w 123"/>
                <a:gd name="T5" fmla="*/ 62 h 62"/>
                <a:gd name="T6" fmla="*/ 123 w 123"/>
                <a:gd name="T7" fmla="*/ 31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2"/>
                <a:gd name="T14" fmla="*/ 123 w 123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2">
                  <a:moveTo>
                    <a:pt x="123" y="31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Rectangle 360"/>
            <p:cNvSpPr>
              <a:spLocks noChangeArrowheads="1"/>
            </p:cNvSpPr>
            <p:nvPr/>
          </p:nvSpPr>
          <p:spPr bwMode="auto">
            <a:xfrm>
              <a:off x="4921" y="1962"/>
              <a:ext cx="12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4x</a:t>
              </a:r>
              <a:endParaRPr lang="en-US" altLang="en-US"/>
            </a:p>
          </p:txBody>
        </p:sp>
        <p:sp>
          <p:nvSpPr>
            <p:cNvPr id="19" name="Rectangle 362"/>
            <p:cNvSpPr>
              <a:spLocks noChangeArrowheads="1"/>
            </p:cNvSpPr>
            <p:nvPr/>
          </p:nvSpPr>
          <p:spPr bwMode="auto">
            <a:xfrm>
              <a:off x="5056" y="1962"/>
              <a:ext cx="40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2 Mem.</a:t>
              </a:r>
              <a:endParaRPr lang="en-US" altLang="en-US"/>
            </a:p>
          </p:txBody>
        </p:sp>
        <p:sp>
          <p:nvSpPr>
            <p:cNvPr id="20" name="Rectangle 363"/>
            <p:cNvSpPr>
              <a:spLocks noChangeArrowheads="1"/>
            </p:cNvSpPr>
            <p:nvPr/>
          </p:nvSpPr>
          <p:spPr bwMode="auto">
            <a:xfrm>
              <a:off x="4793" y="1926"/>
              <a:ext cx="798" cy="1237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1" name="Rectangle 364"/>
            <p:cNvSpPr>
              <a:spLocks noChangeArrowheads="1"/>
            </p:cNvSpPr>
            <p:nvPr/>
          </p:nvSpPr>
          <p:spPr bwMode="auto">
            <a:xfrm>
              <a:off x="5077" y="2302"/>
              <a:ext cx="403" cy="657"/>
            </a:xfrm>
            <a:prstGeom prst="rect">
              <a:avLst/>
            </a:prstGeom>
            <a:solidFill>
              <a:srgbClr val="D4E0F3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" name="Line 365"/>
            <p:cNvSpPr>
              <a:spLocks noChangeShapeType="1"/>
            </p:cNvSpPr>
            <p:nvPr/>
          </p:nvSpPr>
          <p:spPr bwMode="auto">
            <a:xfrm>
              <a:off x="5077" y="2468"/>
              <a:ext cx="403" cy="1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Line 366"/>
            <p:cNvSpPr>
              <a:spLocks noChangeShapeType="1"/>
            </p:cNvSpPr>
            <p:nvPr/>
          </p:nvSpPr>
          <p:spPr bwMode="auto">
            <a:xfrm>
              <a:off x="5077" y="2633"/>
              <a:ext cx="403" cy="1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Line 367"/>
            <p:cNvSpPr>
              <a:spLocks noChangeShapeType="1"/>
            </p:cNvSpPr>
            <p:nvPr/>
          </p:nvSpPr>
          <p:spPr bwMode="auto">
            <a:xfrm>
              <a:off x="5077" y="2798"/>
              <a:ext cx="403" cy="1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Rectangle 372"/>
            <p:cNvSpPr>
              <a:spLocks noChangeArrowheads="1"/>
            </p:cNvSpPr>
            <p:nvPr/>
          </p:nvSpPr>
          <p:spPr bwMode="auto">
            <a:xfrm>
              <a:off x="4984" y="231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6" name="Rectangle 373"/>
            <p:cNvSpPr>
              <a:spLocks noChangeArrowheads="1"/>
            </p:cNvSpPr>
            <p:nvPr/>
          </p:nvSpPr>
          <p:spPr bwMode="auto">
            <a:xfrm>
              <a:off x="4984" y="2478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7" name="Rectangle 374"/>
            <p:cNvSpPr>
              <a:spLocks noChangeArrowheads="1"/>
            </p:cNvSpPr>
            <p:nvPr/>
          </p:nvSpPr>
          <p:spPr bwMode="auto">
            <a:xfrm>
              <a:off x="4984" y="264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/>
            </a:p>
          </p:txBody>
        </p:sp>
        <p:sp>
          <p:nvSpPr>
            <p:cNvPr id="28" name="Rectangle 375"/>
            <p:cNvSpPr>
              <a:spLocks noChangeArrowheads="1"/>
            </p:cNvSpPr>
            <p:nvPr/>
          </p:nvSpPr>
          <p:spPr bwMode="auto">
            <a:xfrm>
              <a:off x="4984" y="280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/>
            </a:p>
          </p:txBody>
        </p:sp>
        <p:sp>
          <p:nvSpPr>
            <p:cNvPr id="29" name="Rectangle 376"/>
            <p:cNvSpPr>
              <a:spLocks noChangeArrowheads="1"/>
            </p:cNvSpPr>
            <p:nvPr/>
          </p:nvSpPr>
          <p:spPr bwMode="auto">
            <a:xfrm>
              <a:off x="4812" y="2258"/>
              <a:ext cx="1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rd</a:t>
              </a:r>
              <a:endParaRPr lang="en-US" altLang="en-US"/>
            </a:p>
          </p:txBody>
        </p:sp>
        <p:sp>
          <p:nvSpPr>
            <p:cNvPr id="30" name="Rectangle 377"/>
            <p:cNvSpPr>
              <a:spLocks noChangeArrowheads="1"/>
            </p:cNvSpPr>
            <p:nvPr/>
          </p:nvSpPr>
          <p:spPr bwMode="auto">
            <a:xfrm>
              <a:off x="4812" y="2888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a1</a:t>
              </a:r>
              <a:endParaRPr lang="en-US" altLang="en-US"/>
            </a:p>
          </p:txBody>
        </p:sp>
        <p:sp>
          <p:nvSpPr>
            <p:cNvPr id="31" name="Rectangle 378"/>
            <p:cNvSpPr>
              <a:spLocks noChangeArrowheads="1"/>
            </p:cNvSpPr>
            <p:nvPr/>
          </p:nvSpPr>
          <p:spPr bwMode="auto">
            <a:xfrm>
              <a:off x="4812" y="2998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a0</a:t>
              </a:r>
              <a:endParaRPr lang="en-US" altLang="en-US"/>
            </a:p>
          </p:txBody>
        </p:sp>
        <p:sp>
          <p:nvSpPr>
            <p:cNvPr id="32" name="Rectangle 379"/>
            <p:cNvSpPr>
              <a:spLocks noChangeArrowheads="1"/>
            </p:cNvSpPr>
            <p:nvPr/>
          </p:nvSpPr>
          <p:spPr bwMode="auto">
            <a:xfrm>
              <a:off x="4472" y="2255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33" name="Rectangle 380"/>
            <p:cNvSpPr>
              <a:spLocks noChangeArrowheads="1"/>
            </p:cNvSpPr>
            <p:nvPr/>
          </p:nvSpPr>
          <p:spPr bwMode="auto">
            <a:xfrm>
              <a:off x="4479" y="2893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altLang="en-US"/>
            </a:p>
          </p:txBody>
        </p:sp>
        <p:sp>
          <p:nvSpPr>
            <p:cNvPr id="34" name="Rectangle 381"/>
            <p:cNvSpPr>
              <a:spLocks noChangeArrowheads="1"/>
            </p:cNvSpPr>
            <p:nvPr/>
          </p:nvSpPr>
          <p:spPr bwMode="auto">
            <a:xfrm>
              <a:off x="4479" y="3000"/>
              <a:ext cx="6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y</a:t>
              </a:r>
              <a:endParaRPr lang="en-US" altLang="en-US"/>
            </a:p>
          </p:txBody>
        </p:sp>
        <p:sp>
          <p:nvSpPr>
            <p:cNvPr id="35" name="Rectangle 382"/>
            <p:cNvSpPr>
              <a:spLocks noChangeArrowheads="1"/>
            </p:cNvSpPr>
            <p:nvPr/>
          </p:nvSpPr>
          <p:spPr bwMode="auto">
            <a:xfrm>
              <a:off x="5116" y="3016"/>
              <a:ext cx="15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D1</a:t>
              </a:r>
              <a:endParaRPr lang="en-US" altLang="en-US"/>
            </a:p>
          </p:txBody>
        </p:sp>
        <p:sp>
          <p:nvSpPr>
            <p:cNvPr id="36" name="Rectangle 383"/>
            <p:cNvSpPr>
              <a:spLocks noChangeArrowheads="1"/>
            </p:cNvSpPr>
            <p:nvPr/>
          </p:nvSpPr>
          <p:spPr bwMode="auto">
            <a:xfrm>
              <a:off x="5304" y="3016"/>
              <a:ext cx="15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D0</a:t>
              </a:r>
              <a:endParaRPr lang="en-US" altLang="en-US"/>
            </a:p>
          </p:txBody>
        </p:sp>
        <p:sp>
          <p:nvSpPr>
            <p:cNvPr id="39" name="Rectangle 386"/>
            <p:cNvSpPr>
              <a:spLocks noChangeArrowheads="1"/>
            </p:cNvSpPr>
            <p:nvPr/>
          </p:nvSpPr>
          <p:spPr bwMode="auto">
            <a:xfrm>
              <a:off x="5233" y="3613"/>
              <a:ext cx="15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dirty="0">
                  <a:solidFill>
                    <a:srgbClr val="000000"/>
                  </a:solidFill>
                  <a:latin typeface="Helvetica" pitchFamily="34" charset="0"/>
                </a:rPr>
                <a:t>(</a:t>
              </a:r>
              <a:r>
                <a:rPr lang="en-US" altLang="en-US" sz="1500" b="1" dirty="0">
                  <a:solidFill>
                    <a:srgbClr val="000000"/>
                  </a:solidFill>
                  <a:latin typeface="Helvetica" pitchFamily="34" charset="0"/>
                </a:rPr>
                <a:t>b</a:t>
              </a:r>
              <a:r>
                <a:rPr lang="en-US" altLang="en-US" sz="1500" dirty="0">
                  <a:solidFill>
                    <a:srgbClr val="000000"/>
                  </a:solidFill>
                  <a:latin typeface="Helvetica" pitchFamily="34" charset="0"/>
                </a:rPr>
                <a:t>)</a:t>
              </a:r>
              <a:endParaRPr lang="en-US" altLang="en-US" dirty="0"/>
            </a:p>
          </p:txBody>
        </p:sp>
      </p:grpSp>
      <p:grpSp>
        <p:nvGrpSpPr>
          <p:cNvPr id="70" name="Group 550"/>
          <p:cNvGrpSpPr>
            <a:grpSpLocks/>
          </p:cNvGrpSpPr>
          <p:nvPr/>
        </p:nvGrpSpPr>
        <p:grpSpPr bwMode="auto">
          <a:xfrm>
            <a:off x="7774637" y="3432578"/>
            <a:ext cx="212725" cy="1008063"/>
            <a:chOff x="5210" y="2312"/>
            <a:chExt cx="134" cy="635"/>
          </a:xfrm>
        </p:grpSpPr>
        <p:sp>
          <p:nvSpPr>
            <p:cNvPr id="71" name="Rectangle 368"/>
            <p:cNvSpPr>
              <a:spLocks noChangeArrowheads="1"/>
            </p:cNvSpPr>
            <p:nvPr/>
          </p:nvSpPr>
          <p:spPr bwMode="auto">
            <a:xfrm>
              <a:off x="5210" y="231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10</a:t>
              </a:r>
              <a:endParaRPr lang="en-US" altLang="en-US"/>
            </a:p>
          </p:txBody>
        </p:sp>
        <p:sp>
          <p:nvSpPr>
            <p:cNvPr id="72" name="Rectangle 369"/>
            <p:cNvSpPr>
              <a:spLocks noChangeArrowheads="1"/>
            </p:cNvSpPr>
            <p:nvPr/>
          </p:nvSpPr>
          <p:spPr bwMode="auto">
            <a:xfrm>
              <a:off x="5210" y="2478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73" name="Rectangle 370"/>
            <p:cNvSpPr>
              <a:spLocks noChangeArrowheads="1"/>
            </p:cNvSpPr>
            <p:nvPr/>
          </p:nvSpPr>
          <p:spPr bwMode="auto">
            <a:xfrm>
              <a:off x="5210" y="264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01</a:t>
              </a:r>
              <a:endParaRPr lang="en-US" altLang="en-US"/>
            </a:p>
          </p:txBody>
        </p:sp>
        <p:sp>
          <p:nvSpPr>
            <p:cNvPr id="74" name="Rectangle 371"/>
            <p:cNvSpPr>
              <a:spLocks noChangeArrowheads="1"/>
            </p:cNvSpPr>
            <p:nvPr/>
          </p:nvSpPr>
          <p:spPr bwMode="auto">
            <a:xfrm>
              <a:off x="5210" y="280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10</a:t>
              </a:r>
              <a:endParaRPr lang="en-US" altLang="en-US"/>
            </a:p>
          </p:txBody>
        </p:sp>
      </p:grpSp>
      <p:grpSp>
        <p:nvGrpSpPr>
          <p:cNvPr id="76" name="Group 549"/>
          <p:cNvGrpSpPr>
            <a:grpSpLocks/>
          </p:cNvGrpSpPr>
          <p:nvPr/>
        </p:nvGrpSpPr>
        <p:grpSpPr bwMode="auto">
          <a:xfrm>
            <a:off x="5831032" y="3091266"/>
            <a:ext cx="1943605" cy="773112"/>
            <a:chOff x="4364" y="2097"/>
            <a:chExt cx="1059" cy="487"/>
          </a:xfrm>
        </p:grpSpPr>
        <p:sp>
          <p:nvSpPr>
            <p:cNvPr id="77" name="Freeform 521"/>
            <p:cNvSpPr>
              <a:spLocks/>
            </p:cNvSpPr>
            <p:nvPr/>
          </p:nvSpPr>
          <p:spPr bwMode="auto">
            <a:xfrm>
              <a:off x="5361" y="2279"/>
              <a:ext cx="62" cy="123"/>
            </a:xfrm>
            <a:custGeom>
              <a:avLst/>
              <a:gdLst>
                <a:gd name="T0" fmla="*/ 31 w 62"/>
                <a:gd name="T1" fmla="*/ 123 h 123"/>
                <a:gd name="T2" fmla="*/ 62 w 62"/>
                <a:gd name="T3" fmla="*/ 0 h 123"/>
                <a:gd name="T4" fmla="*/ 0 w 62"/>
                <a:gd name="T5" fmla="*/ 0 h 123"/>
                <a:gd name="T6" fmla="*/ 31 w 62"/>
                <a:gd name="T7" fmla="*/ 123 h 1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"/>
                <a:gd name="T13" fmla="*/ 0 h 123"/>
                <a:gd name="T14" fmla="*/ 62 w 62"/>
                <a:gd name="T15" fmla="*/ 123 h 1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" h="123">
                  <a:moveTo>
                    <a:pt x="31" y="123"/>
                  </a:moveTo>
                  <a:lnTo>
                    <a:pt x="62" y="0"/>
                  </a:lnTo>
                  <a:lnTo>
                    <a:pt x="0" y="0"/>
                  </a:lnTo>
                  <a:lnTo>
                    <a:pt x="31" y="123"/>
                  </a:lnTo>
                  <a:close/>
                </a:path>
              </a:pathLst>
            </a:custGeom>
            <a:solidFill>
              <a:srgbClr val="000000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8" name="Freeform 530"/>
            <p:cNvSpPr>
              <a:spLocks/>
            </p:cNvSpPr>
            <p:nvPr/>
          </p:nvSpPr>
          <p:spPr bwMode="auto">
            <a:xfrm>
              <a:off x="4364" y="2097"/>
              <a:ext cx="1056" cy="487"/>
            </a:xfrm>
            <a:custGeom>
              <a:avLst/>
              <a:gdLst>
                <a:gd name="T0" fmla="*/ 20 w 1056"/>
                <a:gd name="T1" fmla="*/ 487 h 487"/>
                <a:gd name="T2" fmla="*/ 148 w 1056"/>
                <a:gd name="T3" fmla="*/ 71 h 487"/>
                <a:gd name="T4" fmla="*/ 908 w 1056"/>
                <a:gd name="T5" fmla="*/ 63 h 487"/>
                <a:gd name="T6" fmla="*/ 1036 w 1056"/>
                <a:gd name="T7" fmla="*/ 207 h 4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6"/>
                <a:gd name="T13" fmla="*/ 0 h 487"/>
                <a:gd name="T14" fmla="*/ 1056 w 1056"/>
                <a:gd name="T15" fmla="*/ 487 h 4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6" h="487">
                  <a:moveTo>
                    <a:pt x="20" y="487"/>
                  </a:moveTo>
                  <a:cubicBezTo>
                    <a:pt x="41" y="418"/>
                    <a:pt x="0" y="142"/>
                    <a:pt x="148" y="71"/>
                  </a:cubicBezTo>
                  <a:cubicBezTo>
                    <a:pt x="296" y="0"/>
                    <a:pt x="760" y="40"/>
                    <a:pt x="908" y="63"/>
                  </a:cubicBezTo>
                  <a:cubicBezTo>
                    <a:pt x="1056" y="86"/>
                    <a:pt x="1009" y="177"/>
                    <a:pt x="1036" y="20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79" name="Group 545"/>
          <p:cNvGrpSpPr>
            <a:grpSpLocks/>
          </p:cNvGrpSpPr>
          <p:nvPr/>
        </p:nvGrpSpPr>
        <p:grpSpPr bwMode="auto">
          <a:xfrm>
            <a:off x="815700" y="2949447"/>
            <a:ext cx="1776413" cy="2689225"/>
            <a:chOff x="2222" y="1930"/>
            <a:chExt cx="1119" cy="1694"/>
          </a:xfrm>
        </p:grpSpPr>
        <p:sp>
          <p:nvSpPr>
            <p:cNvPr id="80" name="Line 389"/>
            <p:cNvSpPr>
              <a:spLocks noChangeShapeType="1"/>
            </p:cNvSpPr>
            <p:nvPr/>
          </p:nvSpPr>
          <p:spPr bwMode="auto">
            <a:xfrm>
              <a:off x="2949" y="3166"/>
              <a:ext cx="1" cy="135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1" name="Freeform 390"/>
            <p:cNvSpPr>
              <a:spLocks/>
            </p:cNvSpPr>
            <p:nvPr/>
          </p:nvSpPr>
          <p:spPr bwMode="auto">
            <a:xfrm>
              <a:off x="2919" y="3259"/>
              <a:ext cx="61" cy="122"/>
            </a:xfrm>
            <a:custGeom>
              <a:avLst/>
              <a:gdLst>
                <a:gd name="T0" fmla="*/ 30 w 61"/>
                <a:gd name="T1" fmla="*/ 122 h 122"/>
                <a:gd name="T2" fmla="*/ 61 w 61"/>
                <a:gd name="T3" fmla="*/ 0 h 122"/>
                <a:gd name="T4" fmla="*/ 0 w 61"/>
                <a:gd name="T5" fmla="*/ 0 h 122"/>
                <a:gd name="T6" fmla="*/ 30 w 61"/>
                <a:gd name="T7" fmla="*/ 122 h 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"/>
                <a:gd name="T13" fmla="*/ 0 h 122"/>
                <a:gd name="T14" fmla="*/ 61 w 61"/>
                <a:gd name="T15" fmla="*/ 122 h 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" h="122">
                  <a:moveTo>
                    <a:pt x="30" y="122"/>
                  </a:moveTo>
                  <a:lnTo>
                    <a:pt x="61" y="0"/>
                  </a:lnTo>
                  <a:lnTo>
                    <a:pt x="0" y="0"/>
                  </a:lnTo>
                  <a:lnTo>
                    <a:pt x="30" y="1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" name="Line 391"/>
            <p:cNvSpPr>
              <a:spLocks noChangeShapeType="1"/>
            </p:cNvSpPr>
            <p:nvPr/>
          </p:nvSpPr>
          <p:spPr bwMode="auto">
            <a:xfrm>
              <a:off x="2297" y="2206"/>
              <a:ext cx="134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3" name="Freeform 392"/>
            <p:cNvSpPr>
              <a:spLocks/>
            </p:cNvSpPr>
            <p:nvPr/>
          </p:nvSpPr>
          <p:spPr bwMode="auto">
            <a:xfrm>
              <a:off x="2412" y="2176"/>
              <a:ext cx="123" cy="61"/>
            </a:xfrm>
            <a:custGeom>
              <a:avLst/>
              <a:gdLst>
                <a:gd name="T0" fmla="*/ 123 w 123"/>
                <a:gd name="T1" fmla="*/ 30 h 61"/>
                <a:gd name="T2" fmla="*/ 0 w 123"/>
                <a:gd name="T3" fmla="*/ 0 h 61"/>
                <a:gd name="T4" fmla="*/ 0 w 123"/>
                <a:gd name="T5" fmla="*/ 61 h 61"/>
                <a:gd name="T6" fmla="*/ 123 w 123"/>
                <a:gd name="T7" fmla="*/ 30 h 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1"/>
                <a:gd name="T14" fmla="*/ 123 w 123"/>
                <a:gd name="T15" fmla="*/ 61 h 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1">
                  <a:moveTo>
                    <a:pt x="123" y="3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123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4" name="Line 397"/>
            <p:cNvSpPr>
              <a:spLocks noChangeShapeType="1"/>
            </p:cNvSpPr>
            <p:nvPr/>
          </p:nvSpPr>
          <p:spPr bwMode="auto">
            <a:xfrm>
              <a:off x="2297" y="2971"/>
              <a:ext cx="134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5" name="Freeform 398"/>
            <p:cNvSpPr>
              <a:spLocks/>
            </p:cNvSpPr>
            <p:nvPr/>
          </p:nvSpPr>
          <p:spPr bwMode="auto">
            <a:xfrm>
              <a:off x="2412" y="2944"/>
              <a:ext cx="123" cy="61"/>
            </a:xfrm>
            <a:custGeom>
              <a:avLst/>
              <a:gdLst>
                <a:gd name="T0" fmla="*/ 123 w 123"/>
                <a:gd name="T1" fmla="*/ 30 h 61"/>
                <a:gd name="T2" fmla="*/ 0 w 123"/>
                <a:gd name="T3" fmla="*/ 0 h 61"/>
                <a:gd name="T4" fmla="*/ 0 w 123"/>
                <a:gd name="T5" fmla="*/ 61 h 61"/>
                <a:gd name="T6" fmla="*/ 123 w 123"/>
                <a:gd name="T7" fmla="*/ 30 h 6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1"/>
                <a:gd name="T14" fmla="*/ 123 w 123"/>
                <a:gd name="T15" fmla="*/ 61 h 6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1">
                  <a:moveTo>
                    <a:pt x="123" y="30"/>
                  </a:moveTo>
                  <a:lnTo>
                    <a:pt x="0" y="0"/>
                  </a:lnTo>
                  <a:lnTo>
                    <a:pt x="0" y="61"/>
                  </a:lnTo>
                  <a:lnTo>
                    <a:pt x="123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6" name="Line 399"/>
            <p:cNvSpPr>
              <a:spLocks noChangeShapeType="1"/>
            </p:cNvSpPr>
            <p:nvPr/>
          </p:nvSpPr>
          <p:spPr bwMode="auto">
            <a:xfrm>
              <a:off x="2297" y="3086"/>
              <a:ext cx="134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Freeform 400"/>
            <p:cNvSpPr>
              <a:spLocks/>
            </p:cNvSpPr>
            <p:nvPr/>
          </p:nvSpPr>
          <p:spPr bwMode="auto">
            <a:xfrm>
              <a:off x="2412" y="3055"/>
              <a:ext cx="123" cy="62"/>
            </a:xfrm>
            <a:custGeom>
              <a:avLst/>
              <a:gdLst>
                <a:gd name="T0" fmla="*/ 123 w 123"/>
                <a:gd name="T1" fmla="*/ 31 h 62"/>
                <a:gd name="T2" fmla="*/ 0 w 123"/>
                <a:gd name="T3" fmla="*/ 0 h 62"/>
                <a:gd name="T4" fmla="*/ 0 w 123"/>
                <a:gd name="T5" fmla="*/ 62 h 62"/>
                <a:gd name="T6" fmla="*/ 123 w 123"/>
                <a:gd name="T7" fmla="*/ 31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2"/>
                <a:gd name="T14" fmla="*/ 123 w 123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2">
                  <a:moveTo>
                    <a:pt x="123" y="31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8" name="Rectangle 401"/>
            <p:cNvSpPr>
              <a:spLocks noChangeArrowheads="1"/>
            </p:cNvSpPr>
            <p:nvPr/>
          </p:nvSpPr>
          <p:spPr bwMode="auto">
            <a:xfrm>
              <a:off x="2671" y="1967"/>
              <a:ext cx="12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4x</a:t>
              </a:r>
              <a:endParaRPr lang="en-US" altLang="en-US"/>
            </a:p>
          </p:txBody>
        </p:sp>
        <p:sp>
          <p:nvSpPr>
            <p:cNvPr id="89" name="Rectangle 403"/>
            <p:cNvSpPr>
              <a:spLocks noChangeArrowheads="1"/>
            </p:cNvSpPr>
            <p:nvPr/>
          </p:nvSpPr>
          <p:spPr bwMode="auto">
            <a:xfrm>
              <a:off x="2806" y="1967"/>
              <a:ext cx="40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dirty="0">
                  <a:solidFill>
                    <a:srgbClr val="000000"/>
                  </a:solidFill>
                  <a:latin typeface="Helvetica" pitchFamily="34" charset="0"/>
                </a:rPr>
                <a:t>1 </a:t>
              </a:r>
              <a:r>
                <a:rPr lang="en-US" altLang="en-US" sz="1500" dirty="0" err="1">
                  <a:solidFill>
                    <a:srgbClr val="000000"/>
                  </a:solidFill>
                  <a:latin typeface="Helvetica" pitchFamily="34" charset="0"/>
                </a:rPr>
                <a:t>Mem</a:t>
              </a:r>
              <a:r>
                <a:rPr lang="en-US" altLang="en-US" sz="1500" dirty="0">
                  <a:solidFill>
                    <a:srgbClr val="000000"/>
                  </a:solidFill>
                  <a:latin typeface="Helvetica" pitchFamily="34" charset="0"/>
                </a:rPr>
                <a:t>.</a:t>
              </a:r>
              <a:endParaRPr lang="en-US" altLang="en-US" dirty="0"/>
            </a:p>
          </p:txBody>
        </p:sp>
        <p:sp>
          <p:nvSpPr>
            <p:cNvPr id="90" name="Rectangle 404"/>
            <p:cNvSpPr>
              <a:spLocks noChangeArrowheads="1"/>
            </p:cNvSpPr>
            <p:nvPr/>
          </p:nvSpPr>
          <p:spPr bwMode="auto">
            <a:xfrm>
              <a:off x="2542" y="1930"/>
              <a:ext cx="799" cy="1236"/>
            </a:xfrm>
            <a:prstGeom prst="rect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1" name="Rectangle 405"/>
            <p:cNvSpPr>
              <a:spLocks noChangeArrowheads="1"/>
            </p:cNvSpPr>
            <p:nvPr/>
          </p:nvSpPr>
          <p:spPr bwMode="auto">
            <a:xfrm>
              <a:off x="2827" y="2306"/>
              <a:ext cx="403" cy="657"/>
            </a:xfrm>
            <a:prstGeom prst="rect">
              <a:avLst/>
            </a:prstGeom>
            <a:solidFill>
              <a:srgbClr val="D4E0F3"/>
            </a:solidFill>
            <a:ln w="17463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" name="Line 406"/>
            <p:cNvSpPr>
              <a:spLocks noChangeShapeType="1"/>
            </p:cNvSpPr>
            <p:nvPr/>
          </p:nvSpPr>
          <p:spPr bwMode="auto">
            <a:xfrm>
              <a:off x="2827" y="2471"/>
              <a:ext cx="403" cy="1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3" name="Line 407"/>
            <p:cNvSpPr>
              <a:spLocks noChangeShapeType="1"/>
            </p:cNvSpPr>
            <p:nvPr/>
          </p:nvSpPr>
          <p:spPr bwMode="auto">
            <a:xfrm>
              <a:off x="2827" y="2636"/>
              <a:ext cx="403" cy="1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4" name="Line 408"/>
            <p:cNvSpPr>
              <a:spLocks noChangeShapeType="1"/>
            </p:cNvSpPr>
            <p:nvPr/>
          </p:nvSpPr>
          <p:spPr bwMode="auto">
            <a:xfrm>
              <a:off x="2827" y="2802"/>
              <a:ext cx="403" cy="1"/>
            </a:xfrm>
            <a:prstGeom prst="line">
              <a:avLst/>
            </a:prstGeom>
            <a:noFill/>
            <a:ln w="17463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5" name="Rectangle 410"/>
            <p:cNvSpPr>
              <a:spLocks noChangeArrowheads="1"/>
            </p:cNvSpPr>
            <p:nvPr/>
          </p:nvSpPr>
          <p:spPr bwMode="auto">
            <a:xfrm>
              <a:off x="2994" y="248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96" name="Rectangle 411"/>
            <p:cNvSpPr>
              <a:spLocks noChangeArrowheads="1"/>
            </p:cNvSpPr>
            <p:nvPr/>
          </p:nvSpPr>
          <p:spPr bwMode="auto">
            <a:xfrm>
              <a:off x="2994" y="2644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97" name="Rectangle 412"/>
            <p:cNvSpPr>
              <a:spLocks noChangeArrowheads="1"/>
            </p:cNvSpPr>
            <p:nvPr/>
          </p:nvSpPr>
          <p:spPr bwMode="auto">
            <a:xfrm>
              <a:off x="2994" y="2807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98" name="Rectangle 413"/>
            <p:cNvSpPr>
              <a:spLocks noChangeArrowheads="1"/>
            </p:cNvSpPr>
            <p:nvPr/>
          </p:nvSpPr>
          <p:spPr bwMode="auto">
            <a:xfrm>
              <a:off x="2734" y="2315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99" name="Rectangle 414"/>
            <p:cNvSpPr>
              <a:spLocks noChangeArrowheads="1"/>
            </p:cNvSpPr>
            <p:nvPr/>
          </p:nvSpPr>
          <p:spPr bwMode="auto">
            <a:xfrm>
              <a:off x="2734" y="2480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00" name="Rectangle 415"/>
            <p:cNvSpPr>
              <a:spLocks noChangeArrowheads="1"/>
            </p:cNvSpPr>
            <p:nvPr/>
          </p:nvSpPr>
          <p:spPr bwMode="auto">
            <a:xfrm>
              <a:off x="2734" y="2644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/>
            </a:p>
          </p:txBody>
        </p:sp>
        <p:sp>
          <p:nvSpPr>
            <p:cNvPr id="101" name="Rectangle 416"/>
            <p:cNvSpPr>
              <a:spLocks noChangeArrowheads="1"/>
            </p:cNvSpPr>
            <p:nvPr/>
          </p:nvSpPr>
          <p:spPr bwMode="auto">
            <a:xfrm>
              <a:off x="2734" y="2807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/>
            </a:p>
          </p:txBody>
        </p:sp>
        <p:sp>
          <p:nvSpPr>
            <p:cNvPr id="102" name="Rectangle 417"/>
            <p:cNvSpPr>
              <a:spLocks noChangeArrowheads="1"/>
            </p:cNvSpPr>
            <p:nvPr/>
          </p:nvSpPr>
          <p:spPr bwMode="auto">
            <a:xfrm>
              <a:off x="2562" y="2128"/>
              <a:ext cx="10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rd</a:t>
              </a:r>
              <a:endParaRPr lang="en-US" altLang="en-US"/>
            </a:p>
          </p:txBody>
        </p:sp>
        <p:sp>
          <p:nvSpPr>
            <p:cNvPr id="103" name="Rectangle 418"/>
            <p:cNvSpPr>
              <a:spLocks noChangeArrowheads="1"/>
            </p:cNvSpPr>
            <p:nvPr/>
          </p:nvSpPr>
          <p:spPr bwMode="auto">
            <a:xfrm>
              <a:off x="2562" y="2891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a1</a:t>
              </a:r>
              <a:endParaRPr lang="en-US" altLang="en-US"/>
            </a:p>
          </p:txBody>
        </p:sp>
        <p:sp>
          <p:nvSpPr>
            <p:cNvPr id="104" name="Rectangle 419"/>
            <p:cNvSpPr>
              <a:spLocks noChangeArrowheads="1"/>
            </p:cNvSpPr>
            <p:nvPr/>
          </p:nvSpPr>
          <p:spPr bwMode="auto">
            <a:xfrm>
              <a:off x="2562" y="3001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a0</a:t>
              </a:r>
              <a:endParaRPr lang="en-US" altLang="en-US"/>
            </a:p>
          </p:txBody>
        </p:sp>
        <p:sp>
          <p:nvSpPr>
            <p:cNvPr id="105" name="Rectangle 420"/>
            <p:cNvSpPr>
              <a:spLocks noChangeArrowheads="1"/>
            </p:cNvSpPr>
            <p:nvPr/>
          </p:nvSpPr>
          <p:spPr bwMode="auto">
            <a:xfrm>
              <a:off x="2222" y="2126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06" name="Rectangle 423"/>
            <p:cNvSpPr>
              <a:spLocks noChangeArrowheads="1"/>
            </p:cNvSpPr>
            <p:nvPr/>
          </p:nvSpPr>
          <p:spPr bwMode="auto">
            <a:xfrm>
              <a:off x="2904" y="3019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D</a:t>
              </a:r>
              <a:endParaRPr lang="en-US" altLang="en-US"/>
            </a:p>
          </p:txBody>
        </p:sp>
        <p:sp>
          <p:nvSpPr>
            <p:cNvPr id="107" name="Rectangle 428"/>
            <p:cNvSpPr>
              <a:spLocks noChangeArrowheads="1"/>
            </p:cNvSpPr>
            <p:nvPr/>
          </p:nvSpPr>
          <p:spPr bwMode="auto">
            <a:xfrm>
              <a:off x="2876" y="3479"/>
              <a:ext cx="14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dirty="0">
                  <a:solidFill>
                    <a:srgbClr val="000000"/>
                  </a:solidFill>
                  <a:latin typeface="Helvetica" pitchFamily="34" charset="0"/>
                </a:rPr>
                <a:t>(</a:t>
              </a:r>
              <a:r>
                <a:rPr lang="en-US" altLang="en-US" sz="1500" b="1" dirty="0">
                  <a:solidFill>
                    <a:srgbClr val="000000"/>
                  </a:solidFill>
                  <a:latin typeface="Helvetica" pitchFamily="34" charset="0"/>
                </a:rPr>
                <a:t>a</a:t>
              </a:r>
              <a:r>
                <a:rPr lang="en-US" altLang="en-US" sz="1500" dirty="0">
                  <a:solidFill>
                    <a:srgbClr val="000000"/>
                  </a:solidFill>
                  <a:latin typeface="Helvetica" pitchFamily="34" charset="0"/>
                </a:rPr>
                <a:t>)</a:t>
              </a:r>
              <a:endParaRPr lang="en-US" altLang="en-US" dirty="0"/>
            </a:p>
          </p:txBody>
        </p:sp>
        <p:sp>
          <p:nvSpPr>
            <p:cNvPr id="110" name="Freeform 522"/>
            <p:cNvSpPr>
              <a:spLocks/>
            </p:cNvSpPr>
            <p:nvPr/>
          </p:nvSpPr>
          <p:spPr bwMode="auto">
            <a:xfrm>
              <a:off x="2980" y="3209"/>
              <a:ext cx="62" cy="123"/>
            </a:xfrm>
            <a:custGeom>
              <a:avLst/>
              <a:gdLst>
                <a:gd name="T0" fmla="*/ 31 w 62"/>
                <a:gd name="T1" fmla="*/ 123 h 123"/>
                <a:gd name="T2" fmla="*/ 62 w 62"/>
                <a:gd name="T3" fmla="*/ 0 h 123"/>
                <a:gd name="T4" fmla="*/ 0 w 62"/>
                <a:gd name="T5" fmla="*/ 0 h 123"/>
                <a:gd name="T6" fmla="*/ 31 w 62"/>
                <a:gd name="T7" fmla="*/ 123 h 12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"/>
                <a:gd name="T13" fmla="*/ 0 h 123"/>
                <a:gd name="T14" fmla="*/ 62 w 62"/>
                <a:gd name="T15" fmla="*/ 123 h 12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" h="123">
                  <a:moveTo>
                    <a:pt x="31" y="123"/>
                  </a:moveTo>
                  <a:lnTo>
                    <a:pt x="62" y="0"/>
                  </a:lnTo>
                  <a:lnTo>
                    <a:pt x="0" y="0"/>
                  </a:lnTo>
                  <a:lnTo>
                    <a:pt x="31" y="123"/>
                  </a:lnTo>
                  <a:close/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1" name="Rectangle 541"/>
            <p:cNvSpPr>
              <a:spLocks noChangeArrowheads="1"/>
            </p:cNvSpPr>
            <p:nvPr/>
          </p:nvSpPr>
          <p:spPr bwMode="auto">
            <a:xfrm>
              <a:off x="2994" y="2321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</p:grpSp>
      <p:grpSp>
        <p:nvGrpSpPr>
          <p:cNvPr id="112" name="Group 548"/>
          <p:cNvGrpSpPr>
            <a:grpSpLocks/>
          </p:cNvGrpSpPr>
          <p:nvPr/>
        </p:nvGrpSpPr>
        <p:grpSpPr bwMode="auto">
          <a:xfrm>
            <a:off x="915713" y="4319459"/>
            <a:ext cx="312737" cy="715962"/>
            <a:chOff x="2285" y="2793"/>
            <a:chExt cx="197" cy="451"/>
          </a:xfrm>
        </p:grpSpPr>
        <p:sp>
          <p:nvSpPr>
            <p:cNvPr id="113" name="Rectangle 421"/>
            <p:cNvSpPr>
              <a:spLocks noChangeArrowheads="1"/>
            </p:cNvSpPr>
            <p:nvPr/>
          </p:nvSpPr>
          <p:spPr bwMode="auto">
            <a:xfrm>
              <a:off x="2285" y="3100"/>
              <a:ext cx="19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FF0000"/>
                  </a:solidFill>
                  <a:latin typeface="Helvetica" pitchFamily="34" charset="0"/>
                </a:rPr>
                <a:t>y=0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114" name="Rectangle 422"/>
            <p:cNvSpPr>
              <a:spLocks noChangeArrowheads="1"/>
            </p:cNvSpPr>
            <p:nvPr/>
          </p:nvSpPr>
          <p:spPr bwMode="auto">
            <a:xfrm>
              <a:off x="2285" y="2793"/>
              <a:ext cx="19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FF0000"/>
                  </a:solidFill>
                  <a:latin typeface="Helvetica" pitchFamily="34" charset="0"/>
                </a:rPr>
                <a:t>x=0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15" name="Group 547"/>
          <p:cNvGrpSpPr>
            <a:grpSpLocks/>
          </p:cNvGrpSpPr>
          <p:nvPr/>
        </p:nvGrpSpPr>
        <p:grpSpPr bwMode="auto">
          <a:xfrm>
            <a:off x="2019025" y="3560634"/>
            <a:ext cx="481013" cy="1649412"/>
            <a:chOff x="2980" y="2315"/>
            <a:chExt cx="303" cy="1039"/>
          </a:xfrm>
        </p:grpSpPr>
        <p:sp>
          <p:nvSpPr>
            <p:cNvPr id="116" name="Rectangle 409"/>
            <p:cNvSpPr>
              <a:spLocks noChangeArrowheads="1"/>
            </p:cNvSpPr>
            <p:nvPr/>
          </p:nvSpPr>
          <p:spPr bwMode="auto">
            <a:xfrm>
              <a:off x="2994" y="2315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117" name="Rectangle 424"/>
            <p:cNvSpPr>
              <a:spLocks noChangeArrowheads="1"/>
            </p:cNvSpPr>
            <p:nvPr/>
          </p:nvSpPr>
          <p:spPr bwMode="auto">
            <a:xfrm>
              <a:off x="3060" y="3210"/>
              <a:ext cx="210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FF0000"/>
                  </a:solidFill>
                  <a:latin typeface="Helvetica" pitchFamily="34" charset="0"/>
                </a:rPr>
                <a:t>F=1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118" name="Freeform 528"/>
            <p:cNvSpPr>
              <a:spLocks/>
            </p:cNvSpPr>
            <p:nvPr/>
          </p:nvSpPr>
          <p:spPr bwMode="auto">
            <a:xfrm>
              <a:off x="2980" y="2376"/>
              <a:ext cx="303" cy="848"/>
            </a:xfrm>
            <a:custGeom>
              <a:avLst/>
              <a:gdLst>
                <a:gd name="T0" fmla="*/ 108 w 303"/>
                <a:gd name="T1" fmla="*/ 0 h 848"/>
                <a:gd name="T2" fmla="*/ 292 w 303"/>
                <a:gd name="T3" fmla="*/ 240 h 848"/>
                <a:gd name="T4" fmla="*/ 44 w 303"/>
                <a:gd name="T5" fmla="*/ 648 h 848"/>
                <a:gd name="T6" fmla="*/ 28 w 303"/>
                <a:gd name="T7" fmla="*/ 848 h 8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3"/>
                <a:gd name="T13" fmla="*/ 0 h 848"/>
                <a:gd name="T14" fmla="*/ 303 w 303"/>
                <a:gd name="T15" fmla="*/ 848 h 8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3" h="848">
                  <a:moveTo>
                    <a:pt x="108" y="0"/>
                  </a:moveTo>
                  <a:cubicBezTo>
                    <a:pt x="205" y="66"/>
                    <a:pt x="303" y="132"/>
                    <a:pt x="292" y="240"/>
                  </a:cubicBezTo>
                  <a:cubicBezTo>
                    <a:pt x="281" y="348"/>
                    <a:pt x="88" y="547"/>
                    <a:pt x="44" y="648"/>
                  </a:cubicBezTo>
                  <a:cubicBezTo>
                    <a:pt x="0" y="749"/>
                    <a:pt x="14" y="798"/>
                    <a:pt x="28" y="848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22" name="Rectangle 3"/>
          <p:cNvSpPr txBox="1">
            <a:spLocks noChangeArrowheads="1"/>
          </p:cNvSpPr>
          <p:nvPr/>
        </p:nvSpPr>
        <p:spPr bwMode="auto">
          <a:xfrm>
            <a:off x="307628" y="2210608"/>
            <a:ext cx="3754802" cy="27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b="1" dirty="0"/>
              <a:t>One function = </a:t>
            </a:r>
            <a:r>
              <a:rPr lang="en-US" altLang="en-US" b="1" kern="0" dirty="0"/>
              <a:t>1-bit wide memory </a:t>
            </a:r>
          </a:p>
        </p:txBody>
      </p:sp>
      <p:sp>
        <p:nvSpPr>
          <p:cNvPr id="125" name="Rectangle 3"/>
          <p:cNvSpPr txBox="1">
            <a:spLocks noChangeArrowheads="1"/>
          </p:cNvSpPr>
          <p:nvPr/>
        </p:nvSpPr>
        <p:spPr bwMode="auto">
          <a:xfrm>
            <a:off x="4419701" y="2267007"/>
            <a:ext cx="3806603" cy="248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altLang="en-US" b="1" dirty="0"/>
              <a:t>Two functions =</a:t>
            </a:r>
            <a:r>
              <a:rPr lang="en-US" altLang="en-US" b="1" kern="0" dirty="0"/>
              <a:t> 2-bit wide memory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4409344" y="4969396"/>
                <a:ext cx="162672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344" y="4969396"/>
                <a:ext cx="1626727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2622" r="-2622" b="-27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4379339" y="5323775"/>
                <a:ext cx="95731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339" y="5323775"/>
                <a:ext cx="957313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5096" r="-637" b="-27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ectangle 467"/>
          <p:cNvSpPr>
            <a:spLocks noChangeArrowheads="1"/>
          </p:cNvSpPr>
          <p:nvPr/>
        </p:nvSpPr>
        <p:spPr bwMode="auto">
          <a:xfrm>
            <a:off x="4460342" y="3139020"/>
            <a:ext cx="1385585" cy="1608138"/>
          </a:xfrm>
          <a:prstGeom prst="rect">
            <a:avLst/>
          </a:prstGeom>
          <a:solidFill>
            <a:srgbClr val="D4E0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3" name="Rectangle 473"/>
          <p:cNvSpPr>
            <a:spLocks noChangeArrowheads="1"/>
          </p:cNvSpPr>
          <p:nvPr/>
        </p:nvSpPr>
        <p:spPr bwMode="auto">
          <a:xfrm>
            <a:off x="4521933" y="3196024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x</a:t>
            </a:r>
          </a:p>
        </p:txBody>
      </p:sp>
      <p:sp>
        <p:nvSpPr>
          <p:cNvPr id="124" name="Rectangle 474"/>
          <p:cNvSpPr>
            <a:spLocks noChangeArrowheads="1"/>
          </p:cNvSpPr>
          <p:nvPr/>
        </p:nvSpPr>
        <p:spPr bwMode="auto">
          <a:xfrm>
            <a:off x="4515905" y="3518433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 dirty="0"/>
          </a:p>
        </p:txBody>
      </p:sp>
      <p:sp>
        <p:nvSpPr>
          <p:cNvPr id="126" name="Rectangle 475"/>
          <p:cNvSpPr>
            <a:spLocks noChangeArrowheads="1"/>
          </p:cNvSpPr>
          <p:nvPr/>
        </p:nvSpPr>
        <p:spPr bwMode="auto">
          <a:xfrm>
            <a:off x="4515905" y="3801008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 dirty="0"/>
          </a:p>
        </p:txBody>
      </p:sp>
      <p:sp>
        <p:nvSpPr>
          <p:cNvPr id="127" name="Rectangle 476"/>
          <p:cNvSpPr>
            <a:spLocks noChangeArrowheads="1"/>
          </p:cNvSpPr>
          <p:nvPr/>
        </p:nvSpPr>
        <p:spPr bwMode="auto">
          <a:xfrm>
            <a:off x="4515905" y="4081995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28" name="Rectangle 477"/>
          <p:cNvSpPr>
            <a:spLocks noChangeArrowheads="1"/>
          </p:cNvSpPr>
          <p:nvPr/>
        </p:nvSpPr>
        <p:spPr bwMode="auto">
          <a:xfrm>
            <a:off x="4515905" y="4359808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29" name="Rectangle 478"/>
          <p:cNvSpPr>
            <a:spLocks noChangeArrowheads="1"/>
          </p:cNvSpPr>
          <p:nvPr/>
        </p:nvSpPr>
        <p:spPr bwMode="auto">
          <a:xfrm>
            <a:off x="4801097" y="316661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y</a:t>
            </a:r>
          </a:p>
        </p:txBody>
      </p:sp>
      <p:sp>
        <p:nvSpPr>
          <p:cNvPr id="130" name="Rectangle 479"/>
          <p:cNvSpPr>
            <a:spLocks noChangeArrowheads="1"/>
          </p:cNvSpPr>
          <p:nvPr/>
        </p:nvSpPr>
        <p:spPr bwMode="auto">
          <a:xfrm>
            <a:off x="4808005" y="3518433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 dirty="0"/>
          </a:p>
        </p:txBody>
      </p:sp>
      <p:sp>
        <p:nvSpPr>
          <p:cNvPr id="131" name="Rectangle 480"/>
          <p:cNvSpPr>
            <a:spLocks noChangeArrowheads="1"/>
          </p:cNvSpPr>
          <p:nvPr/>
        </p:nvSpPr>
        <p:spPr bwMode="auto">
          <a:xfrm>
            <a:off x="4808005" y="3801008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32" name="Rectangle 481"/>
          <p:cNvSpPr>
            <a:spLocks noChangeArrowheads="1"/>
          </p:cNvSpPr>
          <p:nvPr/>
        </p:nvSpPr>
        <p:spPr bwMode="auto">
          <a:xfrm>
            <a:off x="4808005" y="4081995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133" name="Rectangle 482"/>
          <p:cNvSpPr>
            <a:spLocks noChangeArrowheads="1"/>
          </p:cNvSpPr>
          <p:nvPr/>
        </p:nvSpPr>
        <p:spPr bwMode="auto">
          <a:xfrm>
            <a:off x="4808005" y="4359808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34" name="Rectangle 483"/>
          <p:cNvSpPr>
            <a:spLocks noChangeArrowheads="1"/>
          </p:cNvSpPr>
          <p:nvPr/>
        </p:nvSpPr>
        <p:spPr bwMode="auto">
          <a:xfrm>
            <a:off x="5298727" y="3197792"/>
            <a:ext cx="1410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F</a:t>
            </a:r>
          </a:p>
        </p:txBody>
      </p:sp>
      <p:sp>
        <p:nvSpPr>
          <p:cNvPr id="135" name="Rectangle 484"/>
          <p:cNvSpPr>
            <a:spLocks noChangeArrowheads="1"/>
          </p:cNvSpPr>
          <p:nvPr/>
        </p:nvSpPr>
        <p:spPr bwMode="auto">
          <a:xfrm>
            <a:off x="5277905" y="3518433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36" name="Rectangle 485"/>
          <p:cNvSpPr>
            <a:spLocks noChangeArrowheads="1"/>
          </p:cNvSpPr>
          <p:nvPr/>
        </p:nvSpPr>
        <p:spPr bwMode="auto">
          <a:xfrm>
            <a:off x="5277905" y="3801008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137" name="Rectangle 486"/>
          <p:cNvSpPr>
            <a:spLocks noChangeArrowheads="1"/>
          </p:cNvSpPr>
          <p:nvPr/>
        </p:nvSpPr>
        <p:spPr bwMode="auto">
          <a:xfrm>
            <a:off x="5277905" y="4081995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138" name="Rectangle 487"/>
          <p:cNvSpPr>
            <a:spLocks noChangeArrowheads="1"/>
          </p:cNvSpPr>
          <p:nvPr/>
        </p:nvSpPr>
        <p:spPr bwMode="auto">
          <a:xfrm>
            <a:off x="5277905" y="4359808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39" name="Line 488"/>
          <p:cNvSpPr>
            <a:spLocks noChangeShapeType="1"/>
          </p:cNvSpPr>
          <p:nvPr/>
        </p:nvSpPr>
        <p:spPr bwMode="auto">
          <a:xfrm>
            <a:off x="4460341" y="3510495"/>
            <a:ext cx="1404000" cy="1588"/>
          </a:xfrm>
          <a:prstGeom prst="line">
            <a:avLst/>
          </a:prstGeom>
          <a:noFill/>
          <a:ln w="2381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0" name="Line 489"/>
          <p:cNvSpPr>
            <a:spLocks noChangeShapeType="1"/>
          </p:cNvSpPr>
          <p:nvPr/>
        </p:nvSpPr>
        <p:spPr bwMode="auto">
          <a:xfrm>
            <a:off x="5100105" y="3143783"/>
            <a:ext cx="1587" cy="1603375"/>
          </a:xfrm>
          <a:prstGeom prst="line">
            <a:avLst/>
          </a:prstGeom>
          <a:noFill/>
          <a:ln w="2381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1" name="Rectangle 483"/>
          <p:cNvSpPr>
            <a:spLocks noChangeArrowheads="1"/>
          </p:cNvSpPr>
          <p:nvPr/>
        </p:nvSpPr>
        <p:spPr bwMode="auto">
          <a:xfrm>
            <a:off x="5555104" y="3208001"/>
            <a:ext cx="179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G</a:t>
            </a:r>
          </a:p>
        </p:txBody>
      </p:sp>
      <p:sp>
        <p:nvSpPr>
          <p:cNvPr id="142" name="Rectangle 484"/>
          <p:cNvSpPr>
            <a:spLocks noChangeArrowheads="1"/>
          </p:cNvSpPr>
          <p:nvPr/>
        </p:nvSpPr>
        <p:spPr bwMode="auto">
          <a:xfrm>
            <a:off x="5562190" y="3543636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143" name="Rectangle 485"/>
          <p:cNvSpPr>
            <a:spLocks noChangeArrowheads="1"/>
          </p:cNvSpPr>
          <p:nvPr/>
        </p:nvSpPr>
        <p:spPr bwMode="auto">
          <a:xfrm>
            <a:off x="5562190" y="3826211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144" name="Rectangle 486"/>
          <p:cNvSpPr>
            <a:spLocks noChangeArrowheads="1"/>
          </p:cNvSpPr>
          <p:nvPr/>
        </p:nvSpPr>
        <p:spPr bwMode="auto">
          <a:xfrm>
            <a:off x="5562190" y="4107198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</a:p>
        </p:txBody>
      </p:sp>
      <p:sp>
        <p:nvSpPr>
          <p:cNvPr id="145" name="Rectangle 487"/>
          <p:cNvSpPr>
            <a:spLocks noChangeArrowheads="1"/>
          </p:cNvSpPr>
          <p:nvPr/>
        </p:nvSpPr>
        <p:spPr bwMode="auto">
          <a:xfrm>
            <a:off x="5562190" y="4385011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</a:p>
        </p:txBody>
      </p:sp>
      <p:sp>
        <p:nvSpPr>
          <p:cNvPr id="75" name="AutoShape 529"/>
          <p:cNvSpPr>
            <a:spLocks noChangeArrowheads="1"/>
          </p:cNvSpPr>
          <p:nvPr/>
        </p:nvSpPr>
        <p:spPr bwMode="auto">
          <a:xfrm>
            <a:off x="5166289" y="3456392"/>
            <a:ext cx="660400" cy="13208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564326" y="5139109"/>
                <a:ext cx="3988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326" y="5139109"/>
                <a:ext cx="398892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Rectangle 145"/>
              <p:cNvSpPr/>
              <p:nvPr/>
            </p:nvSpPr>
            <p:spPr>
              <a:xfrm>
                <a:off x="7868924" y="5118907"/>
                <a:ext cx="4047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6" name="Rectangle 1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8924" y="5118907"/>
                <a:ext cx="404790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Left-Right Arrow 146"/>
          <p:cNvSpPr/>
          <p:nvPr/>
        </p:nvSpPr>
        <p:spPr bwMode="auto">
          <a:xfrm>
            <a:off x="6135630" y="3900515"/>
            <a:ext cx="695325" cy="331788"/>
          </a:xfrm>
          <a:prstGeom prst="left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00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247"/>
    </mc:Choice>
    <mc:Fallback xmlns="">
      <p:transition spd="slow" advTm="432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2.1. Example 1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799" y="1753199"/>
            <a:ext cx="7729185" cy="623359"/>
          </a:xfrm>
        </p:spPr>
        <p:txBody>
          <a:bodyPr/>
          <a:lstStyle/>
          <a:p>
            <a:pPr eaLnBrk="1" hangingPunct="1"/>
            <a:r>
              <a:rPr lang="en-US" altLang="en-US" dirty="0"/>
              <a:t>Determine the suitable size of Look Up Table to map the combinational logic circuit below into an FPGA</a:t>
            </a:r>
          </a:p>
        </p:txBody>
      </p:sp>
      <p:sp>
        <p:nvSpPr>
          <p:cNvPr id="18607" name="Line 365"/>
          <p:cNvSpPr>
            <a:spLocks noChangeShapeType="1"/>
          </p:cNvSpPr>
          <p:nvPr/>
        </p:nvSpPr>
        <p:spPr bwMode="auto">
          <a:xfrm>
            <a:off x="2889884" y="4013084"/>
            <a:ext cx="324000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18440" name="Group 531"/>
          <p:cNvGrpSpPr>
            <a:grpSpLocks/>
          </p:cNvGrpSpPr>
          <p:nvPr/>
        </p:nvGrpSpPr>
        <p:grpSpPr bwMode="auto">
          <a:xfrm>
            <a:off x="764525" y="3200976"/>
            <a:ext cx="1827213" cy="1674813"/>
            <a:chOff x="3088" y="905"/>
            <a:chExt cx="1151" cy="1055"/>
          </a:xfrm>
        </p:grpSpPr>
        <p:sp>
          <p:nvSpPr>
            <p:cNvPr id="18580" name="Rectangle 369"/>
            <p:cNvSpPr>
              <a:spLocks noChangeArrowheads="1"/>
            </p:cNvSpPr>
            <p:nvPr/>
          </p:nvSpPr>
          <p:spPr bwMode="auto">
            <a:xfrm>
              <a:off x="3306" y="939"/>
              <a:ext cx="761" cy="1021"/>
            </a:xfrm>
            <a:prstGeom prst="rect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81" name="Line 370"/>
            <p:cNvSpPr>
              <a:spLocks noChangeShapeType="1"/>
            </p:cNvSpPr>
            <p:nvPr/>
          </p:nvSpPr>
          <p:spPr bwMode="auto">
            <a:xfrm>
              <a:off x="3971" y="1398"/>
              <a:ext cx="231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82" name="Freeform 371"/>
            <p:cNvSpPr>
              <a:spLocks/>
            </p:cNvSpPr>
            <p:nvPr/>
          </p:nvSpPr>
          <p:spPr bwMode="auto">
            <a:xfrm>
              <a:off x="3088" y="1103"/>
              <a:ext cx="587" cy="231"/>
            </a:xfrm>
            <a:custGeom>
              <a:avLst/>
              <a:gdLst>
                <a:gd name="T0" fmla="*/ 587 w 587"/>
                <a:gd name="T1" fmla="*/ 231 h 231"/>
                <a:gd name="T2" fmla="*/ 324 w 587"/>
                <a:gd name="T3" fmla="*/ 231 h 231"/>
                <a:gd name="T4" fmla="*/ 324 w 587"/>
                <a:gd name="T5" fmla="*/ 0 h 231"/>
                <a:gd name="T6" fmla="*/ 0 w 587"/>
                <a:gd name="T7" fmla="*/ 0 h 23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7"/>
                <a:gd name="T13" fmla="*/ 0 h 231"/>
                <a:gd name="T14" fmla="*/ 587 w 587"/>
                <a:gd name="T15" fmla="*/ 231 h 23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7" h="231">
                  <a:moveTo>
                    <a:pt x="587" y="231"/>
                  </a:moveTo>
                  <a:lnTo>
                    <a:pt x="324" y="231"/>
                  </a:lnTo>
                  <a:lnTo>
                    <a:pt x="324" y="0"/>
                  </a:lnTo>
                  <a:lnTo>
                    <a:pt x="0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83" name="Line 372"/>
            <p:cNvSpPr>
              <a:spLocks noChangeShapeType="1"/>
            </p:cNvSpPr>
            <p:nvPr/>
          </p:nvSpPr>
          <p:spPr bwMode="auto">
            <a:xfrm>
              <a:off x="3088" y="1398"/>
              <a:ext cx="587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84" name="Freeform 373"/>
            <p:cNvSpPr>
              <a:spLocks/>
            </p:cNvSpPr>
            <p:nvPr/>
          </p:nvSpPr>
          <p:spPr bwMode="auto">
            <a:xfrm>
              <a:off x="3582" y="1462"/>
              <a:ext cx="93" cy="324"/>
            </a:xfrm>
            <a:custGeom>
              <a:avLst/>
              <a:gdLst>
                <a:gd name="T0" fmla="*/ 0 w 93"/>
                <a:gd name="T1" fmla="*/ 324 h 324"/>
                <a:gd name="T2" fmla="*/ 45 w 93"/>
                <a:gd name="T3" fmla="*/ 324 h 324"/>
                <a:gd name="T4" fmla="*/ 45 w 93"/>
                <a:gd name="T5" fmla="*/ 0 h 324"/>
                <a:gd name="T6" fmla="*/ 93 w 93"/>
                <a:gd name="T7" fmla="*/ 0 h 3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3"/>
                <a:gd name="T13" fmla="*/ 0 h 324"/>
                <a:gd name="T14" fmla="*/ 93 w 93"/>
                <a:gd name="T15" fmla="*/ 324 h 3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3" h="324">
                  <a:moveTo>
                    <a:pt x="0" y="324"/>
                  </a:moveTo>
                  <a:lnTo>
                    <a:pt x="45" y="324"/>
                  </a:lnTo>
                  <a:lnTo>
                    <a:pt x="45" y="0"/>
                  </a:lnTo>
                  <a:lnTo>
                    <a:pt x="93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85" name="Line 374"/>
            <p:cNvSpPr>
              <a:spLocks noChangeShapeType="1"/>
            </p:cNvSpPr>
            <p:nvPr/>
          </p:nvSpPr>
          <p:spPr bwMode="auto">
            <a:xfrm>
              <a:off x="3088" y="1786"/>
              <a:ext cx="279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87" name="Freeform 376"/>
            <p:cNvSpPr>
              <a:spLocks/>
            </p:cNvSpPr>
            <p:nvPr/>
          </p:nvSpPr>
          <p:spPr bwMode="auto">
            <a:xfrm>
              <a:off x="3201" y="1077"/>
              <a:ext cx="102" cy="52"/>
            </a:xfrm>
            <a:custGeom>
              <a:avLst/>
              <a:gdLst>
                <a:gd name="T0" fmla="*/ 102 w 102"/>
                <a:gd name="T1" fmla="*/ 26 h 52"/>
                <a:gd name="T2" fmla="*/ 0 w 102"/>
                <a:gd name="T3" fmla="*/ 0 h 52"/>
                <a:gd name="T4" fmla="*/ 0 w 102"/>
                <a:gd name="T5" fmla="*/ 52 h 52"/>
                <a:gd name="T6" fmla="*/ 102 w 102"/>
                <a:gd name="T7" fmla="*/ 26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52"/>
                <a:gd name="T14" fmla="*/ 102 w 102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52">
                  <a:moveTo>
                    <a:pt x="102" y="26"/>
                  </a:moveTo>
                  <a:lnTo>
                    <a:pt x="0" y="0"/>
                  </a:lnTo>
                  <a:lnTo>
                    <a:pt x="0" y="52"/>
                  </a:lnTo>
                  <a:lnTo>
                    <a:pt x="102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88" name="Freeform 377"/>
            <p:cNvSpPr>
              <a:spLocks/>
            </p:cNvSpPr>
            <p:nvPr/>
          </p:nvSpPr>
          <p:spPr bwMode="auto">
            <a:xfrm>
              <a:off x="3201" y="1376"/>
              <a:ext cx="102" cy="51"/>
            </a:xfrm>
            <a:custGeom>
              <a:avLst/>
              <a:gdLst>
                <a:gd name="T0" fmla="*/ 102 w 102"/>
                <a:gd name="T1" fmla="*/ 25 h 51"/>
                <a:gd name="T2" fmla="*/ 0 w 102"/>
                <a:gd name="T3" fmla="*/ 0 h 51"/>
                <a:gd name="T4" fmla="*/ 0 w 102"/>
                <a:gd name="T5" fmla="*/ 51 h 51"/>
                <a:gd name="T6" fmla="*/ 102 w 102"/>
                <a:gd name="T7" fmla="*/ 25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51"/>
                <a:gd name="T14" fmla="*/ 102 w 102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51">
                  <a:moveTo>
                    <a:pt x="102" y="25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102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89" name="Freeform 378"/>
            <p:cNvSpPr>
              <a:spLocks/>
            </p:cNvSpPr>
            <p:nvPr/>
          </p:nvSpPr>
          <p:spPr bwMode="auto">
            <a:xfrm>
              <a:off x="3201" y="1761"/>
              <a:ext cx="102" cy="51"/>
            </a:xfrm>
            <a:custGeom>
              <a:avLst/>
              <a:gdLst>
                <a:gd name="T0" fmla="*/ 102 w 102"/>
                <a:gd name="T1" fmla="*/ 25 h 51"/>
                <a:gd name="T2" fmla="*/ 0 w 102"/>
                <a:gd name="T3" fmla="*/ 0 h 51"/>
                <a:gd name="T4" fmla="*/ 0 w 102"/>
                <a:gd name="T5" fmla="*/ 51 h 51"/>
                <a:gd name="T6" fmla="*/ 102 w 102"/>
                <a:gd name="T7" fmla="*/ 25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51"/>
                <a:gd name="T14" fmla="*/ 102 w 102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51">
                  <a:moveTo>
                    <a:pt x="102" y="25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102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90" name="Rectangle 379"/>
            <p:cNvSpPr>
              <a:spLocks noChangeArrowheads="1"/>
            </p:cNvSpPr>
            <p:nvPr/>
          </p:nvSpPr>
          <p:spPr bwMode="auto">
            <a:xfrm>
              <a:off x="3094" y="905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800" dirty="0"/>
            </a:p>
          </p:txBody>
        </p:sp>
        <p:sp>
          <p:nvSpPr>
            <p:cNvPr id="18591" name="Rectangle 380"/>
            <p:cNvSpPr>
              <a:spLocks noChangeArrowheads="1"/>
            </p:cNvSpPr>
            <p:nvPr/>
          </p:nvSpPr>
          <p:spPr bwMode="auto">
            <a:xfrm>
              <a:off x="3094" y="1193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</a:t>
              </a:r>
            </a:p>
          </p:txBody>
        </p:sp>
        <p:sp>
          <p:nvSpPr>
            <p:cNvPr id="18592" name="Rectangle 381"/>
            <p:cNvSpPr>
              <a:spLocks noChangeArrowheads="1"/>
            </p:cNvSpPr>
            <p:nvPr/>
          </p:nvSpPr>
          <p:spPr bwMode="auto">
            <a:xfrm>
              <a:off x="3094" y="1594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s</a:t>
              </a:r>
            </a:p>
          </p:txBody>
        </p:sp>
        <p:sp>
          <p:nvSpPr>
            <p:cNvPr id="18593" name="Rectangle 382"/>
            <p:cNvSpPr>
              <a:spLocks noChangeArrowheads="1"/>
            </p:cNvSpPr>
            <p:nvPr/>
          </p:nvSpPr>
          <p:spPr bwMode="auto">
            <a:xfrm>
              <a:off x="4150" y="1193"/>
              <a:ext cx="8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F</a:t>
              </a:r>
              <a:endParaRPr lang="en-US" altLang="en-US" sz="1800" dirty="0"/>
            </a:p>
          </p:txBody>
        </p:sp>
        <p:sp>
          <p:nvSpPr>
            <p:cNvPr id="18599" name="Freeform 388"/>
            <p:cNvSpPr>
              <a:spLocks/>
            </p:cNvSpPr>
            <p:nvPr/>
          </p:nvSpPr>
          <p:spPr bwMode="auto">
            <a:xfrm>
              <a:off x="3675" y="1270"/>
              <a:ext cx="296" cy="260"/>
            </a:xfrm>
            <a:custGeom>
              <a:avLst/>
              <a:gdLst>
                <a:gd name="T0" fmla="*/ 0 w 92"/>
                <a:gd name="T1" fmla="*/ 260 h 81"/>
                <a:gd name="T2" fmla="*/ 167 w 92"/>
                <a:gd name="T3" fmla="*/ 260 h 81"/>
                <a:gd name="T4" fmla="*/ 296 w 92"/>
                <a:gd name="T5" fmla="*/ 128 h 81"/>
                <a:gd name="T6" fmla="*/ 167 w 92"/>
                <a:gd name="T7" fmla="*/ 0 h 81"/>
                <a:gd name="T8" fmla="*/ 0 w 92"/>
                <a:gd name="T9" fmla="*/ 0 h 81"/>
                <a:gd name="T10" fmla="*/ 0 w 92"/>
                <a:gd name="T11" fmla="*/ 26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2"/>
                <a:gd name="T19" fmla="*/ 0 h 81"/>
                <a:gd name="T20" fmla="*/ 92 w 92"/>
                <a:gd name="T21" fmla="*/ 81 h 8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2" h="81">
                  <a:moveTo>
                    <a:pt x="0" y="81"/>
                  </a:moveTo>
                  <a:cubicBezTo>
                    <a:pt x="52" y="81"/>
                    <a:pt x="52" y="81"/>
                    <a:pt x="52" y="81"/>
                  </a:cubicBezTo>
                  <a:cubicBezTo>
                    <a:pt x="74" y="81"/>
                    <a:pt x="92" y="63"/>
                    <a:pt x="92" y="40"/>
                  </a:cubicBezTo>
                  <a:cubicBezTo>
                    <a:pt x="92" y="18"/>
                    <a:pt x="74" y="0"/>
                    <a:pt x="5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1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600" name="Freeform 389"/>
            <p:cNvSpPr>
              <a:spLocks/>
            </p:cNvSpPr>
            <p:nvPr/>
          </p:nvSpPr>
          <p:spPr bwMode="auto">
            <a:xfrm>
              <a:off x="3367" y="1687"/>
              <a:ext cx="158" cy="199"/>
            </a:xfrm>
            <a:custGeom>
              <a:avLst/>
              <a:gdLst>
                <a:gd name="T0" fmla="*/ 0 w 158"/>
                <a:gd name="T1" fmla="*/ 199 h 199"/>
                <a:gd name="T2" fmla="*/ 158 w 158"/>
                <a:gd name="T3" fmla="*/ 99 h 199"/>
                <a:gd name="T4" fmla="*/ 0 w 158"/>
                <a:gd name="T5" fmla="*/ 0 h 199"/>
                <a:gd name="T6" fmla="*/ 0 w 158"/>
                <a:gd name="T7" fmla="*/ 199 h 19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8"/>
                <a:gd name="T13" fmla="*/ 0 h 199"/>
                <a:gd name="T14" fmla="*/ 158 w 158"/>
                <a:gd name="T15" fmla="*/ 199 h 19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8" h="199">
                  <a:moveTo>
                    <a:pt x="0" y="199"/>
                  </a:moveTo>
                  <a:lnTo>
                    <a:pt x="158" y="99"/>
                  </a:lnTo>
                  <a:lnTo>
                    <a:pt x="0" y="0"/>
                  </a:lnTo>
                  <a:lnTo>
                    <a:pt x="0" y="199"/>
                  </a:lnTo>
                  <a:close/>
                </a:path>
              </a:pathLst>
            </a:custGeom>
            <a:solidFill>
              <a:srgbClr val="FFFFFF"/>
            </a:solidFill>
            <a:ln w="11113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601" name="Oval 390"/>
            <p:cNvSpPr>
              <a:spLocks noChangeArrowheads="1"/>
            </p:cNvSpPr>
            <p:nvPr/>
          </p:nvSpPr>
          <p:spPr bwMode="auto">
            <a:xfrm>
              <a:off x="3531" y="1761"/>
              <a:ext cx="48" cy="51"/>
            </a:xfrm>
            <a:prstGeom prst="ellipse">
              <a:avLst/>
            </a:prstGeom>
            <a:solidFill>
              <a:srgbClr val="FFFFFF"/>
            </a:solidFill>
            <a:ln w="11113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" name="Group 533"/>
          <p:cNvGrpSpPr>
            <a:grpSpLocks/>
          </p:cNvGrpSpPr>
          <p:nvPr/>
        </p:nvGrpSpPr>
        <p:grpSpPr bwMode="auto">
          <a:xfrm>
            <a:off x="3573838" y="2895484"/>
            <a:ext cx="1390650" cy="2360613"/>
            <a:chOff x="4423" y="928"/>
            <a:chExt cx="876" cy="1487"/>
          </a:xfrm>
        </p:grpSpPr>
        <p:sp>
          <p:nvSpPr>
            <p:cNvPr id="18541" name="Rectangle 400"/>
            <p:cNvSpPr>
              <a:spLocks noChangeArrowheads="1"/>
            </p:cNvSpPr>
            <p:nvPr/>
          </p:nvSpPr>
          <p:spPr bwMode="auto">
            <a:xfrm>
              <a:off x="4423" y="936"/>
              <a:ext cx="876" cy="1479"/>
            </a:xfrm>
            <a:prstGeom prst="rect">
              <a:avLst/>
            </a:prstGeom>
            <a:solidFill>
              <a:srgbClr val="D4E0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8542" name="Rectangle 401"/>
            <p:cNvSpPr>
              <a:spLocks noChangeArrowheads="1"/>
            </p:cNvSpPr>
            <p:nvPr/>
          </p:nvSpPr>
          <p:spPr bwMode="auto">
            <a:xfrm>
              <a:off x="4479" y="928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800" dirty="0"/>
            </a:p>
          </p:txBody>
        </p:sp>
        <p:sp>
          <p:nvSpPr>
            <p:cNvPr id="18543" name="Rectangle 402"/>
            <p:cNvSpPr>
              <a:spLocks noChangeArrowheads="1"/>
            </p:cNvSpPr>
            <p:nvPr/>
          </p:nvSpPr>
          <p:spPr bwMode="auto">
            <a:xfrm>
              <a:off x="4476" y="1131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44" name="Rectangle 403"/>
            <p:cNvSpPr>
              <a:spLocks noChangeArrowheads="1"/>
            </p:cNvSpPr>
            <p:nvPr/>
          </p:nvSpPr>
          <p:spPr bwMode="auto">
            <a:xfrm>
              <a:off x="4476" y="1285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45" name="Rectangle 404"/>
            <p:cNvSpPr>
              <a:spLocks noChangeArrowheads="1"/>
            </p:cNvSpPr>
            <p:nvPr/>
          </p:nvSpPr>
          <p:spPr bwMode="auto">
            <a:xfrm>
              <a:off x="4476" y="1439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46" name="Rectangle 405"/>
            <p:cNvSpPr>
              <a:spLocks noChangeArrowheads="1"/>
            </p:cNvSpPr>
            <p:nvPr/>
          </p:nvSpPr>
          <p:spPr bwMode="auto">
            <a:xfrm>
              <a:off x="4476" y="1593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47" name="Rectangle 406"/>
            <p:cNvSpPr>
              <a:spLocks noChangeArrowheads="1"/>
            </p:cNvSpPr>
            <p:nvPr/>
          </p:nvSpPr>
          <p:spPr bwMode="auto">
            <a:xfrm>
              <a:off x="4476" y="1747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48" name="Rectangle 407"/>
            <p:cNvSpPr>
              <a:spLocks noChangeArrowheads="1"/>
            </p:cNvSpPr>
            <p:nvPr/>
          </p:nvSpPr>
          <p:spPr bwMode="auto">
            <a:xfrm>
              <a:off x="4476" y="1901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49" name="Rectangle 408"/>
            <p:cNvSpPr>
              <a:spLocks noChangeArrowheads="1"/>
            </p:cNvSpPr>
            <p:nvPr/>
          </p:nvSpPr>
          <p:spPr bwMode="auto">
            <a:xfrm>
              <a:off x="4476" y="2055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50" name="Rectangle 409"/>
            <p:cNvSpPr>
              <a:spLocks noChangeArrowheads="1"/>
            </p:cNvSpPr>
            <p:nvPr/>
          </p:nvSpPr>
          <p:spPr bwMode="auto">
            <a:xfrm>
              <a:off x="4476" y="2209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51" name="Rectangle 410"/>
            <p:cNvSpPr>
              <a:spLocks noChangeArrowheads="1"/>
            </p:cNvSpPr>
            <p:nvPr/>
          </p:nvSpPr>
          <p:spPr bwMode="auto">
            <a:xfrm>
              <a:off x="4638" y="928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</a:t>
              </a:r>
              <a:endParaRPr lang="en-US" altLang="en-US" sz="1800" dirty="0"/>
            </a:p>
          </p:txBody>
        </p:sp>
        <p:sp>
          <p:nvSpPr>
            <p:cNvPr id="18552" name="Rectangle 411"/>
            <p:cNvSpPr>
              <a:spLocks noChangeArrowheads="1"/>
            </p:cNvSpPr>
            <p:nvPr/>
          </p:nvSpPr>
          <p:spPr bwMode="auto">
            <a:xfrm>
              <a:off x="4638" y="1131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53" name="Rectangle 412"/>
            <p:cNvSpPr>
              <a:spLocks noChangeArrowheads="1"/>
            </p:cNvSpPr>
            <p:nvPr/>
          </p:nvSpPr>
          <p:spPr bwMode="auto">
            <a:xfrm>
              <a:off x="4638" y="1285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54" name="Rectangle 413"/>
            <p:cNvSpPr>
              <a:spLocks noChangeArrowheads="1"/>
            </p:cNvSpPr>
            <p:nvPr/>
          </p:nvSpPr>
          <p:spPr bwMode="auto">
            <a:xfrm>
              <a:off x="4638" y="1439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55" name="Rectangle 414"/>
            <p:cNvSpPr>
              <a:spLocks noChangeArrowheads="1"/>
            </p:cNvSpPr>
            <p:nvPr/>
          </p:nvSpPr>
          <p:spPr bwMode="auto">
            <a:xfrm>
              <a:off x="4638" y="1593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56" name="Rectangle 415"/>
            <p:cNvSpPr>
              <a:spLocks noChangeArrowheads="1"/>
            </p:cNvSpPr>
            <p:nvPr/>
          </p:nvSpPr>
          <p:spPr bwMode="auto">
            <a:xfrm>
              <a:off x="4638" y="1747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57" name="Rectangle 416"/>
            <p:cNvSpPr>
              <a:spLocks noChangeArrowheads="1"/>
            </p:cNvSpPr>
            <p:nvPr/>
          </p:nvSpPr>
          <p:spPr bwMode="auto">
            <a:xfrm>
              <a:off x="4638" y="1901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58" name="Rectangle 417"/>
            <p:cNvSpPr>
              <a:spLocks noChangeArrowheads="1"/>
            </p:cNvSpPr>
            <p:nvPr/>
          </p:nvSpPr>
          <p:spPr bwMode="auto">
            <a:xfrm>
              <a:off x="4638" y="2055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59" name="Rectangle 418"/>
            <p:cNvSpPr>
              <a:spLocks noChangeArrowheads="1"/>
            </p:cNvSpPr>
            <p:nvPr/>
          </p:nvSpPr>
          <p:spPr bwMode="auto">
            <a:xfrm>
              <a:off x="4638" y="2209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60" name="Rectangle 419"/>
            <p:cNvSpPr>
              <a:spLocks noChangeArrowheads="1"/>
            </p:cNvSpPr>
            <p:nvPr/>
          </p:nvSpPr>
          <p:spPr bwMode="auto">
            <a:xfrm>
              <a:off x="4812" y="928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s</a:t>
              </a:r>
              <a:endParaRPr lang="en-US" altLang="en-US" sz="1800" dirty="0"/>
            </a:p>
          </p:txBody>
        </p:sp>
        <p:sp>
          <p:nvSpPr>
            <p:cNvPr id="18561" name="Rectangle 420"/>
            <p:cNvSpPr>
              <a:spLocks noChangeArrowheads="1"/>
            </p:cNvSpPr>
            <p:nvPr/>
          </p:nvSpPr>
          <p:spPr bwMode="auto">
            <a:xfrm>
              <a:off x="4809" y="1131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62" name="Rectangle 421"/>
            <p:cNvSpPr>
              <a:spLocks noChangeArrowheads="1"/>
            </p:cNvSpPr>
            <p:nvPr/>
          </p:nvSpPr>
          <p:spPr bwMode="auto">
            <a:xfrm>
              <a:off x="4809" y="1285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63" name="Rectangle 422"/>
            <p:cNvSpPr>
              <a:spLocks noChangeArrowheads="1"/>
            </p:cNvSpPr>
            <p:nvPr/>
          </p:nvSpPr>
          <p:spPr bwMode="auto">
            <a:xfrm>
              <a:off x="4809" y="1439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64" name="Rectangle 423"/>
            <p:cNvSpPr>
              <a:spLocks noChangeArrowheads="1"/>
            </p:cNvSpPr>
            <p:nvPr/>
          </p:nvSpPr>
          <p:spPr bwMode="auto">
            <a:xfrm>
              <a:off x="4809" y="1593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65" name="Rectangle 424"/>
            <p:cNvSpPr>
              <a:spLocks noChangeArrowheads="1"/>
            </p:cNvSpPr>
            <p:nvPr/>
          </p:nvSpPr>
          <p:spPr bwMode="auto">
            <a:xfrm>
              <a:off x="4809" y="1747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66" name="Rectangle 425"/>
            <p:cNvSpPr>
              <a:spLocks noChangeArrowheads="1"/>
            </p:cNvSpPr>
            <p:nvPr/>
          </p:nvSpPr>
          <p:spPr bwMode="auto">
            <a:xfrm>
              <a:off x="4809" y="1901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67" name="Rectangle 426"/>
            <p:cNvSpPr>
              <a:spLocks noChangeArrowheads="1"/>
            </p:cNvSpPr>
            <p:nvPr/>
          </p:nvSpPr>
          <p:spPr bwMode="auto">
            <a:xfrm>
              <a:off x="4809" y="2055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18568" name="Rectangle 427"/>
            <p:cNvSpPr>
              <a:spLocks noChangeArrowheads="1"/>
            </p:cNvSpPr>
            <p:nvPr/>
          </p:nvSpPr>
          <p:spPr bwMode="auto">
            <a:xfrm>
              <a:off x="4809" y="2209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18569" name="Rectangle 428"/>
            <p:cNvSpPr>
              <a:spLocks noChangeArrowheads="1"/>
            </p:cNvSpPr>
            <p:nvPr/>
          </p:nvSpPr>
          <p:spPr bwMode="auto">
            <a:xfrm>
              <a:off x="5092" y="928"/>
              <a:ext cx="8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F</a:t>
              </a:r>
              <a:endParaRPr lang="en-US" altLang="en-US" sz="1800" dirty="0"/>
            </a:p>
          </p:txBody>
        </p:sp>
        <p:sp>
          <p:nvSpPr>
            <p:cNvPr id="18578" name="Line 437"/>
            <p:cNvSpPr>
              <a:spLocks noChangeShapeType="1"/>
            </p:cNvSpPr>
            <p:nvPr/>
          </p:nvSpPr>
          <p:spPr bwMode="auto">
            <a:xfrm>
              <a:off x="4423" y="1119"/>
              <a:ext cx="876" cy="0"/>
            </a:xfrm>
            <a:prstGeom prst="line">
              <a:avLst/>
            </a:prstGeom>
            <a:noFill/>
            <a:ln w="20638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79" name="Line 438"/>
            <p:cNvSpPr>
              <a:spLocks noChangeShapeType="1"/>
            </p:cNvSpPr>
            <p:nvPr/>
          </p:nvSpPr>
          <p:spPr bwMode="auto">
            <a:xfrm>
              <a:off x="4988" y="939"/>
              <a:ext cx="0" cy="1473"/>
            </a:xfrm>
            <a:prstGeom prst="line">
              <a:avLst/>
            </a:prstGeom>
            <a:noFill/>
            <a:ln w="20638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35287" name="Freeform 439"/>
          <p:cNvSpPr>
            <a:spLocks/>
          </p:cNvSpPr>
          <p:nvPr/>
        </p:nvSpPr>
        <p:spPr bwMode="auto">
          <a:xfrm>
            <a:off x="4542216" y="3152659"/>
            <a:ext cx="304800" cy="2022475"/>
          </a:xfrm>
          <a:custGeom>
            <a:avLst/>
            <a:gdLst>
              <a:gd name="T0" fmla="*/ 0 w 60"/>
              <a:gd name="T1" fmla="*/ 157926 h 397"/>
              <a:gd name="T2" fmla="*/ 152400 w 60"/>
              <a:gd name="T3" fmla="*/ 0 h 397"/>
              <a:gd name="T4" fmla="*/ 304800 w 60"/>
              <a:gd name="T5" fmla="*/ 157926 h 397"/>
              <a:gd name="T6" fmla="*/ 304800 w 60"/>
              <a:gd name="T7" fmla="*/ 1869643 h 397"/>
              <a:gd name="T8" fmla="*/ 152400 w 60"/>
              <a:gd name="T9" fmla="*/ 2022475 h 397"/>
              <a:gd name="T10" fmla="*/ 0 w 60"/>
              <a:gd name="T11" fmla="*/ 1869643 h 397"/>
              <a:gd name="T12" fmla="*/ 0 w 60"/>
              <a:gd name="T13" fmla="*/ 157926 h 3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0"/>
              <a:gd name="T22" fmla="*/ 0 h 397"/>
              <a:gd name="T23" fmla="*/ 60 w 60"/>
              <a:gd name="T24" fmla="*/ 397 h 39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0" h="397">
                <a:moveTo>
                  <a:pt x="0" y="31"/>
                </a:moveTo>
                <a:cubicBezTo>
                  <a:pt x="0" y="14"/>
                  <a:pt x="13" y="0"/>
                  <a:pt x="30" y="0"/>
                </a:cubicBezTo>
                <a:cubicBezTo>
                  <a:pt x="47" y="0"/>
                  <a:pt x="60" y="14"/>
                  <a:pt x="60" y="31"/>
                </a:cubicBezTo>
                <a:cubicBezTo>
                  <a:pt x="60" y="367"/>
                  <a:pt x="60" y="367"/>
                  <a:pt x="60" y="367"/>
                </a:cubicBezTo>
                <a:cubicBezTo>
                  <a:pt x="60" y="383"/>
                  <a:pt x="47" y="397"/>
                  <a:pt x="30" y="397"/>
                </a:cubicBezTo>
                <a:cubicBezTo>
                  <a:pt x="13" y="397"/>
                  <a:pt x="0" y="383"/>
                  <a:pt x="0" y="367"/>
                </a:cubicBezTo>
                <a:lnTo>
                  <a:pt x="0" y="31"/>
                </a:lnTo>
                <a:close/>
              </a:path>
            </a:pathLst>
          </a:custGeom>
          <a:noFill/>
          <a:ln w="11113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grpSp>
        <p:nvGrpSpPr>
          <p:cNvPr id="6" name="Group 539"/>
          <p:cNvGrpSpPr>
            <a:grpSpLocks/>
          </p:cNvGrpSpPr>
          <p:nvPr/>
        </p:nvGrpSpPr>
        <p:grpSpPr bwMode="auto">
          <a:xfrm>
            <a:off x="6777110" y="3100155"/>
            <a:ext cx="1498600" cy="2462213"/>
            <a:chOff x="3043" y="2255"/>
            <a:chExt cx="944" cy="1551"/>
          </a:xfrm>
        </p:grpSpPr>
        <p:sp>
          <p:nvSpPr>
            <p:cNvPr id="18508" name="Rectangle 440"/>
            <p:cNvSpPr>
              <a:spLocks noChangeArrowheads="1"/>
            </p:cNvSpPr>
            <p:nvPr/>
          </p:nvSpPr>
          <p:spPr bwMode="auto">
            <a:xfrm>
              <a:off x="3611" y="2255"/>
              <a:ext cx="376" cy="1145"/>
            </a:xfrm>
            <a:prstGeom prst="rect">
              <a:avLst/>
            </a:prstGeom>
            <a:solidFill>
              <a:srgbClr val="D4E0F3"/>
            </a:solidFill>
            <a:ln w="15875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509" name="Line 441"/>
            <p:cNvSpPr>
              <a:spLocks noChangeShapeType="1"/>
            </p:cNvSpPr>
            <p:nvPr/>
          </p:nvSpPr>
          <p:spPr bwMode="auto">
            <a:xfrm>
              <a:off x="3608" y="2396"/>
              <a:ext cx="379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0" name="Line 442"/>
            <p:cNvSpPr>
              <a:spLocks noChangeShapeType="1"/>
            </p:cNvSpPr>
            <p:nvPr/>
          </p:nvSpPr>
          <p:spPr bwMode="auto">
            <a:xfrm>
              <a:off x="3608" y="2540"/>
              <a:ext cx="379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1" name="Line 443"/>
            <p:cNvSpPr>
              <a:spLocks noChangeShapeType="1"/>
            </p:cNvSpPr>
            <p:nvPr/>
          </p:nvSpPr>
          <p:spPr bwMode="auto">
            <a:xfrm>
              <a:off x="3608" y="2685"/>
              <a:ext cx="379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2" name="Line 444"/>
            <p:cNvSpPr>
              <a:spLocks noChangeShapeType="1"/>
            </p:cNvSpPr>
            <p:nvPr/>
          </p:nvSpPr>
          <p:spPr bwMode="auto">
            <a:xfrm>
              <a:off x="3608" y="2826"/>
              <a:ext cx="379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3" name="Line 445"/>
            <p:cNvSpPr>
              <a:spLocks noChangeShapeType="1"/>
            </p:cNvSpPr>
            <p:nvPr/>
          </p:nvSpPr>
          <p:spPr bwMode="auto">
            <a:xfrm>
              <a:off x="3608" y="2970"/>
              <a:ext cx="379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4" name="Line 446"/>
            <p:cNvSpPr>
              <a:spLocks noChangeShapeType="1"/>
            </p:cNvSpPr>
            <p:nvPr/>
          </p:nvSpPr>
          <p:spPr bwMode="auto">
            <a:xfrm>
              <a:off x="3608" y="3115"/>
              <a:ext cx="379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5" name="Line 447"/>
            <p:cNvSpPr>
              <a:spLocks noChangeShapeType="1"/>
            </p:cNvSpPr>
            <p:nvPr/>
          </p:nvSpPr>
          <p:spPr bwMode="auto">
            <a:xfrm>
              <a:off x="3608" y="3256"/>
              <a:ext cx="379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517" name="Rectangle 460"/>
            <p:cNvSpPr>
              <a:spLocks noChangeArrowheads="1"/>
            </p:cNvSpPr>
            <p:nvPr/>
          </p:nvSpPr>
          <p:spPr bwMode="auto">
            <a:xfrm>
              <a:off x="3802" y="3435"/>
              <a:ext cx="7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D</a:t>
              </a:r>
              <a:endParaRPr lang="en-US" altLang="en-US"/>
            </a:p>
          </p:txBody>
        </p:sp>
        <p:sp>
          <p:nvSpPr>
            <p:cNvPr id="18518" name="Rectangle 461"/>
            <p:cNvSpPr>
              <a:spLocks noChangeArrowheads="1"/>
            </p:cNvSpPr>
            <p:nvPr/>
          </p:nvSpPr>
          <p:spPr bwMode="auto">
            <a:xfrm>
              <a:off x="3892" y="3632"/>
              <a:ext cx="8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F</a:t>
              </a:r>
              <a:endParaRPr lang="en-US" altLang="en-US" sz="1800" dirty="0"/>
            </a:p>
          </p:txBody>
        </p:sp>
        <p:sp>
          <p:nvSpPr>
            <p:cNvPr id="18519" name="Rectangle 462"/>
            <p:cNvSpPr>
              <a:spLocks noChangeArrowheads="1"/>
            </p:cNvSpPr>
            <p:nvPr/>
          </p:nvSpPr>
          <p:spPr bwMode="auto">
            <a:xfrm>
              <a:off x="3189" y="3631"/>
              <a:ext cx="14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Times" pitchFamily="18" charset="0"/>
                </a:rPr>
                <a:t>IC</a:t>
              </a:r>
              <a:endParaRPr lang="en-US" altLang="en-US" sz="1800" dirty="0"/>
            </a:p>
          </p:txBody>
        </p:sp>
        <p:sp>
          <p:nvSpPr>
            <p:cNvPr id="18520" name="Rectangle 463"/>
            <p:cNvSpPr>
              <a:spLocks noChangeArrowheads="1"/>
            </p:cNvSpPr>
            <p:nvPr/>
          </p:nvSpPr>
          <p:spPr bwMode="auto">
            <a:xfrm>
              <a:off x="3532" y="2271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8521" name="Rectangle 464"/>
            <p:cNvSpPr>
              <a:spLocks noChangeArrowheads="1"/>
            </p:cNvSpPr>
            <p:nvPr/>
          </p:nvSpPr>
          <p:spPr bwMode="auto">
            <a:xfrm>
              <a:off x="3532" y="2411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8522" name="Rectangle 465"/>
            <p:cNvSpPr>
              <a:spLocks noChangeArrowheads="1"/>
            </p:cNvSpPr>
            <p:nvPr/>
          </p:nvSpPr>
          <p:spPr bwMode="auto">
            <a:xfrm>
              <a:off x="3532" y="2556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/>
            </a:p>
          </p:txBody>
        </p:sp>
        <p:sp>
          <p:nvSpPr>
            <p:cNvPr id="18523" name="Rectangle 466"/>
            <p:cNvSpPr>
              <a:spLocks noChangeArrowheads="1"/>
            </p:cNvSpPr>
            <p:nvPr/>
          </p:nvSpPr>
          <p:spPr bwMode="auto">
            <a:xfrm>
              <a:off x="3532" y="2697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/>
            </a:p>
          </p:txBody>
        </p:sp>
        <p:sp>
          <p:nvSpPr>
            <p:cNvPr id="18524" name="Rectangle 467"/>
            <p:cNvSpPr>
              <a:spLocks noChangeArrowheads="1"/>
            </p:cNvSpPr>
            <p:nvPr/>
          </p:nvSpPr>
          <p:spPr bwMode="auto">
            <a:xfrm>
              <a:off x="3532" y="2842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 altLang="en-US"/>
            </a:p>
          </p:txBody>
        </p:sp>
        <p:sp>
          <p:nvSpPr>
            <p:cNvPr id="18525" name="Rectangle 468"/>
            <p:cNvSpPr>
              <a:spLocks noChangeArrowheads="1"/>
            </p:cNvSpPr>
            <p:nvPr/>
          </p:nvSpPr>
          <p:spPr bwMode="auto">
            <a:xfrm>
              <a:off x="3532" y="2982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 altLang="en-US"/>
            </a:p>
          </p:txBody>
        </p:sp>
        <p:sp>
          <p:nvSpPr>
            <p:cNvPr id="18526" name="Rectangle 469"/>
            <p:cNvSpPr>
              <a:spLocks noChangeArrowheads="1"/>
            </p:cNvSpPr>
            <p:nvPr/>
          </p:nvSpPr>
          <p:spPr bwMode="auto">
            <a:xfrm>
              <a:off x="3532" y="3129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6</a:t>
              </a:r>
              <a:endParaRPr lang="en-US" altLang="en-US"/>
            </a:p>
          </p:txBody>
        </p:sp>
        <p:sp>
          <p:nvSpPr>
            <p:cNvPr id="18527" name="Rectangle 470"/>
            <p:cNvSpPr>
              <a:spLocks noChangeArrowheads="1"/>
            </p:cNvSpPr>
            <p:nvPr/>
          </p:nvSpPr>
          <p:spPr bwMode="auto">
            <a:xfrm>
              <a:off x="3532" y="3268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 dirty="0">
                  <a:solidFill>
                    <a:srgbClr val="000000"/>
                  </a:solidFill>
                  <a:latin typeface="Helvetica" pitchFamily="34" charset="0"/>
                </a:rPr>
                <a:t>7</a:t>
              </a:r>
              <a:endParaRPr lang="en-US" altLang="en-US" dirty="0"/>
            </a:p>
          </p:txBody>
        </p:sp>
        <p:sp>
          <p:nvSpPr>
            <p:cNvPr id="18532" name="Rectangle 475"/>
            <p:cNvSpPr>
              <a:spLocks noChangeArrowheads="1"/>
            </p:cNvSpPr>
            <p:nvPr/>
          </p:nvSpPr>
          <p:spPr bwMode="auto">
            <a:xfrm>
              <a:off x="3369" y="2781"/>
              <a:ext cx="11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a2</a:t>
              </a:r>
              <a:endParaRPr lang="en-US" altLang="en-US"/>
            </a:p>
          </p:txBody>
        </p:sp>
        <p:sp>
          <p:nvSpPr>
            <p:cNvPr id="18533" name="Rectangle 476"/>
            <p:cNvSpPr>
              <a:spLocks noChangeArrowheads="1"/>
            </p:cNvSpPr>
            <p:nvPr/>
          </p:nvSpPr>
          <p:spPr bwMode="auto">
            <a:xfrm>
              <a:off x="3369" y="2890"/>
              <a:ext cx="11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a1</a:t>
              </a:r>
              <a:endParaRPr lang="en-US" altLang="en-US"/>
            </a:p>
          </p:txBody>
        </p:sp>
        <p:sp>
          <p:nvSpPr>
            <p:cNvPr id="18534" name="Rectangle 477"/>
            <p:cNvSpPr>
              <a:spLocks noChangeArrowheads="1"/>
            </p:cNvSpPr>
            <p:nvPr/>
          </p:nvSpPr>
          <p:spPr bwMode="auto">
            <a:xfrm>
              <a:off x="3369" y="3009"/>
              <a:ext cx="11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a0</a:t>
              </a:r>
              <a:endParaRPr lang="en-US" altLang="en-US"/>
            </a:p>
          </p:txBody>
        </p:sp>
        <p:sp>
          <p:nvSpPr>
            <p:cNvPr id="18535" name="Rectangle 478"/>
            <p:cNvSpPr>
              <a:spLocks noChangeArrowheads="1"/>
            </p:cNvSpPr>
            <p:nvPr/>
          </p:nvSpPr>
          <p:spPr bwMode="auto">
            <a:xfrm>
              <a:off x="3050" y="2743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800" dirty="0"/>
            </a:p>
          </p:txBody>
        </p:sp>
        <p:sp>
          <p:nvSpPr>
            <p:cNvPr id="18536" name="Rectangle 479"/>
            <p:cNvSpPr>
              <a:spLocks noChangeArrowheads="1"/>
            </p:cNvSpPr>
            <p:nvPr/>
          </p:nvSpPr>
          <p:spPr bwMode="auto">
            <a:xfrm>
              <a:off x="3045" y="2877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</a:t>
              </a:r>
              <a:endParaRPr lang="en-US" altLang="en-US" sz="1800" dirty="0"/>
            </a:p>
          </p:txBody>
        </p:sp>
        <p:sp>
          <p:nvSpPr>
            <p:cNvPr id="18537" name="Rectangle 480"/>
            <p:cNvSpPr>
              <a:spLocks noChangeArrowheads="1"/>
            </p:cNvSpPr>
            <p:nvPr/>
          </p:nvSpPr>
          <p:spPr bwMode="auto">
            <a:xfrm>
              <a:off x="3043" y="3031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s</a:t>
              </a:r>
              <a:endParaRPr lang="en-US" altLang="en-US" sz="1800" dirty="0"/>
            </a:p>
          </p:txBody>
        </p:sp>
      </p:grpSp>
      <p:sp>
        <p:nvSpPr>
          <p:cNvPr id="18501" name="Rectangle 481"/>
          <p:cNvSpPr>
            <a:spLocks noChangeArrowheads="1"/>
          </p:cNvSpPr>
          <p:nvPr/>
        </p:nvSpPr>
        <p:spPr bwMode="auto">
          <a:xfrm>
            <a:off x="5243989" y="3482270"/>
            <a:ext cx="138499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programming</a:t>
            </a:r>
          </a:p>
          <a:p>
            <a:pPr algn="ctr"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in seconds</a:t>
            </a:r>
            <a:endParaRPr lang="en-US" altLang="en-US" sz="1800" dirty="0"/>
          </a:p>
        </p:txBody>
      </p:sp>
      <p:grpSp>
        <p:nvGrpSpPr>
          <p:cNvPr id="8" name="Group 537"/>
          <p:cNvGrpSpPr>
            <a:grpSpLocks/>
          </p:cNvGrpSpPr>
          <p:nvPr/>
        </p:nvGrpSpPr>
        <p:grpSpPr bwMode="auto">
          <a:xfrm>
            <a:off x="7916991" y="3076341"/>
            <a:ext cx="157164" cy="1893888"/>
            <a:chOff x="3761" y="2240"/>
            <a:chExt cx="99" cy="1193"/>
          </a:xfrm>
        </p:grpSpPr>
        <p:sp>
          <p:nvSpPr>
            <p:cNvPr id="18493" name="Rectangle 452"/>
            <p:cNvSpPr>
              <a:spLocks noChangeArrowheads="1"/>
            </p:cNvSpPr>
            <p:nvPr/>
          </p:nvSpPr>
          <p:spPr bwMode="auto">
            <a:xfrm>
              <a:off x="3770" y="2240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18494" name="Rectangle 453"/>
            <p:cNvSpPr>
              <a:spLocks noChangeArrowheads="1"/>
            </p:cNvSpPr>
            <p:nvPr/>
          </p:nvSpPr>
          <p:spPr bwMode="auto">
            <a:xfrm>
              <a:off x="3761" y="2388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18495" name="Rectangle 454"/>
            <p:cNvSpPr>
              <a:spLocks noChangeArrowheads="1"/>
            </p:cNvSpPr>
            <p:nvPr/>
          </p:nvSpPr>
          <p:spPr bwMode="auto">
            <a:xfrm>
              <a:off x="3766" y="2529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18496" name="Rectangle 455"/>
            <p:cNvSpPr>
              <a:spLocks noChangeArrowheads="1"/>
            </p:cNvSpPr>
            <p:nvPr/>
          </p:nvSpPr>
          <p:spPr bwMode="auto">
            <a:xfrm>
              <a:off x="3770" y="2679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18497" name="Rectangle 456"/>
            <p:cNvSpPr>
              <a:spLocks noChangeArrowheads="1"/>
            </p:cNvSpPr>
            <p:nvPr/>
          </p:nvSpPr>
          <p:spPr bwMode="auto">
            <a:xfrm>
              <a:off x="3770" y="2825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18498" name="Rectangle 457"/>
            <p:cNvSpPr>
              <a:spLocks noChangeArrowheads="1"/>
            </p:cNvSpPr>
            <p:nvPr/>
          </p:nvSpPr>
          <p:spPr bwMode="auto">
            <a:xfrm>
              <a:off x="3770" y="2965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18499" name="Rectangle 458"/>
            <p:cNvSpPr>
              <a:spLocks noChangeArrowheads="1"/>
            </p:cNvSpPr>
            <p:nvPr/>
          </p:nvSpPr>
          <p:spPr bwMode="auto">
            <a:xfrm>
              <a:off x="3770" y="3112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18500" name="Rectangle 459"/>
            <p:cNvSpPr>
              <a:spLocks noChangeArrowheads="1"/>
            </p:cNvSpPr>
            <p:nvPr/>
          </p:nvSpPr>
          <p:spPr bwMode="auto">
            <a:xfrm>
              <a:off x="3779" y="3259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9" name="Group 540"/>
          <p:cNvGrpSpPr>
            <a:grpSpLocks noChangeAspect="1"/>
          </p:cNvGrpSpPr>
          <p:nvPr/>
        </p:nvGrpSpPr>
        <p:grpSpPr bwMode="auto">
          <a:xfrm>
            <a:off x="5188419" y="4567505"/>
            <a:ext cx="1125024" cy="812990"/>
            <a:chOff x="4510" y="3054"/>
            <a:chExt cx="667" cy="482"/>
          </a:xfrm>
        </p:grpSpPr>
        <p:sp>
          <p:nvSpPr>
            <p:cNvPr id="18447" name="Rectangle 485"/>
            <p:cNvSpPr>
              <a:spLocks noChangeArrowheads="1"/>
            </p:cNvSpPr>
            <p:nvPr/>
          </p:nvSpPr>
          <p:spPr bwMode="auto">
            <a:xfrm>
              <a:off x="4788" y="3411"/>
              <a:ext cx="6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F</a:t>
              </a:r>
              <a:endParaRPr lang="en-US" altLang="en-US"/>
            </a:p>
          </p:txBody>
        </p:sp>
        <p:sp>
          <p:nvSpPr>
            <p:cNvPr id="18448" name="Rectangle 486"/>
            <p:cNvSpPr>
              <a:spLocks noChangeArrowheads="1"/>
            </p:cNvSpPr>
            <p:nvPr/>
          </p:nvSpPr>
          <p:spPr bwMode="auto">
            <a:xfrm>
              <a:off x="4845" y="3411"/>
              <a:ext cx="11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ab</a:t>
              </a:r>
              <a:endParaRPr lang="en-US" altLang="en-US"/>
            </a:p>
          </p:txBody>
        </p:sp>
        <p:sp>
          <p:nvSpPr>
            <p:cNvPr id="18449" name="Freeform 487"/>
            <p:cNvSpPr>
              <a:spLocks/>
            </p:cNvSpPr>
            <p:nvPr/>
          </p:nvSpPr>
          <p:spPr bwMode="auto">
            <a:xfrm>
              <a:off x="4895" y="3124"/>
              <a:ext cx="96" cy="93"/>
            </a:xfrm>
            <a:custGeom>
              <a:avLst/>
              <a:gdLst>
                <a:gd name="T0" fmla="*/ 70 w 96"/>
                <a:gd name="T1" fmla="*/ 32 h 93"/>
                <a:gd name="T2" fmla="*/ 96 w 96"/>
                <a:gd name="T3" fmla="*/ 32 h 93"/>
                <a:gd name="T4" fmla="*/ 45 w 96"/>
                <a:gd name="T5" fmla="*/ 0 h 93"/>
                <a:gd name="T6" fmla="*/ 0 w 96"/>
                <a:gd name="T7" fmla="*/ 32 h 93"/>
                <a:gd name="T8" fmla="*/ 22 w 96"/>
                <a:gd name="T9" fmla="*/ 32 h 93"/>
                <a:gd name="T10" fmla="*/ 22 w 96"/>
                <a:gd name="T11" fmla="*/ 71 h 93"/>
                <a:gd name="T12" fmla="*/ 9 w 96"/>
                <a:gd name="T13" fmla="*/ 90 h 93"/>
                <a:gd name="T14" fmla="*/ 16 w 96"/>
                <a:gd name="T15" fmla="*/ 93 h 93"/>
                <a:gd name="T16" fmla="*/ 29 w 96"/>
                <a:gd name="T17" fmla="*/ 74 h 93"/>
                <a:gd name="T18" fmla="*/ 45 w 96"/>
                <a:gd name="T19" fmla="*/ 74 h 93"/>
                <a:gd name="T20" fmla="*/ 45 w 96"/>
                <a:gd name="T21" fmla="*/ 93 h 93"/>
                <a:gd name="T22" fmla="*/ 51 w 96"/>
                <a:gd name="T23" fmla="*/ 93 h 93"/>
                <a:gd name="T24" fmla="*/ 51 w 96"/>
                <a:gd name="T25" fmla="*/ 74 h 93"/>
                <a:gd name="T26" fmla="*/ 64 w 96"/>
                <a:gd name="T27" fmla="*/ 74 h 93"/>
                <a:gd name="T28" fmla="*/ 80 w 96"/>
                <a:gd name="T29" fmla="*/ 93 h 93"/>
                <a:gd name="T30" fmla="*/ 86 w 96"/>
                <a:gd name="T31" fmla="*/ 90 h 93"/>
                <a:gd name="T32" fmla="*/ 70 w 96"/>
                <a:gd name="T33" fmla="*/ 71 h 93"/>
                <a:gd name="T34" fmla="*/ 70 w 96"/>
                <a:gd name="T35" fmla="*/ 32 h 93"/>
                <a:gd name="T36" fmla="*/ 70 w 96"/>
                <a:gd name="T37" fmla="*/ 32 h 93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96"/>
                <a:gd name="T58" fmla="*/ 0 h 93"/>
                <a:gd name="T59" fmla="*/ 96 w 96"/>
                <a:gd name="T60" fmla="*/ 93 h 93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96" h="93">
                  <a:moveTo>
                    <a:pt x="70" y="32"/>
                  </a:moveTo>
                  <a:lnTo>
                    <a:pt x="96" y="32"/>
                  </a:lnTo>
                  <a:lnTo>
                    <a:pt x="45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71"/>
                  </a:lnTo>
                  <a:lnTo>
                    <a:pt x="9" y="90"/>
                  </a:lnTo>
                  <a:lnTo>
                    <a:pt x="16" y="93"/>
                  </a:lnTo>
                  <a:lnTo>
                    <a:pt x="29" y="74"/>
                  </a:lnTo>
                  <a:lnTo>
                    <a:pt x="45" y="74"/>
                  </a:lnTo>
                  <a:lnTo>
                    <a:pt x="45" y="93"/>
                  </a:lnTo>
                  <a:lnTo>
                    <a:pt x="51" y="93"/>
                  </a:lnTo>
                  <a:lnTo>
                    <a:pt x="51" y="74"/>
                  </a:lnTo>
                  <a:lnTo>
                    <a:pt x="64" y="74"/>
                  </a:lnTo>
                  <a:lnTo>
                    <a:pt x="80" y="93"/>
                  </a:lnTo>
                  <a:lnTo>
                    <a:pt x="86" y="90"/>
                  </a:lnTo>
                  <a:lnTo>
                    <a:pt x="70" y="71"/>
                  </a:lnTo>
                  <a:lnTo>
                    <a:pt x="70" y="32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50" name="Freeform 488"/>
            <p:cNvSpPr>
              <a:spLocks/>
            </p:cNvSpPr>
            <p:nvPr/>
          </p:nvSpPr>
          <p:spPr bwMode="auto">
            <a:xfrm>
              <a:off x="4927" y="3156"/>
              <a:ext cx="32" cy="36"/>
            </a:xfrm>
            <a:custGeom>
              <a:avLst/>
              <a:gdLst>
                <a:gd name="T0" fmla="*/ 0 w 32"/>
                <a:gd name="T1" fmla="*/ 0 h 36"/>
                <a:gd name="T2" fmla="*/ 0 w 32"/>
                <a:gd name="T3" fmla="*/ 36 h 36"/>
                <a:gd name="T4" fmla="*/ 32 w 32"/>
                <a:gd name="T5" fmla="*/ 36 h 36"/>
                <a:gd name="T6" fmla="*/ 32 w 32"/>
                <a:gd name="T7" fmla="*/ 0 h 36"/>
                <a:gd name="T8" fmla="*/ 0 w 32"/>
                <a:gd name="T9" fmla="*/ 0 h 36"/>
                <a:gd name="T10" fmla="*/ 0 w 32"/>
                <a:gd name="T11" fmla="*/ 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2"/>
                <a:gd name="T19" fmla="*/ 0 h 36"/>
                <a:gd name="T20" fmla="*/ 32 w 32"/>
                <a:gd name="T21" fmla="*/ 36 h 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2" h="36">
                  <a:moveTo>
                    <a:pt x="0" y="0"/>
                  </a:moveTo>
                  <a:lnTo>
                    <a:pt x="0" y="36"/>
                  </a:lnTo>
                  <a:lnTo>
                    <a:pt x="32" y="36"/>
                  </a:lnTo>
                  <a:lnTo>
                    <a:pt x="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51" name="Freeform 489"/>
            <p:cNvSpPr>
              <a:spLocks/>
            </p:cNvSpPr>
            <p:nvPr/>
          </p:nvSpPr>
          <p:spPr bwMode="auto">
            <a:xfrm>
              <a:off x="4920" y="3134"/>
              <a:ext cx="42" cy="16"/>
            </a:xfrm>
            <a:custGeom>
              <a:avLst/>
              <a:gdLst>
                <a:gd name="T0" fmla="*/ 20 w 42"/>
                <a:gd name="T1" fmla="*/ 0 h 16"/>
                <a:gd name="T2" fmla="*/ 42 w 42"/>
                <a:gd name="T3" fmla="*/ 16 h 16"/>
                <a:gd name="T4" fmla="*/ 0 w 42"/>
                <a:gd name="T5" fmla="*/ 16 h 16"/>
                <a:gd name="T6" fmla="*/ 20 w 42"/>
                <a:gd name="T7" fmla="*/ 0 h 16"/>
                <a:gd name="T8" fmla="*/ 20 w 42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16"/>
                <a:gd name="T17" fmla="*/ 42 w 42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16">
                  <a:moveTo>
                    <a:pt x="20" y="0"/>
                  </a:moveTo>
                  <a:lnTo>
                    <a:pt x="42" y="16"/>
                  </a:lnTo>
                  <a:lnTo>
                    <a:pt x="0" y="16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52" name="Freeform 490"/>
            <p:cNvSpPr>
              <a:spLocks/>
            </p:cNvSpPr>
            <p:nvPr/>
          </p:nvSpPr>
          <p:spPr bwMode="auto">
            <a:xfrm>
              <a:off x="4660" y="3121"/>
              <a:ext cx="446" cy="266"/>
            </a:xfrm>
            <a:custGeom>
              <a:avLst/>
              <a:gdLst>
                <a:gd name="T0" fmla="*/ 418 w 446"/>
                <a:gd name="T1" fmla="*/ 138 h 266"/>
                <a:gd name="T2" fmla="*/ 398 w 446"/>
                <a:gd name="T3" fmla="*/ 157 h 266"/>
                <a:gd name="T4" fmla="*/ 398 w 446"/>
                <a:gd name="T5" fmla="*/ 112 h 266"/>
                <a:gd name="T6" fmla="*/ 408 w 446"/>
                <a:gd name="T7" fmla="*/ 90 h 266"/>
                <a:gd name="T8" fmla="*/ 187 w 446"/>
                <a:gd name="T9" fmla="*/ 90 h 266"/>
                <a:gd name="T10" fmla="*/ 187 w 446"/>
                <a:gd name="T11" fmla="*/ 161 h 266"/>
                <a:gd name="T12" fmla="*/ 154 w 446"/>
                <a:gd name="T13" fmla="*/ 161 h 266"/>
                <a:gd name="T14" fmla="*/ 145 w 446"/>
                <a:gd name="T15" fmla="*/ 0 h 266"/>
                <a:gd name="T16" fmla="*/ 110 w 446"/>
                <a:gd name="T17" fmla="*/ 0 h 266"/>
                <a:gd name="T18" fmla="*/ 103 w 446"/>
                <a:gd name="T19" fmla="*/ 161 h 266"/>
                <a:gd name="T20" fmla="*/ 93 w 446"/>
                <a:gd name="T21" fmla="*/ 161 h 266"/>
                <a:gd name="T22" fmla="*/ 84 w 446"/>
                <a:gd name="T23" fmla="*/ 0 h 266"/>
                <a:gd name="T24" fmla="*/ 52 w 446"/>
                <a:gd name="T25" fmla="*/ 0 h 266"/>
                <a:gd name="T26" fmla="*/ 42 w 446"/>
                <a:gd name="T27" fmla="*/ 161 h 266"/>
                <a:gd name="T28" fmla="*/ 0 w 446"/>
                <a:gd name="T29" fmla="*/ 161 h 266"/>
                <a:gd name="T30" fmla="*/ 13 w 446"/>
                <a:gd name="T31" fmla="*/ 186 h 266"/>
                <a:gd name="T32" fmla="*/ 13 w 446"/>
                <a:gd name="T33" fmla="*/ 266 h 266"/>
                <a:gd name="T34" fmla="*/ 446 w 446"/>
                <a:gd name="T35" fmla="*/ 266 h 266"/>
                <a:gd name="T36" fmla="*/ 446 w 446"/>
                <a:gd name="T37" fmla="*/ 167 h 266"/>
                <a:gd name="T38" fmla="*/ 418 w 446"/>
                <a:gd name="T39" fmla="*/ 138 h 266"/>
                <a:gd name="T40" fmla="*/ 418 w 446"/>
                <a:gd name="T41" fmla="*/ 138 h 26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46"/>
                <a:gd name="T64" fmla="*/ 0 h 266"/>
                <a:gd name="T65" fmla="*/ 446 w 446"/>
                <a:gd name="T66" fmla="*/ 266 h 26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46" h="266">
                  <a:moveTo>
                    <a:pt x="418" y="138"/>
                  </a:moveTo>
                  <a:lnTo>
                    <a:pt x="398" y="157"/>
                  </a:lnTo>
                  <a:lnTo>
                    <a:pt x="398" y="112"/>
                  </a:lnTo>
                  <a:lnTo>
                    <a:pt x="408" y="90"/>
                  </a:lnTo>
                  <a:lnTo>
                    <a:pt x="187" y="90"/>
                  </a:lnTo>
                  <a:lnTo>
                    <a:pt x="187" y="161"/>
                  </a:lnTo>
                  <a:lnTo>
                    <a:pt x="154" y="161"/>
                  </a:lnTo>
                  <a:lnTo>
                    <a:pt x="145" y="0"/>
                  </a:lnTo>
                  <a:lnTo>
                    <a:pt x="110" y="0"/>
                  </a:lnTo>
                  <a:lnTo>
                    <a:pt x="103" y="161"/>
                  </a:lnTo>
                  <a:lnTo>
                    <a:pt x="93" y="161"/>
                  </a:lnTo>
                  <a:lnTo>
                    <a:pt x="84" y="0"/>
                  </a:lnTo>
                  <a:lnTo>
                    <a:pt x="52" y="0"/>
                  </a:lnTo>
                  <a:lnTo>
                    <a:pt x="42" y="161"/>
                  </a:lnTo>
                  <a:lnTo>
                    <a:pt x="0" y="161"/>
                  </a:lnTo>
                  <a:lnTo>
                    <a:pt x="13" y="186"/>
                  </a:lnTo>
                  <a:lnTo>
                    <a:pt x="13" y="266"/>
                  </a:lnTo>
                  <a:lnTo>
                    <a:pt x="446" y="266"/>
                  </a:lnTo>
                  <a:lnTo>
                    <a:pt x="446" y="167"/>
                  </a:lnTo>
                  <a:lnTo>
                    <a:pt x="418" y="13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53" name="Freeform 491"/>
            <p:cNvSpPr>
              <a:spLocks/>
            </p:cNvSpPr>
            <p:nvPr/>
          </p:nvSpPr>
          <p:spPr bwMode="auto">
            <a:xfrm>
              <a:off x="4907" y="3272"/>
              <a:ext cx="190" cy="109"/>
            </a:xfrm>
            <a:custGeom>
              <a:avLst/>
              <a:gdLst>
                <a:gd name="T0" fmla="*/ 190 w 190"/>
                <a:gd name="T1" fmla="*/ 19 h 109"/>
                <a:gd name="T2" fmla="*/ 190 w 190"/>
                <a:gd name="T3" fmla="*/ 109 h 109"/>
                <a:gd name="T4" fmla="*/ 0 w 190"/>
                <a:gd name="T5" fmla="*/ 109 h 109"/>
                <a:gd name="T6" fmla="*/ 0 w 190"/>
                <a:gd name="T7" fmla="*/ 26 h 109"/>
                <a:gd name="T8" fmla="*/ 26 w 190"/>
                <a:gd name="T9" fmla="*/ 3 h 109"/>
                <a:gd name="T10" fmla="*/ 49 w 190"/>
                <a:gd name="T11" fmla="*/ 22 h 109"/>
                <a:gd name="T12" fmla="*/ 74 w 190"/>
                <a:gd name="T13" fmla="*/ 0 h 109"/>
                <a:gd name="T14" fmla="*/ 94 w 190"/>
                <a:gd name="T15" fmla="*/ 19 h 109"/>
                <a:gd name="T16" fmla="*/ 119 w 190"/>
                <a:gd name="T17" fmla="*/ 0 h 109"/>
                <a:gd name="T18" fmla="*/ 148 w 190"/>
                <a:gd name="T19" fmla="*/ 19 h 109"/>
                <a:gd name="T20" fmla="*/ 171 w 190"/>
                <a:gd name="T21" fmla="*/ 0 h 109"/>
                <a:gd name="T22" fmla="*/ 190 w 190"/>
                <a:gd name="T23" fmla="*/ 19 h 109"/>
                <a:gd name="T24" fmla="*/ 190 w 190"/>
                <a:gd name="T25" fmla="*/ 19 h 1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90"/>
                <a:gd name="T40" fmla="*/ 0 h 109"/>
                <a:gd name="T41" fmla="*/ 190 w 190"/>
                <a:gd name="T42" fmla="*/ 109 h 10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90" h="109">
                  <a:moveTo>
                    <a:pt x="190" y="19"/>
                  </a:moveTo>
                  <a:lnTo>
                    <a:pt x="190" y="109"/>
                  </a:lnTo>
                  <a:lnTo>
                    <a:pt x="0" y="109"/>
                  </a:lnTo>
                  <a:lnTo>
                    <a:pt x="0" y="26"/>
                  </a:lnTo>
                  <a:lnTo>
                    <a:pt x="26" y="3"/>
                  </a:lnTo>
                  <a:lnTo>
                    <a:pt x="49" y="22"/>
                  </a:lnTo>
                  <a:lnTo>
                    <a:pt x="74" y="0"/>
                  </a:lnTo>
                  <a:lnTo>
                    <a:pt x="94" y="19"/>
                  </a:lnTo>
                  <a:lnTo>
                    <a:pt x="119" y="0"/>
                  </a:lnTo>
                  <a:lnTo>
                    <a:pt x="148" y="19"/>
                  </a:lnTo>
                  <a:lnTo>
                    <a:pt x="171" y="0"/>
                  </a:lnTo>
                  <a:lnTo>
                    <a:pt x="190" y="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54" name="Freeform 492"/>
            <p:cNvSpPr>
              <a:spLocks/>
            </p:cNvSpPr>
            <p:nvPr/>
          </p:nvSpPr>
          <p:spPr bwMode="auto">
            <a:xfrm>
              <a:off x="4853" y="3221"/>
              <a:ext cx="202" cy="160"/>
            </a:xfrm>
            <a:custGeom>
              <a:avLst/>
              <a:gdLst>
                <a:gd name="T0" fmla="*/ 196 w 202"/>
                <a:gd name="T1" fmla="*/ 12 h 160"/>
                <a:gd name="T2" fmla="*/ 196 w 202"/>
                <a:gd name="T3" fmla="*/ 57 h 160"/>
                <a:gd name="T4" fmla="*/ 173 w 202"/>
                <a:gd name="T5" fmla="*/ 38 h 160"/>
                <a:gd name="T6" fmla="*/ 151 w 202"/>
                <a:gd name="T7" fmla="*/ 61 h 160"/>
                <a:gd name="T8" fmla="*/ 128 w 202"/>
                <a:gd name="T9" fmla="*/ 41 h 160"/>
                <a:gd name="T10" fmla="*/ 103 w 202"/>
                <a:gd name="T11" fmla="*/ 64 h 160"/>
                <a:gd name="T12" fmla="*/ 80 w 202"/>
                <a:gd name="T13" fmla="*/ 41 h 160"/>
                <a:gd name="T14" fmla="*/ 48 w 202"/>
                <a:gd name="T15" fmla="*/ 73 h 160"/>
                <a:gd name="T16" fmla="*/ 48 w 202"/>
                <a:gd name="T17" fmla="*/ 160 h 160"/>
                <a:gd name="T18" fmla="*/ 0 w 202"/>
                <a:gd name="T19" fmla="*/ 160 h 160"/>
                <a:gd name="T20" fmla="*/ 0 w 202"/>
                <a:gd name="T21" fmla="*/ 0 h 160"/>
                <a:gd name="T22" fmla="*/ 202 w 202"/>
                <a:gd name="T23" fmla="*/ 0 h 160"/>
                <a:gd name="T24" fmla="*/ 196 w 202"/>
                <a:gd name="T25" fmla="*/ 12 h 160"/>
                <a:gd name="T26" fmla="*/ 196 w 202"/>
                <a:gd name="T27" fmla="*/ 12 h 1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02"/>
                <a:gd name="T43" fmla="*/ 0 h 160"/>
                <a:gd name="T44" fmla="*/ 202 w 202"/>
                <a:gd name="T45" fmla="*/ 160 h 160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02" h="160">
                  <a:moveTo>
                    <a:pt x="196" y="12"/>
                  </a:moveTo>
                  <a:lnTo>
                    <a:pt x="196" y="57"/>
                  </a:lnTo>
                  <a:lnTo>
                    <a:pt x="173" y="38"/>
                  </a:lnTo>
                  <a:lnTo>
                    <a:pt x="151" y="61"/>
                  </a:lnTo>
                  <a:lnTo>
                    <a:pt x="128" y="41"/>
                  </a:lnTo>
                  <a:lnTo>
                    <a:pt x="103" y="64"/>
                  </a:lnTo>
                  <a:lnTo>
                    <a:pt x="80" y="41"/>
                  </a:lnTo>
                  <a:lnTo>
                    <a:pt x="48" y="73"/>
                  </a:lnTo>
                  <a:lnTo>
                    <a:pt x="48" y="16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02" y="0"/>
                  </a:lnTo>
                  <a:lnTo>
                    <a:pt x="196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55" name="Freeform 493"/>
            <p:cNvSpPr>
              <a:spLocks/>
            </p:cNvSpPr>
            <p:nvPr/>
          </p:nvSpPr>
          <p:spPr bwMode="auto">
            <a:xfrm>
              <a:off x="4770" y="3128"/>
              <a:ext cx="35" cy="154"/>
            </a:xfrm>
            <a:custGeom>
              <a:avLst/>
              <a:gdLst>
                <a:gd name="T0" fmla="*/ 9 w 35"/>
                <a:gd name="T1" fmla="*/ 0 h 154"/>
                <a:gd name="T2" fmla="*/ 25 w 35"/>
                <a:gd name="T3" fmla="*/ 0 h 154"/>
                <a:gd name="T4" fmla="*/ 35 w 35"/>
                <a:gd name="T5" fmla="*/ 154 h 154"/>
                <a:gd name="T6" fmla="*/ 0 w 35"/>
                <a:gd name="T7" fmla="*/ 154 h 154"/>
                <a:gd name="T8" fmla="*/ 9 w 35"/>
                <a:gd name="T9" fmla="*/ 0 h 154"/>
                <a:gd name="T10" fmla="*/ 9 w 35"/>
                <a:gd name="T11" fmla="*/ 0 h 1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5"/>
                <a:gd name="T19" fmla="*/ 0 h 154"/>
                <a:gd name="T20" fmla="*/ 35 w 35"/>
                <a:gd name="T21" fmla="*/ 154 h 1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" h="154">
                  <a:moveTo>
                    <a:pt x="9" y="0"/>
                  </a:moveTo>
                  <a:lnTo>
                    <a:pt x="25" y="0"/>
                  </a:lnTo>
                  <a:lnTo>
                    <a:pt x="35" y="154"/>
                  </a:lnTo>
                  <a:lnTo>
                    <a:pt x="0" y="154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56" name="Freeform 494"/>
            <p:cNvSpPr>
              <a:spLocks/>
            </p:cNvSpPr>
            <p:nvPr/>
          </p:nvSpPr>
          <p:spPr bwMode="auto">
            <a:xfrm>
              <a:off x="4712" y="3128"/>
              <a:ext cx="35" cy="154"/>
            </a:xfrm>
            <a:custGeom>
              <a:avLst/>
              <a:gdLst>
                <a:gd name="T0" fmla="*/ 6 w 35"/>
                <a:gd name="T1" fmla="*/ 0 h 154"/>
                <a:gd name="T2" fmla="*/ 25 w 35"/>
                <a:gd name="T3" fmla="*/ 0 h 154"/>
                <a:gd name="T4" fmla="*/ 35 w 35"/>
                <a:gd name="T5" fmla="*/ 154 h 154"/>
                <a:gd name="T6" fmla="*/ 0 w 35"/>
                <a:gd name="T7" fmla="*/ 154 h 154"/>
                <a:gd name="T8" fmla="*/ 6 w 35"/>
                <a:gd name="T9" fmla="*/ 0 h 154"/>
                <a:gd name="T10" fmla="*/ 6 w 35"/>
                <a:gd name="T11" fmla="*/ 0 h 1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5"/>
                <a:gd name="T19" fmla="*/ 0 h 154"/>
                <a:gd name="T20" fmla="*/ 35 w 35"/>
                <a:gd name="T21" fmla="*/ 154 h 15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5" h="154">
                  <a:moveTo>
                    <a:pt x="6" y="0"/>
                  </a:moveTo>
                  <a:lnTo>
                    <a:pt x="25" y="0"/>
                  </a:lnTo>
                  <a:lnTo>
                    <a:pt x="35" y="154"/>
                  </a:lnTo>
                  <a:lnTo>
                    <a:pt x="0" y="15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57" name="Freeform 495"/>
            <p:cNvSpPr>
              <a:spLocks/>
            </p:cNvSpPr>
            <p:nvPr/>
          </p:nvSpPr>
          <p:spPr bwMode="auto">
            <a:xfrm>
              <a:off x="4673" y="3291"/>
              <a:ext cx="174" cy="90"/>
            </a:xfrm>
            <a:custGeom>
              <a:avLst/>
              <a:gdLst>
                <a:gd name="T0" fmla="*/ 0 w 174"/>
                <a:gd name="T1" fmla="*/ 0 h 90"/>
                <a:gd name="T2" fmla="*/ 174 w 174"/>
                <a:gd name="T3" fmla="*/ 0 h 90"/>
                <a:gd name="T4" fmla="*/ 174 w 174"/>
                <a:gd name="T5" fmla="*/ 90 h 90"/>
                <a:gd name="T6" fmla="*/ 7 w 174"/>
                <a:gd name="T7" fmla="*/ 90 h 90"/>
                <a:gd name="T8" fmla="*/ 7 w 174"/>
                <a:gd name="T9" fmla="*/ 13 h 90"/>
                <a:gd name="T10" fmla="*/ 0 w 174"/>
                <a:gd name="T11" fmla="*/ 0 h 90"/>
                <a:gd name="T12" fmla="*/ 0 w 174"/>
                <a:gd name="T13" fmla="*/ 0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4"/>
                <a:gd name="T22" fmla="*/ 0 h 90"/>
                <a:gd name="T23" fmla="*/ 174 w 174"/>
                <a:gd name="T24" fmla="*/ 90 h 9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4" h="90">
                  <a:moveTo>
                    <a:pt x="0" y="0"/>
                  </a:moveTo>
                  <a:lnTo>
                    <a:pt x="174" y="0"/>
                  </a:lnTo>
                  <a:lnTo>
                    <a:pt x="174" y="90"/>
                  </a:lnTo>
                  <a:lnTo>
                    <a:pt x="7" y="90"/>
                  </a:lnTo>
                  <a:lnTo>
                    <a:pt x="7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58" name="Freeform 496"/>
            <p:cNvSpPr>
              <a:spLocks/>
            </p:cNvSpPr>
            <p:nvPr/>
          </p:nvSpPr>
          <p:spPr bwMode="auto">
            <a:xfrm>
              <a:off x="4808" y="3304"/>
              <a:ext cx="16" cy="13"/>
            </a:xfrm>
            <a:custGeom>
              <a:avLst/>
              <a:gdLst>
                <a:gd name="T0" fmla="*/ 0 w 16"/>
                <a:gd name="T1" fmla="*/ 6 h 13"/>
                <a:gd name="T2" fmla="*/ 0 w 16"/>
                <a:gd name="T3" fmla="*/ 3 h 13"/>
                <a:gd name="T4" fmla="*/ 0 w 16"/>
                <a:gd name="T5" fmla="*/ 3 h 13"/>
                <a:gd name="T6" fmla="*/ 0 w 16"/>
                <a:gd name="T7" fmla="*/ 0 h 13"/>
                <a:gd name="T8" fmla="*/ 3 w 16"/>
                <a:gd name="T9" fmla="*/ 0 h 13"/>
                <a:gd name="T10" fmla="*/ 3 w 16"/>
                <a:gd name="T11" fmla="*/ 0 h 13"/>
                <a:gd name="T12" fmla="*/ 3 w 16"/>
                <a:gd name="T13" fmla="*/ 0 h 13"/>
                <a:gd name="T14" fmla="*/ 6 w 16"/>
                <a:gd name="T15" fmla="*/ 0 h 13"/>
                <a:gd name="T16" fmla="*/ 6 w 16"/>
                <a:gd name="T17" fmla="*/ 0 h 13"/>
                <a:gd name="T18" fmla="*/ 10 w 16"/>
                <a:gd name="T19" fmla="*/ 0 h 13"/>
                <a:gd name="T20" fmla="*/ 10 w 16"/>
                <a:gd name="T21" fmla="*/ 0 h 13"/>
                <a:gd name="T22" fmla="*/ 13 w 16"/>
                <a:gd name="T23" fmla="*/ 0 h 13"/>
                <a:gd name="T24" fmla="*/ 13 w 16"/>
                <a:gd name="T25" fmla="*/ 0 h 13"/>
                <a:gd name="T26" fmla="*/ 13 w 16"/>
                <a:gd name="T27" fmla="*/ 0 h 13"/>
                <a:gd name="T28" fmla="*/ 16 w 16"/>
                <a:gd name="T29" fmla="*/ 3 h 13"/>
                <a:gd name="T30" fmla="*/ 16 w 16"/>
                <a:gd name="T31" fmla="*/ 3 h 13"/>
                <a:gd name="T32" fmla="*/ 16 w 16"/>
                <a:gd name="T33" fmla="*/ 6 h 13"/>
                <a:gd name="T34" fmla="*/ 16 w 16"/>
                <a:gd name="T35" fmla="*/ 6 h 13"/>
                <a:gd name="T36" fmla="*/ 16 w 16"/>
                <a:gd name="T37" fmla="*/ 10 h 13"/>
                <a:gd name="T38" fmla="*/ 13 w 16"/>
                <a:gd name="T39" fmla="*/ 10 h 13"/>
                <a:gd name="T40" fmla="*/ 13 w 16"/>
                <a:gd name="T41" fmla="*/ 10 h 13"/>
                <a:gd name="T42" fmla="*/ 13 w 16"/>
                <a:gd name="T43" fmla="*/ 10 h 13"/>
                <a:gd name="T44" fmla="*/ 10 w 16"/>
                <a:gd name="T45" fmla="*/ 13 h 13"/>
                <a:gd name="T46" fmla="*/ 10 w 16"/>
                <a:gd name="T47" fmla="*/ 13 h 13"/>
                <a:gd name="T48" fmla="*/ 6 w 16"/>
                <a:gd name="T49" fmla="*/ 13 h 13"/>
                <a:gd name="T50" fmla="*/ 6 w 16"/>
                <a:gd name="T51" fmla="*/ 13 h 13"/>
                <a:gd name="T52" fmla="*/ 3 w 16"/>
                <a:gd name="T53" fmla="*/ 13 h 13"/>
                <a:gd name="T54" fmla="*/ 3 w 16"/>
                <a:gd name="T55" fmla="*/ 10 h 13"/>
                <a:gd name="T56" fmla="*/ 3 w 16"/>
                <a:gd name="T57" fmla="*/ 10 h 13"/>
                <a:gd name="T58" fmla="*/ 0 w 16"/>
                <a:gd name="T59" fmla="*/ 10 h 13"/>
                <a:gd name="T60" fmla="*/ 0 w 16"/>
                <a:gd name="T61" fmla="*/ 10 h 13"/>
                <a:gd name="T62" fmla="*/ 0 w 16"/>
                <a:gd name="T63" fmla="*/ 6 h 13"/>
                <a:gd name="T64" fmla="*/ 0 w 16"/>
                <a:gd name="T65" fmla="*/ 6 h 13"/>
                <a:gd name="T66" fmla="*/ 0 w 16"/>
                <a:gd name="T67" fmla="*/ 6 h 1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"/>
                <a:gd name="T103" fmla="*/ 0 h 13"/>
                <a:gd name="T104" fmla="*/ 16 w 16"/>
                <a:gd name="T105" fmla="*/ 13 h 1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" h="13">
                  <a:moveTo>
                    <a:pt x="0" y="6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6" y="3"/>
                  </a:lnTo>
                  <a:lnTo>
                    <a:pt x="16" y="6"/>
                  </a:lnTo>
                  <a:lnTo>
                    <a:pt x="16" y="10"/>
                  </a:lnTo>
                  <a:lnTo>
                    <a:pt x="13" y="10"/>
                  </a:lnTo>
                  <a:lnTo>
                    <a:pt x="10" y="13"/>
                  </a:lnTo>
                  <a:lnTo>
                    <a:pt x="6" y="13"/>
                  </a:lnTo>
                  <a:lnTo>
                    <a:pt x="3" y="13"/>
                  </a:lnTo>
                  <a:lnTo>
                    <a:pt x="3" y="10"/>
                  </a:lnTo>
                  <a:lnTo>
                    <a:pt x="0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59" name="Freeform 497"/>
            <p:cNvSpPr>
              <a:spLocks/>
            </p:cNvSpPr>
            <p:nvPr/>
          </p:nvSpPr>
          <p:spPr bwMode="auto">
            <a:xfrm>
              <a:off x="4715" y="3054"/>
              <a:ext cx="263" cy="74"/>
            </a:xfrm>
            <a:custGeom>
              <a:avLst/>
              <a:gdLst>
                <a:gd name="T0" fmla="*/ 257 w 263"/>
                <a:gd name="T1" fmla="*/ 51 h 74"/>
                <a:gd name="T2" fmla="*/ 253 w 263"/>
                <a:gd name="T3" fmla="*/ 45 h 74"/>
                <a:gd name="T4" fmla="*/ 247 w 263"/>
                <a:gd name="T5" fmla="*/ 38 h 74"/>
                <a:gd name="T6" fmla="*/ 237 w 263"/>
                <a:gd name="T7" fmla="*/ 32 h 74"/>
                <a:gd name="T8" fmla="*/ 228 w 263"/>
                <a:gd name="T9" fmla="*/ 25 h 74"/>
                <a:gd name="T10" fmla="*/ 215 w 263"/>
                <a:gd name="T11" fmla="*/ 22 h 74"/>
                <a:gd name="T12" fmla="*/ 205 w 263"/>
                <a:gd name="T13" fmla="*/ 25 h 74"/>
                <a:gd name="T14" fmla="*/ 196 w 263"/>
                <a:gd name="T15" fmla="*/ 29 h 74"/>
                <a:gd name="T16" fmla="*/ 192 w 263"/>
                <a:gd name="T17" fmla="*/ 22 h 74"/>
                <a:gd name="T18" fmla="*/ 189 w 263"/>
                <a:gd name="T19" fmla="*/ 16 h 74"/>
                <a:gd name="T20" fmla="*/ 186 w 263"/>
                <a:gd name="T21" fmla="*/ 9 h 74"/>
                <a:gd name="T22" fmla="*/ 176 w 263"/>
                <a:gd name="T23" fmla="*/ 3 h 74"/>
                <a:gd name="T24" fmla="*/ 167 w 263"/>
                <a:gd name="T25" fmla="*/ 0 h 74"/>
                <a:gd name="T26" fmla="*/ 154 w 263"/>
                <a:gd name="T27" fmla="*/ 0 h 74"/>
                <a:gd name="T28" fmla="*/ 141 w 263"/>
                <a:gd name="T29" fmla="*/ 0 h 74"/>
                <a:gd name="T30" fmla="*/ 128 w 263"/>
                <a:gd name="T31" fmla="*/ 6 h 74"/>
                <a:gd name="T32" fmla="*/ 122 w 263"/>
                <a:gd name="T33" fmla="*/ 6 h 74"/>
                <a:gd name="T34" fmla="*/ 112 w 263"/>
                <a:gd name="T35" fmla="*/ 3 h 74"/>
                <a:gd name="T36" fmla="*/ 99 w 263"/>
                <a:gd name="T37" fmla="*/ 0 h 74"/>
                <a:gd name="T38" fmla="*/ 93 w 263"/>
                <a:gd name="T39" fmla="*/ 0 h 74"/>
                <a:gd name="T40" fmla="*/ 83 w 263"/>
                <a:gd name="T41" fmla="*/ 3 h 74"/>
                <a:gd name="T42" fmla="*/ 74 w 263"/>
                <a:gd name="T43" fmla="*/ 6 h 74"/>
                <a:gd name="T44" fmla="*/ 64 w 263"/>
                <a:gd name="T45" fmla="*/ 13 h 74"/>
                <a:gd name="T46" fmla="*/ 58 w 263"/>
                <a:gd name="T47" fmla="*/ 19 h 74"/>
                <a:gd name="T48" fmla="*/ 51 w 263"/>
                <a:gd name="T49" fmla="*/ 22 h 74"/>
                <a:gd name="T50" fmla="*/ 45 w 263"/>
                <a:gd name="T51" fmla="*/ 19 h 74"/>
                <a:gd name="T52" fmla="*/ 42 w 263"/>
                <a:gd name="T53" fmla="*/ 19 h 74"/>
                <a:gd name="T54" fmla="*/ 29 w 263"/>
                <a:gd name="T55" fmla="*/ 22 h 74"/>
                <a:gd name="T56" fmla="*/ 16 w 263"/>
                <a:gd name="T57" fmla="*/ 29 h 74"/>
                <a:gd name="T58" fmla="*/ 10 w 263"/>
                <a:gd name="T59" fmla="*/ 38 h 74"/>
                <a:gd name="T60" fmla="*/ 3 w 263"/>
                <a:gd name="T61" fmla="*/ 51 h 74"/>
                <a:gd name="T62" fmla="*/ 0 w 263"/>
                <a:gd name="T63" fmla="*/ 64 h 74"/>
                <a:gd name="T64" fmla="*/ 0 w 263"/>
                <a:gd name="T65" fmla="*/ 74 h 74"/>
                <a:gd name="T66" fmla="*/ 22 w 263"/>
                <a:gd name="T67" fmla="*/ 67 h 74"/>
                <a:gd name="T68" fmla="*/ 26 w 263"/>
                <a:gd name="T69" fmla="*/ 61 h 74"/>
                <a:gd name="T70" fmla="*/ 29 w 263"/>
                <a:gd name="T71" fmla="*/ 61 h 74"/>
                <a:gd name="T72" fmla="*/ 38 w 263"/>
                <a:gd name="T73" fmla="*/ 57 h 74"/>
                <a:gd name="T74" fmla="*/ 58 w 263"/>
                <a:gd name="T75" fmla="*/ 57 h 74"/>
                <a:gd name="T76" fmla="*/ 58 w 263"/>
                <a:gd name="T77" fmla="*/ 64 h 74"/>
                <a:gd name="T78" fmla="*/ 58 w 263"/>
                <a:gd name="T79" fmla="*/ 74 h 74"/>
                <a:gd name="T80" fmla="*/ 83 w 263"/>
                <a:gd name="T81" fmla="*/ 67 h 74"/>
                <a:gd name="T82" fmla="*/ 87 w 263"/>
                <a:gd name="T83" fmla="*/ 61 h 74"/>
                <a:gd name="T84" fmla="*/ 90 w 263"/>
                <a:gd name="T85" fmla="*/ 61 h 74"/>
                <a:gd name="T86" fmla="*/ 99 w 263"/>
                <a:gd name="T87" fmla="*/ 57 h 74"/>
                <a:gd name="T88" fmla="*/ 109 w 263"/>
                <a:gd name="T89" fmla="*/ 57 h 74"/>
                <a:gd name="T90" fmla="*/ 125 w 263"/>
                <a:gd name="T91" fmla="*/ 57 h 74"/>
                <a:gd name="T92" fmla="*/ 141 w 263"/>
                <a:gd name="T93" fmla="*/ 57 h 74"/>
                <a:gd name="T94" fmla="*/ 157 w 263"/>
                <a:gd name="T95" fmla="*/ 57 h 74"/>
                <a:gd name="T96" fmla="*/ 180 w 263"/>
                <a:gd name="T97" fmla="*/ 57 h 74"/>
                <a:gd name="T98" fmla="*/ 199 w 263"/>
                <a:gd name="T99" fmla="*/ 57 h 74"/>
                <a:gd name="T100" fmla="*/ 218 w 263"/>
                <a:gd name="T101" fmla="*/ 57 h 74"/>
                <a:gd name="T102" fmla="*/ 237 w 263"/>
                <a:gd name="T103" fmla="*/ 57 h 74"/>
                <a:gd name="T104" fmla="*/ 257 w 263"/>
                <a:gd name="T105" fmla="*/ 57 h 74"/>
                <a:gd name="T106" fmla="*/ 260 w 263"/>
                <a:gd name="T107" fmla="*/ 51 h 7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63"/>
                <a:gd name="T163" fmla="*/ 0 h 74"/>
                <a:gd name="T164" fmla="*/ 263 w 263"/>
                <a:gd name="T165" fmla="*/ 74 h 74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63" h="74">
                  <a:moveTo>
                    <a:pt x="260" y="51"/>
                  </a:moveTo>
                  <a:lnTo>
                    <a:pt x="260" y="51"/>
                  </a:lnTo>
                  <a:lnTo>
                    <a:pt x="257" y="51"/>
                  </a:lnTo>
                  <a:lnTo>
                    <a:pt x="257" y="48"/>
                  </a:lnTo>
                  <a:lnTo>
                    <a:pt x="253" y="45"/>
                  </a:lnTo>
                  <a:lnTo>
                    <a:pt x="250" y="41"/>
                  </a:lnTo>
                  <a:lnTo>
                    <a:pt x="247" y="38"/>
                  </a:lnTo>
                  <a:lnTo>
                    <a:pt x="244" y="35"/>
                  </a:lnTo>
                  <a:lnTo>
                    <a:pt x="241" y="35"/>
                  </a:lnTo>
                  <a:lnTo>
                    <a:pt x="237" y="32"/>
                  </a:lnTo>
                  <a:lnTo>
                    <a:pt x="234" y="29"/>
                  </a:lnTo>
                  <a:lnTo>
                    <a:pt x="231" y="29"/>
                  </a:lnTo>
                  <a:lnTo>
                    <a:pt x="228" y="25"/>
                  </a:lnTo>
                  <a:lnTo>
                    <a:pt x="221" y="25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2" y="22"/>
                  </a:lnTo>
                  <a:lnTo>
                    <a:pt x="209" y="25"/>
                  </a:lnTo>
                  <a:lnTo>
                    <a:pt x="205" y="25"/>
                  </a:lnTo>
                  <a:lnTo>
                    <a:pt x="202" y="25"/>
                  </a:lnTo>
                  <a:lnTo>
                    <a:pt x="199" y="25"/>
                  </a:lnTo>
                  <a:lnTo>
                    <a:pt x="196" y="29"/>
                  </a:lnTo>
                  <a:lnTo>
                    <a:pt x="192" y="29"/>
                  </a:lnTo>
                  <a:lnTo>
                    <a:pt x="192" y="25"/>
                  </a:lnTo>
                  <a:lnTo>
                    <a:pt x="192" y="22"/>
                  </a:lnTo>
                  <a:lnTo>
                    <a:pt x="192" y="19"/>
                  </a:lnTo>
                  <a:lnTo>
                    <a:pt x="189" y="16"/>
                  </a:lnTo>
                  <a:lnTo>
                    <a:pt x="189" y="13"/>
                  </a:lnTo>
                  <a:lnTo>
                    <a:pt x="186" y="9"/>
                  </a:lnTo>
                  <a:lnTo>
                    <a:pt x="183" y="6"/>
                  </a:lnTo>
                  <a:lnTo>
                    <a:pt x="180" y="3"/>
                  </a:lnTo>
                  <a:lnTo>
                    <a:pt x="176" y="3"/>
                  </a:lnTo>
                  <a:lnTo>
                    <a:pt x="173" y="0"/>
                  </a:lnTo>
                  <a:lnTo>
                    <a:pt x="170" y="0"/>
                  </a:lnTo>
                  <a:lnTo>
                    <a:pt x="167" y="0"/>
                  </a:lnTo>
                  <a:lnTo>
                    <a:pt x="164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51" y="0"/>
                  </a:lnTo>
                  <a:lnTo>
                    <a:pt x="148" y="0"/>
                  </a:lnTo>
                  <a:lnTo>
                    <a:pt x="141" y="0"/>
                  </a:lnTo>
                  <a:lnTo>
                    <a:pt x="138" y="3"/>
                  </a:lnTo>
                  <a:lnTo>
                    <a:pt x="135" y="6"/>
                  </a:lnTo>
                  <a:lnTo>
                    <a:pt x="128" y="6"/>
                  </a:lnTo>
                  <a:lnTo>
                    <a:pt x="125" y="9"/>
                  </a:lnTo>
                  <a:lnTo>
                    <a:pt x="122" y="6"/>
                  </a:lnTo>
                  <a:lnTo>
                    <a:pt x="119" y="3"/>
                  </a:lnTo>
                  <a:lnTo>
                    <a:pt x="115" y="3"/>
                  </a:lnTo>
                  <a:lnTo>
                    <a:pt x="112" y="3"/>
                  </a:lnTo>
                  <a:lnTo>
                    <a:pt x="109" y="0"/>
                  </a:lnTo>
                  <a:lnTo>
                    <a:pt x="106" y="0"/>
                  </a:lnTo>
                  <a:lnTo>
                    <a:pt x="99" y="0"/>
                  </a:lnTo>
                  <a:lnTo>
                    <a:pt x="96" y="0"/>
                  </a:lnTo>
                  <a:lnTo>
                    <a:pt x="93" y="0"/>
                  </a:lnTo>
                  <a:lnTo>
                    <a:pt x="90" y="3"/>
                  </a:lnTo>
                  <a:lnTo>
                    <a:pt x="87" y="3"/>
                  </a:lnTo>
                  <a:lnTo>
                    <a:pt x="83" y="3"/>
                  </a:lnTo>
                  <a:lnTo>
                    <a:pt x="80" y="6"/>
                  </a:lnTo>
                  <a:lnTo>
                    <a:pt x="77" y="6"/>
                  </a:lnTo>
                  <a:lnTo>
                    <a:pt x="74" y="6"/>
                  </a:lnTo>
                  <a:lnTo>
                    <a:pt x="71" y="9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64" y="16"/>
                  </a:lnTo>
                  <a:lnTo>
                    <a:pt x="61" y="16"/>
                  </a:lnTo>
                  <a:lnTo>
                    <a:pt x="58" y="19"/>
                  </a:lnTo>
                  <a:lnTo>
                    <a:pt x="55" y="22"/>
                  </a:lnTo>
                  <a:lnTo>
                    <a:pt x="51" y="22"/>
                  </a:lnTo>
                  <a:lnTo>
                    <a:pt x="48" y="19"/>
                  </a:lnTo>
                  <a:lnTo>
                    <a:pt x="45" y="19"/>
                  </a:lnTo>
                  <a:lnTo>
                    <a:pt x="42" y="19"/>
                  </a:lnTo>
                  <a:lnTo>
                    <a:pt x="35" y="22"/>
                  </a:lnTo>
                  <a:lnTo>
                    <a:pt x="32" y="22"/>
                  </a:lnTo>
                  <a:lnTo>
                    <a:pt x="29" y="22"/>
                  </a:lnTo>
                  <a:lnTo>
                    <a:pt x="26" y="25"/>
                  </a:lnTo>
                  <a:lnTo>
                    <a:pt x="19" y="25"/>
                  </a:lnTo>
                  <a:lnTo>
                    <a:pt x="16" y="29"/>
                  </a:lnTo>
                  <a:lnTo>
                    <a:pt x="13" y="32"/>
                  </a:lnTo>
                  <a:lnTo>
                    <a:pt x="10" y="38"/>
                  </a:lnTo>
                  <a:lnTo>
                    <a:pt x="6" y="41"/>
                  </a:lnTo>
                  <a:lnTo>
                    <a:pt x="3" y="45"/>
                  </a:lnTo>
                  <a:lnTo>
                    <a:pt x="3" y="51"/>
                  </a:lnTo>
                  <a:lnTo>
                    <a:pt x="0" y="54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67"/>
                  </a:lnTo>
                  <a:lnTo>
                    <a:pt x="0" y="74"/>
                  </a:lnTo>
                  <a:lnTo>
                    <a:pt x="26" y="74"/>
                  </a:lnTo>
                  <a:lnTo>
                    <a:pt x="26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6" y="64"/>
                  </a:lnTo>
                  <a:lnTo>
                    <a:pt x="26" y="61"/>
                  </a:lnTo>
                  <a:lnTo>
                    <a:pt x="29" y="61"/>
                  </a:lnTo>
                  <a:lnTo>
                    <a:pt x="32" y="61"/>
                  </a:lnTo>
                  <a:lnTo>
                    <a:pt x="35" y="61"/>
                  </a:lnTo>
                  <a:lnTo>
                    <a:pt x="38" y="57"/>
                  </a:lnTo>
                  <a:lnTo>
                    <a:pt x="45" y="57"/>
                  </a:lnTo>
                  <a:lnTo>
                    <a:pt x="51" y="57"/>
                  </a:lnTo>
                  <a:lnTo>
                    <a:pt x="58" y="57"/>
                  </a:lnTo>
                  <a:lnTo>
                    <a:pt x="58" y="61"/>
                  </a:lnTo>
                  <a:lnTo>
                    <a:pt x="58" y="64"/>
                  </a:lnTo>
                  <a:lnTo>
                    <a:pt x="58" y="67"/>
                  </a:lnTo>
                  <a:lnTo>
                    <a:pt x="58" y="74"/>
                  </a:lnTo>
                  <a:lnTo>
                    <a:pt x="83" y="74"/>
                  </a:lnTo>
                  <a:lnTo>
                    <a:pt x="83" y="67"/>
                  </a:lnTo>
                  <a:lnTo>
                    <a:pt x="83" y="64"/>
                  </a:lnTo>
                  <a:lnTo>
                    <a:pt x="87" y="64"/>
                  </a:lnTo>
                  <a:lnTo>
                    <a:pt x="87" y="61"/>
                  </a:lnTo>
                  <a:lnTo>
                    <a:pt x="90" y="61"/>
                  </a:lnTo>
                  <a:lnTo>
                    <a:pt x="93" y="61"/>
                  </a:lnTo>
                  <a:lnTo>
                    <a:pt x="96" y="57"/>
                  </a:lnTo>
                  <a:lnTo>
                    <a:pt x="99" y="57"/>
                  </a:lnTo>
                  <a:lnTo>
                    <a:pt x="103" y="57"/>
                  </a:lnTo>
                  <a:lnTo>
                    <a:pt x="106" y="57"/>
                  </a:lnTo>
                  <a:lnTo>
                    <a:pt x="109" y="57"/>
                  </a:lnTo>
                  <a:lnTo>
                    <a:pt x="112" y="57"/>
                  </a:lnTo>
                  <a:lnTo>
                    <a:pt x="119" y="57"/>
                  </a:lnTo>
                  <a:lnTo>
                    <a:pt x="125" y="57"/>
                  </a:lnTo>
                  <a:lnTo>
                    <a:pt x="128" y="57"/>
                  </a:lnTo>
                  <a:lnTo>
                    <a:pt x="135" y="57"/>
                  </a:lnTo>
                  <a:lnTo>
                    <a:pt x="141" y="57"/>
                  </a:lnTo>
                  <a:lnTo>
                    <a:pt x="148" y="57"/>
                  </a:lnTo>
                  <a:lnTo>
                    <a:pt x="154" y="57"/>
                  </a:lnTo>
                  <a:lnTo>
                    <a:pt x="157" y="57"/>
                  </a:lnTo>
                  <a:lnTo>
                    <a:pt x="167" y="57"/>
                  </a:lnTo>
                  <a:lnTo>
                    <a:pt x="173" y="57"/>
                  </a:lnTo>
                  <a:lnTo>
                    <a:pt x="180" y="57"/>
                  </a:lnTo>
                  <a:lnTo>
                    <a:pt x="186" y="57"/>
                  </a:lnTo>
                  <a:lnTo>
                    <a:pt x="192" y="57"/>
                  </a:lnTo>
                  <a:lnTo>
                    <a:pt x="199" y="57"/>
                  </a:lnTo>
                  <a:lnTo>
                    <a:pt x="205" y="57"/>
                  </a:lnTo>
                  <a:lnTo>
                    <a:pt x="212" y="57"/>
                  </a:lnTo>
                  <a:lnTo>
                    <a:pt x="218" y="57"/>
                  </a:lnTo>
                  <a:lnTo>
                    <a:pt x="225" y="57"/>
                  </a:lnTo>
                  <a:lnTo>
                    <a:pt x="231" y="57"/>
                  </a:lnTo>
                  <a:lnTo>
                    <a:pt x="237" y="57"/>
                  </a:lnTo>
                  <a:lnTo>
                    <a:pt x="244" y="57"/>
                  </a:lnTo>
                  <a:lnTo>
                    <a:pt x="250" y="57"/>
                  </a:lnTo>
                  <a:lnTo>
                    <a:pt x="257" y="57"/>
                  </a:lnTo>
                  <a:lnTo>
                    <a:pt x="263" y="57"/>
                  </a:lnTo>
                  <a:lnTo>
                    <a:pt x="260" y="5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60" name="Freeform 498"/>
            <p:cNvSpPr>
              <a:spLocks/>
            </p:cNvSpPr>
            <p:nvPr/>
          </p:nvSpPr>
          <p:spPr bwMode="auto">
            <a:xfrm>
              <a:off x="4721" y="3060"/>
              <a:ext cx="113" cy="61"/>
            </a:xfrm>
            <a:custGeom>
              <a:avLst/>
              <a:gdLst>
                <a:gd name="T0" fmla="*/ 13 w 113"/>
                <a:gd name="T1" fmla="*/ 51 h 61"/>
                <a:gd name="T2" fmla="*/ 10 w 113"/>
                <a:gd name="T3" fmla="*/ 55 h 61"/>
                <a:gd name="T4" fmla="*/ 10 w 113"/>
                <a:gd name="T5" fmla="*/ 58 h 61"/>
                <a:gd name="T6" fmla="*/ 7 w 113"/>
                <a:gd name="T7" fmla="*/ 58 h 61"/>
                <a:gd name="T8" fmla="*/ 7 w 113"/>
                <a:gd name="T9" fmla="*/ 61 h 61"/>
                <a:gd name="T10" fmla="*/ 0 w 113"/>
                <a:gd name="T11" fmla="*/ 58 h 61"/>
                <a:gd name="T12" fmla="*/ 4 w 113"/>
                <a:gd name="T13" fmla="*/ 51 h 61"/>
                <a:gd name="T14" fmla="*/ 4 w 113"/>
                <a:gd name="T15" fmla="*/ 42 h 61"/>
                <a:gd name="T16" fmla="*/ 10 w 113"/>
                <a:gd name="T17" fmla="*/ 35 h 61"/>
                <a:gd name="T18" fmla="*/ 13 w 113"/>
                <a:gd name="T19" fmla="*/ 29 h 61"/>
                <a:gd name="T20" fmla="*/ 20 w 113"/>
                <a:gd name="T21" fmla="*/ 26 h 61"/>
                <a:gd name="T22" fmla="*/ 26 w 113"/>
                <a:gd name="T23" fmla="*/ 23 h 61"/>
                <a:gd name="T24" fmla="*/ 32 w 113"/>
                <a:gd name="T25" fmla="*/ 23 h 61"/>
                <a:gd name="T26" fmla="*/ 36 w 113"/>
                <a:gd name="T27" fmla="*/ 23 h 61"/>
                <a:gd name="T28" fmla="*/ 42 w 113"/>
                <a:gd name="T29" fmla="*/ 23 h 61"/>
                <a:gd name="T30" fmla="*/ 45 w 113"/>
                <a:gd name="T31" fmla="*/ 23 h 61"/>
                <a:gd name="T32" fmla="*/ 49 w 113"/>
                <a:gd name="T33" fmla="*/ 23 h 61"/>
                <a:gd name="T34" fmla="*/ 52 w 113"/>
                <a:gd name="T35" fmla="*/ 23 h 61"/>
                <a:gd name="T36" fmla="*/ 58 w 113"/>
                <a:gd name="T37" fmla="*/ 19 h 61"/>
                <a:gd name="T38" fmla="*/ 61 w 113"/>
                <a:gd name="T39" fmla="*/ 16 h 61"/>
                <a:gd name="T40" fmla="*/ 65 w 113"/>
                <a:gd name="T41" fmla="*/ 13 h 61"/>
                <a:gd name="T42" fmla="*/ 71 w 113"/>
                <a:gd name="T43" fmla="*/ 10 h 61"/>
                <a:gd name="T44" fmla="*/ 74 w 113"/>
                <a:gd name="T45" fmla="*/ 7 h 61"/>
                <a:gd name="T46" fmla="*/ 81 w 113"/>
                <a:gd name="T47" fmla="*/ 3 h 61"/>
                <a:gd name="T48" fmla="*/ 87 w 113"/>
                <a:gd name="T49" fmla="*/ 3 h 61"/>
                <a:gd name="T50" fmla="*/ 93 w 113"/>
                <a:gd name="T51" fmla="*/ 0 h 61"/>
                <a:gd name="T52" fmla="*/ 97 w 113"/>
                <a:gd name="T53" fmla="*/ 0 h 61"/>
                <a:gd name="T54" fmla="*/ 103 w 113"/>
                <a:gd name="T55" fmla="*/ 3 h 61"/>
                <a:gd name="T56" fmla="*/ 106 w 113"/>
                <a:gd name="T57" fmla="*/ 3 h 61"/>
                <a:gd name="T58" fmla="*/ 113 w 113"/>
                <a:gd name="T59" fmla="*/ 7 h 61"/>
                <a:gd name="T60" fmla="*/ 113 w 113"/>
                <a:gd name="T61" fmla="*/ 10 h 61"/>
                <a:gd name="T62" fmla="*/ 109 w 113"/>
                <a:gd name="T63" fmla="*/ 13 h 61"/>
                <a:gd name="T64" fmla="*/ 106 w 113"/>
                <a:gd name="T65" fmla="*/ 13 h 61"/>
                <a:gd name="T66" fmla="*/ 103 w 113"/>
                <a:gd name="T67" fmla="*/ 13 h 61"/>
                <a:gd name="T68" fmla="*/ 97 w 113"/>
                <a:gd name="T69" fmla="*/ 13 h 61"/>
                <a:gd name="T70" fmla="*/ 93 w 113"/>
                <a:gd name="T71" fmla="*/ 13 h 61"/>
                <a:gd name="T72" fmla="*/ 90 w 113"/>
                <a:gd name="T73" fmla="*/ 13 h 61"/>
                <a:gd name="T74" fmla="*/ 81 w 113"/>
                <a:gd name="T75" fmla="*/ 16 h 61"/>
                <a:gd name="T76" fmla="*/ 74 w 113"/>
                <a:gd name="T77" fmla="*/ 19 h 61"/>
                <a:gd name="T78" fmla="*/ 68 w 113"/>
                <a:gd name="T79" fmla="*/ 23 h 61"/>
                <a:gd name="T80" fmla="*/ 61 w 113"/>
                <a:gd name="T81" fmla="*/ 26 h 61"/>
                <a:gd name="T82" fmla="*/ 58 w 113"/>
                <a:gd name="T83" fmla="*/ 32 h 61"/>
                <a:gd name="T84" fmla="*/ 55 w 113"/>
                <a:gd name="T85" fmla="*/ 35 h 61"/>
                <a:gd name="T86" fmla="*/ 55 w 113"/>
                <a:gd name="T87" fmla="*/ 42 h 61"/>
                <a:gd name="T88" fmla="*/ 49 w 113"/>
                <a:gd name="T89" fmla="*/ 45 h 61"/>
                <a:gd name="T90" fmla="*/ 39 w 113"/>
                <a:gd name="T91" fmla="*/ 45 h 61"/>
                <a:gd name="T92" fmla="*/ 29 w 113"/>
                <a:gd name="T93" fmla="*/ 45 h 61"/>
                <a:gd name="T94" fmla="*/ 23 w 113"/>
                <a:gd name="T95" fmla="*/ 45 h 61"/>
                <a:gd name="T96" fmla="*/ 20 w 113"/>
                <a:gd name="T97" fmla="*/ 48 h 61"/>
                <a:gd name="T98" fmla="*/ 16 w 113"/>
                <a:gd name="T99" fmla="*/ 48 h 61"/>
                <a:gd name="T100" fmla="*/ 16 w 113"/>
                <a:gd name="T101" fmla="*/ 48 h 61"/>
                <a:gd name="T102" fmla="*/ 16 w 113"/>
                <a:gd name="T103" fmla="*/ 48 h 61"/>
                <a:gd name="T104" fmla="*/ 16 w 113"/>
                <a:gd name="T105" fmla="*/ 48 h 6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13"/>
                <a:gd name="T160" fmla="*/ 0 h 61"/>
                <a:gd name="T161" fmla="*/ 113 w 113"/>
                <a:gd name="T162" fmla="*/ 61 h 61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13" h="61">
                  <a:moveTo>
                    <a:pt x="16" y="48"/>
                  </a:moveTo>
                  <a:lnTo>
                    <a:pt x="13" y="51"/>
                  </a:lnTo>
                  <a:lnTo>
                    <a:pt x="13" y="55"/>
                  </a:lnTo>
                  <a:lnTo>
                    <a:pt x="10" y="55"/>
                  </a:lnTo>
                  <a:lnTo>
                    <a:pt x="10" y="58"/>
                  </a:lnTo>
                  <a:lnTo>
                    <a:pt x="7" y="58"/>
                  </a:lnTo>
                  <a:lnTo>
                    <a:pt x="7" y="61"/>
                  </a:lnTo>
                  <a:lnTo>
                    <a:pt x="0" y="61"/>
                  </a:lnTo>
                  <a:lnTo>
                    <a:pt x="0" y="58"/>
                  </a:lnTo>
                  <a:lnTo>
                    <a:pt x="0" y="55"/>
                  </a:lnTo>
                  <a:lnTo>
                    <a:pt x="4" y="51"/>
                  </a:lnTo>
                  <a:lnTo>
                    <a:pt x="4" y="45"/>
                  </a:lnTo>
                  <a:lnTo>
                    <a:pt x="4" y="42"/>
                  </a:lnTo>
                  <a:lnTo>
                    <a:pt x="7" y="39"/>
                  </a:lnTo>
                  <a:lnTo>
                    <a:pt x="10" y="35"/>
                  </a:lnTo>
                  <a:lnTo>
                    <a:pt x="13" y="32"/>
                  </a:lnTo>
                  <a:lnTo>
                    <a:pt x="13" y="29"/>
                  </a:lnTo>
                  <a:lnTo>
                    <a:pt x="16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9" y="23"/>
                  </a:lnTo>
                  <a:lnTo>
                    <a:pt x="32" y="23"/>
                  </a:lnTo>
                  <a:lnTo>
                    <a:pt x="36" y="23"/>
                  </a:lnTo>
                  <a:lnTo>
                    <a:pt x="39" y="23"/>
                  </a:lnTo>
                  <a:lnTo>
                    <a:pt x="42" y="23"/>
                  </a:lnTo>
                  <a:lnTo>
                    <a:pt x="45" y="23"/>
                  </a:lnTo>
                  <a:lnTo>
                    <a:pt x="49" y="23"/>
                  </a:lnTo>
                  <a:lnTo>
                    <a:pt x="52" y="23"/>
                  </a:lnTo>
                  <a:lnTo>
                    <a:pt x="55" y="23"/>
                  </a:lnTo>
                  <a:lnTo>
                    <a:pt x="58" y="19"/>
                  </a:lnTo>
                  <a:lnTo>
                    <a:pt x="58" y="16"/>
                  </a:lnTo>
                  <a:lnTo>
                    <a:pt x="61" y="16"/>
                  </a:lnTo>
                  <a:lnTo>
                    <a:pt x="65" y="13"/>
                  </a:lnTo>
                  <a:lnTo>
                    <a:pt x="68" y="10"/>
                  </a:lnTo>
                  <a:lnTo>
                    <a:pt x="71" y="10"/>
                  </a:lnTo>
                  <a:lnTo>
                    <a:pt x="74" y="7"/>
                  </a:lnTo>
                  <a:lnTo>
                    <a:pt x="77" y="3"/>
                  </a:lnTo>
                  <a:lnTo>
                    <a:pt x="81" y="3"/>
                  </a:lnTo>
                  <a:lnTo>
                    <a:pt x="84" y="3"/>
                  </a:lnTo>
                  <a:lnTo>
                    <a:pt x="87" y="3"/>
                  </a:lnTo>
                  <a:lnTo>
                    <a:pt x="90" y="3"/>
                  </a:lnTo>
                  <a:lnTo>
                    <a:pt x="93" y="0"/>
                  </a:lnTo>
                  <a:lnTo>
                    <a:pt x="97" y="0"/>
                  </a:lnTo>
                  <a:lnTo>
                    <a:pt x="100" y="3"/>
                  </a:lnTo>
                  <a:lnTo>
                    <a:pt x="103" y="3"/>
                  </a:lnTo>
                  <a:lnTo>
                    <a:pt x="106" y="3"/>
                  </a:lnTo>
                  <a:lnTo>
                    <a:pt x="109" y="7"/>
                  </a:lnTo>
                  <a:lnTo>
                    <a:pt x="113" y="7"/>
                  </a:lnTo>
                  <a:lnTo>
                    <a:pt x="113" y="10"/>
                  </a:lnTo>
                  <a:lnTo>
                    <a:pt x="109" y="10"/>
                  </a:lnTo>
                  <a:lnTo>
                    <a:pt x="109" y="13"/>
                  </a:lnTo>
                  <a:lnTo>
                    <a:pt x="106" y="13"/>
                  </a:lnTo>
                  <a:lnTo>
                    <a:pt x="103" y="13"/>
                  </a:lnTo>
                  <a:lnTo>
                    <a:pt x="100" y="13"/>
                  </a:lnTo>
                  <a:lnTo>
                    <a:pt x="97" y="13"/>
                  </a:lnTo>
                  <a:lnTo>
                    <a:pt x="93" y="13"/>
                  </a:lnTo>
                  <a:lnTo>
                    <a:pt x="90" y="13"/>
                  </a:lnTo>
                  <a:lnTo>
                    <a:pt x="84" y="13"/>
                  </a:lnTo>
                  <a:lnTo>
                    <a:pt x="81" y="16"/>
                  </a:lnTo>
                  <a:lnTo>
                    <a:pt x="77" y="16"/>
                  </a:lnTo>
                  <a:lnTo>
                    <a:pt x="74" y="19"/>
                  </a:lnTo>
                  <a:lnTo>
                    <a:pt x="71" y="19"/>
                  </a:lnTo>
                  <a:lnTo>
                    <a:pt x="68" y="23"/>
                  </a:lnTo>
                  <a:lnTo>
                    <a:pt x="65" y="26"/>
                  </a:lnTo>
                  <a:lnTo>
                    <a:pt x="61" y="26"/>
                  </a:lnTo>
                  <a:lnTo>
                    <a:pt x="61" y="29"/>
                  </a:lnTo>
                  <a:lnTo>
                    <a:pt x="58" y="32"/>
                  </a:lnTo>
                  <a:lnTo>
                    <a:pt x="58" y="35"/>
                  </a:lnTo>
                  <a:lnTo>
                    <a:pt x="55" y="35"/>
                  </a:lnTo>
                  <a:lnTo>
                    <a:pt x="55" y="39"/>
                  </a:lnTo>
                  <a:lnTo>
                    <a:pt x="55" y="42"/>
                  </a:lnTo>
                  <a:lnTo>
                    <a:pt x="55" y="45"/>
                  </a:lnTo>
                  <a:lnTo>
                    <a:pt x="49" y="45"/>
                  </a:lnTo>
                  <a:lnTo>
                    <a:pt x="42" y="45"/>
                  </a:lnTo>
                  <a:lnTo>
                    <a:pt x="39" y="45"/>
                  </a:lnTo>
                  <a:lnTo>
                    <a:pt x="32" y="45"/>
                  </a:lnTo>
                  <a:lnTo>
                    <a:pt x="29" y="45"/>
                  </a:lnTo>
                  <a:lnTo>
                    <a:pt x="26" y="45"/>
                  </a:lnTo>
                  <a:lnTo>
                    <a:pt x="23" y="45"/>
                  </a:lnTo>
                  <a:lnTo>
                    <a:pt x="20" y="48"/>
                  </a:lnTo>
                  <a:lnTo>
                    <a:pt x="16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61" name="Freeform 499"/>
            <p:cNvSpPr>
              <a:spLocks/>
            </p:cNvSpPr>
            <p:nvPr/>
          </p:nvSpPr>
          <p:spPr bwMode="auto">
            <a:xfrm>
              <a:off x="4779" y="3060"/>
              <a:ext cx="183" cy="61"/>
            </a:xfrm>
            <a:custGeom>
              <a:avLst/>
              <a:gdLst>
                <a:gd name="T0" fmla="*/ 93 w 183"/>
                <a:gd name="T1" fmla="*/ 42 h 61"/>
                <a:gd name="T2" fmla="*/ 68 w 183"/>
                <a:gd name="T3" fmla="*/ 45 h 61"/>
                <a:gd name="T4" fmla="*/ 48 w 183"/>
                <a:gd name="T5" fmla="*/ 45 h 61"/>
                <a:gd name="T6" fmla="*/ 35 w 183"/>
                <a:gd name="T7" fmla="*/ 45 h 61"/>
                <a:gd name="T8" fmla="*/ 26 w 183"/>
                <a:gd name="T9" fmla="*/ 45 h 61"/>
                <a:gd name="T10" fmla="*/ 23 w 183"/>
                <a:gd name="T11" fmla="*/ 48 h 61"/>
                <a:gd name="T12" fmla="*/ 19 w 183"/>
                <a:gd name="T13" fmla="*/ 48 h 61"/>
                <a:gd name="T14" fmla="*/ 19 w 183"/>
                <a:gd name="T15" fmla="*/ 48 h 61"/>
                <a:gd name="T16" fmla="*/ 16 w 183"/>
                <a:gd name="T17" fmla="*/ 51 h 61"/>
                <a:gd name="T18" fmla="*/ 13 w 183"/>
                <a:gd name="T19" fmla="*/ 55 h 61"/>
                <a:gd name="T20" fmla="*/ 10 w 183"/>
                <a:gd name="T21" fmla="*/ 58 h 61"/>
                <a:gd name="T22" fmla="*/ 10 w 183"/>
                <a:gd name="T23" fmla="*/ 58 h 61"/>
                <a:gd name="T24" fmla="*/ 10 w 183"/>
                <a:gd name="T25" fmla="*/ 61 h 61"/>
                <a:gd name="T26" fmla="*/ 3 w 183"/>
                <a:gd name="T27" fmla="*/ 58 h 61"/>
                <a:gd name="T28" fmla="*/ 3 w 183"/>
                <a:gd name="T29" fmla="*/ 48 h 61"/>
                <a:gd name="T30" fmla="*/ 7 w 183"/>
                <a:gd name="T31" fmla="*/ 42 h 61"/>
                <a:gd name="T32" fmla="*/ 10 w 183"/>
                <a:gd name="T33" fmla="*/ 32 h 61"/>
                <a:gd name="T34" fmla="*/ 13 w 183"/>
                <a:gd name="T35" fmla="*/ 29 h 61"/>
                <a:gd name="T36" fmla="*/ 19 w 183"/>
                <a:gd name="T37" fmla="*/ 26 h 61"/>
                <a:gd name="T38" fmla="*/ 26 w 183"/>
                <a:gd name="T39" fmla="*/ 23 h 61"/>
                <a:gd name="T40" fmla="*/ 32 w 183"/>
                <a:gd name="T41" fmla="*/ 19 h 61"/>
                <a:gd name="T42" fmla="*/ 39 w 183"/>
                <a:gd name="T43" fmla="*/ 19 h 61"/>
                <a:gd name="T44" fmla="*/ 42 w 183"/>
                <a:gd name="T45" fmla="*/ 19 h 61"/>
                <a:gd name="T46" fmla="*/ 45 w 183"/>
                <a:gd name="T47" fmla="*/ 19 h 61"/>
                <a:gd name="T48" fmla="*/ 48 w 183"/>
                <a:gd name="T49" fmla="*/ 19 h 61"/>
                <a:gd name="T50" fmla="*/ 55 w 183"/>
                <a:gd name="T51" fmla="*/ 23 h 61"/>
                <a:gd name="T52" fmla="*/ 58 w 183"/>
                <a:gd name="T53" fmla="*/ 16 h 61"/>
                <a:gd name="T54" fmla="*/ 61 w 183"/>
                <a:gd name="T55" fmla="*/ 13 h 61"/>
                <a:gd name="T56" fmla="*/ 68 w 183"/>
                <a:gd name="T57" fmla="*/ 10 h 61"/>
                <a:gd name="T58" fmla="*/ 71 w 183"/>
                <a:gd name="T59" fmla="*/ 7 h 61"/>
                <a:gd name="T60" fmla="*/ 77 w 183"/>
                <a:gd name="T61" fmla="*/ 3 h 61"/>
                <a:gd name="T62" fmla="*/ 80 w 183"/>
                <a:gd name="T63" fmla="*/ 3 h 61"/>
                <a:gd name="T64" fmla="*/ 87 w 183"/>
                <a:gd name="T65" fmla="*/ 0 h 61"/>
                <a:gd name="T66" fmla="*/ 93 w 183"/>
                <a:gd name="T67" fmla="*/ 0 h 61"/>
                <a:gd name="T68" fmla="*/ 100 w 183"/>
                <a:gd name="T69" fmla="*/ 0 h 61"/>
                <a:gd name="T70" fmla="*/ 106 w 183"/>
                <a:gd name="T71" fmla="*/ 0 h 61"/>
                <a:gd name="T72" fmla="*/ 109 w 183"/>
                <a:gd name="T73" fmla="*/ 3 h 61"/>
                <a:gd name="T74" fmla="*/ 112 w 183"/>
                <a:gd name="T75" fmla="*/ 7 h 61"/>
                <a:gd name="T76" fmla="*/ 119 w 183"/>
                <a:gd name="T77" fmla="*/ 13 h 61"/>
                <a:gd name="T78" fmla="*/ 122 w 183"/>
                <a:gd name="T79" fmla="*/ 23 h 61"/>
                <a:gd name="T80" fmla="*/ 119 w 183"/>
                <a:gd name="T81" fmla="*/ 35 h 61"/>
                <a:gd name="T82" fmla="*/ 128 w 183"/>
                <a:gd name="T83" fmla="*/ 29 h 61"/>
                <a:gd name="T84" fmla="*/ 138 w 183"/>
                <a:gd name="T85" fmla="*/ 29 h 61"/>
                <a:gd name="T86" fmla="*/ 145 w 183"/>
                <a:gd name="T87" fmla="*/ 26 h 61"/>
                <a:gd name="T88" fmla="*/ 151 w 183"/>
                <a:gd name="T89" fmla="*/ 26 h 61"/>
                <a:gd name="T90" fmla="*/ 157 w 183"/>
                <a:gd name="T91" fmla="*/ 26 h 61"/>
                <a:gd name="T92" fmla="*/ 167 w 183"/>
                <a:gd name="T93" fmla="*/ 29 h 61"/>
                <a:gd name="T94" fmla="*/ 173 w 183"/>
                <a:gd name="T95" fmla="*/ 35 h 61"/>
                <a:gd name="T96" fmla="*/ 180 w 183"/>
                <a:gd name="T97" fmla="*/ 42 h 61"/>
                <a:gd name="T98" fmla="*/ 180 w 183"/>
                <a:gd name="T99" fmla="*/ 42 h 61"/>
                <a:gd name="T100" fmla="*/ 173 w 183"/>
                <a:gd name="T101" fmla="*/ 42 h 61"/>
                <a:gd name="T102" fmla="*/ 164 w 183"/>
                <a:gd name="T103" fmla="*/ 42 h 61"/>
                <a:gd name="T104" fmla="*/ 157 w 183"/>
                <a:gd name="T105" fmla="*/ 42 h 61"/>
                <a:gd name="T106" fmla="*/ 148 w 183"/>
                <a:gd name="T107" fmla="*/ 42 h 61"/>
                <a:gd name="T108" fmla="*/ 135 w 183"/>
                <a:gd name="T109" fmla="*/ 42 h 61"/>
                <a:gd name="T110" fmla="*/ 125 w 183"/>
                <a:gd name="T111" fmla="*/ 42 h 61"/>
                <a:gd name="T112" fmla="*/ 112 w 183"/>
                <a:gd name="T113" fmla="*/ 42 h 61"/>
                <a:gd name="T114" fmla="*/ 109 w 183"/>
                <a:gd name="T115" fmla="*/ 42 h 61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83"/>
                <a:gd name="T175" fmla="*/ 0 h 61"/>
                <a:gd name="T176" fmla="*/ 183 w 183"/>
                <a:gd name="T177" fmla="*/ 61 h 61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83" h="61">
                  <a:moveTo>
                    <a:pt x="109" y="42"/>
                  </a:moveTo>
                  <a:lnTo>
                    <a:pt x="93" y="42"/>
                  </a:lnTo>
                  <a:lnTo>
                    <a:pt x="80" y="42"/>
                  </a:lnTo>
                  <a:lnTo>
                    <a:pt x="68" y="45"/>
                  </a:lnTo>
                  <a:lnTo>
                    <a:pt x="58" y="45"/>
                  </a:lnTo>
                  <a:lnTo>
                    <a:pt x="48" y="45"/>
                  </a:lnTo>
                  <a:lnTo>
                    <a:pt x="42" y="45"/>
                  </a:lnTo>
                  <a:lnTo>
                    <a:pt x="35" y="45"/>
                  </a:lnTo>
                  <a:lnTo>
                    <a:pt x="32" y="45"/>
                  </a:lnTo>
                  <a:lnTo>
                    <a:pt x="26" y="45"/>
                  </a:lnTo>
                  <a:lnTo>
                    <a:pt x="23" y="48"/>
                  </a:lnTo>
                  <a:lnTo>
                    <a:pt x="19" y="48"/>
                  </a:lnTo>
                  <a:lnTo>
                    <a:pt x="16" y="48"/>
                  </a:lnTo>
                  <a:lnTo>
                    <a:pt x="16" y="51"/>
                  </a:lnTo>
                  <a:lnTo>
                    <a:pt x="13" y="55"/>
                  </a:lnTo>
                  <a:lnTo>
                    <a:pt x="10" y="58"/>
                  </a:lnTo>
                  <a:lnTo>
                    <a:pt x="10" y="61"/>
                  </a:lnTo>
                  <a:lnTo>
                    <a:pt x="0" y="61"/>
                  </a:lnTo>
                  <a:lnTo>
                    <a:pt x="3" y="58"/>
                  </a:lnTo>
                  <a:lnTo>
                    <a:pt x="3" y="55"/>
                  </a:lnTo>
                  <a:lnTo>
                    <a:pt x="3" y="48"/>
                  </a:lnTo>
                  <a:lnTo>
                    <a:pt x="3" y="45"/>
                  </a:lnTo>
                  <a:lnTo>
                    <a:pt x="7" y="42"/>
                  </a:lnTo>
                  <a:lnTo>
                    <a:pt x="7" y="39"/>
                  </a:lnTo>
                  <a:lnTo>
                    <a:pt x="10" y="32"/>
                  </a:lnTo>
                  <a:lnTo>
                    <a:pt x="13" y="29"/>
                  </a:lnTo>
                  <a:lnTo>
                    <a:pt x="16" y="26"/>
                  </a:lnTo>
                  <a:lnTo>
                    <a:pt x="19" y="26"/>
                  </a:lnTo>
                  <a:lnTo>
                    <a:pt x="23" y="23"/>
                  </a:lnTo>
                  <a:lnTo>
                    <a:pt x="26" y="23"/>
                  </a:lnTo>
                  <a:lnTo>
                    <a:pt x="29" y="23"/>
                  </a:lnTo>
                  <a:lnTo>
                    <a:pt x="32" y="19"/>
                  </a:lnTo>
                  <a:lnTo>
                    <a:pt x="35" y="19"/>
                  </a:lnTo>
                  <a:lnTo>
                    <a:pt x="39" y="19"/>
                  </a:lnTo>
                  <a:lnTo>
                    <a:pt x="42" y="19"/>
                  </a:lnTo>
                  <a:lnTo>
                    <a:pt x="45" y="19"/>
                  </a:lnTo>
                  <a:lnTo>
                    <a:pt x="48" y="19"/>
                  </a:lnTo>
                  <a:lnTo>
                    <a:pt x="51" y="23"/>
                  </a:lnTo>
                  <a:lnTo>
                    <a:pt x="55" y="23"/>
                  </a:lnTo>
                  <a:lnTo>
                    <a:pt x="55" y="19"/>
                  </a:lnTo>
                  <a:lnTo>
                    <a:pt x="58" y="16"/>
                  </a:lnTo>
                  <a:lnTo>
                    <a:pt x="61" y="13"/>
                  </a:lnTo>
                  <a:lnTo>
                    <a:pt x="64" y="13"/>
                  </a:lnTo>
                  <a:lnTo>
                    <a:pt x="68" y="10"/>
                  </a:lnTo>
                  <a:lnTo>
                    <a:pt x="68" y="7"/>
                  </a:lnTo>
                  <a:lnTo>
                    <a:pt x="71" y="7"/>
                  </a:lnTo>
                  <a:lnTo>
                    <a:pt x="74" y="7"/>
                  </a:lnTo>
                  <a:lnTo>
                    <a:pt x="77" y="3"/>
                  </a:lnTo>
                  <a:lnTo>
                    <a:pt x="80" y="3"/>
                  </a:lnTo>
                  <a:lnTo>
                    <a:pt x="84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6" y="0"/>
                  </a:lnTo>
                  <a:lnTo>
                    <a:pt x="100" y="0"/>
                  </a:lnTo>
                  <a:lnTo>
                    <a:pt x="103" y="0"/>
                  </a:lnTo>
                  <a:lnTo>
                    <a:pt x="106" y="0"/>
                  </a:lnTo>
                  <a:lnTo>
                    <a:pt x="109" y="3"/>
                  </a:lnTo>
                  <a:lnTo>
                    <a:pt x="112" y="3"/>
                  </a:lnTo>
                  <a:lnTo>
                    <a:pt x="112" y="7"/>
                  </a:lnTo>
                  <a:lnTo>
                    <a:pt x="116" y="7"/>
                  </a:lnTo>
                  <a:lnTo>
                    <a:pt x="119" y="13"/>
                  </a:lnTo>
                  <a:lnTo>
                    <a:pt x="122" y="16"/>
                  </a:lnTo>
                  <a:lnTo>
                    <a:pt x="122" y="23"/>
                  </a:lnTo>
                  <a:lnTo>
                    <a:pt x="122" y="26"/>
                  </a:lnTo>
                  <a:lnTo>
                    <a:pt x="119" y="35"/>
                  </a:lnTo>
                  <a:lnTo>
                    <a:pt x="128" y="32"/>
                  </a:lnTo>
                  <a:lnTo>
                    <a:pt x="128" y="29"/>
                  </a:lnTo>
                  <a:lnTo>
                    <a:pt x="132" y="29"/>
                  </a:lnTo>
                  <a:lnTo>
                    <a:pt x="138" y="29"/>
                  </a:lnTo>
                  <a:lnTo>
                    <a:pt x="141" y="26"/>
                  </a:lnTo>
                  <a:lnTo>
                    <a:pt x="145" y="26"/>
                  </a:lnTo>
                  <a:lnTo>
                    <a:pt x="148" y="26"/>
                  </a:lnTo>
                  <a:lnTo>
                    <a:pt x="151" y="26"/>
                  </a:lnTo>
                  <a:lnTo>
                    <a:pt x="157" y="26"/>
                  </a:lnTo>
                  <a:lnTo>
                    <a:pt x="161" y="29"/>
                  </a:lnTo>
                  <a:lnTo>
                    <a:pt x="167" y="29"/>
                  </a:lnTo>
                  <a:lnTo>
                    <a:pt x="170" y="32"/>
                  </a:lnTo>
                  <a:lnTo>
                    <a:pt x="173" y="35"/>
                  </a:lnTo>
                  <a:lnTo>
                    <a:pt x="177" y="39"/>
                  </a:lnTo>
                  <a:lnTo>
                    <a:pt x="180" y="42"/>
                  </a:lnTo>
                  <a:lnTo>
                    <a:pt x="183" y="42"/>
                  </a:lnTo>
                  <a:lnTo>
                    <a:pt x="180" y="42"/>
                  </a:lnTo>
                  <a:lnTo>
                    <a:pt x="177" y="42"/>
                  </a:lnTo>
                  <a:lnTo>
                    <a:pt x="173" y="42"/>
                  </a:lnTo>
                  <a:lnTo>
                    <a:pt x="170" y="42"/>
                  </a:lnTo>
                  <a:lnTo>
                    <a:pt x="164" y="42"/>
                  </a:lnTo>
                  <a:lnTo>
                    <a:pt x="161" y="42"/>
                  </a:lnTo>
                  <a:lnTo>
                    <a:pt x="157" y="42"/>
                  </a:lnTo>
                  <a:lnTo>
                    <a:pt x="151" y="42"/>
                  </a:lnTo>
                  <a:lnTo>
                    <a:pt x="148" y="42"/>
                  </a:lnTo>
                  <a:lnTo>
                    <a:pt x="141" y="42"/>
                  </a:lnTo>
                  <a:lnTo>
                    <a:pt x="135" y="42"/>
                  </a:lnTo>
                  <a:lnTo>
                    <a:pt x="132" y="42"/>
                  </a:lnTo>
                  <a:lnTo>
                    <a:pt x="125" y="42"/>
                  </a:lnTo>
                  <a:lnTo>
                    <a:pt x="119" y="42"/>
                  </a:lnTo>
                  <a:lnTo>
                    <a:pt x="112" y="42"/>
                  </a:lnTo>
                  <a:lnTo>
                    <a:pt x="109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62" name="Freeform 500"/>
            <p:cNvSpPr>
              <a:spLocks/>
            </p:cNvSpPr>
            <p:nvPr/>
          </p:nvSpPr>
          <p:spPr bwMode="auto">
            <a:xfrm>
              <a:off x="4725" y="3391"/>
              <a:ext cx="6" cy="3"/>
            </a:xfrm>
            <a:custGeom>
              <a:avLst/>
              <a:gdLst>
                <a:gd name="T0" fmla="*/ 6 w 6"/>
                <a:gd name="T1" fmla="*/ 3 h 3"/>
                <a:gd name="T2" fmla="*/ 6 w 6"/>
                <a:gd name="T3" fmla="*/ 3 h 3"/>
                <a:gd name="T4" fmla="*/ 3 w 6"/>
                <a:gd name="T5" fmla="*/ 3 h 3"/>
                <a:gd name="T6" fmla="*/ 3 w 6"/>
                <a:gd name="T7" fmla="*/ 3 h 3"/>
                <a:gd name="T8" fmla="*/ 3 w 6"/>
                <a:gd name="T9" fmla="*/ 3 h 3"/>
                <a:gd name="T10" fmla="*/ 0 w 6"/>
                <a:gd name="T11" fmla="*/ 3 h 3"/>
                <a:gd name="T12" fmla="*/ 0 w 6"/>
                <a:gd name="T13" fmla="*/ 3 h 3"/>
                <a:gd name="T14" fmla="*/ 0 w 6"/>
                <a:gd name="T15" fmla="*/ 3 h 3"/>
                <a:gd name="T16" fmla="*/ 0 w 6"/>
                <a:gd name="T17" fmla="*/ 3 h 3"/>
                <a:gd name="T18" fmla="*/ 0 w 6"/>
                <a:gd name="T19" fmla="*/ 3 h 3"/>
                <a:gd name="T20" fmla="*/ 0 w 6"/>
                <a:gd name="T21" fmla="*/ 0 h 3"/>
                <a:gd name="T22" fmla="*/ 0 w 6"/>
                <a:gd name="T23" fmla="*/ 0 h 3"/>
                <a:gd name="T24" fmla="*/ 3 w 6"/>
                <a:gd name="T25" fmla="*/ 0 h 3"/>
                <a:gd name="T26" fmla="*/ 3 w 6"/>
                <a:gd name="T27" fmla="*/ 0 h 3"/>
                <a:gd name="T28" fmla="*/ 3 w 6"/>
                <a:gd name="T29" fmla="*/ 0 h 3"/>
                <a:gd name="T30" fmla="*/ 6 w 6"/>
                <a:gd name="T31" fmla="*/ 3 h 3"/>
                <a:gd name="T32" fmla="*/ 6 w 6"/>
                <a:gd name="T33" fmla="*/ 3 h 3"/>
                <a:gd name="T34" fmla="*/ 6 w 6"/>
                <a:gd name="T35" fmla="*/ 3 h 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6"/>
                <a:gd name="T55" fmla="*/ 0 h 3"/>
                <a:gd name="T56" fmla="*/ 6 w 6"/>
                <a:gd name="T57" fmla="*/ 3 h 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6" h="3">
                  <a:moveTo>
                    <a:pt x="6" y="3"/>
                  </a:moveTo>
                  <a:lnTo>
                    <a:pt x="6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6" y="3"/>
                  </a:lnTo>
                  <a:close/>
                </a:path>
              </a:pathLst>
            </a:custGeom>
            <a:solidFill>
              <a:srgbClr val="A3DD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63" name="Freeform 501"/>
            <p:cNvSpPr>
              <a:spLocks/>
            </p:cNvSpPr>
            <p:nvPr/>
          </p:nvSpPr>
          <p:spPr bwMode="auto">
            <a:xfrm>
              <a:off x="4577" y="3384"/>
              <a:ext cx="26" cy="16"/>
            </a:xfrm>
            <a:custGeom>
              <a:avLst/>
              <a:gdLst>
                <a:gd name="T0" fmla="*/ 3 w 26"/>
                <a:gd name="T1" fmla="*/ 16 h 16"/>
                <a:gd name="T2" fmla="*/ 3 w 26"/>
                <a:gd name="T3" fmla="*/ 16 h 16"/>
                <a:gd name="T4" fmla="*/ 3 w 26"/>
                <a:gd name="T5" fmla="*/ 13 h 16"/>
                <a:gd name="T6" fmla="*/ 3 w 26"/>
                <a:gd name="T7" fmla="*/ 13 h 16"/>
                <a:gd name="T8" fmla="*/ 3 w 26"/>
                <a:gd name="T9" fmla="*/ 10 h 16"/>
                <a:gd name="T10" fmla="*/ 3 w 26"/>
                <a:gd name="T11" fmla="*/ 10 h 16"/>
                <a:gd name="T12" fmla="*/ 3 w 26"/>
                <a:gd name="T13" fmla="*/ 7 h 16"/>
                <a:gd name="T14" fmla="*/ 6 w 26"/>
                <a:gd name="T15" fmla="*/ 7 h 16"/>
                <a:gd name="T16" fmla="*/ 6 w 26"/>
                <a:gd name="T17" fmla="*/ 3 h 16"/>
                <a:gd name="T18" fmla="*/ 10 w 26"/>
                <a:gd name="T19" fmla="*/ 3 h 16"/>
                <a:gd name="T20" fmla="*/ 13 w 26"/>
                <a:gd name="T21" fmla="*/ 7 h 16"/>
                <a:gd name="T22" fmla="*/ 16 w 26"/>
                <a:gd name="T23" fmla="*/ 7 h 16"/>
                <a:gd name="T24" fmla="*/ 16 w 26"/>
                <a:gd name="T25" fmla="*/ 7 h 16"/>
                <a:gd name="T26" fmla="*/ 19 w 26"/>
                <a:gd name="T27" fmla="*/ 10 h 16"/>
                <a:gd name="T28" fmla="*/ 19 w 26"/>
                <a:gd name="T29" fmla="*/ 13 h 16"/>
                <a:gd name="T30" fmla="*/ 19 w 26"/>
                <a:gd name="T31" fmla="*/ 13 h 16"/>
                <a:gd name="T32" fmla="*/ 16 w 26"/>
                <a:gd name="T33" fmla="*/ 16 h 16"/>
                <a:gd name="T34" fmla="*/ 19 w 26"/>
                <a:gd name="T35" fmla="*/ 16 h 16"/>
                <a:gd name="T36" fmla="*/ 19 w 26"/>
                <a:gd name="T37" fmla="*/ 16 h 16"/>
                <a:gd name="T38" fmla="*/ 19 w 26"/>
                <a:gd name="T39" fmla="*/ 16 h 16"/>
                <a:gd name="T40" fmla="*/ 19 w 26"/>
                <a:gd name="T41" fmla="*/ 16 h 16"/>
                <a:gd name="T42" fmla="*/ 22 w 26"/>
                <a:gd name="T43" fmla="*/ 16 h 16"/>
                <a:gd name="T44" fmla="*/ 22 w 26"/>
                <a:gd name="T45" fmla="*/ 16 h 16"/>
                <a:gd name="T46" fmla="*/ 22 w 26"/>
                <a:gd name="T47" fmla="*/ 16 h 16"/>
                <a:gd name="T48" fmla="*/ 26 w 26"/>
                <a:gd name="T49" fmla="*/ 13 h 16"/>
                <a:gd name="T50" fmla="*/ 26 w 26"/>
                <a:gd name="T51" fmla="*/ 13 h 16"/>
                <a:gd name="T52" fmla="*/ 26 w 26"/>
                <a:gd name="T53" fmla="*/ 10 h 16"/>
                <a:gd name="T54" fmla="*/ 26 w 26"/>
                <a:gd name="T55" fmla="*/ 10 h 16"/>
                <a:gd name="T56" fmla="*/ 22 w 26"/>
                <a:gd name="T57" fmla="*/ 7 h 16"/>
                <a:gd name="T58" fmla="*/ 22 w 26"/>
                <a:gd name="T59" fmla="*/ 3 h 16"/>
                <a:gd name="T60" fmla="*/ 19 w 26"/>
                <a:gd name="T61" fmla="*/ 3 h 16"/>
                <a:gd name="T62" fmla="*/ 13 w 26"/>
                <a:gd name="T63" fmla="*/ 0 h 16"/>
                <a:gd name="T64" fmla="*/ 10 w 26"/>
                <a:gd name="T65" fmla="*/ 0 h 16"/>
                <a:gd name="T66" fmla="*/ 3 w 26"/>
                <a:gd name="T67" fmla="*/ 3 h 16"/>
                <a:gd name="T68" fmla="*/ 0 w 26"/>
                <a:gd name="T69" fmla="*/ 3 h 16"/>
                <a:gd name="T70" fmla="*/ 0 w 26"/>
                <a:gd name="T71" fmla="*/ 7 h 16"/>
                <a:gd name="T72" fmla="*/ 0 w 26"/>
                <a:gd name="T73" fmla="*/ 10 h 16"/>
                <a:gd name="T74" fmla="*/ 0 w 26"/>
                <a:gd name="T75" fmla="*/ 13 h 16"/>
                <a:gd name="T76" fmla="*/ 0 w 26"/>
                <a:gd name="T77" fmla="*/ 13 h 16"/>
                <a:gd name="T78" fmla="*/ 3 w 26"/>
                <a:gd name="T79" fmla="*/ 16 h 16"/>
                <a:gd name="T80" fmla="*/ 3 w 26"/>
                <a:gd name="T81" fmla="*/ 16 h 16"/>
                <a:gd name="T82" fmla="*/ 3 w 26"/>
                <a:gd name="T83" fmla="*/ 16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16"/>
                <a:gd name="T128" fmla="*/ 26 w 26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16">
                  <a:moveTo>
                    <a:pt x="3" y="16"/>
                  </a:moveTo>
                  <a:lnTo>
                    <a:pt x="3" y="16"/>
                  </a:lnTo>
                  <a:lnTo>
                    <a:pt x="3" y="13"/>
                  </a:lnTo>
                  <a:lnTo>
                    <a:pt x="3" y="10"/>
                  </a:lnTo>
                  <a:lnTo>
                    <a:pt x="3" y="7"/>
                  </a:lnTo>
                  <a:lnTo>
                    <a:pt x="6" y="7"/>
                  </a:lnTo>
                  <a:lnTo>
                    <a:pt x="6" y="3"/>
                  </a:lnTo>
                  <a:lnTo>
                    <a:pt x="10" y="3"/>
                  </a:lnTo>
                  <a:lnTo>
                    <a:pt x="13" y="7"/>
                  </a:lnTo>
                  <a:lnTo>
                    <a:pt x="16" y="7"/>
                  </a:lnTo>
                  <a:lnTo>
                    <a:pt x="19" y="10"/>
                  </a:lnTo>
                  <a:lnTo>
                    <a:pt x="19" y="13"/>
                  </a:lnTo>
                  <a:lnTo>
                    <a:pt x="16" y="16"/>
                  </a:lnTo>
                  <a:lnTo>
                    <a:pt x="19" y="16"/>
                  </a:lnTo>
                  <a:lnTo>
                    <a:pt x="22" y="16"/>
                  </a:lnTo>
                  <a:lnTo>
                    <a:pt x="26" y="13"/>
                  </a:lnTo>
                  <a:lnTo>
                    <a:pt x="26" y="10"/>
                  </a:lnTo>
                  <a:lnTo>
                    <a:pt x="22" y="7"/>
                  </a:lnTo>
                  <a:lnTo>
                    <a:pt x="22" y="3"/>
                  </a:lnTo>
                  <a:lnTo>
                    <a:pt x="19" y="3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7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3" y="16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64" name="Freeform 502"/>
            <p:cNvSpPr>
              <a:spLocks/>
            </p:cNvSpPr>
            <p:nvPr/>
          </p:nvSpPr>
          <p:spPr bwMode="auto">
            <a:xfrm>
              <a:off x="4548" y="3394"/>
              <a:ext cx="26" cy="16"/>
            </a:xfrm>
            <a:custGeom>
              <a:avLst/>
              <a:gdLst>
                <a:gd name="T0" fmla="*/ 3 w 26"/>
                <a:gd name="T1" fmla="*/ 13 h 16"/>
                <a:gd name="T2" fmla="*/ 3 w 26"/>
                <a:gd name="T3" fmla="*/ 13 h 16"/>
                <a:gd name="T4" fmla="*/ 3 w 26"/>
                <a:gd name="T5" fmla="*/ 13 h 16"/>
                <a:gd name="T6" fmla="*/ 3 w 26"/>
                <a:gd name="T7" fmla="*/ 9 h 16"/>
                <a:gd name="T8" fmla="*/ 3 w 26"/>
                <a:gd name="T9" fmla="*/ 9 h 16"/>
                <a:gd name="T10" fmla="*/ 3 w 26"/>
                <a:gd name="T11" fmla="*/ 6 h 16"/>
                <a:gd name="T12" fmla="*/ 3 w 26"/>
                <a:gd name="T13" fmla="*/ 6 h 16"/>
                <a:gd name="T14" fmla="*/ 7 w 26"/>
                <a:gd name="T15" fmla="*/ 3 h 16"/>
                <a:gd name="T16" fmla="*/ 10 w 26"/>
                <a:gd name="T17" fmla="*/ 3 h 16"/>
                <a:gd name="T18" fmla="*/ 13 w 26"/>
                <a:gd name="T19" fmla="*/ 3 h 16"/>
                <a:gd name="T20" fmla="*/ 16 w 26"/>
                <a:gd name="T21" fmla="*/ 3 h 16"/>
                <a:gd name="T22" fmla="*/ 16 w 26"/>
                <a:gd name="T23" fmla="*/ 6 h 16"/>
                <a:gd name="T24" fmla="*/ 19 w 26"/>
                <a:gd name="T25" fmla="*/ 6 h 16"/>
                <a:gd name="T26" fmla="*/ 19 w 26"/>
                <a:gd name="T27" fmla="*/ 9 h 16"/>
                <a:gd name="T28" fmla="*/ 19 w 26"/>
                <a:gd name="T29" fmla="*/ 9 h 16"/>
                <a:gd name="T30" fmla="*/ 19 w 26"/>
                <a:gd name="T31" fmla="*/ 13 h 16"/>
                <a:gd name="T32" fmla="*/ 19 w 26"/>
                <a:gd name="T33" fmla="*/ 13 h 16"/>
                <a:gd name="T34" fmla="*/ 19 w 26"/>
                <a:gd name="T35" fmla="*/ 13 h 16"/>
                <a:gd name="T36" fmla="*/ 19 w 26"/>
                <a:gd name="T37" fmla="*/ 13 h 16"/>
                <a:gd name="T38" fmla="*/ 19 w 26"/>
                <a:gd name="T39" fmla="*/ 13 h 16"/>
                <a:gd name="T40" fmla="*/ 23 w 26"/>
                <a:gd name="T41" fmla="*/ 13 h 16"/>
                <a:gd name="T42" fmla="*/ 23 w 26"/>
                <a:gd name="T43" fmla="*/ 16 h 16"/>
                <a:gd name="T44" fmla="*/ 23 w 26"/>
                <a:gd name="T45" fmla="*/ 16 h 16"/>
                <a:gd name="T46" fmla="*/ 23 w 26"/>
                <a:gd name="T47" fmla="*/ 13 h 16"/>
                <a:gd name="T48" fmla="*/ 26 w 26"/>
                <a:gd name="T49" fmla="*/ 13 h 16"/>
                <a:gd name="T50" fmla="*/ 26 w 26"/>
                <a:gd name="T51" fmla="*/ 13 h 16"/>
                <a:gd name="T52" fmla="*/ 26 w 26"/>
                <a:gd name="T53" fmla="*/ 9 h 16"/>
                <a:gd name="T54" fmla="*/ 26 w 26"/>
                <a:gd name="T55" fmla="*/ 6 h 16"/>
                <a:gd name="T56" fmla="*/ 23 w 26"/>
                <a:gd name="T57" fmla="*/ 6 h 16"/>
                <a:gd name="T58" fmla="*/ 23 w 26"/>
                <a:gd name="T59" fmla="*/ 3 h 16"/>
                <a:gd name="T60" fmla="*/ 19 w 26"/>
                <a:gd name="T61" fmla="*/ 0 h 16"/>
                <a:gd name="T62" fmla="*/ 16 w 26"/>
                <a:gd name="T63" fmla="*/ 0 h 16"/>
                <a:gd name="T64" fmla="*/ 10 w 26"/>
                <a:gd name="T65" fmla="*/ 0 h 16"/>
                <a:gd name="T66" fmla="*/ 7 w 26"/>
                <a:gd name="T67" fmla="*/ 0 h 16"/>
                <a:gd name="T68" fmla="*/ 3 w 26"/>
                <a:gd name="T69" fmla="*/ 3 h 16"/>
                <a:gd name="T70" fmla="*/ 0 w 26"/>
                <a:gd name="T71" fmla="*/ 6 h 16"/>
                <a:gd name="T72" fmla="*/ 0 w 26"/>
                <a:gd name="T73" fmla="*/ 9 h 16"/>
                <a:gd name="T74" fmla="*/ 0 w 26"/>
                <a:gd name="T75" fmla="*/ 9 h 16"/>
                <a:gd name="T76" fmla="*/ 3 w 26"/>
                <a:gd name="T77" fmla="*/ 13 h 16"/>
                <a:gd name="T78" fmla="*/ 3 w 26"/>
                <a:gd name="T79" fmla="*/ 13 h 16"/>
                <a:gd name="T80" fmla="*/ 3 w 26"/>
                <a:gd name="T81" fmla="*/ 13 h 16"/>
                <a:gd name="T82" fmla="*/ 3 w 26"/>
                <a:gd name="T83" fmla="*/ 13 h 1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16"/>
                <a:gd name="T128" fmla="*/ 26 w 26"/>
                <a:gd name="T129" fmla="*/ 16 h 1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16">
                  <a:moveTo>
                    <a:pt x="3" y="13"/>
                  </a:moveTo>
                  <a:lnTo>
                    <a:pt x="3" y="13"/>
                  </a:lnTo>
                  <a:lnTo>
                    <a:pt x="3" y="9"/>
                  </a:lnTo>
                  <a:lnTo>
                    <a:pt x="3" y="6"/>
                  </a:lnTo>
                  <a:lnTo>
                    <a:pt x="7" y="3"/>
                  </a:lnTo>
                  <a:lnTo>
                    <a:pt x="10" y="3"/>
                  </a:lnTo>
                  <a:lnTo>
                    <a:pt x="13" y="3"/>
                  </a:lnTo>
                  <a:lnTo>
                    <a:pt x="16" y="3"/>
                  </a:lnTo>
                  <a:lnTo>
                    <a:pt x="16" y="6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19" y="13"/>
                  </a:lnTo>
                  <a:lnTo>
                    <a:pt x="23" y="13"/>
                  </a:lnTo>
                  <a:lnTo>
                    <a:pt x="23" y="16"/>
                  </a:lnTo>
                  <a:lnTo>
                    <a:pt x="23" y="13"/>
                  </a:lnTo>
                  <a:lnTo>
                    <a:pt x="26" y="13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6"/>
                  </a:lnTo>
                  <a:lnTo>
                    <a:pt x="23" y="3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65" name="Freeform 503"/>
            <p:cNvSpPr>
              <a:spLocks/>
            </p:cNvSpPr>
            <p:nvPr/>
          </p:nvSpPr>
          <p:spPr bwMode="auto">
            <a:xfrm>
              <a:off x="4603" y="3378"/>
              <a:ext cx="22" cy="13"/>
            </a:xfrm>
            <a:custGeom>
              <a:avLst/>
              <a:gdLst>
                <a:gd name="T0" fmla="*/ 3 w 22"/>
                <a:gd name="T1" fmla="*/ 13 h 13"/>
                <a:gd name="T2" fmla="*/ 3 w 22"/>
                <a:gd name="T3" fmla="*/ 13 h 13"/>
                <a:gd name="T4" fmla="*/ 3 w 22"/>
                <a:gd name="T5" fmla="*/ 13 h 13"/>
                <a:gd name="T6" fmla="*/ 3 w 22"/>
                <a:gd name="T7" fmla="*/ 9 h 13"/>
                <a:gd name="T8" fmla="*/ 3 w 22"/>
                <a:gd name="T9" fmla="*/ 9 h 13"/>
                <a:gd name="T10" fmla="*/ 3 w 22"/>
                <a:gd name="T11" fmla="*/ 6 h 13"/>
                <a:gd name="T12" fmla="*/ 3 w 22"/>
                <a:gd name="T13" fmla="*/ 6 h 13"/>
                <a:gd name="T14" fmla="*/ 6 w 22"/>
                <a:gd name="T15" fmla="*/ 3 h 13"/>
                <a:gd name="T16" fmla="*/ 9 w 22"/>
                <a:gd name="T17" fmla="*/ 3 h 13"/>
                <a:gd name="T18" fmla="*/ 13 w 22"/>
                <a:gd name="T19" fmla="*/ 3 h 13"/>
                <a:gd name="T20" fmla="*/ 13 w 22"/>
                <a:gd name="T21" fmla="*/ 3 h 13"/>
                <a:gd name="T22" fmla="*/ 16 w 22"/>
                <a:gd name="T23" fmla="*/ 3 h 13"/>
                <a:gd name="T24" fmla="*/ 16 w 22"/>
                <a:gd name="T25" fmla="*/ 6 h 13"/>
                <a:gd name="T26" fmla="*/ 19 w 22"/>
                <a:gd name="T27" fmla="*/ 6 h 13"/>
                <a:gd name="T28" fmla="*/ 19 w 22"/>
                <a:gd name="T29" fmla="*/ 9 h 13"/>
                <a:gd name="T30" fmla="*/ 19 w 22"/>
                <a:gd name="T31" fmla="*/ 9 h 13"/>
                <a:gd name="T32" fmla="*/ 16 w 22"/>
                <a:gd name="T33" fmla="*/ 13 h 13"/>
                <a:gd name="T34" fmla="*/ 19 w 22"/>
                <a:gd name="T35" fmla="*/ 13 h 13"/>
                <a:gd name="T36" fmla="*/ 19 w 22"/>
                <a:gd name="T37" fmla="*/ 13 h 13"/>
                <a:gd name="T38" fmla="*/ 19 w 22"/>
                <a:gd name="T39" fmla="*/ 13 h 13"/>
                <a:gd name="T40" fmla="*/ 19 w 22"/>
                <a:gd name="T41" fmla="*/ 13 h 13"/>
                <a:gd name="T42" fmla="*/ 19 w 22"/>
                <a:gd name="T43" fmla="*/ 13 h 13"/>
                <a:gd name="T44" fmla="*/ 22 w 22"/>
                <a:gd name="T45" fmla="*/ 13 h 13"/>
                <a:gd name="T46" fmla="*/ 22 w 22"/>
                <a:gd name="T47" fmla="*/ 13 h 13"/>
                <a:gd name="T48" fmla="*/ 22 w 22"/>
                <a:gd name="T49" fmla="*/ 13 h 13"/>
                <a:gd name="T50" fmla="*/ 22 w 22"/>
                <a:gd name="T51" fmla="*/ 9 h 13"/>
                <a:gd name="T52" fmla="*/ 22 w 22"/>
                <a:gd name="T53" fmla="*/ 9 h 13"/>
                <a:gd name="T54" fmla="*/ 22 w 22"/>
                <a:gd name="T55" fmla="*/ 6 h 13"/>
                <a:gd name="T56" fmla="*/ 22 w 22"/>
                <a:gd name="T57" fmla="*/ 3 h 13"/>
                <a:gd name="T58" fmla="*/ 19 w 22"/>
                <a:gd name="T59" fmla="*/ 3 h 13"/>
                <a:gd name="T60" fmla="*/ 19 w 22"/>
                <a:gd name="T61" fmla="*/ 0 h 13"/>
                <a:gd name="T62" fmla="*/ 13 w 22"/>
                <a:gd name="T63" fmla="*/ 0 h 13"/>
                <a:gd name="T64" fmla="*/ 9 w 22"/>
                <a:gd name="T65" fmla="*/ 0 h 13"/>
                <a:gd name="T66" fmla="*/ 6 w 22"/>
                <a:gd name="T67" fmla="*/ 0 h 13"/>
                <a:gd name="T68" fmla="*/ 3 w 22"/>
                <a:gd name="T69" fmla="*/ 3 h 13"/>
                <a:gd name="T70" fmla="*/ 0 w 22"/>
                <a:gd name="T71" fmla="*/ 6 h 13"/>
                <a:gd name="T72" fmla="*/ 0 w 22"/>
                <a:gd name="T73" fmla="*/ 6 h 13"/>
                <a:gd name="T74" fmla="*/ 0 w 22"/>
                <a:gd name="T75" fmla="*/ 9 h 13"/>
                <a:gd name="T76" fmla="*/ 3 w 22"/>
                <a:gd name="T77" fmla="*/ 9 h 13"/>
                <a:gd name="T78" fmla="*/ 3 w 22"/>
                <a:gd name="T79" fmla="*/ 13 h 13"/>
                <a:gd name="T80" fmla="*/ 3 w 22"/>
                <a:gd name="T81" fmla="*/ 13 h 13"/>
                <a:gd name="T82" fmla="*/ 3 w 22"/>
                <a:gd name="T83" fmla="*/ 13 h 1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2"/>
                <a:gd name="T127" fmla="*/ 0 h 13"/>
                <a:gd name="T128" fmla="*/ 22 w 22"/>
                <a:gd name="T129" fmla="*/ 13 h 1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2" h="13">
                  <a:moveTo>
                    <a:pt x="3" y="13"/>
                  </a:moveTo>
                  <a:lnTo>
                    <a:pt x="3" y="13"/>
                  </a:lnTo>
                  <a:lnTo>
                    <a:pt x="3" y="9"/>
                  </a:lnTo>
                  <a:lnTo>
                    <a:pt x="3" y="6"/>
                  </a:lnTo>
                  <a:lnTo>
                    <a:pt x="6" y="3"/>
                  </a:lnTo>
                  <a:lnTo>
                    <a:pt x="9" y="3"/>
                  </a:lnTo>
                  <a:lnTo>
                    <a:pt x="13" y="3"/>
                  </a:lnTo>
                  <a:lnTo>
                    <a:pt x="16" y="3"/>
                  </a:lnTo>
                  <a:lnTo>
                    <a:pt x="16" y="6"/>
                  </a:lnTo>
                  <a:lnTo>
                    <a:pt x="19" y="6"/>
                  </a:lnTo>
                  <a:lnTo>
                    <a:pt x="19" y="9"/>
                  </a:lnTo>
                  <a:lnTo>
                    <a:pt x="16" y="13"/>
                  </a:lnTo>
                  <a:lnTo>
                    <a:pt x="19" y="13"/>
                  </a:lnTo>
                  <a:lnTo>
                    <a:pt x="22" y="13"/>
                  </a:lnTo>
                  <a:lnTo>
                    <a:pt x="22" y="9"/>
                  </a:lnTo>
                  <a:lnTo>
                    <a:pt x="22" y="6"/>
                  </a:lnTo>
                  <a:lnTo>
                    <a:pt x="22" y="3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66" name="Freeform 504"/>
            <p:cNvSpPr>
              <a:spLocks/>
            </p:cNvSpPr>
            <p:nvPr/>
          </p:nvSpPr>
          <p:spPr bwMode="auto">
            <a:xfrm>
              <a:off x="4625" y="3371"/>
              <a:ext cx="23" cy="13"/>
            </a:xfrm>
            <a:custGeom>
              <a:avLst/>
              <a:gdLst>
                <a:gd name="T0" fmla="*/ 3 w 23"/>
                <a:gd name="T1" fmla="*/ 13 h 13"/>
                <a:gd name="T2" fmla="*/ 3 w 23"/>
                <a:gd name="T3" fmla="*/ 13 h 13"/>
                <a:gd name="T4" fmla="*/ 3 w 23"/>
                <a:gd name="T5" fmla="*/ 10 h 13"/>
                <a:gd name="T6" fmla="*/ 3 w 23"/>
                <a:gd name="T7" fmla="*/ 10 h 13"/>
                <a:gd name="T8" fmla="*/ 3 w 23"/>
                <a:gd name="T9" fmla="*/ 10 h 13"/>
                <a:gd name="T10" fmla="*/ 3 w 23"/>
                <a:gd name="T11" fmla="*/ 7 h 13"/>
                <a:gd name="T12" fmla="*/ 3 w 23"/>
                <a:gd name="T13" fmla="*/ 7 h 13"/>
                <a:gd name="T14" fmla="*/ 7 w 23"/>
                <a:gd name="T15" fmla="*/ 4 h 13"/>
                <a:gd name="T16" fmla="*/ 7 w 23"/>
                <a:gd name="T17" fmla="*/ 4 h 13"/>
                <a:gd name="T18" fmla="*/ 10 w 23"/>
                <a:gd name="T19" fmla="*/ 4 h 13"/>
                <a:gd name="T20" fmla="*/ 13 w 23"/>
                <a:gd name="T21" fmla="*/ 4 h 13"/>
                <a:gd name="T22" fmla="*/ 16 w 23"/>
                <a:gd name="T23" fmla="*/ 4 h 13"/>
                <a:gd name="T24" fmla="*/ 16 w 23"/>
                <a:gd name="T25" fmla="*/ 7 h 13"/>
                <a:gd name="T26" fmla="*/ 16 w 23"/>
                <a:gd name="T27" fmla="*/ 7 h 13"/>
                <a:gd name="T28" fmla="*/ 16 w 23"/>
                <a:gd name="T29" fmla="*/ 10 h 13"/>
                <a:gd name="T30" fmla="*/ 16 w 23"/>
                <a:gd name="T31" fmla="*/ 10 h 13"/>
                <a:gd name="T32" fmla="*/ 16 w 23"/>
                <a:gd name="T33" fmla="*/ 13 h 13"/>
                <a:gd name="T34" fmla="*/ 16 w 23"/>
                <a:gd name="T35" fmla="*/ 13 h 13"/>
                <a:gd name="T36" fmla="*/ 16 w 23"/>
                <a:gd name="T37" fmla="*/ 13 h 13"/>
                <a:gd name="T38" fmla="*/ 16 w 23"/>
                <a:gd name="T39" fmla="*/ 13 h 13"/>
                <a:gd name="T40" fmla="*/ 19 w 23"/>
                <a:gd name="T41" fmla="*/ 13 h 13"/>
                <a:gd name="T42" fmla="*/ 19 w 23"/>
                <a:gd name="T43" fmla="*/ 13 h 13"/>
                <a:gd name="T44" fmla="*/ 19 w 23"/>
                <a:gd name="T45" fmla="*/ 13 h 13"/>
                <a:gd name="T46" fmla="*/ 19 w 23"/>
                <a:gd name="T47" fmla="*/ 13 h 13"/>
                <a:gd name="T48" fmla="*/ 23 w 23"/>
                <a:gd name="T49" fmla="*/ 13 h 13"/>
                <a:gd name="T50" fmla="*/ 23 w 23"/>
                <a:gd name="T51" fmla="*/ 10 h 13"/>
                <a:gd name="T52" fmla="*/ 23 w 23"/>
                <a:gd name="T53" fmla="*/ 10 h 13"/>
                <a:gd name="T54" fmla="*/ 23 w 23"/>
                <a:gd name="T55" fmla="*/ 7 h 13"/>
                <a:gd name="T56" fmla="*/ 19 w 23"/>
                <a:gd name="T57" fmla="*/ 4 h 13"/>
                <a:gd name="T58" fmla="*/ 19 w 23"/>
                <a:gd name="T59" fmla="*/ 4 h 13"/>
                <a:gd name="T60" fmla="*/ 16 w 23"/>
                <a:gd name="T61" fmla="*/ 0 h 13"/>
                <a:gd name="T62" fmla="*/ 13 w 23"/>
                <a:gd name="T63" fmla="*/ 0 h 13"/>
                <a:gd name="T64" fmla="*/ 10 w 23"/>
                <a:gd name="T65" fmla="*/ 0 h 13"/>
                <a:gd name="T66" fmla="*/ 3 w 23"/>
                <a:gd name="T67" fmla="*/ 0 h 13"/>
                <a:gd name="T68" fmla="*/ 3 w 23"/>
                <a:gd name="T69" fmla="*/ 4 h 13"/>
                <a:gd name="T70" fmla="*/ 0 w 23"/>
                <a:gd name="T71" fmla="*/ 7 h 13"/>
                <a:gd name="T72" fmla="*/ 0 w 23"/>
                <a:gd name="T73" fmla="*/ 7 h 13"/>
                <a:gd name="T74" fmla="*/ 3 w 23"/>
                <a:gd name="T75" fmla="*/ 10 h 13"/>
                <a:gd name="T76" fmla="*/ 3 w 23"/>
                <a:gd name="T77" fmla="*/ 10 h 13"/>
                <a:gd name="T78" fmla="*/ 3 w 23"/>
                <a:gd name="T79" fmla="*/ 13 h 13"/>
                <a:gd name="T80" fmla="*/ 3 w 23"/>
                <a:gd name="T81" fmla="*/ 13 h 13"/>
                <a:gd name="T82" fmla="*/ 3 w 23"/>
                <a:gd name="T83" fmla="*/ 13 h 1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3"/>
                <a:gd name="T127" fmla="*/ 0 h 13"/>
                <a:gd name="T128" fmla="*/ 23 w 23"/>
                <a:gd name="T129" fmla="*/ 13 h 1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3" h="13">
                  <a:moveTo>
                    <a:pt x="3" y="13"/>
                  </a:moveTo>
                  <a:lnTo>
                    <a:pt x="3" y="13"/>
                  </a:lnTo>
                  <a:lnTo>
                    <a:pt x="3" y="10"/>
                  </a:lnTo>
                  <a:lnTo>
                    <a:pt x="3" y="7"/>
                  </a:lnTo>
                  <a:lnTo>
                    <a:pt x="7" y="4"/>
                  </a:lnTo>
                  <a:lnTo>
                    <a:pt x="10" y="4"/>
                  </a:lnTo>
                  <a:lnTo>
                    <a:pt x="13" y="4"/>
                  </a:lnTo>
                  <a:lnTo>
                    <a:pt x="16" y="4"/>
                  </a:lnTo>
                  <a:lnTo>
                    <a:pt x="16" y="7"/>
                  </a:lnTo>
                  <a:lnTo>
                    <a:pt x="16" y="10"/>
                  </a:lnTo>
                  <a:lnTo>
                    <a:pt x="16" y="13"/>
                  </a:lnTo>
                  <a:lnTo>
                    <a:pt x="19" y="13"/>
                  </a:lnTo>
                  <a:lnTo>
                    <a:pt x="23" y="13"/>
                  </a:lnTo>
                  <a:lnTo>
                    <a:pt x="23" y="10"/>
                  </a:lnTo>
                  <a:lnTo>
                    <a:pt x="23" y="7"/>
                  </a:lnTo>
                  <a:lnTo>
                    <a:pt x="19" y="4"/>
                  </a:lnTo>
                  <a:lnTo>
                    <a:pt x="16" y="0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3" y="0"/>
                  </a:lnTo>
                  <a:lnTo>
                    <a:pt x="3" y="4"/>
                  </a:lnTo>
                  <a:lnTo>
                    <a:pt x="0" y="7"/>
                  </a:lnTo>
                  <a:lnTo>
                    <a:pt x="3" y="10"/>
                  </a:lnTo>
                  <a:lnTo>
                    <a:pt x="3" y="1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67" name="Freeform 505"/>
            <p:cNvSpPr>
              <a:spLocks/>
            </p:cNvSpPr>
            <p:nvPr/>
          </p:nvSpPr>
          <p:spPr bwMode="auto">
            <a:xfrm>
              <a:off x="4648" y="3368"/>
              <a:ext cx="16" cy="10"/>
            </a:xfrm>
            <a:custGeom>
              <a:avLst/>
              <a:gdLst>
                <a:gd name="T0" fmla="*/ 0 w 16"/>
                <a:gd name="T1" fmla="*/ 10 h 10"/>
                <a:gd name="T2" fmla="*/ 0 w 16"/>
                <a:gd name="T3" fmla="*/ 10 h 10"/>
                <a:gd name="T4" fmla="*/ 0 w 16"/>
                <a:gd name="T5" fmla="*/ 10 h 10"/>
                <a:gd name="T6" fmla="*/ 0 w 16"/>
                <a:gd name="T7" fmla="*/ 7 h 10"/>
                <a:gd name="T8" fmla="*/ 0 w 16"/>
                <a:gd name="T9" fmla="*/ 7 h 10"/>
                <a:gd name="T10" fmla="*/ 0 w 16"/>
                <a:gd name="T11" fmla="*/ 3 h 10"/>
                <a:gd name="T12" fmla="*/ 0 w 16"/>
                <a:gd name="T13" fmla="*/ 3 h 10"/>
                <a:gd name="T14" fmla="*/ 3 w 16"/>
                <a:gd name="T15" fmla="*/ 3 h 10"/>
                <a:gd name="T16" fmla="*/ 3 w 16"/>
                <a:gd name="T17" fmla="*/ 3 h 10"/>
                <a:gd name="T18" fmla="*/ 6 w 16"/>
                <a:gd name="T19" fmla="*/ 0 h 10"/>
                <a:gd name="T20" fmla="*/ 9 w 16"/>
                <a:gd name="T21" fmla="*/ 3 h 10"/>
                <a:gd name="T22" fmla="*/ 9 w 16"/>
                <a:gd name="T23" fmla="*/ 3 h 10"/>
                <a:gd name="T24" fmla="*/ 12 w 16"/>
                <a:gd name="T25" fmla="*/ 3 h 10"/>
                <a:gd name="T26" fmla="*/ 12 w 16"/>
                <a:gd name="T27" fmla="*/ 7 h 10"/>
                <a:gd name="T28" fmla="*/ 12 w 16"/>
                <a:gd name="T29" fmla="*/ 7 h 10"/>
                <a:gd name="T30" fmla="*/ 12 w 16"/>
                <a:gd name="T31" fmla="*/ 7 h 10"/>
                <a:gd name="T32" fmla="*/ 12 w 16"/>
                <a:gd name="T33" fmla="*/ 10 h 10"/>
                <a:gd name="T34" fmla="*/ 12 w 16"/>
                <a:gd name="T35" fmla="*/ 10 h 10"/>
                <a:gd name="T36" fmla="*/ 12 w 16"/>
                <a:gd name="T37" fmla="*/ 10 h 10"/>
                <a:gd name="T38" fmla="*/ 12 w 16"/>
                <a:gd name="T39" fmla="*/ 10 h 10"/>
                <a:gd name="T40" fmla="*/ 12 w 16"/>
                <a:gd name="T41" fmla="*/ 10 h 10"/>
                <a:gd name="T42" fmla="*/ 16 w 16"/>
                <a:gd name="T43" fmla="*/ 10 h 10"/>
                <a:gd name="T44" fmla="*/ 16 w 16"/>
                <a:gd name="T45" fmla="*/ 10 h 10"/>
                <a:gd name="T46" fmla="*/ 16 w 16"/>
                <a:gd name="T47" fmla="*/ 10 h 10"/>
                <a:gd name="T48" fmla="*/ 16 w 16"/>
                <a:gd name="T49" fmla="*/ 10 h 10"/>
                <a:gd name="T50" fmla="*/ 16 w 16"/>
                <a:gd name="T51" fmla="*/ 7 h 10"/>
                <a:gd name="T52" fmla="*/ 16 w 16"/>
                <a:gd name="T53" fmla="*/ 7 h 10"/>
                <a:gd name="T54" fmla="*/ 16 w 16"/>
                <a:gd name="T55" fmla="*/ 3 h 10"/>
                <a:gd name="T56" fmla="*/ 16 w 16"/>
                <a:gd name="T57" fmla="*/ 3 h 10"/>
                <a:gd name="T58" fmla="*/ 16 w 16"/>
                <a:gd name="T59" fmla="*/ 0 h 10"/>
                <a:gd name="T60" fmla="*/ 12 w 16"/>
                <a:gd name="T61" fmla="*/ 0 h 10"/>
                <a:gd name="T62" fmla="*/ 9 w 16"/>
                <a:gd name="T63" fmla="*/ 0 h 10"/>
                <a:gd name="T64" fmla="*/ 6 w 16"/>
                <a:gd name="T65" fmla="*/ 0 h 10"/>
                <a:gd name="T66" fmla="*/ 3 w 16"/>
                <a:gd name="T67" fmla="*/ 0 h 10"/>
                <a:gd name="T68" fmla="*/ 0 w 16"/>
                <a:gd name="T69" fmla="*/ 0 h 10"/>
                <a:gd name="T70" fmla="*/ 0 w 16"/>
                <a:gd name="T71" fmla="*/ 3 h 10"/>
                <a:gd name="T72" fmla="*/ 0 w 16"/>
                <a:gd name="T73" fmla="*/ 7 h 10"/>
                <a:gd name="T74" fmla="*/ 0 w 16"/>
                <a:gd name="T75" fmla="*/ 7 h 10"/>
                <a:gd name="T76" fmla="*/ 0 w 16"/>
                <a:gd name="T77" fmla="*/ 7 h 10"/>
                <a:gd name="T78" fmla="*/ 0 w 16"/>
                <a:gd name="T79" fmla="*/ 10 h 10"/>
                <a:gd name="T80" fmla="*/ 0 w 16"/>
                <a:gd name="T81" fmla="*/ 10 h 10"/>
                <a:gd name="T82" fmla="*/ 0 w 16"/>
                <a:gd name="T83" fmla="*/ 10 h 1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6"/>
                <a:gd name="T127" fmla="*/ 0 h 10"/>
                <a:gd name="T128" fmla="*/ 16 w 16"/>
                <a:gd name="T129" fmla="*/ 10 h 1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6" h="10">
                  <a:moveTo>
                    <a:pt x="0" y="10"/>
                  </a:moveTo>
                  <a:lnTo>
                    <a:pt x="0" y="10"/>
                  </a:lnTo>
                  <a:lnTo>
                    <a:pt x="0" y="7"/>
                  </a:lnTo>
                  <a:lnTo>
                    <a:pt x="0" y="3"/>
                  </a:lnTo>
                  <a:lnTo>
                    <a:pt x="3" y="3"/>
                  </a:lnTo>
                  <a:lnTo>
                    <a:pt x="6" y="0"/>
                  </a:lnTo>
                  <a:lnTo>
                    <a:pt x="9" y="3"/>
                  </a:lnTo>
                  <a:lnTo>
                    <a:pt x="12" y="3"/>
                  </a:lnTo>
                  <a:lnTo>
                    <a:pt x="12" y="7"/>
                  </a:lnTo>
                  <a:lnTo>
                    <a:pt x="12" y="10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6" y="3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7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68" name="Freeform 506"/>
            <p:cNvSpPr>
              <a:spLocks/>
            </p:cNvSpPr>
            <p:nvPr/>
          </p:nvSpPr>
          <p:spPr bwMode="auto">
            <a:xfrm>
              <a:off x="4664" y="3362"/>
              <a:ext cx="16" cy="9"/>
            </a:xfrm>
            <a:custGeom>
              <a:avLst/>
              <a:gdLst>
                <a:gd name="T0" fmla="*/ 3 w 16"/>
                <a:gd name="T1" fmla="*/ 9 h 9"/>
                <a:gd name="T2" fmla="*/ 3 w 16"/>
                <a:gd name="T3" fmla="*/ 9 h 9"/>
                <a:gd name="T4" fmla="*/ 0 w 16"/>
                <a:gd name="T5" fmla="*/ 9 h 9"/>
                <a:gd name="T6" fmla="*/ 0 w 16"/>
                <a:gd name="T7" fmla="*/ 9 h 9"/>
                <a:gd name="T8" fmla="*/ 0 w 16"/>
                <a:gd name="T9" fmla="*/ 6 h 9"/>
                <a:gd name="T10" fmla="*/ 0 w 16"/>
                <a:gd name="T11" fmla="*/ 6 h 9"/>
                <a:gd name="T12" fmla="*/ 3 w 16"/>
                <a:gd name="T13" fmla="*/ 3 h 9"/>
                <a:gd name="T14" fmla="*/ 3 w 16"/>
                <a:gd name="T15" fmla="*/ 3 h 9"/>
                <a:gd name="T16" fmla="*/ 6 w 16"/>
                <a:gd name="T17" fmla="*/ 3 h 9"/>
                <a:gd name="T18" fmla="*/ 6 w 16"/>
                <a:gd name="T19" fmla="*/ 3 h 9"/>
                <a:gd name="T20" fmla="*/ 9 w 16"/>
                <a:gd name="T21" fmla="*/ 3 h 9"/>
                <a:gd name="T22" fmla="*/ 9 w 16"/>
                <a:gd name="T23" fmla="*/ 3 h 9"/>
                <a:gd name="T24" fmla="*/ 12 w 16"/>
                <a:gd name="T25" fmla="*/ 6 h 9"/>
                <a:gd name="T26" fmla="*/ 12 w 16"/>
                <a:gd name="T27" fmla="*/ 6 h 9"/>
                <a:gd name="T28" fmla="*/ 12 w 16"/>
                <a:gd name="T29" fmla="*/ 6 h 9"/>
                <a:gd name="T30" fmla="*/ 12 w 16"/>
                <a:gd name="T31" fmla="*/ 9 h 9"/>
                <a:gd name="T32" fmla="*/ 12 w 16"/>
                <a:gd name="T33" fmla="*/ 9 h 9"/>
                <a:gd name="T34" fmla="*/ 12 w 16"/>
                <a:gd name="T35" fmla="*/ 9 h 9"/>
                <a:gd name="T36" fmla="*/ 12 w 16"/>
                <a:gd name="T37" fmla="*/ 9 h 9"/>
                <a:gd name="T38" fmla="*/ 12 w 16"/>
                <a:gd name="T39" fmla="*/ 9 h 9"/>
                <a:gd name="T40" fmla="*/ 16 w 16"/>
                <a:gd name="T41" fmla="*/ 9 h 9"/>
                <a:gd name="T42" fmla="*/ 16 w 16"/>
                <a:gd name="T43" fmla="*/ 9 h 9"/>
                <a:gd name="T44" fmla="*/ 16 w 16"/>
                <a:gd name="T45" fmla="*/ 6 h 9"/>
                <a:gd name="T46" fmla="*/ 16 w 16"/>
                <a:gd name="T47" fmla="*/ 6 h 9"/>
                <a:gd name="T48" fmla="*/ 16 w 16"/>
                <a:gd name="T49" fmla="*/ 3 h 9"/>
                <a:gd name="T50" fmla="*/ 12 w 16"/>
                <a:gd name="T51" fmla="*/ 3 h 9"/>
                <a:gd name="T52" fmla="*/ 12 w 16"/>
                <a:gd name="T53" fmla="*/ 0 h 9"/>
                <a:gd name="T54" fmla="*/ 9 w 16"/>
                <a:gd name="T55" fmla="*/ 0 h 9"/>
                <a:gd name="T56" fmla="*/ 6 w 16"/>
                <a:gd name="T57" fmla="*/ 0 h 9"/>
                <a:gd name="T58" fmla="*/ 3 w 16"/>
                <a:gd name="T59" fmla="*/ 3 h 9"/>
                <a:gd name="T60" fmla="*/ 0 w 16"/>
                <a:gd name="T61" fmla="*/ 3 h 9"/>
                <a:gd name="T62" fmla="*/ 0 w 16"/>
                <a:gd name="T63" fmla="*/ 3 h 9"/>
                <a:gd name="T64" fmla="*/ 0 w 16"/>
                <a:gd name="T65" fmla="*/ 6 h 9"/>
                <a:gd name="T66" fmla="*/ 0 w 16"/>
                <a:gd name="T67" fmla="*/ 6 h 9"/>
                <a:gd name="T68" fmla="*/ 0 w 16"/>
                <a:gd name="T69" fmla="*/ 9 h 9"/>
                <a:gd name="T70" fmla="*/ 0 w 16"/>
                <a:gd name="T71" fmla="*/ 9 h 9"/>
                <a:gd name="T72" fmla="*/ 3 w 16"/>
                <a:gd name="T73" fmla="*/ 9 h 9"/>
                <a:gd name="T74" fmla="*/ 3 w 16"/>
                <a:gd name="T75" fmla="*/ 9 h 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6"/>
                <a:gd name="T115" fmla="*/ 0 h 9"/>
                <a:gd name="T116" fmla="*/ 16 w 16"/>
                <a:gd name="T117" fmla="*/ 9 h 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6" h="9">
                  <a:moveTo>
                    <a:pt x="3" y="9"/>
                  </a:moveTo>
                  <a:lnTo>
                    <a:pt x="3" y="9"/>
                  </a:lnTo>
                  <a:lnTo>
                    <a:pt x="0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6" y="3"/>
                  </a:lnTo>
                  <a:lnTo>
                    <a:pt x="9" y="3"/>
                  </a:lnTo>
                  <a:lnTo>
                    <a:pt x="12" y="6"/>
                  </a:lnTo>
                  <a:lnTo>
                    <a:pt x="12" y="9"/>
                  </a:lnTo>
                  <a:lnTo>
                    <a:pt x="16" y="9"/>
                  </a:lnTo>
                  <a:lnTo>
                    <a:pt x="16" y="6"/>
                  </a:lnTo>
                  <a:lnTo>
                    <a:pt x="16" y="3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3" y="9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69" name="Freeform 507"/>
            <p:cNvSpPr>
              <a:spLocks/>
            </p:cNvSpPr>
            <p:nvPr/>
          </p:nvSpPr>
          <p:spPr bwMode="auto">
            <a:xfrm>
              <a:off x="4676" y="3359"/>
              <a:ext cx="17" cy="9"/>
            </a:xfrm>
            <a:custGeom>
              <a:avLst/>
              <a:gdLst>
                <a:gd name="T0" fmla="*/ 4 w 17"/>
                <a:gd name="T1" fmla="*/ 9 h 9"/>
                <a:gd name="T2" fmla="*/ 4 w 17"/>
                <a:gd name="T3" fmla="*/ 9 h 9"/>
                <a:gd name="T4" fmla="*/ 4 w 17"/>
                <a:gd name="T5" fmla="*/ 6 h 9"/>
                <a:gd name="T6" fmla="*/ 4 w 17"/>
                <a:gd name="T7" fmla="*/ 6 h 9"/>
                <a:gd name="T8" fmla="*/ 4 w 17"/>
                <a:gd name="T9" fmla="*/ 6 h 9"/>
                <a:gd name="T10" fmla="*/ 4 w 17"/>
                <a:gd name="T11" fmla="*/ 6 h 9"/>
                <a:gd name="T12" fmla="*/ 4 w 17"/>
                <a:gd name="T13" fmla="*/ 3 h 9"/>
                <a:gd name="T14" fmla="*/ 4 w 17"/>
                <a:gd name="T15" fmla="*/ 3 h 9"/>
                <a:gd name="T16" fmla="*/ 7 w 17"/>
                <a:gd name="T17" fmla="*/ 3 h 9"/>
                <a:gd name="T18" fmla="*/ 10 w 17"/>
                <a:gd name="T19" fmla="*/ 3 h 9"/>
                <a:gd name="T20" fmla="*/ 10 w 17"/>
                <a:gd name="T21" fmla="*/ 3 h 9"/>
                <a:gd name="T22" fmla="*/ 10 w 17"/>
                <a:gd name="T23" fmla="*/ 3 h 9"/>
                <a:gd name="T24" fmla="*/ 13 w 17"/>
                <a:gd name="T25" fmla="*/ 3 h 9"/>
                <a:gd name="T26" fmla="*/ 13 w 17"/>
                <a:gd name="T27" fmla="*/ 6 h 9"/>
                <a:gd name="T28" fmla="*/ 13 w 17"/>
                <a:gd name="T29" fmla="*/ 6 h 9"/>
                <a:gd name="T30" fmla="*/ 13 w 17"/>
                <a:gd name="T31" fmla="*/ 6 h 9"/>
                <a:gd name="T32" fmla="*/ 13 w 17"/>
                <a:gd name="T33" fmla="*/ 9 h 9"/>
                <a:gd name="T34" fmla="*/ 13 w 17"/>
                <a:gd name="T35" fmla="*/ 9 h 9"/>
                <a:gd name="T36" fmla="*/ 13 w 17"/>
                <a:gd name="T37" fmla="*/ 9 h 9"/>
                <a:gd name="T38" fmla="*/ 13 w 17"/>
                <a:gd name="T39" fmla="*/ 9 h 9"/>
                <a:gd name="T40" fmla="*/ 17 w 17"/>
                <a:gd name="T41" fmla="*/ 9 h 9"/>
                <a:gd name="T42" fmla="*/ 17 w 17"/>
                <a:gd name="T43" fmla="*/ 6 h 9"/>
                <a:gd name="T44" fmla="*/ 17 w 17"/>
                <a:gd name="T45" fmla="*/ 6 h 9"/>
                <a:gd name="T46" fmla="*/ 17 w 17"/>
                <a:gd name="T47" fmla="*/ 6 h 9"/>
                <a:gd name="T48" fmla="*/ 17 w 17"/>
                <a:gd name="T49" fmla="*/ 3 h 9"/>
                <a:gd name="T50" fmla="*/ 13 w 17"/>
                <a:gd name="T51" fmla="*/ 3 h 9"/>
                <a:gd name="T52" fmla="*/ 13 w 17"/>
                <a:gd name="T53" fmla="*/ 0 h 9"/>
                <a:gd name="T54" fmla="*/ 10 w 17"/>
                <a:gd name="T55" fmla="*/ 0 h 9"/>
                <a:gd name="T56" fmla="*/ 7 w 17"/>
                <a:gd name="T57" fmla="*/ 0 h 9"/>
                <a:gd name="T58" fmla="*/ 4 w 17"/>
                <a:gd name="T59" fmla="*/ 0 h 9"/>
                <a:gd name="T60" fmla="*/ 4 w 17"/>
                <a:gd name="T61" fmla="*/ 3 h 9"/>
                <a:gd name="T62" fmla="*/ 0 w 17"/>
                <a:gd name="T63" fmla="*/ 3 h 9"/>
                <a:gd name="T64" fmla="*/ 0 w 17"/>
                <a:gd name="T65" fmla="*/ 6 h 9"/>
                <a:gd name="T66" fmla="*/ 4 w 17"/>
                <a:gd name="T67" fmla="*/ 6 h 9"/>
                <a:gd name="T68" fmla="*/ 4 w 17"/>
                <a:gd name="T69" fmla="*/ 6 h 9"/>
                <a:gd name="T70" fmla="*/ 4 w 17"/>
                <a:gd name="T71" fmla="*/ 9 h 9"/>
                <a:gd name="T72" fmla="*/ 4 w 17"/>
                <a:gd name="T73" fmla="*/ 9 h 9"/>
                <a:gd name="T74" fmla="*/ 4 w 17"/>
                <a:gd name="T75" fmla="*/ 9 h 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7"/>
                <a:gd name="T115" fmla="*/ 0 h 9"/>
                <a:gd name="T116" fmla="*/ 17 w 17"/>
                <a:gd name="T117" fmla="*/ 9 h 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7" h="9">
                  <a:moveTo>
                    <a:pt x="4" y="9"/>
                  </a:moveTo>
                  <a:lnTo>
                    <a:pt x="4" y="9"/>
                  </a:lnTo>
                  <a:lnTo>
                    <a:pt x="4" y="6"/>
                  </a:lnTo>
                  <a:lnTo>
                    <a:pt x="4" y="3"/>
                  </a:lnTo>
                  <a:lnTo>
                    <a:pt x="7" y="3"/>
                  </a:lnTo>
                  <a:lnTo>
                    <a:pt x="10" y="3"/>
                  </a:lnTo>
                  <a:lnTo>
                    <a:pt x="13" y="3"/>
                  </a:lnTo>
                  <a:lnTo>
                    <a:pt x="13" y="6"/>
                  </a:lnTo>
                  <a:lnTo>
                    <a:pt x="13" y="9"/>
                  </a:lnTo>
                  <a:lnTo>
                    <a:pt x="17" y="9"/>
                  </a:lnTo>
                  <a:lnTo>
                    <a:pt x="17" y="6"/>
                  </a:lnTo>
                  <a:lnTo>
                    <a:pt x="17" y="3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6"/>
                  </a:lnTo>
                  <a:lnTo>
                    <a:pt x="4" y="6"/>
                  </a:lnTo>
                  <a:lnTo>
                    <a:pt x="4" y="9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0" name="Freeform 508"/>
            <p:cNvSpPr>
              <a:spLocks/>
            </p:cNvSpPr>
            <p:nvPr/>
          </p:nvSpPr>
          <p:spPr bwMode="auto">
            <a:xfrm>
              <a:off x="4689" y="3355"/>
              <a:ext cx="13" cy="10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7 h 10"/>
                <a:gd name="T4" fmla="*/ 0 w 13"/>
                <a:gd name="T5" fmla="*/ 7 h 10"/>
                <a:gd name="T6" fmla="*/ 0 w 13"/>
                <a:gd name="T7" fmla="*/ 7 h 10"/>
                <a:gd name="T8" fmla="*/ 0 w 13"/>
                <a:gd name="T9" fmla="*/ 7 h 10"/>
                <a:gd name="T10" fmla="*/ 0 w 13"/>
                <a:gd name="T11" fmla="*/ 4 h 10"/>
                <a:gd name="T12" fmla="*/ 4 w 13"/>
                <a:gd name="T13" fmla="*/ 4 h 10"/>
                <a:gd name="T14" fmla="*/ 4 w 13"/>
                <a:gd name="T15" fmla="*/ 4 h 10"/>
                <a:gd name="T16" fmla="*/ 4 w 13"/>
                <a:gd name="T17" fmla="*/ 4 h 10"/>
                <a:gd name="T18" fmla="*/ 7 w 13"/>
                <a:gd name="T19" fmla="*/ 4 h 10"/>
                <a:gd name="T20" fmla="*/ 7 w 13"/>
                <a:gd name="T21" fmla="*/ 4 h 10"/>
                <a:gd name="T22" fmla="*/ 10 w 13"/>
                <a:gd name="T23" fmla="*/ 4 h 10"/>
                <a:gd name="T24" fmla="*/ 10 w 13"/>
                <a:gd name="T25" fmla="*/ 4 h 10"/>
                <a:gd name="T26" fmla="*/ 10 w 13"/>
                <a:gd name="T27" fmla="*/ 7 h 10"/>
                <a:gd name="T28" fmla="*/ 10 w 13"/>
                <a:gd name="T29" fmla="*/ 7 h 10"/>
                <a:gd name="T30" fmla="*/ 10 w 13"/>
                <a:gd name="T31" fmla="*/ 7 h 10"/>
                <a:gd name="T32" fmla="*/ 10 w 13"/>
                <a:gd name="T33" fmla="*/ 7 h 10"/>
                <a:gd name="T34" fmla="*/ 10 w 13"/>
                <a:gd name="T35" fmla="*/ 10 h 10"/>
                <a:gd name="T36" fmla="*/ 10 w 13"/>
                <a:gd name="T37" fmla="*/ 10 h 10"/>
                <a:gd name="T38" fmla="*/ 13 w 13"/>
                <a:gd name="T39" fmla="*/ 10 h 10"/>
                <a:gd name="T40" fmla="*/ 13 w 13"/>
                <a:gd name="T41" fmla="*/ 7 h 10"/>
                <a:gd name="T42" fmla="*/ 13 w 13"/>
                <a:gd name="T43" fmla="*/ 7 h 10"/>
                <a:gd name="T44" fmla="*/ 13 w 13"/>
                <a:gd name="T45" fmla="*/ 7 h 10"/>
                <a:gd name="T46" fmla="*/ 13 w 13"/>
                <a:gd name="T47" fmla="*/ 4 h 10"/>
                <a:gd name="T48" fmla="*/ 13 w 13"/>
                <a:gd name="T49" fmla="*/ 4 h 10"/>
                <a:gd name="T50" fmla="*/ 13 w 13"/>
                <a:gd name="T51" fmla="*/ 4 h 10"/>
                <a:gd name="T52" fmla="*/ 10 w 13"/>
                <a:gd name="T53" fmla="*/ 0 h 10"/>
                <a:gd name="T54" fmla="*/ 7 w 13"/>
                <a:gd name="T55" fmla="*/ 0 h 10"/>
                <a:gd name="T56" fmla="*/ 7 w 13"/>
                <a:gd name="T57" fmla="*/ 0 h 10"/>
                <a:gd name="T58" fmla="*/ 4 w 13"/>
                <a:gd name="T59" fmla="*/ 0 h 10"/>
                <a:gd name="T60" fmla="*/ 0 w 13"/>
                <a:gd name="T61" fmla="*/ 4 h 10"/>
                <a:gd name="T62" fmla="*/ 0 w 13"/>
                <a:gd name="T63" fmla="*/ 4 h 10"/>
                <a:gd name="T64" fmla="*/ 0 w 13"/>
                <a:gd name="T65" fmla="*/ 4 h 10"/>
                <a:gd name="T66" fmla="*/ 0 w 13"/>
                <a:gd name="T67" fmla="*/ 7 h 10"/>
                <a:gd name="T68" fmla="*/ 0 w 13"/>
                <a:gd name="T69" fmla="*/ 7 h 10"/>
                <a:gd name="T70" fmla="*/ 0 w 13"/>
                <a:gd name="T71" fmla="*/ 7 h 10"/>
                <a:gd name="T72" fmla="*/ 0 w 13"/>
                <a:gd name="T73" fmla="*/ 10 h 10"/>
                <a:gd name="T74" fmla="*/ 0 w 13"/>
                <a:gd name="T75" fmla="*/ 10 h 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3"/>
                <a:gd name="T115" fmla="*/ 0 h 10"/>
                <a:gd name="T116" fmla="*/ 13 w 13"/>
                <a:gd name="T117" fmla="*/ 10 h 1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3" h="10">
                  <a:moveTo>
                    <a:pt x="0" y="10"/>
                  </a:moveTo>
                  <a:lnTo>
                    <a:pt x="0" y="7"/>
                  </a:lnTo>
                  <a:lnTo>
                    <a:pt x="0" y="4"/>
                  </a:lnTo>
                  <a:lnTo>
                    <a:pt x="4" y="4"/>
                  </a:lnTo>
                  <a:lnTo>
                    <a:pt x="7" y="4"/>
                  </a:lnTo>
                  <a:lnTo>
                    <a:pt x="10" y="4"/>
                  </a:lnTo>
                  <a:lnTo>
                    <a:pt x="10" y="7"/>
                  </a:lnTo>
                  <a:lnTo>
                    <a:pt x="10" y="10"/>
                  </a:lnTo>
                  <a:lnTo>
                    <a:pt x="13" y="10"/>
                  </a:lnTo>
                  <a:lnTo>
                    <a:pt x="13" y="7"/>
                  </a:lnTo>
                  <a:lnTo>
                    <a:pt x="13" y="4"/>
                  </a:lnTo>
                  <a:lnTo>
                    <a:pt x="10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0" y="4"/>
                  </a:lnTo>
                  <a:lnTo>
                    <a:pt x="0" y="7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1" name="Freeform 509"/>
            <p:cNvSpPr>
              <a:spLocks/>
            </p:cNvSpPr>
            <p:nvPr/>
          </p:nvSpPr>
          <p:spPr bwMode="auto">
            <a:xfrm>
              <a:off x="4545" y="3359"/>
              <a:ext cx="164" cy="51"/>
            </a:xfrm>
            <a:custGeom>
              <a:avLst/>
              <a:gdLst>
                <a:gd name="T0" fmla="*/ 3 w 164"/>
                <a:gd name="T1" fmla="*/ 48 h 51"/>
                <a:gd name="T2" fmla="*/ 6 w 164"/>
                <a:gd name="T3" fmla="*/ 44 h 51"/>
                <a:gd name="T4" fmla="*/ 13 w 164"/>
                <a:gd name="T5" fmla="*/ 44 h 51"/>
                <a:gd name="T6" fmla="*/ 22 w 164"/>
                <a:gd name="T7" fmla="*/ 41 h 51"/>
                <a:gd name="T8" fmla="*/ 32 w 164"/>
                <a:gd name="T9" fmla="*/ 38 h 51"/>
                <a:gd name="T10" fmla="*/ 45 w 164"/>
                <a:gd name="T11" fmla="*/ 35 h 51"/>
                <a:gd name="T12" fmla="*/ 61 w 164"/>
                <a:gd name="T13" fmla="*/ 28 h 51"/>
                <a:gd name="T14" fmla="*/ 74 w 164"/>
                <a:gd name="T15" fmla="*/ 25 h 51"/>
                <a:gd name="T16" fmla="*/ 90 w 164"/>
                <a:gd name="T17" fmla="*/ 22 h 51"/>
                <a:gd name="T18" fmla="*/ 103 w 164"/>
                <a:gd name="T19" fmla="*/ 16 h 51"/>
                <a:gd name="T20" fmla="*/ 119 w 164"/>
                <a:gd name="T21" fmla="*/ 12 h 51"/>
                <a:gd name="T22" fmla="*/ 131 w 164"/>
                <a:gd name="T23" fmla="*/ 9 h 51"/>
                <a:gd name="T24" fmla="*/ 141 w 164"/>
                <a:gd name="T25" fmla="*/ 6 h 51"/>
                <a:gd name="T26" fmla="*/ 151 w 164"/>
                <a:gd name="T27" fmla="*/ 3 h 51"/>
                <a:gd name="T28" fmla="*/ 157 w 164"/>
                <a:gd name="T29" fmla="*/ 0 h 51"/>
                <a:gd name="T30" fmla="*/ 160 w 164"/>
                <a:gd name="T31" fmla="*/ 0 h 51"/>
                <a:gd name="T32" fmla="*/ 160 w 164"/>
                <a:gd name="T33" fmla="*/ 0 h 51"/>
                <a:gd name="T34" fmla="*/ 160 w 164"/>
                <a:gd name="T35" fmla="*/ 0 h 51"/>
                <a:gd name="T36" fmla="*/ 154 w 164"/>
                <a:gd name="T37" fmla="*/ 3 h 51"/>
                <a:gd name="T38" fmla="*/ 144 w 164"/>
                <a:gd name="T39" fmla="*/ 6 h 51"/>
                <a:gd name="T40" fmla="*/ 135 w 164"/>
                <a:gd name="T41" fmla="*/ 9 h 51"/>
                <a:gd name="T42" fmla="*/ 122 w 164"/>
                <a:gd name="T43" fmla="*/ 12 h 51"/>
                <a:gd name="T44" fmla="*/ 109 w 164"/>
                <a:gd name="T45" fmla="*/ 19 h 51"/>
                <a:gd name="T46" fmla="*/ 93 w 164"/>
                <a:gd name="T47" fmla="*/ 22 h 51"/>
                <a:gd name="T48" fmla="*/ 77 w 164"/>
                <a:gd name="T49" fmla="*/ 28 h 51"/>
                <a:gd name="T50" fmla="*/ 64 w 164"/>
                <a:gd name="T51" fmla="*/ 32 h 51"/>
                <a:gd name="T52" fmla="*/ 51 w 164"/>
                <a:gd name="T53" fmla="*/ 35 h 51"/>
                <a:gd name="T54" fmla="*/ 38 w 164"/>
                <a:gd name="T55" fmla="*/ 41 h 51"/>
                <a:gd name="T56" fmla="*/ 26 w 164"/>
                <a:gd name="T57" fmla="*/ 44 h 51"/>
                <a:gd name="T58" fmla="*/ 16 w 164"/>
                <a:gd name="T59" fmla="*/ 48 h 51"/>
                <a:gd name="T60" fmla="*/ 10 w 164"/>
                <a:gd name="T61" fmla="*/ 48 h 51"/>
                <a:gd name="T62" fmla="*/ 6 w 164"/>
                <a:gd name="T63" fmla="*/ 51 h 51"/>
                <a:gd name="T64" fmla="*/ 3 w 164"/>
                <a:gd name="T65" fmla="*/ 51 h 51"/>
                <a:gd name="T66" fmla="*/ 3 w 164"/>
                <a:gd name="T67" fmla="*/ 48 h 51"/>
                <a:gd name="T68" fmla="*/ 3 w 164"/>
                <a:gd name="T69" fmla="*/ 48 h 5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64"/>
                <a:gd name="T106" fmla="*/ 0 h 51"/>
                <a:gd name="T107" fmla="*/ 164 w 164"/>
                <a:gd name="T108" fmla="*/ 51 h 5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64" h="51">
                  <a:moveTo>
                    <a:pt x="3" y="48"/>
                  </a:moveTo>
                  <a:lnTo>
                    <a:pt x="3" y="48"/>
                  </a:lnTo>
                  <a:lnTo>
                    <a:pt x="6" y="48"/>
                  </a:lnTo>
                  <a:lnTo>
                    <a:pt x="6" y="44"/>
                  </a:lnTo>
                  <a:lnTo>
                    <a:pt x="10" y="44"/>
                  </a:lnTo>
                  <a:lnTo>
                    <a:pt x="13" y="44"/>
                  </a:lnTo>
                  <a:lnTo>
                    <a:pt x="19" y="44"/>
                  </a:lnTo>
                  <a:lnTo>
                    <a:pt x="22" y="41"/>
                  </a:lnTo>
                  <a:lnTo>
                    <a:pt x="29" y="41"/>
                  </a:lnTo>
                  <a:lnTo>
                    <a:pt x="32" y="38"/>
                  </a:lnTo>
                  <a:lnTo>
                    <a:pt x="38" y="35"/>
                  </a:lnTo>
                  <a:lnTo>
                    <a:pt x="45" y="35"/>
                  </a:lnTo>
                  <a:lnTo>
                    <a:pt x="51" y="32"/>
                  </a:lnTo>
                  <a:lnTo>
                    <a:pt x="61" y="28"/>
                  </a:lnTo>
                  <a:lnTo>
                    <a:pt x="67" y="28"/>
                  </a:lnTo>
                  <a:lnTo>
                    <a:pt x="74" y="25"/>
                  </a:lnTo>
                  <a:lnTo>
                    <a:pt x="80" y="22"/>
                  </a:lnTo>
                  <a:lnTo>
                    <a:pt x="90" y="22"/>
                  </a:lnTo>
                  <a:lnTo>
                    <a:pt x="96" y="19"/>
                  </a:lnTo>
                  <a:lnTo>
                    <a:pt x="103" y="16"/>
                  </a:lnTo>
                  <a:lnTo>
                    <a:pt x="109" y="16"/>
                  </a:lnTo>
                  <a:lnTo>
                    <a:pt x="119" y="12"/>
                  </a:lnTo>
                  <a:lnTo>
                    <a:pt x="125" y="9"/>
                  </a:lnTo>
                  <a:lnTo>
                    <a:pt x="131" y="9"/>
                  </a:lnTo>
                  <a:lnTo>
                    <a:pt x="135" y="6"/>
                  </a:lnTo>
                  <a:lnTo>
                    <a:pt x="141" y="6"/>
                  </a:lnTo>
                  <a:lnTo>
                    <a:pt x="148" y="3"/>
                  </a:lnTo>
                  <a:lnTo>
                    <a:pt x="151" y="3"/>
                  </a:lnTo>
                  <a:lnTo>
                    <a:pt x="154" y="3"/>
                  </a:lnTo>
                  <a:lnTo>
                    <a:pt x="157" y="0"/>
                  </a:lnTo>
                  <a:lnTo>
                    <a:pt x="160" y="0"/>
                  </a:lnTo>
                  <a:lnTo>
                    <a:pt x="164" y="0"/>
                  </a:lnTo>
                  <a:lnTo>
                    <a:pt x="160" y="0"/>
                  </a:lnTo>
                  <a:lnTo>
                    <a:pt x="157" y="3"/>
                  </a:lnTo>
                  <a:lnTo>
                    <a:pt x="154" y="3"/>
                  </a:lnTo>
                  <a:lnTo>
                    <a:pt x="148" y="3"/>
                  </a:lnTo>
                  <a:lnTo>
                    <a:pt x="144" y="6"/>
                  </a:lnTo>
                  <a:lnTo>
                    <a:pt x="138" y="6"/>
                  </a:lnTo>
                  <a:lnTo>
                    <a:pt x="135" y="9"/>
                  </a:lnTo>
                  <a:lnTo>
                    <a:pt x="128" y="12"/>
                  </a:lnTo>
                  <a:lnTo>
                    <a:pt x="122" y="12"/>
                  </a:lnTo>
                  <a:lnTo>
                    <a:pt x="115" y="16"/>
                  </a:lnTo>
                  <a:lnTo>
                    <a:pt x="109" y="19"/>
                  </a:lnTo>
                  <a:lnTo>
                    <a:pt x="99" y="19"/>
                  </a:lnTo>
                  <a:lnTo>
                    <a:pt x="93" y="22"/>
                  </a:lnTo>
                  <a:lnTo>
                    <a:pt x="87" y="25"/>
                  </a:lnTo>
                  <a:lnTo>
                    <a:pt x="77" y="28"/>
                  </a:lnTo>
                  <a:lnTo>
                    <a:pt x="71" y="28"/>
                  </a:lnTo>
                  <a:lnTo>
                    <a:pt x="64" y="32"/>
                  </a:lnTo>
                  <a:lnTo>
                    <a:pt x="58" y="35"/>
                  </a:lnTo>
                  <a:lnTo>
                    <a:pt x="51" y="35"/>
                  </a:lnTo>
                  <a:lnTo>
                    <a:pt x="42" y="38"/>
                  </a:lnTo>
                  <a:lnTo>
                    <a:pt x="38" y="41"/>
                  </a:lnTo>
                  <a:lnTo>
                    <a:pt x="32" y="41"/>
                  </a:lnTo>
                  <a:lnTo>
                    <a:pt x="26" y="44"/>
                  </a:lnTo>
                  <a:lnTo>
                    <a:pt x="19" y="44"/>
                  </a:lnTo>
                  <a:lnTo>
                    <a:pt x="16" y="48"/>
                  </a:lnTo>
                  <a:lnTo>
                    <a:pt x="13" y="48"/>
                  </a:lnTo>
                  <a:lnTo>
                    <a:pt x="10" y="48"/>
                  </a:lnTo>
                  <a:lnTo>
                    <a:pt x="6" y="51"/>
                  </a:lnTo>
                  <a:lnTo>
                    <a:pt x="3" y="51"/>
                  </a:lnTo>
                  <a:lnTo>
                    <a:pt x="0" y="48"/>
                  </a:lnTo>
                  <a:lnTo>
                    <a:pt x="3" y="48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2" name="Freeform 510"/>
            <p:cNvSpPr>
              <a:spLocks/>
            </p:cNvSpPr>
            <p:nvPr/>
          </p:nvSpPr>
          <p:spPr bwMode="auto">
            <a:xfrm>
              <a:off x="4548" y="3413"/>
              <a:ext cx="32" cy="93"/>
            </a:xfrm>
            <a:custGeom>
              <a:avLst/>
              <a:gdLst>
                <a:gd name="T0" fmla="*/ 0 w 32"/>
                <a:gd name="T1" fmla="*/ 0 h 93"/>
                <a:gd name="T2" fmla="*/ 3 w 32"/>
                <a:gd name="T3" fmla="*/ 3 h 93"/>
                <a:gd name="T4" fmla="*/ 3 w 32"/>
                <a:gd name="T5" fmla="*/ 10 h 93"/>
                <a:gd name="T6" fmla="*/ 7 w 32"/>
                <a:gd name="T7" fmla="*/ 23 h 93"/>
                <a:gd name="T8" fmla="*/ 13 w 32"/>
                <a:gd name="T9" fmla="*/ 39 h 93"/>
                <a:gd name="T10" fmla="*/ 16 w 32"/>
                <a:gd name="T11" fmla="*/ 55 h 93"/>
                <a:gd name="T12" fmla="*/ 19 w 32"/>
                <a:gd name="T13" fmla="*/ 71 h 93"/>
                <a:gd name="T14" fmla="*/ 19 w 32"/>
                <a:gd name="T15" fmla="*/ 83 h 93"/>
                <a:gd name="T16" fmla="*/ 19 w 32"/>
                <a:gd name="T17" fmla="*/ 93 h 93"/>
                <a:gd name="T18" fmla="*/ 19 w 32"/>
                <a:gd name="T19" fmla="*/ 93 h 93"/>
                <a:gd name="T20" fmla="*/ 19 w 32"/>
                <a:gd name="T21" fmla="*/ 93 h 93"/>
                <a:gd name="T22" fmla="*/ 19 w 32"/>
                <a:gd name="T23" fmla="*/ 93 h 93"/>
                <a:gd name="T24" fmla="*/ 23 w 32"/>
                <a:gd name="T25" fmla="*/ 93 h 93"/>
                <a:gd name="T26" fmla="*/ 26 w 32"/>
                <a:gd name="T27" fmla="*/ 93 h 93"/>
                <a:gd name="T28" fmla="*/ 26 w 32"/>
                <a:gd name="T29" fmla="*/ 93 h 93"/>
                <a:gd name="T30" fmla="*/ 29 w 32"/>
                <a:gd name="T31" fmla="*/ 93 h 93"/>
                <a:gd name="T32" fmla="*/ 32 w 32"/>
                <a:gd name="T33" fmla="*/ 93 h 93"/>
                <a:gd name="T34" fmla="*/ 32 w 32"/>
                <a:gd name="T35" fmla="*/ 93 h 93"/>
                <a:gd name="T36" fmla="*/ 32 w 32"/>
                <a:gd name="T37" fmla="*/ 93 h 93"/>
                <a:gd name="T38" fmla="*/ 29 w 32"/>
                <a:gd name="T39" fmla="*/ 90 h 93"/>
                <a:gd name="T40" fmla="*/ 29 w 32"/>
                <a:gd name="T41" fmla="*/ 90 h 93"/>
                <a:gd name="T42" fmla="*/ 26 w 32"/>
                <a:gd name="T43" fmla="*/ 90 h 93"/>
                <a:gd name="T44" fmla="*/ 26 w 32"/>
                <a:gd name="T45" fmla="*/ 90 h 93"/>
                <a:gd name="T46" fmla="*/ 23 w 32"/>
                <a:gd name="T47" fmla="*/ 90 h 93"/>
                <a:gd name="T48" fmla="*/ 23 w 32"/>
                <a:gd name="T49" fmla="*/ 90 h 93"/>
                <a:gd name="T50" fmla="*/ 23 w 32"/>
                <a:gd name="T51" fmla="*/ 87 h 93"/>
                <a:gd name="T52" fmla="*/ 23 w 32"/>
                <a:gd name="T53" fmla="*/ 77 h 93"/>
                <a:gd name="T54" fmla="*/ 23 w 32"/>
                <a:gd name="T55" fmla="*/ 67 h 93"/>
                <a:gd name="T56" fmla="*/ 19 w 32"/>
                <a:gd name="T57" fmla="*/ 55 h 93"/>
                <a:gd name="T58" fmla="*/ 16 w 32"/>
                <a:gd name="T59" fmla="*/ 42 h 93"/>
                <a:gd name="T60" fmla="*/ 13 w 32"/>
                <a:gd name="T61" fmla="*/ 26 h 93"/>
                <a:gd name="T62" fmla="*/ 7 w 32"/>
                <a:gd name="T63" fmla="*/ 13 h 93"/>
                <a:gd name="T64" fmla="*/ 0 w 32"/>
                <a:gd name="T65" fmla="*/ 0 h 93"/>
                <a:gd name="T66" fmla="*/ 0 w 32"/>
                <a:gd name="T67" fmla="*/ 0 h 9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2"/>
                <a:gd name="T103" fmla="*/ 0 h 93"/>
                <a:gd name="T104" fmla="*/ 32 w 32"/>
                <a:gd name="T105" fmla="*/ 93 h 9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2" h="93">
                  <a:moveTo>
                    <a:pt x="0" y="0"/>
                  </a:moveTo>
                  <a:lnTo>
                    <a:pt x="3" y="3"/>
                  </a:lnTo>
                  <a:lnTo>
                    <a:pt x="3" y="10"/>
                  </a:lnTo>
                  <a:lnTo>
                    <a:pt x="7" y="23"/>
                  </a:lnTo>
                  <a:lnTo>
                    <a:pt x="13" y="39"/>
                  </a:lnTo>
                  <a:lnTo>
                    <a:pt x="16" y="55"/>
                  </a:lnTo>
                  <a:lnTo>
                    <a:pt x="19" y="71"/>
                  </a:lnTo>
                  <a:lnTo>
                    <a:pt x="19" y="83"/>
                  </a:lnTo>
                  <a:lnTo>
                    <a:pt x="19" y="93"/>
                  </a:lnTo>
                  <a:lnTo>
                    <a:pt x="23" y="93"/>
                  </a:lnTo>
                  <a:lnTo>
                    <a:pt x="26" y="93"/>
                  </a:lnTo>
                  <a:lnTo>
                    <a:pt x="29" y="93"/>
                  </a:lnTo>
                  <a:lnTo>
                    <a:pt x="32" y="93"/>
                  </a:lnTo>
                  <a:lnTo>
                    <a:pt x="29" y="90"/>
                  </a:lnTo>
                  <a:lnTo>
                    <a:pt x="26" y="90"/>
                  </a:lnTo>
                  <a:lnTo>
                    <a:pt x="23" y="90"/>
                  </a:lnTo>
                  <a:lnTo>
                    <a:pt x="23" y="87"/>
                  </a:lnTo>
                  <a:lnTo>
                    <a:pt x="23" y="77"/>
                  </a:lnTo>
                  <a:lnTo>
                    <a:pt x="23" y="67"/>
                  </a:lnTo>
                  <a:lnTo>
                    <a:pt x="19" y="55"/>
                  </a:lnTo>
                  <a:lnTo>
                    <a:pt x="16" y="42"/>
                  </a:lnTo>
                  <a:lnTo>
                    <a:pt x="13" y="26"/>
                  </a:lnTo>
                  <a:lnTo>
                    <a:pt x="7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3" name="Freeform 511"/>
            <p:cNvSpPr>
              <a:spLocks/>
            </p:cNvSpPr>
            <p:nvPr/>
          </p:nvSpPr>
          <p:spPr bwMode="auto">
            <a:xfrm>
              <a:off x="4555" y="3410"/>
              <a:ext cx="67" cy="115"/>
            </a:xfrm>
            <a:custGeom>
              <a:avLst/>
              <a:gdLst>
                <a:gd name="T0" fmla="*/ 0 w 67"/>
                <a:gd name="T1" fmla="*/ 3 h 115"/>
                <a:gd name="T2" fmla="*/ 3 w 67"/>
                <a:gd name="T3" fmla="*/ 3 h 115"/>
                <a:gd name="T4" fmla="*/ 3 w 67"/>
                <a:gd name="T5" fmla="*/ 6 h 115"/>
                <a:gd name="T6" fmla="*/ 6 w 67"/>
                <a:gd name="T7" fmla="*/ 9 h 115"/>
                <a:gd name="T8" fmla="*/ 9 w 67"/>
                <a:gd name="T9" fmla="*/ 16 h 115"/>
                <a:gd name="T10" fmla="*/ 16 w 67"/>
                <a:gd name="T11" fmla="*/ 22 h 115"/>
                <a:gd name="T12" fmla="*/ 19 w 67"/>
                <a:gd name="T13" fmla="*/ 29 h 115"/>
                <a:gd name="T14" fmla="*/ 25 w 67"/>
                <a:gd name="T15" fmla="*/ 35 h 115"/>
                <a:gd name="T16" fmla="*/ 32 w 67"/>
                <a:gd name="T17" fmla="*/ 45 h 115"/>
                <a:gd name="T18" fmla="*/ 35 w 67"/>
                <a:gd name="T19" fmla="*/ 51 h 115"/>
                <a:gd name="T20" fmla="*/ 41 w 67"/>
                <a:gd name="T21" fmla="*/ 61 h 115"/>
                <a:gd name="T22" fmla="*/ 48 w 67"/>
                <a:gd name="T23" fmla="*/ 70 h 115"/>
                <a:gd name="T24" fmla="*/ 51 w 67"/>
                <a:gd name="T25" fmla="*/ 80 h 115"/>
                <a:gd name="T26" fmla="*/ 57 w 67"/>
                <a:gd name="T27" fmla="*/ 90 h 115"/>
                <a:gd name="T28" fmla="*/ 61 w 67"/>
                <a:gd name="T29" fmla="*/ 99 h 115"/>
                <a:gd name="T30" fmla="*/ 64 w 67"/>
                <a:gd name="T31" fmla="*/ 106 h 115"/>
                <a:gd name="T32" fmla="*/ 67 w 67"/>
                <a:gd name="T33" fmla="*/ 115 h 115"/>
                <a:gd name="T34" fmla="*/ 67 w 67"/>
                <a:gd name="T35" fmla="*/ 115 h 115"/>
                <a:gd name="T36" fmla="*/ 67 w 67"/>
                <a:gd name="T37" fmla="*/ 112 h 115"/>
                <a:gd name="T38" fmla="*/ 67 w 67"/>
                <a:gd name="T39" fmla="*/ 106 h 115"/>
                <a:gd name="T40" fmla="*/ 64 w 67"/>
                <a:gd name="T41" fmla="*/ 99 h 115"/>
                <a:gd name="T42" fmla="*/ 64 w 67"/>
                <a:gd name="T43" fmla="*/ 90 h 115"/>
                <a:gd name="T44" fmla="*/ 61 w 67"/>
                <a:gd name="T45" fmla="*/ 83 h 115"/>
                <a:gd name="T46" fmla="*/ 57 w 67"/>
                <a:gd name="T47" fmla="*/ 74 h 115"/>
                <a:gd name="T48" fmla="*/ 51 w 67"/>
                <a:gd name="T49" fmla="*/ 67 h 115"/>
                <a:gd name="T50" fmla="*/ 48 w 67"/>
                <a:gd name="T51" fmla="*/ 61 h 115"/>
                <a:gd name="T52" fmla="*/ 44 w 67"/>
                <a:gd name="T53" fmla="*/ 58 h 115"/>
                <a:gd name="T54" fmla="*/ 41 w 67"/>
                <a:gd name="T55" fmla="*/ 54 h 115"/>
                <a:gd name="T56" fmla="*/ 38 w 67"/>
                <a:gd name="T57" fmla="*/ 48 h 115"/>
                <a:gd name="T58" fmla="*/ 35 w 67"/>
                <a:gd name="T59" fmla="*/ 45 h 115"/>
                <a:gd name="T60" fmla="*/ 32 w 67"/>
                <a:gd name="T61" fmla="*/ 42 h 115"/>
                <a:gd name="T62" fmla="*/ 28 w 67"/>
                <a:gd name="T63" fmla="*/ 35 h 115"/>
                <a:gd name="T64" fmla="*/ 25 w 67"/>
                <a:gd name="T65" fmla="*/ 32 h 115"/>
                <a:gd name="T66" fmla="*/ 25 w 67"/>
                <a:gd name="T67" fmla="*/ 26 h 115"/>
                <a:gd name="T68" fmla="*/ 22 w 67"/>
                <a:gd name="T69" fmla="*/ 22 h 115"/>
                <a:gd name="T70" fmla="*/ 19 w 67"/>
                <a:gd name="T71" fmla="*/ 19 h 115"/>
                <a:gd name="T72" fmla="*/ 16 w 67"/>
                <a:gd name="T73" fmla="*/ 16 h 115"/>
                <a:gd name="T74" fmla="*/ 16 w 67"/>
                <a:gd name="T75" fmla="*/ 13 h 115"/>
                <a:gd name="T76" fmla="*/ 12 w 67"/>
                <a:gd name="T77" fmla="*/ 9 h 115"/>
                <a:gd name="T78" fmla="*/ 12 w 67"/>
                <a:gd name="T79" fmla="*/ 6 h 115"/>
                <a:gd name="T80" fmla="*/ 12 w 67"/>
                <a:gd name="T81" fmla="*/ 6 h 115"/>
                <a:gd name="T82" fmla="*/ 9 w 67"/>
                <a:gd name="T83" fmla="*/ 3 h 115"/>
                <a:gd name="T84" fmla="*/ 6 w 67"/>
                <a:gd name="T85" fmla="*/ 0 h 115"/>
                <a:gd name="T86" fmla="*/ 6 w 67"/>
                <a:gd name="T87" fmla="*/ 0 h 115"/>
                <a:gd name="T88" fmla="*/ 3 w 67"/>
                <a:gd name="T89" fmla="*/ 0 h 115"/>
                <a:gd name="T90" fmla="*/ 0 w 67"/>
                <a:gd name="T91" fmla="*/ 0 h 115"/>
                <a:gd name="T92" fmla="*/ 0 w 67"/>
                <a:gd name="T93" fmla="*/ 0 h 115"/>
                <a:gd name="T94" fmla="*/ 0 w 67"/>
                <a:gd name="T95" fmla="*/ 3 h 115"/>
                <a:gd name="T96" fmla="*/ 0 w 67"/>
                <a:gd name="T97" fmla="*/ 3 h 115"/>
                <a:gd name="T98" fmla="*/ 0 w 67"/>
                <a:gd name="T99" fmla="*/ 3 h 11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67"/>
                <a:gd name="T151" fmla="*/ 0 h 115"/>
                <a:gd name="T152" fmla="*/ 67 w 67"/>
                <a:gd name="T153" fmla="*/ 115 h 115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67" h="115">
                  <a:moveTo>
                    <a:pt x="0" y="3"/>
                  </a:moveTo>
                  <a:lnTo>
                    <a:pt x="3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9" y="16"/>
                  </a:lnTo>
                  <a:lnTo>
                    <a:pt x="16" y="22"/>
                  </a:lnTo>
                  <a:lnTo>
                    <a:pt x="19" y="29"/>
                  </a:lnTo>
                  <a:lnTo>
                    <a:pt x="25" y="35"/>
                  </a:lnTo>
                  <a:lnTo>
                    <a:pt x="32" y="45"/>
                  </a:lnTo>
                  <a:lnTo>
                    <a:pt x="35" y="51"/>
                  </a:lnTo>
                  <a:lnTo>
                    <a:pt x="41" y="61"/>
                  </a:lnTo>
                  <a:lnTo>
                    <a:pt x="48" y="70"/>
                  </a:lnTo>
                  <a:lnTo>
                    <a:pt x="51" y="80"/>
                  </a:lnTo>
                  <a:lnTo>
                    <a:pt x="57" y="90"/>
                  </a:lnTo>
                  <a:lnTo>
                    <a:pt x="61" y="99"/>
                  </a:lnTo>
                  <a:lnTo>
                    <a:pt x="64" y="106"/>
                  </a:lnTo>
                  <a:lnTo>
                    <a:pt x="67" y="115"/>
                  </a:lnTo>
                  <a:lnTo>
                    <a:pt x="67" y="112"/>
                  </a:lnTo>
                  <a:lnTo>
                    <a:pt x="67" y="106"/>
                  </a:lnTo>
                  <a:lnTo>
                    <a:pt x="64" y="99"/>
                  </a:lnTo>
                  <a:lnTo>
                    <a:pt x="64" y="90"/>
                  </a:lnTo>
                  <a:lnTo>
                    <a:pt x="61" y="83"/>
                  </a:lnTo>
                  <a:lnTo>
                    <a:pt x="57" y="74"/>
                  </a:lnTo>
                  <a:lnTo>
                    <a:pt x="51" y="67"/>
                  </a:lnTo>
                  <a:lnTo>
                    <a:pt x="48" y="61"/>
                  </a:lnTo>
                  <a:lnTo>
                    <a:pt x="44" y="58"/>
                  </a:lnTo>
                  <a:lnTo>
                    <a:pt x="41" y="54"/>
                  </a:lnTo>
                  <a:lnTo>
                    <a:pt x="38" y="48"/>
                  </a:lnTo>
                  <a:lnTo>
                    <a:pt x="35" y="45"/>
                  </a:lnTo>
                  <a:lnTo>
                    <a:pt x="32" y="42"/>
                  </a:lnTo>
                  <a:lnTo>
                    <a:pt x="28" y="35"/>
                  </a:lnTo>
                  <a:lnTo>
                    <a:pt x="25" y="32"/>
                  </a:lnTo>
                  <a:lnTo>
                    <a:pt x="25" y="26"/>
                  </a:lnTo>
                  <a:lnTo>
                    <a:pt x="22" y="22"/>
                  </a:lnTo>
                  <a:lnTo>
                    <a:pt x="19" y="19"/>
                  </a:lnTo>
                  <a:lnTo>
                    <a:pt x="16" y="16"/>
                  </a:lnTo>
                  <a:lnTo>
                    <a:pt x="16" y="13"/>
                  </a:lnTo>
                  <a:lnTo>
                    <a:pt x="12" y="9"/>
                  </a:lnTo>
                  <a:lnTo>
                    <a:pt x="12" y="6"/>
                  </a:lnTo>
                  <a:lnTo>
                    <a:pt x="9" y="3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4" name="Freeform 512"/>
            <p:cNvSpPr>
              <a:spLocks/>
            </p:cNvSpPr>
            <p:nvPr/>
          </p:nvSpPr>
          <p:spPr bwMode="auto">
            <a:xfrm>
              <a:off x="4564" y="3429"/>
              <a:ext cx="19" cy="84"/>
            </a:xfrm>
            <a:custGeom>
              <a:avLst/>
              <a:gdLst>
                <a:gd name="T0" fmla="*/ 0 w 19"/>
                <a:gd name="T1" fmla="*/ 0 h 84"/>
                <a:gd name="T2" fmla="*/ 0 w 19"/>
                <a:gd name="T3" fmla="*/ 3 h 84"/>
                <a:gd name="T4" fmla="*/ 3 w 19"/>
                <a:gd name="T5" fmla="*/ 13 h 84"/>
                <a:gd name="T6" fmla="*/ 3 w 19"/>
                <a:gd name="T7" fmla="*/ 23 h 84"/>
                <a:gd name="T8" fmla="*/ 7 w 19"/>
                <a:gd name="T9" fmla="*/ 39 h 84"/>
                <a:gd name="T10" fmla="*/ 10 w 19"/>
                <a:gd name="T11" fmla="*/ 51 h 84"/>
                <a:gd name="T12" fmla="*/ 13 w 19"/>
                <a:gd name="T13" fmla="*/ 64 h 84"/>
                <a:gd name="T14" fmla="*/ 13 w 19"/>
                <a:gd name="T15" fmla="*/ 77 h 84"/>
                <a:gd name="T16" fmla="*/ 13 w 19"/>
                <a:gd name="T17" fmla="*/ 80 h 84"/>
                <a:gd name="T18" fmla="*/ 13 w 19"/>
                <a:gd name="T19" fmla="*/ 80 h 84"/>
                <a:gd name="T20" fmla="*/ 13 w 19"/>
                <a:gd name="T21" fmla="*/ 80 h 84"/>
                <a:gd name="T22" fmla="*/ 13 w 19"/>
                <a:gd name="T23" fmla="*/ 84 h 84"/>
                <a:gd name="T24" fmla="*/ 16 w 19"/>
                <a:gd name="T25" fmla="*/ 84 h 84"/>
                <a:gd name="T26" fmla="*/ 16 w 19"/>
                <a:gd name="T27" fmla="*/ 84 h 84"/>
                <a:gd name="T28" fmla="*/ 16 w 19"/>
                <a:gd name="T29" fmla="*/ 84 h 84"/>
                <a:gd name="T30" fmla="*/ 16 w 19"/>
                <a:gd name="T31" fmla="*/ 80 h 84"/>
                <a:gd name="T32" fmla="*/ 19 w 19"/>
                <a:gd name="T33" fmla="*/ 80 h 84"/>
                <a:gd name="T34" fmla="*/ 19 w 19"/>
                <a:gd name="T35" fmla="*/ 77 h 84"/>
                <a:gd name="T36" fmla="*/ 16 w 19"/>
                <a:gd name="T37" fmla="*/ 71 h 84"/>
                <a:gd name="T38" fmla="*/ 16 w 19"/>
                <a:gd name="T39" fmla="*/ 61 h 84"/>
                <a:gd name="T40" fmla="*/ 13 w 19"/>
                <a:gd name="T41" fmla="*/ 51 h 84"/>
                <a:gd name="T42" fmla="*/ 10 w 19"/>
                <a:gd name="T43" fmla="*/ 39 h 84"/>
                <a:gd name="T44" fmla="*/ 7 w 19"/>
                <a:gd name="T45" fmla="*/ 26 h 84"/>
                <a:gd name="T46" fmla="*/ 3 w 19"/>
                <a:gd name="T47" fmla="*/ 13 h 84"/>
                <a:gd name="T48" fmla="*/ 0 w 19"/>
                <a:gd name="T49" fmla="*/ 0 h 84"/>
                <a:gd name="T50" fmla="*/ 0 w 19"/>
                <a:gd name="T51" fmla="*/ 0 h 8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9"/>
                <a:gd name="T79" fmla="*/ 0 h 84"/>
                <a:gd name="T80" fmla="*/ 19 w 19"/>
                <a:gd name="T81" fmla="*/ 84 h 8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9" h="84">
                  <a:moveTo>
                    <a:pt x="0" y="0"/>
                  </a:moveTo>
                  <a:lnTo>
                    <a:pt x="0" y="3"/>
                  </a:lnTo>
                  <a:lnTo>
                    <a:pt x="3" y="13"/>
                  </a:lnTo>
                  <a:lnTo>
                    <a:pt x="3" y="23"/>
                  </a:lnTo>
                  <a:lnTo>
                    <a:pt x="7" y="39"/>
                  </a:lnTo>
                  <a:lnTo>
                    <a:pt x="10" y="51"/>
                  </a:lnTo>
                  <a:lnTo>
                    <a:pt x="13" y="64"/>
                  </a:lnTo>
                  <a:lnTo>
                    <a:pt x="13" y="77"/>
                  </a:lnTo>
                  <a:lnTo>
                    <a:pt x="13" y="80"/>
                  </a:lnTo>
                  <a:lnTo>
                    <a:pt x="13" y="84"/>
                  </a:lnTo>
                  <a:lnTo>
                    <a:pt x="16" y="84"/>
                  </a:lnTo>
                  <a:lnTo>
                    <a:pt x="16" y="80"/>
                  </a:lnTo>
                  <a:lnTo>
                    <a:pt x="19" y="80"/>
                  </a:lnTo>
                  <a:lnTo>
                    <a:pt x="19" y="77"/>
                  </a:lnTo>
                  <a:lnTo>
                    <a:pt x="16" y="71"/>
                  </a:lnTo>
                  <a:lnTo>
                    <a:pt x="16" y="61"/>
                  </a:lnTo>
                  <a:lnTo>
                    <a:pt x="13" y="51"/>
                  </a:lnTo>
                  <a:lnTo>
                    <a:pt x="10" y="39"/>
                  </a:lnTo>
                  <a:lnTo>
                    <a:pt x="7" y="26"/>
                  </a:lnTo>
                  <a:lnTo>
                    <a:pt x="3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5" name="Freeform 513"/>
            <p:cNvSpPr>
              <a:spLocks/>
            </p:cNvSpPr>
            <p:nvPr/>
          </p:nvSpPr>
          <p:spPr bwMode="auto">
            <a:xfrm>
              <a:off x="4567" y="3436"/>
              <a:ext cx="26" cy="83"/>
            </a:xfrm>
            <a:custGeom>
              <a:avLst/>
              <a:gdLst>
                <a:gd name="T0" fmla="*/ 0 w 26"/>
                <a:gd name="T1" fmla="*/ 0 h 83"/>
                <a:gd name="T2" fmla="*/ 0 w 26"/>
                <a:gd name="T3" fmla="*/ 3 h 83"/>
                <a:gd name="T4" fmla="*/ 4 w 26"/>
                <a:gd name="T5" fmla="*/ 12 h 83"/>
                <a:gd name="T6" fmla="*/ 7 w 26"/>
                <a:gd name="T7" fmla="*/ 22 h 83"/>
                <a:gd name="T8" fmla="*/ 13 w 26"/>
                <a:gd name="T9" fmla="*/ 38 h 83"/>
                <a:gd name="T10" fmla="*/ 16 w 26"/>
                <a:gd name="T11" fmla="*/ 51 h 83"/>
                <a:gd name="T12" fmla="*/ 20 w 26"/>
                <a:gd name="T13" fmla="*/ 64 h 83"/>
                <a:gd name="T14" fmla="*/ 20 w 26"/>
                <a:gd name="T15" fmla="*/ 73 h 83"/>
                <a:gd name="T16" fmla="*/ 20 w 26"/>
                <a:gd name="T17" fmla="*/ 80 h 83"/>
                <a:gd name="T18" fmla="*/ 20 w 26"/>
                <a:gd name="T19" fmla="*/ 80 h 83"/>
                <a:gd name="T20" fmla="*/ 23 w 26"/>
                <a:gd name="T21" fmla="*/ 80 h 83"/>
                <a:gd name="T22" fmla="*/ 23 w 26"/>
                <a:gd name="T23" fmla="*/ 80 h 83"/>
                <a:gd name="T24" fmla="*/ 23 w 26"/>
                <a:gd name="T25" fmla="*/ 83 h 83"/>
                <a:gd name="T26" fmla="*/ 23 w 26"/>
                <a:gd name="T27" fmla="*/ 83 h 83"/>
                <a:gd name="T28" fmla="*/ 23 w 26"/>
                <a:gd name="T29" fmla="*/ 83 h 83"/>
                <a:gd name="T30" fmla="*/ 26 w 26"/>
                <a:gd name="T31" fmla="*/ 80 h 83"/>
                <a:gd name="T32" fmla="*/ 26 w 26"/>
                <a:gd name="T33" fmla="*/ 80 h 83"/>
                <a:gd name="T34" fmla="*/ 26 w 26"/>
                <a:gd name="T35" fmla="*/ 80 h 83"/>
                <a:gd name="T36" fmla="*/ 26 w 26"/>
                <a:gd name="T37" fmla="*/ 77 h 83"/>
                <a:gd name="T38" fmla="*/ 26 w 26"/>
                <a:gd name="T39" fmla="*/ 73 h 83"/>
                <a:gd name="T40" fmla="*/ 23 w 26"/>
                <a:gd name="T41" fmla="*/ 70 h 83"/>
                <a:gd name="T42" fmla="*/ 23 w 26"/>
                <a:gd name="T43" fmla="*/ 67 h 83"/>
                <a:gd name="T44" fmla="*/ 23 w 26"/>
                <a:gd name="T45" fmla="*/ 60 h 83"/>
                <a:gd name="T46" fmla="*/ 20 w 26"/>
                <a:gd name="T47" fmla="*/ 57 h 83"/>
                <a:gd name="T48" fmla="*/ 20 w 26"/>
                <a:gd name="T49" fmla="*/ 51 h 83"/>
                <a:gd name="T50" fmla="*/ 16 w 26"/>
                <a:gd name="T51" fmla="*/ 44 h 83"/>
                <a:gd name="T52" fmla="*/ 16 w 26"/>
                <a:gd name="T53" fmla="*/ 38 h 83"/>
                <a:gd name="T54" fmla="*/ 13 w 26"/>
                <a:gd name="T55" fmla="*/ 32 h 83"/>
                <a:gd name="T56" fmla="*/ 10 w 26"/>
                <a:gd name="T57" fmla="*/ 25 h 83"/>
                <a:gd name="T58" fmla="*/ 10 w 26"/>
                <a:gd name="T59" fmla="*/ 19 h 83"/>
                <a:gd name="T60" fmla="*/ 7 w 26"/>
                <a:gd name="T61" fmla="*/ 12 h 83"/>
                <a:gd name="T62" fmla="*/ 4 w 26"/>
                <a:gd name="T63" fmla="*/ 6 h 83"/>
                <a:gd name="T64" fmla="*/ 0 w 26"/>
                <a:gd name="T65" fmla="*/ 0 h 83"/>
                <a:gd name="T66" fmla="*/ 0 w 26"/>
                <a:gd name="T67" fmla="*/ 0 h 8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6"/>
                <a:gd name="T103" fmla="*/ 0 h 83"/>
                <a:gd name="T104" fmla="*/ 26 w 26"/>
                <a:gd name="T105" fmla="*/ 83 h 8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6" h="83">
                  <a:moveTo>
                    <a:pt x="0" y="0"/>
                  </a:moveTo>
                  <a:lnTo>
                    <a:pt x="0" y="3"/>
                  </a:lnTo>
                  <a:lnTo>
                    <a:pt x="4" y="12"/>
                  </a:lnTo>
                  <a:lnTo>
                    <a:pt x="7" y="22"/>
                  </a:lnTo>
                  <a:lnTo>
                    <a:pt x="13" y="38"/>
                  </a:lnTo>
                  <a:lnTo>
                    <a:pt x="16" y="51"/>
                  </a:lnTo>
                  <a:lnTo>
                    <a:pt x="20" y="64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3" y="80"/>
                  </a:lnTo>
                  <a:lnTo>
                    <a:pt x="23" y="83"/>
                  </a:lnTo>
                  <a:lnTo>
                    <a:pt x="26" y="80"/>
                  </a:lnTo>
                  <a:lnTo>
                    <a:pt x="26" y="77"/>
                  </a:lnTo>
                  <a:lnTo>
                    <a:pt x="26" y="73"/>
                  </a:lnTo>
                  <a:lnTo>
                    <a:pt x="23" y="70"/>
                  </a:lnTo>
                  <a:lnTo>
                    <a:pt x="23" y="67"/>
                  </a:lnTo>
                  <a:lnTo>
                    <a:pt x="23" y="60"/>
                  </a:lnTo>
                  <a:lnTo>
                    <a:pt x="20" y="57"/>
                  </a:lnTo>
                  <a:lnTo>
                    <a:pt x="20" y="51"/>
                  </a:lnTo>
                  <a:lnTo>
                    <a:pt x="16" y="44"/>
                  </a:lnTo>
                  <a:lnTo>
                    <a:pt x="16" y="38"/>
                  </a:lnTo>
                  <a:lnTo>
                    <a:pt x="13" y="32"/>
                  </a:lnTo>
                  <a:lnTo>
                    <a:pt x="10" y="25"/>
                  </a:lnTo>
                  <a:lnTo>
                    <a:pt x="10" y="19"/>
                  </a:lnTo>
                  <a:lnTo>
                    <a:pt x="7" y="12"/>
                  </a:lnTo>
                  <a:lnTo>
                    <a:pt x="4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6" name="Freeform 514"/>
            <p:cNvSpPr>
              <a:spLocks/>
            </p:cNvSpPr>
            <p:nvPr/>
          </p:nvSpPr>
          <p:spPr bwMode="auto">
            <a:xfrm>
              <a:off x="4574" y="3442"/>
              <a:ext cx="32" cy="80"/>
            </a:xfrm>
            <a:custGeom>
              <a:avLst/>
              <a:gdLst>
                <a:gd name="T0" fmla="*/ 0 w 32"/>
                <a:gd name="T1" fmla="*/ 0 h 80"/>
                <a:gd name="T2" fmla="*/ 0 w 32"/>
                <a:gd name="T3" fmla="*/ 0 h 80"/>
                <a:gd name="T4" fmla="*/ 0 w 32"/>
                <a:gd name="T5" fmla="*/ 3 h 80"/>
                <a:gd name="T6" fmla="*/ 3 w 32"/>
                <a:gd name="T7" fmla="*/ 6 h 80"/>
                <a:gd name="T8" fmla="*/ 3 w 32"/>
                <a:gd name="T9" fmla="*/ 10 h 80"/>
                <a:gd name="T10" fmla="*/ 6 w 32"/>
                <a:gd name="T11" fmla="*/ 16 h 80"/>
                <a:gd name="T12" fmla="*/ 9 w 32"/>
                <a:gd name="T13" fmla="*/ 22 h 80"/>
                <a:gd name="T14" fmla="*/ 13 w 32"/>
                <a:gd name="T15" fmla="*/ 29 h 80"/>
                <a:gd name="T16" fmla="*/ 13 w 32"/>
                <a:gd name="T17" fmla="*/ 35 h 80"/>
                <a:gd name="T18" fmla="*/ 16 w 32"/>
                <a:gd name="T19" fmla="*/ 42 h 80"/>
                <a:gd name="T20" fmla="*/ 19 w 32"/>
                <a:gd name="T21" fmla="*/ 51 h 80"/>
                <a:gd name="T22" fmla="*/ 22 w 32"/>
                <a:gd name="T23" fmla="*/ 58 h 80"/>
                <a:gd name="T24" fmla="*/ 22 w 32"/>
                <a:gd name="T25" fmla="*/ 64 h 80"/>
                <a:gd name="T26" fmla="*/ 25 w 32"/>
                <a:gd name="T27" fmla="*/ 67 h 80"/>
                <a:gd name="T28" fmla="*/ 25 w 32"/>
                <a:gd name="T29" fmla="*/ 74 h 80"/>
                <a:gd name="T30" fmla="*/ 25 w 32"/>
                <a:gd name="T31" fmla="*/ 77 h 80"/>
                <a:gd name="T32" fmla="*/ 25 w 32"/>
                <a:gd name="T33" fmla="*/ 77 h 80"/>
                <a:gd name="T34" fmla="*/ 25 w 32"/>
                <a:gd name="T35" fmla="*/ 80 h 80"/>
                <a:gd name="T36" fmla="*/ 29 w 32"/>
                <a:gd name="T37" fmla="*/ 80 h 80"/>
                <a:gd name="T38" fmla="*/ 29 w 32"/>
                <a:gd name="T39" fmla="*/ 80 h 80"/>
                <a:gd name="T40" fmla="*/ 29 w 32"/>
                <a:gd name="T41" fmla="*/ 80 h 80"/>
                <a:gd name="T42" fmla="*/ 29 w 32"/>
                <a:gd name="T43" fmla="*/ 80 h 80"/>
                <a:gd name="T44" fmla="*/ 32 w 32"/>
                <a:gd name="T45" fmla="*/ 80 h 80"/>
                <a:gd name="T46" fmla="*/ 32 w 32"/>
                <a:gd name="T47" fmla="*/ 80 h 80"/>
                <a:gd name="T48" fmla="*/ 32 w 32"/>
                <a:gd name="T49" fmla="*/ 77 h 80"/>
                <a:gd name="T50" fmla="*/ 32 w 32"/>
                <a:gd name="T51" fmla="*/ 77 h 80"/>
                <a:gd name="T52" fmla="*/ 32 w 32"/>
                <a:gd name="T53" fmla="*/ 74 h 80"/>
                <a:gd name="T54" fmla="*/ 32 w 32"/>
                <a:gd name="T55" fmla="*/ 71 h 80"/>
                <a:gd name="T56" fmla="*/ 29 w 32"/>
                <a:gd name="T57" fmla="*/ 67 h 80"/>
                <a:gd name="T58" fmla="*/ 29 w 32"/>
                <a:gd name="T59" fmla="*/ 64 h 80"/>
                <a:gd name="T60" fmla="*/ 25 w 32"/>
                <a:gd name="T61" fmla="*/ 58 h 80"/>
                <a:gd name="T62" fmla="*/ 25 w 32"/>
                <a:gd name="T63" fmla="*/ 54 h 80"/>
                <a:gd name="T64" fmla="*/ 22 w 32"/>
                <a:gd name="T65" fmla="*/ 48 h 80"/>
                <a:gd name="T66" fmla="*/ 19 w 32"/>
                <a:gd name="T67" fmla="*/ 42 h 80"/>
                <a:gd name="T68" fmla="*/ 16 w 32"/>
                <a:gd name="T69" fmla="*/ 35 h 80"/>
                <a:gd name="T70" fmla="*/ 16 w 32"/>
                <a:gd name="T71" fmla="*/ 29 h 80"/>
                <a:gd name="T72" fmla="*/ 13 w 32"/>
                <a:gd name="T73" fmla="*/ 22 h 80"/>
                <a:gd name="T74" fmla="*/ 9 w 32"/>
                <a:gd name="T75" fmla="*/ 16 h 80"/>
                <a:gd name="T76" fmla="*/ 6 w 32"/>
                <a:gd name="T77" fmla="*/ 10 h 80"/>
                <a:gd name="T78" fmla="*/ 3 w 32"/>
                <a:gd name="T79" fmla="*/ 6 h 80"/>
                <a:gd name="T80" fmla="*/ 0 w 32"/>
                <a:gd name="T81" fmla="*/ 0 h 80"/>
                <a:gd name="T82" fmla="*/ 0 w 32"/>
                <a:gd name="T83" fmla="*/ 0 h 8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2"/>
                <a:gd name="T127" fmla="*/ 0 h 80"/>
                <a:gd name="T128" fmla="*/ 32 w 32"/>
                <a:gd name="T129" fmla="*/ 80 h 8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2" h="80">
                  <a:moveTo>
                    <a:pt x="0" y="0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3" y="6"/>
                  </a:lnTo>
                  <a:lnTo>
                    <a:pt x="3" y="10"/>
                  </a:lnTo>
                  <a:lnTo>
                    <a:pt x="6" y="16"/>
                  </a:lnTo>
                  <a:lnTo>
                    <a:pt x="9" y="22"/>
                  </a:lnTo>
                  <a:lnTo>
                    <a:pt x="13" y="29"/>
                  </a:lnTo>
                  <a:lnTo>
                    <a:pt x="13" y="35"/>
                  </a:lnTo>
                  <a:lnTo>
                    <a:pt x="16" y="42"/>
                  </a:lnTo>
                  <a:lnTo>
                    <a:pt x="19" y="51"/>
                  </a:lnTo>
                  <a:lnTo>
                    <a:pt x="22" y="58"/>
                  </a:lnTo>
                  <a:lnTo>
                    <a:pt x="22" y="64"/>
                  </a:lnTo>
                  <a:lnTo>
                    <a:pt x="25" y="67"/>
                  </a:lnTo>
                  <a:lnTo>
                    <a:pt x="25" y="74"/>
                  </a:lnTo>
                  <a:lnTo>
                    <a:pt x="25" y="77"/>
                  </a:lnTo>
                  <a:lnTo>
                    <a:pt x="25" y="80"/>
                  </a:lnTo>
                  <a:lnTo>
                    <a:pt x="29" y="80"/>
                  </a:lnTo>
                  <a:lnTo>
                    <a:pt x="32" y="80"/>
                  </a:lnTo>
                  <a:lnTo>
                    <a:pt x="32" y="77"/>
                  </a:lnTo>
                  <a:lnTo>
                    <a:pt x="32" y="74"/>
                  </a:lnTo>
                  <a:lnTo>
                    <a:pt x="32" y="71"/>
                  </a:lnTo>
                  <a:lnTo>
                    <a:pt x="29" y="67"/>
                  </a:lnTo>
                  <a:lnTo>
                    <a:pt x="29" y="64"/>
                  </a:lnTo>
                  <a:lnTo>
                    <a:pt x="25" y="58"/>
                  </a:lnTo>
                  <a:lnTo>
                    <a:pt x="25" y="54"/>
                  </a:lnTo>
                  <a:lnTo>
                    <a:pt x="22" y="48"/>
                  </a:lnTo>
                  <a:lnTo>
                    <a:pt x="19" y="42"/>
                  </a:lnTo>
                  <a:lnTo>
                    <a:pt x="16" y="35"/>
                  </a:lnTo>
                  <a:lnTo>
                    <a:pt x="16" y="29"/>
                  </a:lnTo>
                  <a:lnTo>
                    <a:pt x="13" y="22"/>
                  </a:lnTo>
                  <a:lnTo>
                    <a:pt x="9" y="16"/>
                  </a:lnTo>
                  <a:lnTo>
                    <a:pt x="6" y="10"/>
                  </a:lnTo>
                  <a:lnTo>
                    <a:pt x="3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7" name="Freeform 515"/>
            <p:cNvSpPr>
              <a:spLocks/>
            </p:cNvSpPr>
            <p:nvPr/>
          </p:nvSpPr>
          <p:spPr bwMode="auto">
            <a:xfrm>
              <a:off x="4590" y="3378"/>
              <a:ext cx="119" cy="45"/>
            </a:xfrm>
            <a:custGeom>
              <a:avLst/>
              <a:gdLst>
                <a:gd name="T0" fmla="*/ 0 w 119"/>
                <a:gd name="T1" fmla="*/ 41 h 45"/>
                <a:gd name="T2" fmla="*/ 3 w 119"/>
                <a:gd name="T3" fmla="*/ 41 h 45"/>
                <a:gd name="T4" fmla="*/ 6 w 119"/>
                <a:gd name="T5" fmla="*/ 38 h 45"/>
                <a:gd name="T6" fmla="*/ 16 w 119"/>
                <a:gd name="T7" fmla="*/ 35 h 45"/>
                <a:gd name="T8" fmla="*/ 22 w 119"/>
                <a:gd name="T9" fmla="*/ 32 h 45"/>
                <a:gd name="T10" fmla="*/ 32 w 119"/>
                <a:gd name="T11" fmla="*/ 29 h 45"/>
                <a:gd name="T12" fmla="*/ 42 w 119"/>
                <a:gd name="T13" fmla="*/ 25 h 45"/>
                <a:gd name="T14" fmla="*/ 51 w 119"/>
                <a:gd name="T15" fmla="*/ 22 h 45"/>
                <a:gd name="T16" fmla="*/ 64 w 119"/>
                <a:gd name="T17" fmla="*/ 19 h 45"/>
                <a:gd name="T18" fmla="*/ 74 w 119"/>
                <a:gd name="T19" fmla="*/ 16 h 45"/>
                <a:gd name="T20" fmla="*/ 83 w 119"/>
                <a:gd name="T21" fmla="*/ 13 h 45"/>
                <a:gd name="T22" fmla="*/ 93 w 119"/>
                <a:gd name="T23" fmla="*/ 9 h 45"/>
                <a:gd name="T24" fmla="*/ 103 w 119"/>
                <a:gd name="T25" fmla="*/ 6 h 45"/>
                <a:gd name="T26" fmla="*/ 109 w 119"/>
                <a:gd name="T27" fmla="*/ 3 h 45"/>
                <a:gd name="T28" fmla="*/ 115 w 119"/>
                <a:gd name="T29" fmla="*/ 0 h 45"/>
                <a:gd name="T30" fmla="*/ 119 w 119"/>
                <a:gd name="T31" fmla="*/ 0 h 45"/>
                <a:gd name="T32" fmla="*/ 119 w 119"/>
                <a:gd name="T33" fmla="*/ 0 h 45"/>
                <a:gd name="T34" fmla="*/ 115 w 119"/>
                <a:gd name="T35" fmla="*/ 3 h 45"/>
                <a:gd name="T36" fmla="*/ 112 w 119"/>
                <a:gd name="T37" fmla="*/ 3 h 45"/>
                <a:gd name="T38" fmla="*/ 106 w 119"/>
                <a:gd name="T39" fmla="*/ 6 h 45"/>
                <a:gd name="T40" fmla="*/ 96 w 119"/>
                <a:gd name="T41" fmla="*/ 9 h 45"/>
                <a:gd name="T42" fmla="*/ 86 w 119"/>
                <a:gd name="T43" fmla="*/ 13 h 45"/>
                <a:gd name="T44" fmla="*/ 77 w 119"/>
                <a:gd name="T45" fmla="*/ 16 h 45"/>
                <a:gd name="T46" fmla="*/ 67 w 119"/>
                <a:gd name="T47" fmla="*/ 19 h 45"/>
                <a:gd name="T48" fmla="*/ 54 w 119"/>
                <a:gd name="T49" fmla="*/ 25 h 45"/>
                <a:gd name="T50" fmla="*/ 45 w 119"/>
                <a:gd name="T51" fmla="*/ 29 h 45"/>
                <a:gd name="T52" fmla="*/ 35 w 119"/>
                <a:gd name="T53" fmla="*/ 32 h 45"/>
                <a:gd name="T54" fmla="*/ 26 w 119"/>
                <a:gd name="T55" fmla="*/ 35 h 45"/>
                <a:gd name="T56" fmla="*/ 16 w 119"/>
                <a:gd name="T57" fmla="*/ 38 h 45"/>
                <a:gd name="T58" fmla="*/ 9 w 119"/>
                <a:gd name="T59" fmla="*/ 41 h 45"/>
                <a:gd name="T60" fmla="*/ 3 w 119"/>
                <a:gd name="T61" fmla="*/ 45 h 45"/>
                <a:gd name="T62" fmla="*/ 0 w 119"/>
                <a:gd name="T63" fmla="*/ 45 h 45"/>
                <a:gd name="T64" fmla="*/ 0 w 119"/>
                <a:gd name="T65" fmla="*/ 45 h 45"/>
                <a:gd name="T66" fmla="*/ 0 w 119"/>
                <a:gd name="T67" fmla="*/ 41 h 45"/>
                <a:gd name="T68" fmla="*/ 0 w 119"/>
                <a:gd name="T69" fmla="*/ 41 h 4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19"/>
                <a:gd name="T106" fmla="*/ 0 h 45"/>
                <a:gd name="T107" fmla="*/ 119 w 119"/>
                <a:gd name="T108" fmla="*/ 45 h 45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19" h="45">
                  <a:moveTo>
                    <a:pt x="0" y="41"/>
                  </a:moveTo>
                  <a:lnTo>
                    <a:pt x="0" y="41"/>
                  </a:lnTo>
                  <a:lnTo>
                    <a:pt x="3" y="41"/>
                  </a:lnTo>
                  <a:lnTo>
                    <a:pt x="6" y="38"/>
                  </a:lnTo>
                  <a:lnTo>
                    <a:pt x="9" y="38"/>
                  </a:lnTo>
                  <a:lnTo>
                    <a:pt x="16" y="35"/>
                  </a:lnTo>
                  <a:lnTo>
                    <a:pt x="19" y="35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2" y="25"/>
                  </a:lnTo>
                  <a:lnTo>
                    <a:pt x="48" y="25"/>
                  </a:lnTo>
                  <a:lnTo>
                    <a:pt x="51" y="22"/>
                  </a:lnTo>
                  <a:lnTo>
                    <a:pt x="58" y="22"/>
                  </a:lnTo>
                  <a:lnTo>
                    <a:pt x="64" y="19"/>
                  </a:lnTo>
                  <a:lnTo>
                    <a:pt x="70" y="16"/>
                  </a:lnTo>
                  <a:lnTo>
                    <a:pt x="74" y="16"/>
                  </a:lnTo>
                  <a:lnTo>
                    <a:pt x="80" y="13"/>
                  </a:lnTo>
                  <a:lnTo>
                    <a:pt x="83" y="13"/>
                  </a:lnTo>
                  <a:lnTo>
                    <a:pt x="90" y="9"/>
                  </a:lnTo>
                  <a:lnTo>
                    <a:pt x="93" y="9"/>
                  </a:lnTo>
                  <a:lnTo>
                    <a:pt x="99" y="6"/>
                  </a:lnTo>
                  <a:lnTo>
                    <a:pt x="103" y="6"/>
                  </a:lnTo>
                  <a:lnTo>
                    <a:pt x="106" y="3"/>
                  </a:lnTo>
                  <a:lnTo>
                    <a:pt x="109" y="3"/>
                  </a:lnTo>
                  <a:lnTo>
                    <a:pt x="112" y="3"/>
                  </a:lnTo>
                  <a:lnTo>
                    <a:pt x="115" y="0"/>
                  </a:lnTo>
                  <a:lnTo>
                    <a:pt x="119" y="0"/>
                  </a:lnTo>
                  <a:lnTo>
                    <a:pt x="115" y="0"/>
                  </a:lnTo>
                  <a:lnTo>
                    <a:pt x="115" y="3"/>
                  </a:lnTo>
                  <a:lnTo>
                    <a:pt x="112" y="3"/>
                  </a:lnTo>
                  <a:lnTo>
                    <a:pt x="109" y="3"/>
                  </a:lnTo>
                  <a:lnTo>
                    <a:pt x="106" y="6"/>
                  </a:lnTo>
                  <a:lnTo>
                    <a:pt x="99" y="6"/>
                  </a:lnTo>
                  <a:lnTo>
                    <a:pt x="96" y="9"/>
                  </a:lnTo>
                  <a:lnTo>
                    <a:pt x="93" y="9"/>
                  </a:lnTo>
                  <a:lnTo>
                    <a:pt x="86" y="13"/>
                  </a:lnTo>
                  <a:lnTo>
                    <a:pt x="83" y="16"/>
                  </a:lnTo>
                  <a:lnTo>
                    <a:pt x="77" y="16"/>
                  </a:lnTo>
                  <a:lnTo>
                    <a:pt x="74" y="19"/>
                  </a:lnTo>
                  <a:lnTo>
                    <a:pt x="67" y="19"/>
                  </a:lnTo>
                  <a:lnTo>
                    <a:pt x="61" y="22"/>
                  </a:lnTo>
                  <a:lnTo>
                    <a:pt x="54" y="25"/>
                  </a:lnTo>
                  <a:lnTo>
                    <a:pt x="51" y="25"/>
                  </a:lnTo>
                  <a:lnTo>
                    <a:pt x="45" y="29"/>
                  </a:lnTo>
                  <a:lnTo>
                    <a:pt x="38" y="32"/>
                  </a:lnTo>
                  <a:lnTo>
                    <a:pt x="35" y="32"/>
                  </a:lnTo>
                  <a:lnTo>
                    <a:pt x="29" y="35"/>
                  </a:lnTo>
                  <a:lnTo>
                    <a:pt x="26" y="35"/>
                  </a:lnTo>
                  <a:lnTo>
                    <a:pt x="22" y="38"/>
                  </a:lnTo>
                  <a:lnTo>
                    <a:pt x="16" y="38"/>
                  </a:lnTo>
                  <a:lnTo>
                    <a:pt x="13" y="41"/>
                  </a:lnTo>
                  <a:lnTo>
                    <a:pt x="9" y="41"/>
                  </a:lnTo>
                  <a:lnTo>
                    <a:pt x="6" y="41"/>
                  </a:lnTo>
                  <a:lnTo>
                    <a:pt x="3" y="45"/>
                  </a:lnTo>
                  <a:lnTo>
                    <a:pt x="0" y="45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8" name="Freeform 516"/>
            <p:cNvSpPr>
              <a:spLocks/>
            </p:cNvSpPr>
            <p:nvPr/>
          </p:nvSpPr>
          <p:spPr bwMode="auto">
            <a:xfrm>
              <a:off x="4599" y="3410"/>
              <a:ext cx="90" cy="32"/>
            </a:xfrm>
            <a:custGeom>
              <a:avLst/>
              <a:gdLst>
                <a:gd name="T0" fmla="*/ 0 w 90"/>
                <a:gd name="T1" fmla="*/ 29 h 32"/>
                <a:gd name="T2" fmla="*/ 4 w 90"/>
                <a:gd name="T3" fmla="*/ 29 h 32"/>
                <a:gd name="T4" fmla="*/ 7 w 90"/>
                <a:gd name="T5" fmla="*/ 29 h 32"/>
                <a:gd name="T6" fmla="*/ 10 w 90"/>
                <a:gd name="T7" fmla="*/ 29 h 32"/>
                <a:gd name="T8" fmla="*/ 17 w 90"/>
                <a:gd name="T9" fmla="*/ 26 h 32"/>
                <a:gd name="T10" fmla="*/ 23 w 90"/>
                <a:gd name="T11" fmla="*/ 22 h 32"/>
                <a:gd name="T12" fmla="*/ 29 w 90"/>
                <a:gd name="T13" fmla="*/ 19 h 32"/>
                <a:gd name="T14" fmla="*/ 36 w 90"/>
                <a:gd name="T15" fmla="*/ 19 h 32"/>
                <a:gd name="T16" fmla="*/ 45 w 90"/>
                <a:gd name="T17" fmla="*/ 16 h 32"/>
                <a:gd name="T18" fmla="*/ 52 w 90"/>
                <a:gd name="T19" fmla="*/ 13 h 32"/>
                <a:gd name="T20" fmla="*/ 61 w 90"/>
                <a:gd name="T21" fmla="*/ 9 h 32"/>
                <a:gd name="T22" fmla="*/ 68 w 90"/>
                <a:gd name="T23" fmla="*/ 6 h 32"/>
                <a:gd name="T24" fmla="*/ 74 w 90"/>
                <a:gd name="T25" fmla="*/ 3 h 32"/>
                <a:gd name="T26" fmla="*/ 81 w 90"/>
                <a:gd name="T27" fmla="*/ 3 h 32"/>
                <a:gd name="T28" fmla="*/ 84 w 90"/>
                <a:gd name="T29" fmla="*/ 0 h 32"/>
                <a:gd name="T30" fmla="*/ 87 w 90"/>
                <a:gd name="T31" fmla="*/ 0 h 32"/>
                <a:gd name="T32" fmla="*/ 90 w 90"/>
                <a:gd name="T33" fmla="*/ 0 h 32"/>
                <a:gd name="T34" fmla="*/ 90 w 90"/>
                <a:gd name="T35" fmla="*/ 0 h 32"/>
                <a:gd name="T36" fmla="*/ 87 w 90"/>
                <a:gd name="T37" fmla="*/ 0 h 32"/>
                <a:gd name="T38" fmla="*/ 84 w 90"/>
                <a:gd name="T39" fmla="*/ 3 h 32"/>
                <a:gd name="T40" fmla="*/ 77 w 90"/>
                <a:gd name="T41" fmla="*/ 6 h 32"/>
                <a:gd name="T42" fmla="*/ 71 w 90"/>
                <a:gd name="T43" fmla="*/ 6 h 32"/>
                <a:gd name="T44" fmla="*/ 65 w 90"/>
                <a:gd name="T45" fmla="*/ 9 h 32"/>
                <a:gd name="T46" fmla="*/ 55 w 90"/>
                <a:gd name="T47" fmla="*/ 13 h 32"/>
                <a:gd name="T48" fmla="*/ 49 w 90"/>
                <a:gd name="T49" fmla="*/ 16 h 32"/>
                <a:gd name="T50" fmla="*/ 39 w 90"/>
                <a:gd name="T51" fmla="*/ 19 h 32"/>
                <a:gd name="T52" fmla="*/ 33 w 90"/>
                <a:gd name="T53" fmla="*/ 22 h 32"/>
                <a:gd name="T54" fmla="*/ 26 w 90"/>
                <a:gd name="T55" fmla="*/ 26 h 32"/>
                <a:gd name="T56" fmla="*/ 17 w 90"/>
                <a:gd name="T57" fmla="*/ 29 h 32"/>
                <a:gd name="T58" fmla="*/ 13 w 90"/>
                <a:gd name="T59" fmla="*/ 32 h 32"/>
                <a:gd name="T60" fmla="*/ 7 w 90"/>
                <a:gd name="T61" fmla="*/ 32 h 32"/>
                <a:gd name="T62" fmla="*/ 4 w 90"/>
                <a:gd name="T63" fmla="*/ 32 h 32"/>
                <a:gd name="T64" fmla="*/ 4 w 90"/>
                <a:gd name="T65" fmla="*/ 32 h 32"/>
                <a:gd name="T66" fmla="*/ 0 w 90"/>
                <a:gd name="T67" fmla="*/ 32 h 32"/>
                <a:gd name="T68" fmla="*/ 0 w 90"/>
                <a:gd name="T69" fmla="*/ 32 h 32"/>
                <a:gd name="T70" fmla="*/ 0 w 90"/>
                <a:gd name="T71" fmla="*/ 32 h 32"/>
                <a:gd name="T72" fmla="*/ 0 w 90"/>
                <a:gd name="T73" fmla="*/ 29 h 32"/>
                <a:gd name="T74" fmla="*/ 0 w 90"/>
                <a:gd name="T75" fmla="*/ 29 h 3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90"/>
                <a:gd name="T115" fmla="*/ 0 h 32"/>
                <a:gd name="T116" fmla="*/ 90 w 90"/>
                <a:gd name="T117" fmla="*/ 32 h 3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90" h="32">
                  <a:moveTo>
                    <a:pt x="0" y="29"/>
                  </a:moveTo>
                  <a:lnTo>
                    <a:pt x="4" y="29"/>
                  </a:lnTo>
                  <a:lnTo>
                    <a:pt x="7" y="29"/>
                  </a:lnTo>
                  <a:lnTo>
                    <a:pt x="10" y="29"/>
                  </a:lnTo>
                  <a:lnTo>
                    <a:pt x="17" y="26"/>
                  </a:lnTo>
                  <a:lnTo>
                    <a:pt x="23" y="22"/>
                  </a:lnTo>
                  <a:lnTo>
                    <a:pt x="29" y="19"/>
                  </a:lnTo>
                  <a:lnTo>
                    <a:pt x="36" y="19"/>
                  </a:lnTo>
                  <a:lnTo>
                    <a:pt x="45" y="16"/>
                  </a:lnTo>
                  <a:lnTo>
                    <a:pt x="52" y="13"/>
                  </a:lnTo>
                  <a:lnTo>
                    <a:pt x="61" y="9"/>
                  </a:lnTo>
                  <a:lnTo>
                    <a:pt x="68" y="6"/>
                  </a:lnTo>
                  <a:lnTo>
                    <a:pt x="74" y="3"/>
                  </a:lnTo>
                  <a:lnTo>
                    <a:pt x="81" y="3"/>
                  </a:lnTo>
                  <a:lnTo>
                    <a:pt x="84" y="0"/>
                  </a:lnTo>
                  <a:lnTo>
                    <a:pt x="87" y="0"/>
                  </a:lnTo>
                  <a:lnTo>
                    <a:pt x="90" y="0"/>
                  </a:lnTo>
                  <a:lnTo>
                    <a:pt x="87" y="0"/>
                  </a:lnTo>
                  <a:lnTo>
                    <a:pt x="84" y="3"/>
                  </a:lnTo>
                  <a:lnTo>
                    <a:pt x="77" y="6"/>
                  </a:lnTo>
                  <a:lnTo>
                    <a:pt x="71" y="6"/>
                  </a:lnTo>
                  <a:lnTo>
                    <a:pt x="65" y="9"/>
                  </a:lnTo>
                  <a:lnTo>
                    <a:pt x="55" y="13"/>
                  </a:lnTo>
                  <a:lnTo>
                    <a:pt x="49" y="16"/>
                  </a:lnTo>
                  <a:lnTo>
                    <a:pt x="39" y="19"/>
                  </a:lnTo>
                  <a:lnTo>
                    <a:pt x="33" y="22"/>
                  </a:lnTo>
                  <a:lnTo>
                    <a:pt x="26" y="26"/>
                  </a:lnTo>
                  <a:lnTo>
                    <a:pt x="17" y="29"/>
                  </a:lnTo>
                  <a:lnTo>
                    <a:pt x="13" y="32"/>
                  </a:lnTo>
                  <a:lnTo>
                    <a:pt x="7" y="32"/>
                  </a:lnTo>
                  <a:lnTo>
                    <a:pt x="4" y="32"/>
                  </a:lnTo>
                  <a:lnTo>
                    <a:pt x="0" y="32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79" name="Freeform 517"/>
            <p:cNvSpPr>
              <a:spLocks/>
            </p:cNvSpPr>
            <p:nvPr/>
          </p:nvSpPr>
          <p:spPr bwMode="auto">
            <a:xfrm>
              <a:off x="4609" y="3426"/>
              <a:ext cx="93" cy="35"/>
            </a:xfrm>
            <a:custGeom>
              <a:avLst/>
              <a:gdLst>
                <a:gd name="T0" fmla="*/ 3 w 93"/>
                <a:gd name="T1" fmla="*/ 32 h 35"/>
                <a:gd name="T2" fmla="*/ 3 w 93"/>
                <a:gd name="T3" fmla="*/ 32 h 35"/>
                <a:gd name="T4" fmla="*/ 7 w 93"/>
                <a:gd name="T5" fmla="*/ 29 h 35"/>
                <a:gd name="T6" fmla="*/ 10 w 93"/>
                <a:gd name="T7" fmla="*/ 29 h 35"/>
                <a:gd name="T8" fmla="*/ 16 w 93"/>
                <a:gd name="T9" fmla="*/ 26 h 35"/>
                <a:gd name="T10" fmla="*/ 23 w 93"/>
                <a:gd name="T11" fmla="*/ 26 h 35"/>
                <a:gd name="T12" fmla="*/ 29 w 93"/>
                <a:gd name="T13" fmla="*/ 22 h 35"/>
                <a:gd name="T14" fmla="*/ 39 w 93"/>
                <a:gd name="T15" fmla="*/ 19 h 35"/>
                <a:gd name="T16" fmla="*/ 45 w 93"/>
                <a:gd name="T17" fmla="*/ 16 h 35"/>
                <a:gd name="T18" fmla="*/ 55 w 93"/>
                <a:gd name="T19" fmla="*/ 13 h 35"/>
                <a:gd name="T20" fmla="*/ 61 w 93"/>
                <a:gd name="T21" fmla="*/ 10 h 35"/>
                <a:gd name="T22" fmla="*/ 71 w 93"/>
                <a:gd name="T23" fmla="*/ 6 h 35"/>
                <a:gd name="T24" fmla="*/ 77 w 93"/>
                <a:gd name="T25" fmla="*/ 6 h 35"/>
                <a:gd name="T26" fmla="*/ 84 w 93"/>
                <a:gd name="T27" fmla="*/ 3 h 35"/>
                <a:gd name="T28" fmla="*/ 87 w 93"/>
                <a:gd name="T29" fmla="*/ 3 h 35"/>
                <a:gd name="T30" fmla="*/ 90 w 93"/>
                <a:gd name="T31" fmla="*/ 0 h 35"/>
                <a:gd name="T32" fmla="*/ 93 w 93"/>
                <a:gd name="T33" fmla="*/ 0 h 35"/>
                <a:gd name="T34" fmla="*/ 90 w 93"/>
                <a:gd name="T35" fmla="*/ 0 h 35"/>
                <a:gd name="T36" fmla="*/ 90 w 93"/>
                <a:gd name="T37" fmla="*/ 3 h 35"/>
                <a:gd name="T38" fmla="*/ 84 w 93"/>
                <a:gd name="T39" fmla="*/ 3 h 35"/>
                <a:gd name="T40" fmla="*/ 80 w 93"/>
                <a:gd name="T41" fmla="*/ 6 h 35"/>
                <a:gd name="T42" fmla="*/ 74 w 93"/>
                <a:gd name="T43" fmla="*/ 10 h 35"/>
                <a:gd name="T44" fmla="*/ 64 w 93"/>
                <a:gd name="T45" fmla="*/ 13 h 35"/>
                <a:gd name="T46" fmla="*/ 58 w 93"/>
                <a:gd name="T47" fmla="*/ 16 h 35"/>
                <a:gd name="T48" fmla="*/ 48 w 93"/>
                <a:gd name="T49" fmla="*/ 19 h 35"/>
                <a:gd name="T50" fmla="*/ 42 w 93"/>
                <a:gd name="T51" fmla="*/ 22 h 35"/>
                <a:gd name="T52" fmla="*/ 32 w 93"/>
                <a:gd name="T53" fmla="*/ 26 h 35"/>
                <a:gd name="T54" fmla="*/ 26 w 93"/>
                <a:gd name="T55" fmla="*/ 29 h 35"/>
                <a:gd name="T56" fmla="*/ 19 w 93"/>
                <a:gd name="T57" fmla="*/ 29 h 35"/>
                <a:gd name="T58" fmla="*/ 13 w 93"/>
                <a:gd name="T59" fmla="*/ 32 h 35"/>
                <a:gd name="T60" fmla="*/ 7 w 93"/>
                <a:gd name="T61" fmla="*/ 32 h 35"/>
                <a:gd name="T62" fmla="*/ 3 w 93"/>
                <a:gd name="T63" fmla="*/ 35 h 35"/>
                <a:gd name="T64" fmla="*/ 3 w 93"/>
                <a:gd name="T65" fmla="*/ 35 h 35"/>
                <a:gd name="T66" fmla="*/ 0 w 93"/>
                <a:gd name="T67" fmla="*/ 35 h 35"/>
                <a:gd name="T68" fmla="*/ 0 w 93"/>
                <a:gd name="T69" fmla="*/ 32 h 35"/>
                <a:gd name="T70" fmla="*/ 3 w 93"/>
                <a:gd name="T71" fmla="*/ 32 h 35"/>
                <a:gd name="T72" fmla="*/ 3 w 93"/>
                <a:gd name="T73" fmla="*/ 32 h 35"/>
                <a:gd name="T74" fmla="*/ 3 w 93"/>
                <a:gd name="T75" fmla="*/ 32 h 3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93"/>
                <a:gd name="T115" fmla="*/ 0 h 35"/>
                <a:gd name="T116" fmla="*/ 93 w 93"/>
                <a:gd name="T117" fmla="*/ 35 h 3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93" h="35">
                  <a:moveTo>
                    <a:pt x="3" y="32"/>
                  </a:moveTo>
                  <a:lnTo>
                    <a:pt x="3" y="32"/>
                  </a:lnTo>
                  <a:lnTo>
                    <a:pt x="7" y="29"/>
                  </a:lnTo>
                  <a:lnTo>
                    <a:pt x="10" y="29"/>
                  </a:lnTo>
                  <a:lnTo>
                    <a:pt x="16" y="26"/>
                  </a:lnTo>
                  <a:lnTo>
                    <a:pt x="23" y="26"/>
                  </a:lnTo>
                  <a:lnTo>
                    <a:pt x="29" y="22"/>
                  </a:lnTo>
                  <a:lnTo>
                    <a:pt x="39" y="19"/>
                  </a:lnTo>
                  <a:lnTo>
                    <a:pt x="45" y="16"/>
                  </a:lnTo>
                  <a:lnTo>
                    <a:pt x="55" y="13"/>
                  </a:lnTo>
                  <a:lnTo>
                    <a:pt x="61" y="10"/>
                  </a:lnTo>
                  <a:lnTo>
                    <a:pt x="71" y="6"/>
                  </a:lnTo>
                  <a:lnTo>
                    <a:pt x="77" y="6"/>
                  </a:lnTo>
                  <a:lnTo>
                    <a:pt x="84" y="3"/>
                  </a:lnTo>
                  <a:lnTo>
                    <a:pt x="87" y="3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0" y="0"/>
                  </a:lnTo>
                  <a:lnTo>
                    <a:pt x="90" y="3"/>
                  </a:lnTo>
                  <a:lnTo>
                    <a:pt x="84" y="3"/>
                  </a:lnTo>
                  <a:lnTo>
                    <a:pt x="80" y="6"/>
                  </a:lnTo>
                  <a:lnTo>
                    <a:pt x="74" y="10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48" y="19"/>
                  </a:lnTo>
                  <a:lnTo>
                    <a:pt x="42" y="22"/>
                  </a:lnTo>
                  <a:lnTo>
                    <a:pt x="32" y="26"/>
                  </a:lnTo>
                  <a:lnTo>
                    <a:pt x="26" y="29"/>
                  </a:lnTo>
                  <a:lnTo>
                    <a:pt x="19" y="29"/>
                  </a:lnTo>
                  <a:lnTo>
                    <a:pt x="13" y="32"/>
                  </a:lnTo>
                  <a:lnTo>
                    <a:pt x="7" y="32"/>
                  </a:lnTo>
                  <a:lnTo>
                    <a:pt x="3" y="35"/>
                  </a:lnTo>
                  <a:lnTo>
                    <a:pt x="0" y="35"/>
                  </a:lnTo>
                  <a:lnTo>
                    <a:pt x="0" y="32"/>
                  </a:lnTo>
                  <a:lnTo>
                    <a:pt x="3" y="32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0" name="Freeform 518"/>
            <p:cNvSpPr>
              <a:spLocks/>
            </p:cNvSpPr>
            <p:nvPr/>
          </p:nvSpPr>
          <p:spPr bwMode="auto">
            <a:xfrm>
              <a:off x="4622" y="3445"/>
              <a:ext cx="87" cy="35"/>
            </a:xfrm>
            <a:custGeom>
              <a:avLst/>
              <a:gdLst>
                <a:gd name="T0" fmla="*/ 0 w 87"/>
                <a:gd name="T1" fmla="*/ 32 h 35"/>
                <a:gd name="T2" fmla="*/ 3 w 87"/>
                <a:gd name="T3" fmla="*/ 32 h 35"/>
                <a:gd name="T4" fmla="*/ 3 w 87"/>
                <a:gd name="T5" fmla="*/ 29 h 35"/>
                <a:gd name="T6" fmla="*/ 10 w 87"/>
                <a:gd name="T7" fmla="*/ 29 h 35"/>
                <a:gd name="T8" fmla="*/ 13 w 87"/>
                <a:gd name="T9" fmla="*/ 26 h 35"/>
                <a:gd name="T10" fmla="*/ 19 w 87"/>
                <a:gd name="T11" fmla="*/ 26 h 35"/>
                <a:gd name="T12" fmla="*/ 26 w 87"/>
                <a:gd name="T13" fmla="*/ 23 h 35"/>
                <a:gd name="T14" fmla="*/ 35 w 87"/>
                <a:gd name="T15" fmla="*/ 19 h 35"/>
                <a:gd name="T16" fmla="*/ 42 w 87"/>
                <a:gd name="T17" fmla="*/ 16 h 35"/>
                <a:gd name="T18" fmla="*/ 51 w 87"/>
                <a:gd name="T19" fmla="*/ 13 h 35"/>
                <a:gd name="T20" fmla="*/ 58 w 87"/>
                <a:gd name="T21" fmla="*/ 10 h 35"/>
                <a:gd name="T22" fmla="*/ 64 w 87"/>
                <a:gd name="T23" fmla="*/ 10 h 35"/>
                <a:gd name="T24" fmla="*/ 71 w 87"/>
                <a:gd name="T25" fmla="*/ 7 h 35"/>
                <a:gd name="T26" fmla="*/ 77 w 87"/>
                <a:gd name="T27" fmla="*/ 3 h 35"/>
                <a:gd name="T28" fmla="*/ 80 w 87"/>
                <a:gd name="T29" fmla="*/ 3 h 35"/>
                <a:gd name="T30" fmla="*/ 83 w 87"/>
                <a:gd name="T31" fmla="*/ 3 h 35"/>
                <a:gd name="T32" fmla="*/ 87 w 87"/>
                <a:gd name="T33" fmla="*/ 0 h 35"/>
                <a:gd name="T34" fmla="*/ 87 w 87"/>
                <a:gd name="T35" fmla="*/ 3 h 35"/>
                <a:gd name="T36" fmla="*/ 83 w 87"/>
                <a:gd name="T37" fmla="*/ 3 h 35"/>
                <a:gd name="T38" fmla="*/ 80 w 87"/>
                <a:gd name="T39" fmla="*/ 3 h 35"/>
                <a:gd name="T40" fmla="*/ 74 w 87"/>
                <a:gd name="T41" fmla="*/ 7 h 35"/>
                <a:gd name="T42" fmla="*/ 67 w 87"/>
                <a:gd name="T43" fmla="*/ 10 h 35"/>
                <a:gd name="T44" fmla="*/ 61 w 87"/>
                <a:gd name="T45" fmla="*/ 13 h 35"/>
                <a:gd name="T46" fmla="*/ 54 w 87"/>
                <a:gd name="T47" fmla="*/ 16 h 35"/>
                <a:gd name="T48" fmla="*/ 45 w 87"/>
                <a:gd name="T49" fmla="*/ 19 h 35"/>
                <a:gd name="T50" fmla="*/ 38 w 87"/>
                <a:gd name="T51" fmla="*/ 23 h 35"/>
                <a:gd name="T52" fmla="*/ 29 w 87"/>
                <a:gd name="T53" fmla="*/ 26 h 35"/>
                <a:gd name="T54" fmla="*/ 22 w 87"/>
                <a:gd name="T55" fmla="*/ 29 h 35"/>
                <a:gd name="T56" fmla="*/ 16 w 87"/>
                <a:gd name="T57" fmla="*/ 29 h 35"/>
                <a:gd name="T58" fmla="*/ 10 w 87"/>
                <a:gd name="T59" fmla="*/ 32 h 35"/>
                <a:gd name="T60" fmla="*/ 6 w 87"/>
                <a:gd name="T61" fmla="*/ 35 h 35"/>
                <a:gd name="T62" fmla="*/ 3 w 87"/>
                <a:gd name="T63" fmla="*/ 35 h 35"/>
                <a:gd name="T64" fmla="*/ 0 w 87"/>
                <a:gd name="T65" fmla="*/ 35 h 35"/>
                <a:gd name="T66" fmla="*/ 0 w 87"/>
                <a:gd name="T67" fmla="*/ 35 h 35"/>
                <a:gd name="T68" fmla="*/ 0 w 87"/>
                <a:gd name="T69" fmla="*/ 32 h 35"/>
                <a:gd name="T70" fmla="*/ 0 w 87"/>
                <a:gd name="T71" fmla="*/ 32 h 35"/>
                <a:gd name="T72" fmla="*/ 0 w 87"/>
                <a:gd name="T73" fmla="*/ 32 h 35"/>
                <a:gd name="T74" fmla="*/ 0 w 87"/>
                <a:gd name="T75" fmla="*/ 32 h 3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87"/>
                <a:gd name="T115" fmla="*/ 0 h 35"/>
                <a:gd name="T116" fmla="*/ 87 w 87"/>
                <a:gd name="T117" fmla="*/ 35 h 35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87" h="35">
                  <a:moveTo>
                    <a:pt x="0" y="32"/>
                  </a:moveTo>
                  <a:lnTo>
                    <a:pt x="3" y="32"/>
                  </a:lnTo>
                  <a:lnTo>
                    <a:pt x="3" y="29"/>
                  </a:lnTo>
                  <a:lnTo>
                    <a:pt x="10" y="29"/>
                  </a:lnTo>
                  <a:lnTo>
                    <a:pt x="13" y="26"/>
                  </a:lnTo>
                  <a:lnTo>
                    <a:pt x="19" y="26"/>
                  </a:lnTo>
                  <a:lnTo>
                    <a:pt x="26" y="23"/>
                  </a:lnTo>
                  <a:lnTo>
                    <a:pt x="35" y="19"/>
                  </a:lnTo>
                  <a:lnTo>
                    <a:pt x="42" y="16"/>
                  </a:lnTo>
                  <a:lnTo>
                    <a:pt x="51" y="13"/>
                  </a:lnTo>
                  <a:lnTo>
                    <a:pt x="58" y="10"/>
                  </a:lnTo>
                  <a:lnTo>
                    <a:pt x="64" y="10"/>
                  </a:lnTo>
                  <a:lnTo>
                    <a:pt x="71" y="7"/>
                  </a:lnTo>
                  <a:lnTo>
                    <a:pt x="77" y="3"/>
                  </a:lnTo>
                  <a:lnTo>
                    <a:pt x="80" y="3"/>
                  </a:lnTo>
                  <a:lnTo>
                    <a:pt x="83" y="3"/>
                  </a:lnTo>
                  <a:lnTo>
                    <a:pt x="87" y="0"/>
                  </a:lnTo>
                  <a:lnTo>
                    <a:pt x="87" y="3"/>
                  </a:lnTo>
                  <a:lnTo>
                    <a:pt x="83" y="3"/>
                  </a:lnTo>
                  <a:lnTo>
                    <a:pt x="80" y="3"/>
                  </a:lnTo>
                  <a:lnTo>
                    <a:pt x="74" y="7"/>
                  </a:lnTo>
                  <a:lnTo>
                    <a:pt x="67" y="10"/>
                  </a:lnTo>
                  <a:lnTo>
                    <a:pt x="61" y="13"/>
                  </a:lnTo>
                  <a:lnTo>
                    <a:pt x="54" y="16"/>
                  </a:lnTo>
                  <a:lnTo>
                    <a:pt x="45" y="19"/>
                  </a:lnTo>
                  <a:lnTo>
                    <a:pt x="38" y="23"/>
                  </a:lnTo>
                  <a:lnTo>
                    <a:pt x="29" y="26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10" y="32"/>
                  </a:lnTo>
                  <a:lnTo>
                    <a:pt x="6" y="35"/>
                  </a:lnTo>
                  <a:lnTo>
                    <a:pt x="3" y="35"/>
                  </a:lnTo>
                  <a:lnTo>
                    <a:pt x="0" y="35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1" name="Freeform 519"/>
            <p:cNvSpPr>
              <a:spLocks/>
            </p:cNvSpPr>
            <p:nvPr/>
          </p:nvSpPr>
          <p:spPr bwMode="auto">
            <a:xfrm>
              <a:off x="4628" y="3461"/>
              <a:ext cx="100" cy="39"/>
            </a:xfrm>
            <a:custGeom>
              <a:avLst/>
              <a:gdLst>
                <a:gd name="T0" fmla="*/ 4 w 100"/>
                <a:gd name="T1" fmla="*/ 35 h 39"/>
                <a:gd name="T2" fmla="*/ 4 w 100"/>
                <a:gd name="T3" fmla="*/ 35 h 39"/>
                <a:gd name="T4" fmla="*/ 7 w 100"/>
                <a:gd name="T5" fmla="*/ 32 h 39"/>
                <a:gd name="T6" fmla="*/ 10 w 100"/>
                <a:gd name="T7" fmla="*/ 32 h 39"/>
                <a:gd name="T8" fmla="*/ 16 w 100"/>
                <a:gd name="T9" fmla="*/ 29 h 39"/>
                <a:gd name="T10" fmla="*/ 23 w 100"/>
                <a:gd name="T11" fmla="*/ 26 h 39"/>
                <a:gd name="T12" fmla="*/ 32 w 100"/>
                <a:gd name="T13" fmla="*/ 23 h 39"/>
                <a:gd name="T14" fmla="*/ 42 w 100"/>
                <a:gd name="T15" fmla="*/ 19 h 39"/>
                <a:gd name="T16" fmla="*/ 52 w 100"/>
                <a:gd name="T17" fmla="*/ 16 h 39"/>
                <a:gd name="T18" fmla="*/ 58 w 100"/>
                <a:gd name="T19" fmla="*/ 13 h 39"/>
                <a:gd name="T20" fmla="*/ 68 w 100"/>
                <a:gd name="T21" fmla="*/ 10 h 39"/>
                <a:gd name="T22" fmla="*/ 77 w 100"/>
                <a:gd name="T23" fmla="*/ 7 h 39"/>
                <a:gd name="T24" fmla="*/ 84 w 100"/>
                <a:gd name="T25" fmla="*/ 3 h 39"/>
                <a:gd name="T26" fmla="*/ 90 w 100"/>
                <a:gd name="T27" fmla="*/ 3 h 39"/>
                <a:gd name="T28" fmla="*/ 93 w 100"/>
                <a:gd name="T29" fmla="*/ 0 h 39"/>
                <a:gd name="T30" fmla="*/ 100 w 100"/>
                <a:gd name="T31" fmla="*/ 0 h 39"/>
                <a:gd name="T32" fmla="*/ 100 w 100"/>
                <a:gd name="T33" fmla="*/ 0 h 39"/>
                <a:gd name="T34" fmla="*/ 100 w 100"/>
                <a:gd name="T35" fmla="*/ 0 h 39"/>
                <a:gd name="T36" fmla="*/ 97 w 100"/>
                <a:gd name="T37" fmla="*/ 0 h 39"/>
                <a:gd name="T38" fmla="*/ 90 w 100"/>
                <a:gd name="T39" fmla="*/ 3 h 39"/>
                <a:gd name="T40" fmla="*/ 87 w 100"/>
                <a:gd name="T41" fmla="*/ 7 h 39"/>
                <a:gd name="T42" fmla="*/ 77 w 100"/>
                <a:gd name="T43" fmla="*/ 10 h 39"/>
                <a:gd name="T44" fmla="*/ 71 w 100"/>
                <a:gd name="T45" fmla="*/ 13 h 39"/>
                <a:gd name="T46" fmla="*/ 61 w 100"/>
                <a:gd name="T47" fmla="*/ 16 h 39"/>
                <a:gd name="T48" fmla="*/ 52 w 100"/>
                <a:gd name="T49" fmla="*/ 19 h 39"/>
                <a:gd name="T50" fmla="*/ 45 w 100"/>
                <a:gd name="T51" fmla="*/ 23 h 39"/>
                <a:gd name="T52" fmla="*/ 36 w 100"/>
                <a:gd name="T53" fmla="*/ 26 h 39"/>
                <a:gd name="T54" fmla="*/ 26 w 100"/>
                <a:gd name="T55" fmla="*/ 29 h 39"/>
                <a:gd name="T56" fmla="*/ 20 w 100"/>
                <a:gd name="T57" fmla="*/ 32 h 39"/>
                <a:gd name="T58" fmla="*/ 13 w 100"/>
                <a:gd name="T59" fmla="*/ 35 h 39"/>
                <a:gd name="T60" fmla="*/ 7 w 100"/>
                <a:gd name="T61" fmla="*/ 35 h 39"/>
                <a:gd name="T62" fmla="*/ 4 w 100"/>
                <a:gd name="T63" fmla="*/ 39 h 39"/>
                <a:gd name="T64" fmla="*/ 4 w 100"/>
                <a:gd name="T65" fmla="*/ 39 h 39"/>
                <a:gd name="T66" fmla="*/ 0 w 100"/>
                <a:gd name="T67" fmla="*/ 39 h 39"/>
                <a:gd name="T68" fmla="*/ 0 w 100"/>
                <a:gd name="T69" fmla="*/ 35 h 39"/>
                <a:gd name="T70" fmla="*/ 0 w 100"/>
                <a:gd name="T71" fmla="*/ 35 h 39"/>
                <a:gd name="T72" fmla="*/ 4 w 100"/>
                <a:gd name="T73" fmla="*/ 35 h 39"/>
                <a:gd name="T74" fmla="*/ 4 w 100"/>
                <a:gd name="T75" fmla="*/ 35 h 3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00"/>
                <a:gd name="T115" fmla="*/ 0 h 39"/>
                <a:gd name="T116" fmla="*/ 100 w 100"/>
                <a:gd name="T117" fmla="*/ 39 h 3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00" h="39">
                  <a:moveTo>
                    <a:pt x="4" y="35"/>
                  </a:moveTo>
                  <a:lnTo>
                    <a:pt x="4" y="35"/>
                  </a:lnTo>
                  <a:lnTo>
                    <a:pt x="7" y="32"/>
                  </a:lnTo>
                  <a:lnTo>
                    <a:pt x="10" y="32"/>
                  </a:lnTo>
                  <a:lnTo>
                    <a:pt x="16" y="29"/>
                  </a:lnTo>
                  <a:lnTo>
                    <a:pt x="23" y="26"/>
                  </a:lnTo>
                  <a:lnTo>
                    <a:pt x="32" y="23"/>
                  </a:lnTo>
                  <a:lnTo>
                    <a:pt x="42" y="19"/>
                  </a:lnTo>
                  <a:lnTo>
                    <a:pt x="52" y="16"/>
                  </a:lnTo>
                  <a:lnTo>
                    <a:pt x="58" y="13"/>
                  </a:lnTo>
                  <a:lnTo>
                    <a:pt x="68" y="10"/>
                  </a:lnTo>
                  <a:lnTo>
                    <a:pt x="77" y="7"/>
                  </a:lnTo>
                  <a:lnTo>
                    <a:pt x="84" y="3"/>
                  </a:lnTo>
                  <a:lnTo>
                    <a:pt x="90" y="3"/>
                  </a:lnTo>
                  <a:lnTo>
                    <a:pt x="93" y="0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0" y="3"/>
                  </a:lnTo>
                  <a:lnTo>
                    <a:pt x="87" y="7"/>
                  </a:lnTo>
                  <a:lnTo>
                    <a:pt x="77" y="10"/>
                  </a:lnTo>
                  <a:lnTo>
                    <a:pt x="71" y="13"/>
                  </a:lnTo>
                  <a:lnTo>
                    <a:pt x="61" y="16"/>
                  </a:lnTo>
                  <a:lnTo>
                    <a:pt x="52" y="19"/>
                  </a:lnTo>
                  <a:lnTo>
                    <a:pt x="45" y="23"/>
                  </a:lnTo>
                  <a:lnTo>
                    <a:pt x="36" y="26"/>
                  </a:lnTo>
                  <a:lnTo>
                    <a:pt x="26" y="29"/>
                  </a:lnTo>
                  <a:lnTo>
                    <a:pt x="20" y="32"/>
                  </a:lnTo>
                  <a:lnTo>
                    <a:pt x="13" y="35"/>
                  </a:lnTo>
                  <a:lnTo>
                    <a:pt x="7" y="35"/>
                  </a:lnTo>
                  <a:lnTo>
                    <a:pt x="4" y="39"/>
                  </a:lnTo>
                  <a:lnTo>
                    <a:pt x="0" y="39"/>
                  </a:lnTo>
                  <a:lnTo>
                    <a:pt x="0" y="35"/>
                  </a:lnTo>
                  <a:lnTo>
                    <a:pt x="4" y="35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2" name="Freeform 520"/>
            <p:cNvSpPr>
              <a:spLocks/>
            </p:cNvSpPr>
            <p:nvPr/>
          </p:nvSpPr>
          <p:spPr bwMode="auto">
            <a:xfrm>
              <a:off x="4612" y="3403"/>
              <a:ext cx="45" cy="103"/>
            </a:xfrm>
            <a:custGeom>
              <a:avLst/>
              <a:gdLst>
                <a:gd name="T0" fmla="*/ 0 w 45"/>
                <a:gd name="T1" fmla="*/ 0 h 103"/>
                <a:gd name="T2" fmla="*/ 0 w 45"/>
                <a:gd name="T3" fmla="*/ 0 h 103"/>
                <a:gd name="T4" fmla="*/ 0 w 45"/>
                <a:gd name="T5" fmla="*/ 4 h 103"/>
                <a:gd name="T6" fmla="*/ 4 w 45"/>
                <a:gd name="T7" fmla="*/ 4 h 103"/>
                <a:gd name="T8" fmla="*/ 4 w 45"/>
                <a:gd name="T9" fmla="*/ 7 h 103"/>
                <a:gd name="T10" fmla="*/ 7 w 45"/>
                <a:gd name="T11" fmla="*/ 10 h 103"/>
                <a:gd name="T12" fmla="*/ 7 w 45"/>
                <a:gd name="T13" fmla="*/ 13 h 103"/>
                <a:gd name="T14" fmla="*/ 10 w 45"/>
                <a:gd name="T15" fmla="*/ 16 h 103"/>
                <a:gd name="T16" fmla="*/ 10 w 45"/>
                <a:gd name="T17" fmla="*/ 23 h 103"/>
                <a:gd name="T18" fmla="*/ 13 w 45"/>
                <a:gd name="T19" fmla="*/ 26 h 103"/>
                <a:gd name="T20" fmla="*/ 16 w 45"/>
                <a:gd name="T21" fmla="*/ 29 h 103"/>
                <a:gd name="T22" fmla="*/ 16 w 45"/>
                <a:gd name="T23" fmla="*/ 36 h 103"/>
                <a:gd name="T24" fmla="*/ 20 w 45"/>
                <a:gd name="T25" fmla="*/ 39 h 103"/>
                <a:gd name="T26" fmla="*/ 23 w 45"/>
                <a:gd name="T27" fmla="*/ 42 h 103"/>
                <a:gd name="T28" fmla="*/ 23 w 45"/>
                <a:gd name="T29" fmla="*/ 45 h 103"/>
                <a:gd name="T30" fmla="*/ 26 w 45"/>
                <a:gd name="T31" fmla="*/ 49 h 103"/>
                <a:gd name="T32" fmla="*/ 26 w 45"/>
                <a:gd name="T33" fmla="*/ 52 h 103"/>
                <a:gd name="T34" fmla="*/ 29 w 45"/>
                <a:gd name="T35" fmla="*/ 55 h 103"/>
                <a:gd name="T36" fmla="*/ 32 w 45"/>
                <a:gd name="T37" fmla="*/ 61 h 103"/>
                <a:gd name="T38" fmla="*/ 36 w 45"/>
                <a:gd name="T39" fmla="*/ 71 h 103"/>
                <a:gd name="T40" fmla="*/ 39 w 45"/>
                <a:gd name="T41" fmla="*/ 81 h 103"/>
                <a:gd name="T42" fmla="*/ 42 w 45"/>
                <a:gd name="T43" fmla="*/ 87 h 103"/>
                <a:gd name="T44" fmla="*/ 45 w 45"/>
                <a:gd name="T45" fmla="*/ 93 h 103"/>
                <a:gd name="T46" fmla="*/ 45 w 45"/>
                <a:gd name="T47" fmla="*/ 100 h 103"/>
                <a:gd name="T48" fmla="*/ 45 w 45"/>
                <a:gd name="T49" fmla="*/ 103 h 103"/>
                <a:gd name="T50" fmla="*/ 45 w 45"/>
                <a:gd name="T51" fmla="*/ 100 h 103"/>
                <a:gd name="T52" fmla="*/ 45 w 45"/>
                <a:gd name="T53" fmla="*/ 97 h 103"/>
                <a:gd name="T54" fmla="*/ 45 w 45"/>
                <a:gd name="T55" fmla="*/ 87 h 103"/>
                <a:gd name="T56" fmla="*/ 42 w 45"/>
                <a:gd name="T57" fmla="*/ 81 h 103"/>
                <a:gd name="T58" fmla="*/ 39 w 45"/>
                <a:gd name="T59" fmla="*/ 71 h 103"/>
                <a:gd name="T60" fmla="*/ 36 w 45"/>
                <a:gd name="T61" fmla="*/ 61 h 103"/>
                <a:gd name="T62" fmla="*/ 36 w 45"/>
                <a:gd name="T63" fmla="*/ 55 h 103"/>
                <a:gd name="T64" fmla="*/ 29 w 45"/>
                <a:gd name="T65" fmla="*/ 49 h 103"/>
                <a:gd name="T66" fmla="*/ 26 w 45"/>
                <a:gd name="T67" fmla="*/ 45 h 103"/>
                <a:gd name="T68" fmla="*/ 23 w 45"/>
                <a:gd name="T69" fmla="*/ 39 h 103"/>
                <a:gd name="T70" fmla="*/ 20 w 45"/>
                <a:gd name="T71" fmla="*/ 29 h 103"/>
                <a:gd name="T72" fmla="*/ 13 w 45"/>
                <a:gd name="T73" fmla="*/ 23 h 103"/>
                <a:gd name="T74" fmla="*/ 10 w 45"/>
                <a:gd name="T75" fmla="*/ 13 h 103"/>
                <a:gd name="T76" fmla="*/ 7 w 45"/>
                <a:gd name="T77" fmla="*/ 7 h 103"/>
                <a:gd name="T78" fmla="*/ 7 w 45"/>
                <a:gd name="T79" fmla="*/ 4 h 103"/>
                <a:gd name="T80" fmla="*/ 4 w 45"/>
                <a:gd name="T81" fmla="*/ 0 h 103"/>
                <a:gd name="T82" fmla="*/ 4 w 45"/>
                <a:gd name="T83" fmla="*/ 0 h 103"/>
                <a:gd name="T84" fmla="*/ 4 w 45"/>
                <a:gd name="T85" fmla="*/ 0 h 103"/>
                <a:gd name="T86" fmla="*/ 0 w 45"/>
                <a:gd name="T87" fmla="*/ 0 h 103"/>
                <a:gd name="T88" fmla="*/ 0 w 45"/>
                <a:gd name="T89" fmla="*/ 0 h 103"/>
                <a:gd name="T90" fmla="*/ 0 w 45"/>
                <a:gd name="T91" fmla="*/ 0 h 10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5"/>
                <a:gd name="T139" fmla="*/ 0 h 103"/>
                <a:gd name="T140" fmla="*/ 45 w 45"/>
                <a:gd name="T141" fmla="*/ 103 h 10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5" h="103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7"/>
                  </a:lnTo>
                  <a:lnTo>
                    <a:pt x="7" y="10"/>
                  </a:lnTo>
                  <a:lnTo>
                    <a:pt x="7" y="13"/>
                  </a:lnTo>
                  <a:lnTo>
                    <a:pt x="10" y="16"/>
                  </a:lnTo>
                  <a:lnTo>
                    <a:pt x="10" y="23"/>
                  </a:lnTo>
                  <a:lnTo>
                    <a:pt x="13" y="26"/>
                  </a:lnTo>
                  <a:lnTo>
                    <a:pt x="16" y="29"/>
                  </a:lnTo>
                  <a:lnTo>
                    <a:pt x="16" y="36"/>
                  </a:lnTo>
                  <a:lnTo>
                    <a:pt x="20" y="39"/>
                  </a:lnTo>
                  <a:lnTo>
                    <a:pt x="23" y="42"/>
                  </a:lnTo>
                  <a:lnTo>
                    <a:pt x="23" y="45"/>
                  </a:lnTo>
                  <a:lnTo>
                    <a:pt x="26" y="49"/>
                  </a:lnTo>
                  <a:lnTo>
                    <a:pt x="26" y="52"/>
                  </a:lnTo>
                  <a:lnTo>
                    <a:pt x="29" y="55"/>
                  </a:lnTo>
                  <a:lnTo>
                    <a:pt x="32" y="61"/>
                  </a:lnTo>
                  <a:lnTo>
                    <a:pt x="36" y="71"/>
                  </a:lnTo>
                  <a:lnTo>
                    <a:pt x="39" y="81"/>
                  </a:lnTo>
                  <a:lnTo>
                    <a:pt x="42" y="87"/>
                  </a:lnTo>
                  <a:lnTo>
                    <a:pt x="45" y="93"/>
                  </a:lnTo>
                  <a:lnTo>
                    <a:pt x="45" y="100"/>
                  </a:lnTo>
                  <a:lnTo>
                    <a:pt x="45" y="103"/>
                  </a:lnTo>
                  <a:lnTo>
                    <a:pt x="45" y="100"/>
                  </a:lnTo>
                  <a:lnTo>
                    <a:pt x="45" y="97"/>
                  </a:lnTo>
                  <a:lnTo>
                    <a:pt x="45" y="87"/>
                  </a:lnTo>
                  <a:lnTo>
                    <a:pt x="42" y="81"/>
                  </a:lnTo>
                  <a:lnTo>
                    <a:pt x="39" y="71"/>
                  </a:lnTo>
                  <a:lnTo>
                    <a:pt x="36" y="61"/>
                  </a:lnTo>
                  <a:lnTo>
                    <a:pt x="36" y="55"/>
                  </a:lnTo>
                  <a:lnTo>
                    <a:pt x="29" y="49"/>
                  </a:lnTo>
                  <a:lnTo>
                    <a:pt x="26" y="45"/>
                  </a:lnTo>
                  <a:lnTo>
                    <a:pt x="23" y="39"/>
                  </a:lnTo>
                  <a:lnTo>
                    <a:pt x="20" y="29"/>
                  </a:lnTo>
                  <a:lnTo>
                    <a:pt x="13" y="23"/>
                  </a:lnTo>
                  <a:lnTo>
                    <a:pt x="10" y="13"/>
                  </a:lnTo>
                  <a:lnTo>
                    <a:pt x="7" y="7"/>
                  </a:lnTo>
                  <a:lnTo>
                    <a:pt x="7" y="4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3" name="Freeform 521"/>
            <p:cNvSpPr>
              <a:spLocks/>
            </p:cNvSpPr>
            <p:nvPr/>
          </p:nvSpPr>
          <p:spPr bwMode="auto">
            <a:xfrm>
              <a:off x="4638" y="3394"/>
              <a:ext cx="45" cy="102"/>
            </a:xfrm>
            <a:custGeom>
              <a:avLst/>
              <a:gdLst>
                <a:gd name="T0" fmla="*/ 0 w 45"/>
                <a:gd name="T1" fmla="*/ 3 h 102"/>
                <a:gd name="T2" fmla="*/ 0 w 45"/>
                <a:gd name="T3" fmla="*/ 3 h 102"/>
                <a:gd name="T4" fmla="*/ 0 w 45"/>
                <a:gd name="T5" fmla="*/ 3 h 102"/>
                <a:gd name="T6" fmla="*/ 0 w 45"/>
                <a:gd name="T7" fmla="*/ 6 h 102"/>
                <a:gd name="T8" fmla="*/ 0 w 45"/>
                <a:gd name="T9" fmla="*/ 9 h 102"/>
                <a:gd name="T10" fmla="*/ 3 w 45"/>
                <a:gd name="T11" fmla="*/ 9 h 102"/>
                <a:gd name="T12" fmla="*/ 3 w 45"/>
                <a:gd name="T13" fmla="*/ 16 h 102"/>
                <a:gd name="T14" fmla="*/ 6 w 45"/>
                <a:gd name="T15" fmla="*/ 19 h 102"/>
                <a:gd name="T16" fmla="*/ 10 w 45"/>
                <a:gd name="T17" fmla="*/ 22 h 102"/>
                <a:gd name="T18" fmla="*/ 10 w 45"/>
                <a:gd name="T19" fmla="*/ 25 h 102"/>
                <a:gd name="T20" fmla="*/ 13 w 45"/>
                <a:gd name="T21" fmla="*/ 32 h 102"/>
                <a:gd name="T22" fmla="*/ 16 w 45"/>
                <a:gd name="T23" fmla="*/ 35 h 102"/>
                <a:gd name="T24" fmla="*/ 16 w 45"/>
                <a:gd name="T25" fmla="*/ 38 h 102"/>
                <a:gd name="T26" fmla="*/ 19 w 45"/>
                <a:gd name="T27" fmla="*/ 42 h 102"/>
                <a:gd name="T28" fmla="*/ 22 w 45"/>
                <a:gd name="T29" fmla="*/ 45 h 102"/>
                <a:gd name="T30" fmla="*/ 22 w 45"/>
                <a:gd name="T31" fmla="*/ 48 h 102"/>
                <a:gd name="T32" fmla="*/ 26 w 45"/>
                <a:gd name="T33" fmla="*/ 51 h 102"/>
                <a:gd name="T34" fmla="*/ 29 w 45"/>
                <a:gd name="T35" fmla="*/ 58 h 102"/>
                <a:gd name="T36" fmla="*/ 32 w 45"/>
                <a:gd name="T37" fmla="*/ 64 h 102"/>
                <a:gd name="T38" fmla="*/ 35 w 45"/>
                <a:gd name="T39" fmla="*/ 70 h 102"/>
                <a:gd name="T40" fmla="*/ 38 w 45"/>
                <a:gd name="T41" fmla="*/ 80 h 102"/>
                <a:gd name="T42" fmla="*/ 38 w 45"/>
                <a:gd name="T43" fmla="*/ 86 h 102"/>
                <a:gd name="T44" fmla="*/ 42 w 45"/>
                <a:gd name="T45" fmla="*/ 96 h 102"/>
                <a:gd name="T46" fmla="*/ 42 w 45"/>
                <a:gd name="T47" fmla="*/ 99 h 102"/>
                <a:gd name="T48" fmla="*/ 45 w 45"/>
                <a:gd name="T49" fmla="*/ 102 h 102"/>
                <a:gd name="T50" fmla="*/ 45 w 45"/>
                <a:gd name="T51" fmla="*/ 102 h 102"/>
                <a:gd name="T52" fmla="*/ 42 w 45"/>
                <a:gd name="T53" fmla="*/ 96 h 102"/>
                <a:gd name="T54" fmla="*/ 42 w 45"/>
                <a:gd name="T55" fmla="*/ 90 h 102"/>
                <a:gd name="T56" fmla="*/ 38 w 45"/>
                <a:gd name="T57" fmla="*/ 80 h 102"/>
                <a:gd name="T58" fmla="*/ 38 w 45"/>
                <a:gd name="T59" fmla="*/ 70 h 102"/>
                <a:gd name="T60" fmla="*/ 35 w 45"/>
                <a:gd name="T61" fmla="*/ 64 h 102"/>
                <a:gd name="T62" fmla="*/ 32 w 45"/>
                <a:gd name="T63" fmla="*/ 54 h 102"/>
                <a:gd name="T64" fmla="*/ 29 w 45"/>
                <a:gd name="T65" fmla="*/ 51 h 102"/>
                <a:gd name="T66" fmla="*/ 26 w 45"/>
                <a:gd name="T67" fmla="*/ 48 h 102"/>
                <a:gd name="T68" fmla="*/ 26 w 45"/>
                <a:gd name="T69" fmla="*/ 45 h 102"/>
                <a:gd name="T70" fmla="*/ 22 w 45"/>
                <a:gd name="T71" fmla="*/ 42 h 102"/>
                <a:gd name="T72" fmla="*/ 19 w 45"/>
                <a:gd name="T73" fmla="*/ 38 h 102"/>
                <a:gd name="T74" fmla="*/ 19 w 45"/>
                <a:gd name="T75" fmla="*/ 35 h 102"/>
                <a:gd name="T76" fmla="*/ 16 w 45"/>
                <a:gd name="T77" fmla="*/ 32 h 102"/>
                <a:gd name="T78" fmla="*/ 13 w 45"/>
                <a:gd name="T79" fmla="*/ 25 h 102"/>
                <a:gd name="T80" fmla="*/ 13 w 45"/>
                <a:gd name="T81" fmla="*/ 22 h 102"/>
                <a:gd name="T82" fmla="*/ 10 w 45"/>
                <a:gd name="T83" fmla="*/ 19 h 102"/>
                <a:gd name="T84" fmla="*/ 10 w 45"/>
                <a:gd name="T85" fmla="*/ 16 h 102"/>
                <a:gd name="T86" fmla="*/ 6 w 45"/>
                <a:gd name="T87" fmla="*/ 9 h 102"/>
                <a:gd name="T88" fmla="*/ 6 w 45"/>
                <a:gd name="T89" fmla="*/ 9 h 102"/>
                <a:gd name="T90" fmla="*/ 3 w 45"/>
                <a:gd name="T91" fmla="*/ 6 h 102"/>
                <a:gd name="T92" fmla="*/ 3 w 45"/>
                <a:gd name="T93" fmla="*/ 3 h 102"/>
                <a:gd name="T94" fmla="*/ 3 w 45"/>
                <a:gd name="T95" fmla="*/ 3 h 102"/>
                <a:gd name="T96" fmla="*/ 3 w 45"/>
                <a:gd name="T97" fmla="*/ 3 h 102"/>
                <a:gd name="T98" fmla="*/ 3 w 45"/>
                <a:gd name="T99" fmla="*/ 0 h 102"/>
                <a:gd name="T100" fmla="*/ 0 w 45"/>
                <a:gd name="T101" fmla="*/ 0 h 102"/>
                <a:gd name="T102" fmla="*/ 0 w 45"/>
                <a:gd name="T103" fmla="*/ 0 h 102"/>
                <a:gd name="T104" fmla="*/ 0 w 45"/>
                <a:gd name="T105" fmla="*/ 3 h 102"/>
                <a:gd name="T106" fmla="*/ 0 w 45"/>
                <a:gd name="T107" fmla="*/ 3 h 10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45"/>
                <a:gd name="T163" fmla="*/ 0 h 102"/>
                <a:gd name="T164" fmla="*/ 45 w 45"/>
                <a:gd name="T165" fmla="*/ 102 h 10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45" h="102">
                  <a:moveTo>
                    <a:pt x="0" y="3"/>
                  </a:moveTo>
                  <a:lnTo>
                    <a:pt x="0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16"/>
                  </a:lnTo>
                  <a:lnTo>
                    <a:pt x="6" y="19"/>
                  </a:lnTo>
                  <a:lnTo>
                    <a:pt x="10" y="22"/>
                  </a:lnTo>
                  <a:lnTo>
                    <a:pt x="10" y="25"/>
                  </a:lnTo>
                  <a:lnTo>
                    <a:pt x="13" y="32"/>
                  </a:lnTo>
                  <a:lnTo>
                    <a:pt x="16" y="35"/>
                  </a:lnTo>
                  <a:lnTo>
                    <a:pt x="16" y="38"/>
                  </a:lnTo>
                  <a:lnTo>
                    <a:pt x="19" y="42"/>
                  </a:lnTo>
                  <a:lnTo>
                    <a:pt x="22" y="45"/>
                  </a:lnTo>
                  <a:lnTo>
                    <a:pt x="22" y="48"/>
                  </a:lnTo>
                  <a:lnTo>
                    <a:pt x="26" y="51"/>
                  </a:lnTo>
                  <a:lnTo>
                    <a:pt x="29" y="58"/>
                  </a:lnTo>
                  <a:lnTo>
                    <a:pt x="32" y="64"/>
                  </a:lnTo>
                  <a:lnTo>
                    <a:pt x="35" y="70"/>
                  </a:lnTo>
                  <a:lnTo>
                    <a:pt x="38" y="80"/>
                  </a:lnTo>
                  <a:lnTo>
                    <a:pt x="38" y="86"/>
                  </a:lnTo>
                  <a:lnTo>
                    <a:pt x="42" y="96"/>
                  </a:lnTo>
                  <a:lnTo>
                    <a:pt x="42" y="99"/>
                  </a:lnTo>
                  <a:lnTo>
                    <a:pt x="45" y="102"/>
                  </a:lnTo>
                  <a:lnTo>
                    <a:pt x="42" y="96"/>
                  </a:lnTo>
                  <a:lnTo>
                    <a:pt x="42" y="90"/>
                  </a:lnTo>
                  <a:lnTo>
                    <a:pt x="38" y="80"/>
                  </a:lnTo>
                  <a:lnTo>
                    <a:pt x="38" y="70"/>
                  </a:lnTo>
                  <a:lnTo>
                    <a:pt x="35" y="64"/>
                  </a:lnTo>
                  <a:lnTo>
                    <a:pt x="32" y="54"/>
                  </a:lnTo>
                  <a:lnTo>
                    <a:pt x="29" y="51"/>
                  </a:lnTo>
                  <a:lnTo>
                    <a:pt x="26" y="48"/>
                  </a:lnTo>
                  <a:lnTo>
                    <a:pt x="26" y="45"/>
                  </a:lnTo>
                  <a:lnTo>
                    <a:pt x="22" y="42"/>
                  </a:lnTo>
                  <a:lnTo>
                    <a:pt x="19" y="38"/>
                  </a:lnTo>
                  <a:lnTo>
                    <a:pt x="19" y="35"/>
                  </a:lnTo>
                  <a:lnTo>
                    <a:pt x="16" y="32"/>
                  </a:lnTo>
                  <a:lnTo>
                    <a:pt x="13" y="25"/>
                  </a:lnTo>
                  <a:lnTo>
                    <a:pt x="13" y="22"/>
                  </a:lnTo>
                  <a:lnTo>
                    <a:pt x="10" y="19"/>
                  </a:lnTo>
                  <a:lnTo>
                    <a:pt x="10" y="16"/>
                  </a:lnTo>
                  <a:lnTo>
                    <a:pt x="6" y="9"/>
                  </a:lnTo>
                  <a:lnTo>
                    <a:pt x="3" y="6"/>
                  </a:lnTo>
                  <a:lnTo>
                    <a:pt x="3" y="3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4" name="Freeform 522"/>
            <p:cNvSpPr>
              <a:spLocks/>
            </p:cNvSpPr>
            <p:nvPr/>
          </p:nvSpPr>
          <p:spPr bwMode="auto">
            <a:xfrm>
              <a:off x="4660" y="3387"/>
              <a:ext cx="45" cy="103"/>
            </a:xfrm>
            <a:custGeom>
              <a:avLst/>
              <a:gdLst>
                <a:gd name="T0" fmla="*/ 0 w 45"/>
                <a:gd name="T1" fmla="*/ 0 h 103"/>
                <a:gd name="T2" fmla="*/ 0 w 45"/>
                <a:gd name="T3" fmla="*/ 0 h 103"/>
                <a:gd name="T4" fmla="*/ 0 w 45"/>
                <a:gd name="T5" fmla="*/ 4 h 103"/>
                <a:gd name="T6" fmla="*/ 4 w 45"/>
                <a:gd name="T7" fmla="*/ 4 h 103"/>
                <a:gd name="T8" fmla="*/ 4 w 45"/>
                <a:gd name="T9" fmla="*/ 7 h 103"/>
                <a:gd name="T10" fmla="*/ 4 w 45"/>
                <a:gd name="T11" fmla="*/ 10 h 103"/>
                <a:gd name="T12" fmla="*/ 7 w 45"/>
                <a:gd name="T13" fmla="*/ 13 h 103"/>
                <a:gd name="T14" fmla="*/ 7 w 45"/>
                <a:gd name="T15" fmla="*/ 16 h 103"/>
                <a:gd name="T16" fmla="*/ 10 w 45"/>
                <a:gd name="T17" fmla="*/ 23 h 103"/>
                <a:gd name="T18" fmla="*/ 13 w 45"/>
                <a:gd name="T19" fmla="*/ 26 h 103"/>
                <a:gd name="T20" fmla="*/ 13 w 45"/>
                <a:gd name="T21" fmla="*/ 29 h 103"/>
                <a:gd name="T22" fmla="*/ 16 w 45"/>
                <a:gd name="T23" fmla="*/ 32 h 103"/>
                <a:gd name="T24" fmla="*/ 20 w 45"/>
                <a:gd name="T25" fmla="*/ 39 h 103"/>
                <a:gd name="T26" fmla="*/ 20 w 45"/>
                <a:gd name="T27" fmla="*/ 42 h 103"/>
                <a:gd name="T28" fmla="*/ 23 w 45"/>
                <a:gd name="T29" fmla="*/ 45 h 103"/>
                <a:gd name="T30" fmla="*/ 26 w 45"/>
                <a:gd name="T31" fmla="*/ 49 h 103"/>
                <a:gd name="T32" fmla="*/ 26 w 45"/>
                <a:gd name="T33" fmla="*/ 52 h 103"/>
                <a:gd name="T34" fmla="*/ 29 w 45"/>
                <a:gd name="T35" fmla="*/ 55 h 103"/>
                <a:gd name="T36" fmla="*/ 33 w 45"/>
                <a:gd name="T37" fmla="*/ 61 h 103"/>
                <a:gd name="T38" fmla="*/ 36 w 45"/>
                <a:gd name="T39" fmla="*/ 71 h 103"/>
                <a:gd name="T40" fmla="*/ 39 w 45"/>
                <a:gd name="T41" fmla="*/ 77 h 103"/>
                <a:gd name="T42" fmla="*/ 42 w 45"/>
                <a:gd name="T43" fmla="*/ 87 h 103"/>
                <a:gd name="T44" fmla="*/ 42 w 45"/>
                <a:gd name="T45" fmla="*/ 93 h 103"/>
                <a:gd name="T46" fmla="*/ 45 w 45"/>
                <a:gd name="T47" fmla="*/ 100 h 103"/>
                <a:gd name="T48" fmla="*/ 45 w 45"/>
                <a:gd name="T49" fmla="*/ 103 h 103"/>
                <a:gd name="T50" fmla="*/ 45 w 45"/>
                <a:gd name="T51" fmla="*/ 100 h 103"/>
                <a:gd name="T52" fmla="*/ 45 w 45"/>
                <a:gd name="T53" fmla="*/ 97 h 103"/>
                <a:gd name="T54" fmla="*/ 42 w 45"/>
                <a:gd name="T55" fmla="*/ 87 h 103"/>
                <a:gd name="T56" fmla="*/ 42 w 45"/>
                <a:gd name="T57" fmla="*/ 81 h 103"/>
                <a:gd name="T58" fmla="*/ 39 w 45"/>
                <a:gd name="T59" fmla="*/ 71 h 103"/>
                <a:gd name="T60" fmla="*/ 36 w 45"/>
                <a:gd name="T61" fmla="*/ 61 h 103"/>
                <a:gd name="T62" fmla="*/ 33 w 45"/>
                <a:gd name="T63" fmla="*/ 55 h 103"/>
                <a:gd name="T64" fmla="*/ 29 w 45"/>
                <a:gd name="T65" fmla="*/ 49 h 103"/>
                <a:gd name="T66" fmla="*/ 29 w 45"/>
                <a:gd name="T67" fmla="*/ 49 h 103"/>
                <a:gd name="T68" fmla="*/ 26 w 45"/>
                <a:gd name="T69" fmla="*/ 45 h 103"/>
                <a:gd name="T70" fmla="*/ 23 w 45"/>
                <a:gd name="T71" fmla="*/ 42 h 103"/>
                <a:gd name="T72" fmla="*/ 23 w 45"/>
                <a:gd name="T73" fmla="*/ 39 h 103"/>
                <a:gd name="T74" fmla="*/ 20 w 45"/>
                <a:gd name="T75" fmla="*/ 32 h 103"/>
                <a:gd name="T76" fmla="*/ 16 w 45"/>
                <a:gd name="T77" fmla="*/ 29 h 103"/>
                <a:gd name="T78" fmla="*/ 16 w 45"/>
                <a:gd name="T79" fmla="*/ 26 h 103"/>
                <a:gd name="T80" fmla="*/ 13 w 45"/>
                <a:gd name="T81" fmla="*/ 20 h 103"/>
                <a:gd name="T82" fmla="*/ 13 w 45"/>
                <a:gd name="T83" fmla="*/ 16 h 103"/>
                <a:gd name="T84" fmla="*/ 10 w 45"/>
                <a:gd name="T85" fmla="*/ 13 h 103"/>
                <a:gd name="T86" fmla="*/ 7 w 45"/>
                <a:gd name="T87" fmla="*/ 10 h 103"/>
                <a:gd name="T88" fmla="*/ 7 w 45"/>
                <a:gd name="T89" fmla="*/ 7 h 103"/>
                <a:gd name="T90" fmla="*/ 7 w 45"/>
                <a:gd name="T91" fmla="*/ 4 h 103"/>
                <a:gd name="T92" fmla="*/ 4 w 45"/>
                <a:gd name="T93" fmla="*/ 4 h 103"/>
                <a:gd name="T94" fmla="*/ 4 w 45"/>
                <a:gd name="T95" fmla="*/ 0 h 103"/>
                <a:gd name="T96" fmla="*/ 4 w 45"/>
                <a:gd name="T97" fmla="*/ 0 h 103"/>
                <a:gd name="T98" fmla="*/ 4 w 45"/>
                <a:gd name="T99" fmla="*/ 0 h 103"/>
                <a:gd name="T100" fmla="*/ 4 w 45"/>
                <a:gd name="T101" fmla="*/ 0 h 103"/>
                <a:gd name="T102" fmla="*/ 0 w 45"/>
                <a:gd name="T103" fmla="*/ 0 h 103"/>
                <a:gd name="T104" fmla="*/ 0 w 45"/>
                <a:gd name="T105" fmla="*/ 0 h 103"/>
                <a:gd name="T106" fmla="*/ 0 w 45"/>
                <a:gd name="T107" fmla="*/ 0 h 103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45"/>
                <a:gd name="T163" fmla="*/ 0 h 103"/>
                <a:gd name="T164" fmla="*/ 45 w 45"/>
                <a:gd name="T165" fmla="*/ 103 h 103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45" h="103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4" y="4"/>
                  </a:lnTo>
                  <a:lnTo>
                    <a:pt x="4" y="7"/>
                  </a:lnTo>
                  <a:lnTo>
                    <a:pt x="4" y="10"/>
                  </a:lnTo>
                  <a:lnTo>
                    <a:pt x="7" y="13"/>
                  </a:lnTo>
                  <a:lnTo>
                    <a:pt x="7" y="16"/>
                  </a:lnTo>
                  <a:lnTo>
                    <a:pt x="10" y="23"/>
                  </a:lnTo>
                  <a:lnTo>
                    <a:pt x="13" y="26"/>
                  </a:lnTo>
                  <a:lnTo>
                    <a:pt x="13" y="29"/>
                  </a:lnTo>
                  <a:lnTo>
                    <a:pt x="16" y="32"/>
                  </a:lnTo>
                  <a:lnTo>
                    <a:pt x="20" y="39"/>
                  </a:lnTo>
                  <a:lnTo>
                    <a:pt x="20" y="42"/>
                  </a:lnTo>
                  <a:lnTo>
                    <a:pt x="23" y="45"/>
                  </a:lnTo>
                  <a:lnTo>
                    <a:pt x="26" y="49"/>
                  </a:lnTo>
                  <a:lnTo>
                    <a:pt x="26" y="52"/>
                  </a:lnTo>
                  <a:lnTo>
                    <a:pt x="29" y="55"/>
                  </a:lnTo>
                  <a:lnTo>
                    <a:pt x="33" y="61"/>
                  </a:lnTo>
                  <a:lnTo>
                    <a:pt x="36" y="71"/>
                  </a:lnTo>
                  <a:lnTo>
                    <a:pt x="39" y="77"/>
                  </a:lnTo>
                  <a:lnTo>
                    <a:pt x="42" y="87"/>
                  </a:lnTo>
                  <a:lnTo>
                    <a:pt x="42" y="93"/>
                  </a:lnTo>
                  <a:lnTo>
                    <a:pt x="45" y="100"/>
                  </a:lnTo>
                  <a:lnTo>
                    <a:pt x="45" y="103"/>
                  </a:lnTo>
                  <a:lnTo>
                    <a:pt x="45" y="100"/>
                  </a:lnTo>
                  <a:lnTo>
                    <a:pt x="45" y="97"/>
                  </a:lnTo>
                  <a:lnTo>
                    <a:pt x="42" y="87"/>
                  </a:lnTo>
                  <a:lnTo>
                    <a:pt x="42" y="81"/>
                  </a:lnTo>
                  <a:lnTo>
                    <a:pt x="39" y="71"/>
                  </a:lnTo>
                  <a:lnTo>
                    <a:pt x="36" y="61"/>
                  </a:lnTo>
                  <a:lnTo>
                    <a:pt x="33" y="55"/>
                  </a:lnTo>
                  <a:lnTo>
                    <a:pt x="29" y="49"/>
                  </a:lnTo>
                  <a:lnTo>
                    <a:pt x="26" y="45"/>
                  </a:lnTo>
                  <a:lnTo>
                    <a:pt x="23" y="42"/>
                  </a:lnTo>
                  <a:lnTo>
                    <a:pt x="23" y="39"/>
                  </a:lnTo>
                  <a:lnTo>
                    <a:pt x="20" y="32"/>
                  </a:lnTo>
                  <a:lnTo>
                    <a:pt x="16" y="29"/>
                  </a:lnTo>
                  <a:lnTo>
                    <a:pt x="16" y="26"/>
                  </a:lnTo>
                  <a:lnTo>
                    <a:pt x="13" y="20"/>
                  </a:lnTo>
                  <a:lnTo>
                    <a:pt x="13" y="16"/>
                  </a:lnTo>
                  <a:lnTo>
                    <a:pt x="10" y="13"/>
                  </a:lnTo>
                  <a:lnTo>
                    <a:pt x="7" y="10"/>
                  </a:lnTo>
                  <a:lnTo>
                    <a:pt x="7" y="7"/>
                  </a:lnTo>
                  <a:lnTo>
                    <a:pt x="7" y="4"/>
                  </a:lnTo>
                  <a:lnTo>
                    <a:pt x="4" y="4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5" name="Freeform 523"/>
            <p:cNvSpPr>
              <a:spLocks/>
            </p:cNvSpPr>
            <p:nvPr/>
          </p:nvSpPr>
          <p:spPr bwMode="auto">
            <a:xfrm>
              <a:off x="4683" y="3378"/>
              <a:ext cx="45" cy="102"/>
            </a:xfrm>
            <a:custGeom>
              <a:avLst/>
              <a:gdLst>
                <a:gd name="T0" fmla="*/ 0 w 45"/>
                <a:gd name="T1" fmla="*/ 0 h 102"/>
                <a:gd name="T2" fmla="*/ 0 w 45"/>
                <a:gd name="T3" fmla="*/ 3 h 102"/>
                <a:gd name="T4" fmla="*/ 3 w 45"/>
                <a:gd name="T5" fmla="*/ 3 h 102"/>
                <a:gd name="T6" fmla="*/ 3 w 45"/>
                <a:gd name="T7" fmla="*/ 6 h 102"/>
                <a:gd name="T8" fmla="*/ 3 w 45"/>
                <a:gd name="T9" fmla="*/ 6 h 102"/>
                <a:gd name="T10" fmla="*/ 6 w 45"/>
                <a:gd name="T11" fmla="*/ 9 h 102"/>
                <a:gd name="T12" fmla="*/ 6 w 45"/>
                <a:gd name="T13" fmla="*/ 16 h 102"/>
                <a:gd name="T14" fmla="*/ 10 w 45"/>
                <a:gd name="T15" fmla="*/ 19 h 102"/>
                <a:gd name="T16" fmla="*/ 10 w 45"/>
                <a:gd name="T17" fmla="*/ 22 h 102"/>
                <a:gd name="T18" fmla="*/ 13 w 45"/>
                <a:gd name="T19" fmla="*/ 25 h 102"/>
                <a:gd name="T20" fmla="*/ 16 w 45"/>
                <a:gd name="T21" fmla="*/ 32 h 102"/>
                <a:gd name="T22" fmla="*/ 16 w 45"/>
                <a:gd name="T23" fmla="*/ 35 h 102"/>
                <a:gd name="T24" fmla="*/ 19 w 45"/>
                <a:gd name="T25" fmla="*/ 38 h 102"/>
                <a:gd name="T26" fmla="*/ 22 w 45"/>
                <a:gd name="T27" fmla="*/ 41 h 102"/>
                <a:gd name="T28" fmla="*/ 22 w 45"/>
                <a:gd name="T29" fmla="*/ 45 h 102"/>
                <a:gd name="T30" fmla="*/ 26 w 45"/>
                <a:gd name="T31" fmla="*/ 48 h 102"/>
                <a:gd name="T32" fmla="*/ 29 w 45"/>
                <a:gd name="T33" fmla="*/ 51 h 102"/>
                <a:gd name="T34" fmla="*/ 32 w 45"/>
                <a:gd name="T35" fmla="*/ 58 h 102"/>
                <a:gd name="T36" fmla="*/ 35 w 45"/>
                <a:gd name="T37" fmla="*/ 64 h 102"/>
                <a:gd name="T38" fmla="*/ 38 w 45"/>
                <a:gd name="T39" fmla="*/ 70 h 102"/>
                <a:gd name="T40" fmla="*/ 42 w 45"/>
                <a:gd name="T41" fmla="*/ 80 h 102"/>
                <a:gd name="T42" fmla="*/ 42 w 45"/>
                <a:gd name="T43" fmla="*/ 86 h 102"/>
                <a:gd name="T44" fmla="*/ 45 w 45"/>
                <a:gd name="T45" fmla="*/ 96 h 102"/>
                <a:gd name="T46" fmla="*/ 45 w 45"/>
                <a:gd name="T47" fmla="*/ 99 h 102"/>
                <a:gd name="T48" fmla="*/ 45 w 45"/>
                <a:gd name="T49" fmla="*/ 102 h 102"/>
                <a:gd name="T50" fmla="*/ 45 w 45"/>
                <a:gd name="T51" fmla="*/ 102 h 102"/>
                <a:gd name="T52" fmla="*/ 45 w 45"/>
                <a:gd name="T53" fmla="*/ 96 h 102"/>
                <a:gd name="T54" fmla="*/ 45 w 45"/>
                <a:gd name="T55" fmla="*/ 90 h 102"/>
                <a:gd name="T56" fmla="*/ 42 w 45"/>
                <a:gd name="T57" fmla="*/ 80 h 102"/>
                <a:gd name="T58" fmla="*/ 42 w 45"/>
                <a:gd name="T59" fmla="*/ 74 h 102"/>
                <a:gd name="T60" fmla="*/ 38 w 45"/>
                <a:gd name="T61" fmla="*/ 64 h 102"/>
                <a:gd name="T62" fmla="*/ 35 w 45"/>
                <a:gd name="T63" fmla="*/ 58 h 102"/>
                <a:gd name="T64" fmla="*/ 32 w 45"/>
                <a:gd name="T65" fmla="*/ 51 h 102"/>
                <a:gd name="T66" fmla="*/ 29 w 45"/>
                <a:gd name="T67" fmla="*/ 48 h 102"/>
                <a:gd name="T68" fmla="*/ 29 w 45"/>
                <a:gd name="T69" fmla="*/ 45 h 102"/>
                <a:gd name="T70" fmla="*/ 26 w 45"/>
                <a:gd name="T71" fmla="*/ 41 h 102"/>
                <a:gd name="T72" fmla="*/ 22 w 45"/>
                <a:gd name="T73" fmla="*/ 38 h 102"/>
                <a:gd name="T74" fmla="*/ 22 w 45"/>
                <a:gd name="T75" fmla="*/ 35 h 102"/>
                <a:gd name="T76" fmla="*/ 19 w 45"/>
                <a:gd name="T77" fmla="*/ 29 h 102"/>
                <a:gd name="T78" fmla="*/ 16 w 45"/>
                <a:gd name="T79" fmla="*/ 25 h 102"/>
                <a:gd name="T80" fmla="*/ 16 w 45"/>
                <a:gd name="T81" fmla="*/ 22 h 102"/>
                <a:gd name="T82" fmla="*/ 13 w 45"/>
                <a:gd name="T83" fmla="*/ 19 h 102"/>
                <a:gd name="T84" fmla="*/ 10 w 45"/>
                <a:gd name="T85" fmla="*/ 13 h 102"/>
                <a:gd name="T86" fmla="*/ 10 w 45"/>
                <a:gd name="T87" fmla="*/ 9 h 102"/>
                <a:gd name="T88" fmla="*/ 10 w 45"/>
                <a:gd name="T89" fmla="*/ 6 h 102"/>
                <a:gd name="T90" fmla="*/ 6 w 45"/>
                <a:gd name="T91" fmla="*/ 6 h 102"/>
                <a:gd name="T92" fmla="*/ 6 w 45"/>
                <a:gd name="T93" fmla="*/ 3 h 102"/>
                <a:gd name="T94" fmla="*/ 6 w 45"/>
                <a:gd name="T95" fmla="*/ 3 h 102"/>
                <a:gd name="T96" fmla="*/ 6 w 45"/>
                <a:gd name="T97" fmla="*/ 3 h 102"/>
                <a:gd name="T98" fmla="*/ 6 w 45"/>
                <a:gd name="T99" fmla="*/ 0 h 102"/>
                <a:gd name="T100" fmla="*/ 3 w 45"/>
                <a:gd name="T101" fmla="*/ 0 h 102"/>
                <a:gd name="T102" fmla="*/ 3 w 45"/>
                <a:gd name="T103" fmla="*/ 0 h 102"/>
                <a:gd name="T104" fmla="*/ 0 w 45"/>
                <a:gd name="T105" fmla="*/ 0 h 102"/>
                <a:gd name="T106" fmla="*/ 0 w 45"/>
                <a:gd name="T107" fmla="*/ 0 h 10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45"/>
                <a:gd name="T163" fmla="*/ 0 h 102"/>
                <a:gd name="T164" fmla="*/ 45 w 45"/>
                <a:gd name="T165" fmla="*/ 102 h 10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45" h="102">
                  <a:moveTo>
                    <a:pt x="0" y="0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6" y="16"/>
                  </a:lnTo>
                  <a:lnTo>
                    <a:pt x="10" y="19"/>
                  </a:lnTo>
                  <a:lnTo>
                    <a:pt x="10" y="22"/>
                  </a:lnTo>
                  <a:lnTo>
                    <a:pt x="13" y="25"/>
                  </a:lnTo>
                  <a:lnTo>
                    <a:pt x="16" y="32"/>
                  </a:lnTo>
                  <a:lnTo>
                    <a:pt x="16" y="35"/>
                  </a:lnTo>
                  <a:lnTo>
                    <a:pt x="19" y="38"/>
                  </a:lnTo>
                  <a:lnTo>
                    <a:pt x="22" y="41"/>
                  </a:lnTo>
                  <a:lnTo>
                    <a:pt x="22" y="45"/>
                  </a:lnTo>
                  <a:lnTo>
                    <a:pt x="26" y="48"/>
                  </a:lnTo>
                  <a:lnTo>
                    <a:pt x="29" y="51"/>
                  </a:lnTo>
                  <a:lnTo>
                    <a:pt x="32" y="58"/>
                  </a:lnTo>
                  <a:lnTo>
                    <a:pt x="35" y="64"/>
                  </a:lnTo>
                  <a:lnTo>
                    <a:pt x="38" y="70"/>
                  </a:lnTo>
                  <a:lnTo>
                    <a:pt x="42" y="80"/>
                  </a:lnTo>
                  <a:lnTo>
                    <a:pt x="42" y="86"/>
                  </a:lnTo>
                  <a:lnTo>
                    <a:pt x="45" y="96"/>
                  </a:lnTo>
                  <a:lnTo>
                    <a:pt x="45" y="99"/>
                  </a:lnTo>
                  <a:lnTo>
                    <a:pt x="45" y="102"/>
                  </a:lnTo>
                  <a:lnTo>
                    <a:pt x="45" y="96"/>
                  </a:lnTo>
                  <a:lnTo>
                    <a:pt x="45" y="90"/>
                  </a:lnTo>
                  <a:lnTo>
                    <a:pt x="42" y="80"/>
                  </a:lnTo>
                  <a:lnTo>
                    <a:pt x="42" y="74"/>
                  </a:lnTo>
                  <a:lnTo>
                    <a:pt x="38" y="64"/>
                  </a:lnTo>
                  <a:lnTo>
                    <a:pt x="35" y="58"/>
                  </a:lnTo>
                  <a:lnTo>
                    <a:pt x="32" y="51"/>
                  </a:lnTo>
                  <a:lnTo>
                    <a:pt x="29" y="48"/>
                  </a:lnTo>
                  <a:lnTo>
                    <a:pt x="29" y="45"/>
                  </a:lnTo>
                  <a:lnTo>
                    <a:pt x="26" y="41"/>
                  </a:lnTo>
                  <a:lnTo>
                    <a:pt x="22" y="38"/>
                  </a:lnTo>
                  <a:lnTo>
                    <a:pt x="22" y="35"/>
                  </a:lnTo>
                  <a:lnTo>
                    <a:pt x="19" y="29"/>
                  </a:lnTo>
                  <a:lnTo>
                    <a:pt x="16" y="25"/>
                  </a:lnTo>
                  <a:lnTo>
                    <a:pt x="16" y="22"/>
                  </a:lnTo>
                  <a:lnTo>
                    <a:pt x="13" y="19"/>
                  </a:lnTo>
                  <a:lnTo>
                    <a:pt x="10" y="13"/>
                  </a:lnTo>
                  <a:lnTo>
                    <a:pt x="10" y="9"/>
                  </a:lnTo>
                  <a:lnTo>
                    <a:pt x="10" y="6"/>
                  </a:lnTo>
                  <a:lnTo>
                    <a:pt x="6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6" name="Freeform 524"/>
            <p:cNvSpPr>
              <a:spLocks/>
            </p:cNvSpPr>
            <p:nvPr/>
          </p:nvSpPr>
          <p:spPr bwMode="auto">
            <a:xfrm>
              <a:off x="4590" y="3410"/>
              <a:ext cx="45" cy="103"/>
            </a:xfrm>
            <a:custGeom>
              <a:avLst/>
              <a:gdLst>
                <a:gd name="T0" fmla="*/ 0 w 45"/>
                <a:gd name="T1" fmla="*/ 3 h 103"/>
                <a:gd name="T2" fmla="*/ 0 w 45"/>
                <a:gd name="T3" fmla="*/ 3 h 103"/>
                <a:gd name="T4" fmla="*/ 0 w 45"/>
                <a:gd name="T5" fmla="*/ 3 h 103"/>
                <a:gd name="T6" fmla="*/ 0 w 45"/>
                <a:gd name="T7" fmla="*/ 6 h 103"/>
                <a:gd name="T8" fmla="*/ 3 w 45"/>
                <a:gd name="T9" fmla="*/ 9 h 103"/>
                <a:gd name="T10" fmla="*/ 3 w 45"/>
                <a:gd name="T11" fmla="*/ 13 h 103"/>
                <a:gd name="T12" fmla="*/ 6 w 45"/>
                <a:gd name="T13" fmla="*/ 16 h 103"/>
                <a:gd name="T14" fmla="*/ 6 w 45"/>
                <a:gd name="T15" fmla="*/ 19 h 103"/>
                <a:gd name="T16" fmla="*/ 9 w 45"/>
                <a:gd name="T17" fmla="*/ 22 h 103"/>
                <a:gd name="T18" fmla="*/ 13 w 45"/>
                <a:gd name="T19" fmla="*/ 29 h 103"/>
                <a:gd name="T20" fmla="*/ 13 w 45"/>
                <a:gd name="T21" fmla="*/ 32 h 103"/>
                <a:gd name="T22" fmla="*/ 16 w 45"/>
                <a:gd name="T23" fmla="*/ 35 h 103"/>
                <a:gd name="T24" fmla="*/ 19 w 45"/>
                <a:gd name="T25" fmla="*/ 38 h 103"/>
                <a:gd name="T26" fmla="*/ 19 w 45"/>
                <a:gd name="T27" fmla="*/ 45 h 103"/>
                <a:gd name="T28" fmla="*/ 22 w 45"/>
                <a:gd name="T29" fmla="*/ 48 h 103"/>
                <a:gd name="T30" fmla="*/ 26 w 45"/>
                <a:gd name="T31" fmla="*/ 51 h 103"/>
                <a:gd name="T32" fmla="*/ 26 w 45"/>
                <a:gd name="T33" fmla="*/ 51 h 103"/>
                <a:gd name="T34" fmla="*/ 29 w 45"/>
                <a:gd name="T35" fmla="*/ 58 h 103"/>
                <a:gd name="T36" fmla="*/ 32 w 45"/>
                <a:gd name="T37" fmla="*/ 64 h 103"/>
                <a:gd name="T38" fmla="*/ 35 w 45"/>
                <a:gd name="T39" fmla="*/ 74 h 103"/>
                <a:gd name="T40" fmla="*/ 38 w 45"/>
                <a:gd name="T41" fmla="*/ 80 h 103"/>
                <a:gd name="T42" fmla="*/ 42 w 45"/>
                <a:gd name="T43" fmla="*/ 90 h 103"/>
                <a:gd name="T44" fmla="*/ 42 w 45"/>
                <a:gd name="T45" fmla="*/ 96 h 103"/>
                <a:gd name="T46" fmla="*/ 45 w 45"/>
                <a:gd name="T47" fmla="*/ 99 h 103"/>
                <a:gd name="T48" fmla="*/ 45 w 45"/>
                <a:gd name="T49" fmla="*/ 103 h 103"/>
                <a:gd name="T50" fmla="*/ 45 w 45"/>
                <a:gd name="T51" fmla="*/ 103 h 103"/>
                <a:gd name="T52" fmla="*/ 45 w 45"/>
                <a:gd name="T53" fmla="*/ 96 h 103"/>
                <a:gd name="T54" fmla="*/ 42 w 45"/>
                <a:gd name="T55" fmla="*/ 90 h 103"/>
                <a:gd name="T56" fmla="*/ 42 w 45"/>
                <a:gd name="T57" fmla="*/ 80 h 103"/>
                <a:gd name="T58" fmla="*/ 38 w 45"/>
                <a:gd name="T59" fmla="*/ 70 h 103"/>
                <a:gd name="T60" fmla="*/ 35 w 45"/>
                <a:gd name="T61" fmla="*/ 64 h 103"/>
                <a:gd name="T62" fmla="*/ 32 w 45"/>
                <a:gd name="T63" fmla="*/ 54 h 103"/>
                <a:gd name="T64" fmla="*/ 29 w 45"/>
                <a:gd name="T65" fmla="*/ 51 h 103"/>
                <a:gd name="T66" fmla="*/ 29 w 45"/>
                <a:gd name="T67" fmla="*/ 48 h 103"/>
                <a:gd name="T68" fmla="*/ 26 w 45"/>
                <a:gd name="T69" fmla="*/ 45 h 103"/>
                <a:gd name="T70" fmla="*/ 22 w 45"/>
                <a:gd name="T71" fmla="*/ 42 h 103"/>
                <a:gd name="T72" fmla="*/ 22 w 45"/>
                <a:gd name="T73" fmla="*/ 38 h 103"/>
                <a:gd name="T74" fmla="*/ 19 w 45"/>
                <a:gd name="T75" fmla="*/ 35 h 103"/>
                <a:gd name="T76" fmla="*/ 16 w 45"/>
                <a:gd name="T77" fmla="*/ 32 h 103"/>
                <a:gd name="T78" fmla="*/ 16 w 45"/>
                <a:gd name="T79" fmla="*/ 26 h 103"/>
                <a:gd name="T80" fmla="*/ 13 w 45"/>
                <a:gd name="T81" fmla="*/ 22 h 103"/>
                <a:gd name="T82" fmla="*/ 9 w 45"/>
                <a:gd name="T83" fmla="*/ 19 h 103"/>
                <a:gd name="T84" fmla="*/ 9 w 45"/>
                <a:gd name="T85" fmla="*/ 16 h 103"/>
                <a:gd name="T86" fmla="*/ 6 w 45"/>
                <a:gd name="T87" fmla="*/ 13 h 103"/>
                <a:gd name="T88" fmla="*/ 6 w 45"/>
                <a:gd name="T89" fmla="*/ 9 h 103"/>
                <a:gd name="T90" fmla="*/ 6 w 45"/>
                <a:gd name="T91" fmla="*/ 6 h 103"/>
                <a:gd name="T92" fmla="*/ 3 w 45"/>
                <a:gd name="T93" fmla="*/ 3 h 103"/>
                <a:gd name="T94" fmla="*/ 3 w 45"/>
                <a:gd name="T95" fmla="*/ 3 h 103"/>
                <a:gd name="T96" fmla="*/ 3 w 45"/>
                <a:gd name="T97" fmla="*/ 3 h 103"/>
                <a:gd name="T98" fmla="*/ 3 w 45"/>
                <a:gd name="T99" fmla="*/ 3 h 103"/>
                <a:gd name="T100" fmla="*/ 3 w 45"/>
                <a:gd name="T101" fmla="*/ 0 h 103"/>
                <a:gd name="T102" fmla="*/ 0 w 45"/>
                <a:gd name="T103" fmla="*/ 0 h 103"/>
                <a:gd name="T104" fmla="*/ 0 w 45"/>
                <a:gd name="T105" fmla="*/ 3 h 103"/>
                <a:gd name="T106" fmla="*/ 0 w 45"/>
                <a:gd name="T107" fmla="*/ 3 h 103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45"/>
                <a:gd name="T163" fmla="*/ 0 h 103"/>
                <a:gd name="T164" fmla="*/ 45 w 45"/>
                <a:gd name="T165" fmla="*/ 103 h 103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45" h="103">
                  <a:moveTo>
                    <a:pt x="0" y="3"/>
                  </a:moveTo>
                  <a:lnTo>
                    <a:pt x="0" y="3"/>
                  </a:lnTo>
                  <a:lnTo>
                    <a:pt x="0" y="6"/>
                  </a:lnTo>
                  <a:lnTo>
                    <a:pt x="3" y="9"/>
                  </a:lnTo>
                  <a:lnTo>
                    <a:pt x="3" y="13"/>
                  </a:lnTo>
                  <a:lnTo>
                    <a:pt x="6" y="16"/>
                  </a:lnTo>
                  <a:lnTo>
                    <a:pt x="6" y="19"/>
                  </a:lnTo>
                  <a:lnTo>
                    <a:pt x="9" y="22"/>
                  </a:lnTo>
                  <a:lnTo>
                    <a:pt x="13" y="29"/>
                  </a:lnTo>
                  <a:lnTo>
                    <a:pt x="13" y="32"/>
                  </a:lnTo>
                  <a:lnTo>
                    <a:pt x="16" y="35"/>
                  </a:lnTo>
                  <a:lnTo>
                    <a:pt x="19" y="38"/>
                  </a:lnTo>
                  <a:lnTo>
                    <a:pt x="19" y="45"/>
                  </a:lnTo>
                  <a:lnTo>
                    <a:pt x="22" y="48"/>
                  </a:lnTo>
                  <a:lnTo>
                    <a:pt x="26" y="51"/>
                  </a:lnTo>
                  <a:lnTo>
                    <a:pt x="29" y="58"/>
                  </a:lnTo>
                  <a:lnTo>
                    <a:pt x="32" y="64"/>
                  </a:lnTo>
                  <a:lnTo>
                    <a:pt x="35" y="74"/>
                  </a:lnTo>
                  <a:lnTo>
                    <a:pt x="38" y="80"/>
                  </a:lnTo>
                  <a:lnTo>
                    <a:pt x="42" y="90"/>
                  </a:lnTo>
                  <a:lnTo>
                    <a:pt x="42" y="96"/>
                  </a:lnTo>
                  <a:lnTo>
                    <a:pt x="45" y="99"/>
                  </a:lnTo>
                  <a:lnTo>
                    <a:pt x="45" y="103"/>
                  </a:lnTo>
                  <a:lnTo>
                    <a:pt x="45" y="96"/>
                  </a:lnTo>
                  <a:lnTo>
                    <a:pt x="42" y="90"/>
                  </a:lnTo>
                  <a:lnTo>
                    <a:pt x="42" y="80"/>
                  </a:lnTo>
                  <a:lnTo>
                    <a:pt x="38" y="70"/>
                  </a:lnTo>
                  <a:lnTo>
                    <a:pt x="35" y="64"/>
                  </a:lnTo>
                  <a:lnTo>
                    <a:pt x="32" y="54"/>
                  </a:lnTo>
                  <a:lnTo>
                    <a:pt x="29" y="51"/>
                  </a:lnTo>
                  <a:lnTo>
                    <a:pt x="29" y="48"/>
                  </a:lnTo>
                  <a:lnTo>
                    <a:pt x="26" y="45"/>
                  </a:lnTo>
                  <a:lnTo>
                    <a:pt x="22" y="42"/>
                  </a:lnTo>
                  <a:lnTo>
                    <a:pt x="22" y="38"/>
                  </a:lnTo>
                  <a:lnTo>
                    <a:pt x="19" y="35"/>
                  </a:lnTo>
                  <a:lnTo>
                    <a:pt x="16" y="32"/>
                  </a:lnTo>
                  <a:lnTo>
                    <a:pt x="16" y="26"/>
                  </a:lnTo>
                  <a:lnTo>
                    <a:pt x="13" y="22"/>
                  </a:lnTo>
                  <a:lnTo>
                    <a:pt x="9" y="19"/>
                  </a:lnTo>
                  <a:lnTo>
                    <a:pt x="9" y="16"/>
                  </a:lnTo>
                  <a:lnTo>
                    <a:pt x="6" y="13"/>
                  </a:lnTo>
                  <a:lnTo>
                    <a:pt x="6" y="9"/>
                  </a:lnTo>
                  <a:lnTo>
                    <a:pt x="6" y="6"/>
                  </a:lnTo>
                  <a:lnTo>
                    <a:pt x="3" y="3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7" name="Freeform 525"/>
            <p:cNvSpPr>
              <a:spLocks/>
            </p:cNvSpPr>
            <p:nvPr/>
          </p:nvSpPr>
          <p:spPr bwMode="auto">
            <a:xfrm>
              <a:off x="4510" y="3413"/>
              <a:ext cx="45" cy="61"/>
            </a:xfrm>
            <a:custGeom>
              <a:avLst/>
              <a:gdLst>
                <a:gd name="T0" fmla="*/ 35 w 45"/>
                <a:gd name="T1" fmla="*/ 0 h 61"/>
                <a:gd name="T2" fmla="*/ 35 w 45"/>
                <a:gd name="T3" fmla="*/ 3 h 61"/>
                <a:gd name="T4" fmla="*/ 35 w 45"/>
                <a:gd name="T5" fmla="*/ 10 h 61"/>
                <a:gd name="T6" fmla="*/ 35 w 45"/>
                <a:gd name="T7" fmla="*/ 16 h 61"/>
                <a:gd name="T8" fmla="*/ 32 w 45"/>
                <a:gd name="T9" fmla="*/ 26 h 61"/>
                <a:gd name="T10" fmla="*/ 28 w 45"/>
                <a:gd name="T11" fmla="*/ 39 h 61"/>
                <a:gd name="T12" fmla="*/ 19 w 45"/>
                <a:gd name="T13" fmla="*/ 48 h 61"/>
                <a:gd name="T14" fmla="*/ 6 w 45"/>
                <a:gd name="T15" fmla="*/ 55 h 61"/>
                <a:gd name="T16" fmla="*/ 0 w 45"/>
                <a:gd name="T17" fmla="*/ 61 h 61"/>
                <a:gd name="T18" fmla="*/ 3 w 45"/>
                <a:gd name="T19" fmla="*/ 61 h 61"/>
                <a:gd name="T20" fmla="*/ 6 w 45"/>
                <a:gd name="T21" fmla="*/ 61 h 61"/>
                <a:gd name="T22" fmla="*/ 12 w 45"/>
                <a:gd name="T23" fmla="*/ 58 h 61"/>
                <a:gd name="T24" fmla="*/ 19 w 45"/>
                <a:gd name="T25" fmla="*/ 58 h 61"/>
                <a:gd name="T26" fmla="*/ 28 w 45"/>
                <a:gd name="T27" fmla="*/ 58 h 61"/>
                <a:gd name="T28" fmla="*/ 35 w 45"/>
                <a:gd name="T29" fmla="*/ 58 h 61"/>
                <a:gd name="T30" fmla="*/ 41 w 45"/>
                <a:gd name="T31" fmla="*/ 55 h 61"/>
                <a:gd name="T32" fmla="*/ 45 w 45"/>
                <a:gd name="T33" fmla="*/ 55 h 61"/>
                <a:gd name="T34" fmla="*/ 45 w 45"/>
                <a:gd name="T35" fmla="*/ 55 h 61"/>
                <a:gd name="T36" fmla="*/ 41 w 45"/>
                <a:gd name="T37" fmla="*/ 55 h 61"/>
                <a:gd name="T38" fmla="*/ 35 w 45"/>
                <a:gd name="T39" fmla="*/ 55 h 61"/>
                <a:gd name="T40" fmla="*/ 32 w 45"/>
                <a:gd name="T41" fmla="*/ 55 h 61"/>
                <a:gd name="T42" fmla="*/ 28 w 45"/>
                <a:gd name="T43" fmla="*/ 55 h 61"/>
                <a:gd name="T44" fmla="*/ 22 w 45"/>
                <a:gd name="T45" fmla="*/ 55 h 61"/>
                <a:gd name="T46" fmla="*/ 19 w 45"/>
                <a:gd name="T47" fmla="*/ 55 h 61"/>
                <a:gd name="T48" fmla="*/ 19 w 45"/>
                <a:gd name="T49" fmla="*/ 55 h 61"/>
                <a:gd name="T50" fmla="*/ 19 w 45"/>
                <a:gd name="T51" fmla="*/ 55 h 61"/>
                <a:gd name="T52" fmla="*/ 22 w 45"/>
                <a:gd name="T53" fmla="*/ 51 h 61"/>
                <a:gd name="T54" fmla="*/ 25 w 45"/>
                <a:gd name="T55" fmla="*/ 48 h 61"/>
                <a:gd name="T56" fmla="*/ 32 w 45"/>
                <a:gd name="T57" fmla="*/ 42 h 61"/>
                <a:gd name="T58" fmla="*/ 35 w 45"/>
                <a:gd name="T59" fmla="*/ 32 h 61"/>
                <a:gd name="T60" fmla="*/ 38 w 45"/>
                <a:gd name="T61" fmla="*/ 23 h 61"/>
                <a:gd name="T62" fmla="*/ 38 w 45"/>
                <a:gd name="T63" fmla="*/ 6 h 61"/>
                <a:gd name="T64" fmla="*/ 35 w 45"/>
                <a:gd name="T65" fmla="*/ 0 h 6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5"/>
                <a:gd name="T100" fmla="*/ 0 h 61"/>
                <a:gd name="T101" fmla="*/ 45 w 45"/>
                <a:gd name="T102" fmla="*/ 61 h 6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5" h="61">
                  <a:moveTo>
                    <a:pt x="35" y="0"/>
                  </a:moveTo>
                  <a:lnTo>
                    <a:pt x="35" y="0"/>
                  </a:lnTo>
                  <a:lnTo>
                    <a:pt x="35" y="3"/>
                  </a:lnTo>
                  <a:lnTo>
                    <a:pt x="35" y="6"/>
                  </a:lnTo>
                  <a:lnTo>
                    <a:pt x="35" y="10"/>
                  </a:lnTo>
                  <a:lnTo>
                    <a:pt x="35" y="13"/>
                  </a:lnTo>
                  <a:lnTo>
                    <a:pt x="35" y="16"/>
                  </a:lnTo>
                  <a:lnTo>
                    <a:pt x="35" y="23"/>
                  </a:lnTo>
                  <a:lnTo>
                    <a:pt x="32" y="26"/>
                  </a:lnTo>
                  <a:lnTo>
                    <a:pt x="28" y="32"/>
                  </a:lnTo>
                  <a:lnTo>
                    <a:pt x="28" y="39"/>
                  </a:lnTo>
                  <a:lnTo>
                    <a:pt x="22" y="42"/>
                  </a:lnTo>
                  <a:lnTo>
                    <a:pt x="19" y="48"/>
                  </a:lnTo>
                  <a:lnTo>
                    <a:pt x="12" y="51"/>
                  </a:lnTo>
                  <a:lnTo>
                    <a:pt x="6" y="55"/>
                  </a:lnTo>
                  <a:lnTo>
                    <a:pt x="0" y="61"/>
                  </a:lnTo>
                  <a:lnTo>
                    <a:pt x="3" y="61"/>
                  </a:lnTo>
                  <a:lnTo>
                    <a:pt x="6" y="61"/>
                  </a:lnTo>
                  <a:lnTo>
                    <a:pt x="9" y="61"/>
                  </a:lnTo>
                  <a:lnTo>
                    <a:pt x="12" y="58"/>
                  </a:lnTo>
                  <a:lnTo>
                    <a:pt x="16" y="58"/>
                  </a:lnTo>
                  <a:lnTo>
                    <a:pt x="19" y="58"/>
                  </a:lnTo>
                  <a:lnTo>
                    <a:pt x="22" y="58"/>
                  </a:lnTo>
                  <a:lnTo>
                    <a:pt x="28" y="58"/>
                  </a:lnTo>
                  <a:lnTo>
                    <a:pt x="32" y="58"/>
                  </a:lnTo>
                  <a:lnTo>
                    <a:pt x="35" y="58"/>
                  </a:lnTo>
                  <a:lnTo>
                    <a:pt x="38" y="58"/>
                  </a:lnTo>
                  <a:lnTo>
                    <a:pt x="41" y="55"/>
                  </a:lnTo>
                  <a:lnTo>
                    <a:pt x="45" y="55"/>
                  </a:lnTo>
                  <a:lnTo>
                    <a:pt x="41" y="55"/>
                  </a:lnTo>
                  <a:lnTo>
                    <a:pt x="38" y="55"/>
                  </a:lnTo>
                  <a:lnTo>
                    <a:pt x="35" y="55"/>
                  </a:lnTo>
                  <a:lnTo>
                    <a:pt x="32" y="55"/>
                  </a:lnTo>
                  <a:lnTo>
                    <a:pt x="28" y="55"/>
                  </a:lnTo>
                  <a:lnTo>
                    <a:pt x="25" y="55"/>
                  </a:lnTo>
                  <a:lnTo>
                    <a:pt x="22" y="55"/>
                  </a:lnTo>
                  <a:lnTo>
                    <a:pt x="19" y="55"/>
                  </a:lnTo>
                  <a:lnTo>
                    <a:pt x="19" y="51"/>
                  </a:lnTo>
                  <a:lnTo>
                    <a:pt x="22" y="51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8" y="45"/>
                  </a:lnTo>
                  <a:lnTo>
                    <a:pt x="32" y="42"/>
                  </a:lnTo>
                  <a:lnTo>
                    <a:pt x="32" y="39"/>
                  </a:lnTo>
                  <a:lnTo>
                    <a:pt x="35" y="32"/>
                  </a:lnTo>
                  <a:lnTo>
                    <a:pt x="35" y="26"/>
                  </a:lnTo>
                  <a:lnTo>
                    <a:pt x="38" y="23"/>
                  </a:lnTo>
                  <a:lnTo>
                    <a:pt x="38" y="16"/>
                  </a:lnTo>
                  <a:lnTo>
                    <a:pt x="38" y="6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8" name="Freeform 526"/>
            <p:cNvSpPr>
              <a:spLocks/>
            </p:cNvSpPr>
            <p:nvPr/>
          </p:nvSpPr>
          <p:spPr bwMode="auto">
            <a:xfrm>
              <a:off x="4529" y="3432"/>
              <a:ext cx="35" cy="39"/>
            </a:xfrm>
            <a:custGeom>
              <a:avLst/>
              <a:gdLst>
                <a:gd name="T0" fmla="*/ 35 w 35"/>
                <a:gd name="T1" fmla="*/ 36 h 39"/>
                <a:gd name="T2" fmla="*/ 35 w 35"/>
                <a:gd name="T3" fmla="*/ 36 h 39"/>
                <a:gd name="T4" fmla="*/ 35 w 35"/>
                <a:gd name="T5" fmla="*/ 36 h 39"/>
                <a:gd name="T6" fmla="*/ 35 w 35"/>
                <a:gd name="T7" fmla="*/ 36 h 39"/>
                <a:gd name="T8" fmla="*/ 32 w 35"/>
                <a:gd name="T9" fmla="*/ 36 h 39"/>
                <a:gd name="T10" fmla="*/ 32 w 35"/>
                <a:gd name="T11" fmla="*/ 36 h 39"/>
                <a:gd name="T12" fmla="*/ 29 w 35"/>
                <a:gd name="T13" fmla="*/ 36 h 39"/>
                <a:gd name="T14" fmla="*/ 26 w 35"/>
                <a:gd name="T15" fmla="*/ 36 h 39"/>
                <a:gd name="T16" fmla="*/ 22 w 35"/>
                <a:gd name="T17" fmla="*/ 36 h 39"/>
                <a:gd name="T18" fmla="*/ 19 w 35"/>
                <a:gd name="T19" fmla="*/ 39 h 39"/>
                <a:gd name="T20" fmla="*/ 19 w 35"/>
                <a:gd name="T21" fmla="*/ 39 h 39"/>
                <a:gd name="T22" fmla="*/ 16 w 35"/>
                <a:gd name="T23" fmla="*/ 39 h 39"/>
                <a:gd name="T24" fmla="*/ 13 w 35"/>
                <a:gd name="T25" fmla="*/ 39 h 39"/>
                <a:gd name="T26" fmla="*/ 9 w 35"/>
                <a:gd name="T27" fmla="*/ 39 h 39"/>
                <a:gd name="T28" fmla="*/ 6 w 35"/>
                <a:gd name="T29" fmla="*/ 39 h 39"/>
                <a:gd name="T30" fmla="*/ 3 w 35"/>
                <a:gd name="T31" fmla="*/ 39 h 39"/>
                <a:gd name="T32" fmla="*/ 0 w 35"/>
                <a:gd name="T33" fmla="*/ 39 h 39"/>
                <a:gd name="T34" fmla="*/ 0 w 35"/>
                <a:gd name="T35" fmla="*/ 39 h 39"/>
                <a:gd name="T36" fmla="*/ 0 w 35"/>
                <a:gd name="T37" fmla="*/ 36 h 39"/>
                <a:gd name="T38" fmla="*/ 0 w 35"/>
                <a:gd name="T39" fmla="*/ 36 h 39"/>
                <a:gd name="T40" fmla="*/ 0 w 35"/>
                <a:gd name="T41" fmla="*/ 36 h 39"/>
                <a:gd name="T42" fmla="*/ 3 w 35"/>
                <a:gd name="T43" fmla="*/ 36 h 39"/>
                <a:gd name="T44" fmla="*/ 6 w 35"/>
                <a:gd name="T45" fmla="*/ 36 h 39"/>
                <a:gd name="T46" fmla="*/ 6 w 35"/>
                <a:gd name="T47" fmla="*/ 36 h 39"/>
                <a:gd name="T48" fmla="*/ 9 w 35"/>
                <a:gd name="T49" fmla="*/ 32 h 39"/>
                <a:gd name="T50" fmla="*/ 13 w 35"/>
                <a:gd name="T51" fmla="*/ 32 h 39"/>
                <a:gd name="T52" fmla="*/ 16 w 35"/>
                <a:gd name="T53" fmla="*/ 32 h 39"/>
                <a:gd name="T54" fmla="*/ 19 w 35"/>
                <a:gd name="T55" fmla="*/ 29 h 39"/>
                <a:gd name="T56" fmla="*/ 22 w 35"/>
                <a:gd name="T57" fmla="*/ 29 h 39"/>
                <a:gd name="T58" fmla="*/ 22 w 35"/>
                <a:gd name="T59" fmla="*/ 26 h 39"/>
                <a:gd name="T60" fmla="*/ 26 w 35"/>
                <a:gd name="T61" fmla="*/ 26 h 39"/>
                <a:gd name="T62" fmla="*/ 26 w 35"/>
                <a:gd name="T63" fmla="*/ 23 h 39"/>
                <a:gd name="T64" fmla="*/ 26 w 35"/>
                <a:gd name="T65" fmla="*/ 20 h 39"/>
                <a:gd name="T66" fmla="*/ 22 w 35"/>
                <a:gd name="T67" fmla="*/ 16 h 39"/>
                <a:gd name="T68" fmla="*/ 22 w 35"/>
                <a:gd name="T69" fmla="*/ 13 h 39"/>
                <a:gd name="T70" fmla="*/ 26 w 35"/>
                <a:gd name="T71" fmla="*/ 10 h 39"/>
                <a:gd name="T72" fmla="*/ 26 w 35"/>
                <a:gd name="T73" fmla="*/ 7 h 39"/>
                <a:gd name="T74" fmla="*/ 26 w 35"/>
                <a:gd name="T75" fmla="*/ 4 h 39"/>
                <a:gd name="T76" fmla="*/ 26 w 35"/>
                <a:gd name="T77" fmla="*/ 4 h 39"/>
                <a:gd name="T78" fmla="*/ 26 w 35"/>
                <a:gd name="T79" fmla="*/ 0 h 39"/>
                <a:gd name="T80" fmla="*/ 26 w 35"/>
                <a:gd name="T81" fmla="*/ 0 h 39"/>
                <a:gd name="T82" fmla="*/ 29 w 35"/>
                <a:gd name="T83" fmla="*/ 0 h 39"/>
                <a:gd name="T84" fmla="*/ 29 w 35"/>
                <a:gd name="T85" fmla="*/ 4 h 39"/>
                <a:gd name="T86" fmla="*/ 29 w 35"/>
                <a:gd name="T87" fmla="*/ 7 h 39"/>
                <a:gd name="T88" fmla="*/ 32 w 35"/>
                <a:gd name="T89" fmla="*/ 10 h 39"/>
                <a:gd name="T90" fmla="*/ 32 w 35"/>
                <a:gd name="T91" fmla="*/ 16 h 39"/>
                <a:gd name="T92" fmla="*/ 35 w 35"/>
                <a:gd name="T93" fmla="*/ 23 h 39"/>
                <a:gd name="T94" fmla="*/ 35 w 35"/>
                <a:gd name="T95" fmla="*/ 29 h 39"/>
                <a:gd name="T96" fmla="*/ 35 w 35"/>
                <a:gd name="T97" fmla="*/ 36 h 39"/>
                <a:gd name="T98" fmla="*/ 35 w 35"/>
                <a:gd name="T99" fmla="*/ 36 h 3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5"/>
                <a:gd name="T151" fmla="*/ 0 h 39"/>
                <a:gd name="T152" fmla="*/ 35 w 35"/>
                <a:gd name="T153" fmla="*/ 39 h 3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5" h="39">
                  <a:moveTo>
                    <a:pt x="35" y="36"/>
                  </a:moveTo>
                  <a:lnTo>
                    <a:pt x="35" y="36"/>
                  </a:lnTo>
                  <a:lnTo>
                    <a:pt x="32" y="36"/>
                  </a:lnTo>
                  <a:lnTo>
                    <a:pt x="29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19" y="39"/>
                  </a:lnTo>
                  <a:lnTo>
                    <a:pt x="16" y="39"/>
                  </a:lnTo>
                  <a:lnTo>
                    <a:pt x="13" y="39"/>
                  </a:lnTo>
                  <a:lnTo>
                    <a:pt x="9" y="39"/>
                  </a:lnTo>
                  <a:lnTo>
                    <a:pt x="6" y="39"/>
                  </a:lnTo>
                  <a:lnTo>
                    <a:pt x="3" y="39"/>
                  </a:lnTo>
                  <a:lnTo>
                    <a:pt x="0" y="39"/>
                  </a:lnTo>
                  <a:lnTo>
                    <a:pt x="0" y="36"/>
                  </a:lnTo>
                  <a:lnTo>
                    <a:pt x="3" y="36"/>
                  </a:lnTo>
                  <a:lnTo>
                    <a:pt x="6" y="36"/>
                  </a:lnTo>
                  <a:lnTo>
                    <a:pt x="9" y="32"/>
                  </a:lnTo>
                  <a:lnTo>
                    <a:pt x="13" y="32"/>
                  </a:lnTo>
                  <a:lnTo>
                    <a:pt x="16" y="32"/>
                  </a:lnTo>
                  <a:lnTo>
                    <a:pt x="19" y="29"/>
                  </a:lnTo>
                  <a:lnTo>
                    <a:pt x="22" y="29"/>
                  </a:lnTo>
                  <a:lnTo>
                    <a:pt x="22" y="26"/>
                  </a:lnTo>
                  <a:lnTo>
                    <a:pt x="26" y="26"/>
                  </a:lnTo>
                  <a:lnTo>
                    <a:pt x="26" y="23"/>
                  </a:lnTo>
                  <a:lnTo>
                    <a:pt x="26" y="20"/>
                  </a:lnTo>
                  <a:lnTo>
                    <a:pt x="22" y="16"/>
                  </a:lnTo>
                  <a:lnTo>
                    <a:pt x="22" y="13"/>
                  </a:lnTo>
                  <a:lnTo>
                    <a:pt x="26" y="10"/>
                  </a:lnTo>
                  <a:lnTo>
                    <a:pt x="26" y="7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9" y="7"/>
                  </a:lnTo>
                  <a:lnTo>
                    <a:pt x="32" y="10"/>
                  </a:lnTo>
                  <a:lnTo>
                    <a:pt x="32" y="16"/>
                  </a:lnTo>
                  <a:lnTo>
                    <a:pt x="35" y="23"/>
                  </a:lnTo>
                  <a:lnTo>
                    <a:pt x="35" y="29"/>
                  </a:lnTo>
                  <a:lnTo>
                    <a:pt x="35" y="36"/>
                  </a:ln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89" name="Freeform 527"/>
            <p:cNvSpPr>
              <a:spLocks/>
            </p:cNvSpPr>
            <p:nvPr/>
          </p:nvSpPr>
          <p:spPr bwMode="auto">
            <a:xfrm>
              <a:off x="4555" y="3089"/>
              <a:ext cx="600" cy="334"/>
            </a:xfrm>
            <a:custGeom>
              <a:avLst/>
              <a:gdLst>
                <a:gd name="T0" fmla="*/ 0 w 600"/>
                <a:gd name="T1" fmla="*/ 334 h 334"/>
                <a:gd name="T2" fmla="*/ 600 w 600"/>
                <a:gd name="T3" fmla="*/ 0 h 334"/>
                <a:gd name="T4" fmla="*/ 0 w 600"/>
                <a:gd name="T5" fmla="*/ 334 h 334"/>
                <a:gd name="T6" fmla="*/ 0 60000 65536"/>
                <a:gd name="T7" fmla="*/ 0 60000 65536"/>
                <a:gd name="T8" fmla="*/ 0 60000 65536"/>
                <a:gd name="T9" fmla="*/ 0 w 600"/>
                <a:gd name="T10" fmla="*/ 0 h 334"/>
                <a:gd name="T11" fmla="*/ 600 w 600"/>
                <a:gd name="T12" fmla="*/ 334 h 3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0" h="334">
                  <a:moveTo>
                    <a:pt x="0" y="334"/>
                  </a:moveTo>
                  <a:lnTo>
                    <a:pt x="600" y="0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90" name="Line 528"/>
            <p:cNvSpPr>
              <a:spLocks noChangeShapeType="1"/>
            </p:cNvSpPr>
            <p:nvPr/>
          </p:nvSpPr>
          <p:spPr bwMode="auto">
            <a:xfrm flipV="1">
              <a:off x="4555" y="3089"/>
              <a:ext cx="600" cy="33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491" name="Freeform 529"/>
            <p:cNvSpPr>
              <a:spLocks/>
            </p:cNvSpPr>
            <p:nvPr/>
          </p:nvSpPr>
          <p:spPr bwMode="auto">
            <a:xfrm>
              <a:off x="4577" y="3089"/>
              <a:ext cx="600" cy="334"/>
            </a:xfrm>
            <a:custGeom>
              <a:avLst/>
              <a:gdLst>
                <a:gd name="T0" fmla="*/ 600 w 600"/>
                <a:gd name="T1" fmla="*/ 334 h 334"/>
                <a:gd name="T2" fmla="*/ 0 w 600"/>
                <a:gd name="T3" fmla="*/ 0 h 334"/>
                <a:gd name="T4" fmla="*/ 600 w 600"/>
                <a:gd name="T5" fmla="*/ 334 h 334"/>
                <a:gd name="T6" fmla="*/ 0 60000 65536"/>
                <a:gd name="T7" fmla="*/ 0 60000 65536"/>
                <a:gd name="T8" fmla="*/ 0 60000 65536"/>
                <a:gd name="T9" fmla="*/ 0 w 600"/>
                <a:gd name="T10" fmla="*/ 0 h 334"/>
                <a:gd name="T11" fmla="*/ 600 w 600"/>
                <a:gd name="T12" fmla="*/ 334 h 3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0" h="334">
                  <a:moveTo>
                    <a:pt x="600" y="334"/>
                  </a:moveTo>
                  <a:lnTo>
                    <a:pt x="0" y="0"/>
                  </a:lnTo>
                  <a:lnTo>
                    <a:pt x="600" y="3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492" name="Line 530"/>
            <p:cNvSpPr>
              <a:spLocks noChangeShapeType="1"/>
            </p:cNvSpPr>
            <p:nvPr/>
          </p:nvSpPr>
          <p:spPr bwMode="auto">
            <a:xfrm flipH="1" flipV="1">
              <a:off x="4577" y="3089"/>
              <a:ext cx="600" cy="334"/>
            </a:xfrm>
            <a:prstGeom prst="line">
              <a:avLst/>
            </a:prstGeom>
            <a:noFill/>
            <a:ln w="317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7" name="Rectangle 391"/>
          <p:cNvSpPr>
            <a:spLocks noChangeArrowheads="1"/>
          </p:cNvSpPr>
          <p:nvPr/>
        </p:nvSpPr>
        <p:spPr bwMode="auto">
          <a:xfrm>
            <a:off x="1373721" y="5513460"/>
            <a:ext cx="2821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(</a:t>
            </a:r>
            <a:r>
              <a:rPr lang="en-US" altLang="en-US" sz="1800" b="1" dirty="0">
                <a:solidFill>
                  <a:srgbClr val="000000"/>
                </a:solidFill>
                <a:latin typeface="Helvetica" pitchFamily="34" charset="0"/>
              </a:rPr>
              <a:t>a</a:t>
            </a:r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)</a:t>
            </a:r>
            <a:endParaRPr lang="en-US" altLang="en-US" sz="1800" dirty="0"/>
          </a:p>
        </p:txBody>
      </p:sp>
      <p:sp>
        <p:nvSpPr>
          <p:cNvPr id="178" name="Rectangle 397"/>
          <p:cNvSpPr>
            <a:spLocks noChangeArrowheads="1"/>
          </p:cNvSpPr>
          <p:nvPr/>
        </p:nvSpPr>
        <p:spPr bwMode="auto">
          <a:xfrm>
            <a:off x="4115103" y="5588785"/>
            <a:ext cx="29495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(</a:t>
            </a:r>
            <a:r>
              <a:rPr lang="en-US" altLang="en-US" sz="1800" b="1" dirty="0">
                <a:solidFill>
                  <a:srgbClr val="000000"/>
                </a:solidFill>
                <a:latin typeface="Helvetica" pitchFamily="34" charset="0"/>
              </a:rPr>
              <a:t>b</a:t>
            </a:r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)</a:t>
            </a:r>
            <a:endParaRPr lang="en-US" altLang="en-US" sz="1800" dirty="0"/>
          </a:p>
        </p:txBody>
      </p:sp>
      <p:sp>
        <p:nvSpPr>
          <p:cNvPr id="179" name="Freeform 375"/>
          <p:cNvSpPr>
            <a:spLocks/>
          </p:cNvSpPr>
          <p:nvPr/>
        </p:nvSpPr>
        <p:spPr bwMode="auto">
          <a:xfrm>
            <a:off x="3191709" y="3972602"/>
            <a:ext cx="161925" cy="80963"/>
          </a:xfrm>
          <a:custGeom>
            <a:avLst/>
            <a:gdLst>
              <a:gd name="T0" fmla="*/ 102 w 102"/>
              <a:gd name="T1" fmla="*/ 25 h 51"/>
              <a:gd name="T2" fmla="*/ 0 w 102"/>
              <a:gd name="T3" fmla="*/ 0 h 51"/>
              <a:gd name="T4" fmla="*/ 0 w 102"/>
              <a:gd name="T5" fmla="*/ 51 h 51"/>
              <a:gd name="T6" fmla="*/ 102 w 102"/>
              <a:gd name="T7" fmla="*/ 25 h 51"/>
              <a:gd name="T8" fmla="*/ 0 60000 65536"/>
              <a:gd name="T9" fmla="*/ 0 60000 65536"/>
              <a:gd name="T10" fmla="*/ 0 60000 65536"/>
              <a:gd name="T11" fmla="*/ 0 60000 65536"/>
              <a:gd name="T12" fmla="*/ 0 w 102"/>
              <a:gd name="T13" fmla="*/ 0 h 51"/>
              <a:gd name="T14" fmla="*/ 102 w 102"/>
              <a:gd name="T15" fmla="*/ 51 h 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2" h="51">
                <a:moveTo>
                  <a:pt x="102" y="25"/>
                </a:moveTo>
                <a:lnTo>
                  <a:pt x="0" y="0"/>
                </a:lnTo>
                <a:lnTo>
                  <a:pt x="0" y="51"/>
                </a:lnTo>
                <a:lnTo>
                  <a:pt x="102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0" name="Line 365"/>
          <p:cNvSpPr>
            <a:spLocks noChangeShapeType="1"/>
          </p:cNvSpPr>
          <p:nvPr/>
        </p:nvSpPr>
        <p:spPr bwMode="auto">
          <a:xfrm>
            <a:off x="5478967" y="4213399"/>
            <a:ext cx="468000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1" name="Freeform 375"/>
          <p:cNvSpPr>
            <a:spLocks/>
          </p:cNvSpPr>
          <p:nvPr/>
        </p:nvSpPr>
        <p:spPr bwMode="auto">
          <a:xfrm>
            <a:off x="5933065" y="4185630"/>
            <a:ext cx="161925" cy="80963"/>
          </a:xfrm>
          <a:custGeom>
            <a:avLst/>
            <a:gdLst>
              <a:gd name="T0" fmla="*/ 102 w 102"/>
              <a:gd name="T1" fmla="*/ 25 h 51"/>
              <a:gd name="T2" fmla="*/ 0 w 102"/>
              <a:gd name="T3" fmla="*/ 0 h 51"/>
              <a:gd name="T4" fmla="*/ 0 w 102"/>
              <a:gd name="T5" fmla="*/ 51 h 51"/>
              <a:gd name="T6" fmla="*/ 102 w 102"/>
              <a:gd name="T7" fmla="*/ 25 h 51"/>
              <a:gd name="T8" fmla="*/ 0 60000 65536"/>
              <a:gd name="T9" fmla="*/ 0 60000 65536"/>
              <a:gd name="T10" fmla="*/ 0 60000 65536"/>
              <a:gd name="T11" fmla="*/ 0 60000 65536"/>
              <a:gd name="T12" fmla="*/ 0 w 102"/>
              <a:gd name="T13" fmla="*/ 0 h 51"/>
              <a:gd name="T14" fmla="*/ 102 w 102"/>
              <a:gd name="T15" fmla="*/ 51 h 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2" h="51">
                <a:moveTo>
                  <a:pt x="102" y="25"/>
                </a:moveTo>
                <a:lnTo>
                  <a:pt x="0" y="0"/>
                </a:lnTo>
                <a:lnTo>
                  <a:pt x="0" y="51"/>
                </a:lnTo>
                <a:lnTo>
                  <a:pt x="102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15</a:t>
            </a:fld>
            <a:endParaRPr lang="de-DE" dirty="0"/>
          </a:p>
        </p:txBody>
      </p:sp>
      <p:sp>
        <p:nvSpPr>
          <p:cNvPr id="2" name="TextBox 1"/>
          <p:cNvSpPr txBox="1"/>
          <p:nvPr/>
        </p:nvSpPr>
        <p:spPr>
          <a:xfrm>
            <a:off x="1151311" y="2831168"/>
            <a:ext cx="113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Beltwarn</a:t>
            </a:r>
            <a:endParaRPr lang="en-GB" dirty="0"/>
          </a:p>
        </p:txBody>
      </p:sp>
      <p:sp>
        <p:nvSpPr>
          <p:cNvPr id="167" name="Rectangle 429"/>
          <p:cNvSpPr>
            <a:spLocks noChangeArrowheads="1"/>
          </p:cNvSpPr>
          <p:nvPr/>
        </p:nvSpPr>
        <p:spPr bwMode="auto">
          <a:xfrm>
            <a:off x="4648576" y="3217747"/>
            <a:ext cx="1285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 dirty="0"/>
          </a:p>
        </p:txBody>
      </p:sp>
      <p:sp>
        <p:nvSpPr>
          <p:cNvPr id="168" name="Rectangle 430"/>
          <p:cNvSpPr>
            <a:spLocks noChangeArrowheads="1"/>
          </p:cNvSpPr>
          <p:nvPr/>
        </p:nvSpPr>
        <p:spPr bwMode="auto">
          <a:xfrm>
            <a:off x="4648576" y="3462222"/>
            <a:ext cx="1285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/>
          </a:p>
        </p:txBody>
      </p:sp>
      <p:sp>
        <p:nvSpPr>
          <p:cNvPr id="169" name="Rectangle 431"/>
          <p:cNvSpPr>
            <a:spLocks noChangeArrowheads="1"/>
          </p:cNvSpPr>
          <p:nvPr/>
        </p:nvSpPr>
        <p:spPr bwMode="auto">
          <a:xfrm>
            <a:off x="4648576" y="3706697"/>
            <a:ext cx="1285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/>
          </a:p>
        </p:txBody>
      </p:sp>
      <p:sp>
        <p:nvSpPr>
          <p:cNvPr id="170" name="Rectangle 432"/>
          <p:cNvSpPr>
            <a:spLocks noChangeArrowheads="1"/>
          </p:cNvSpPr>
          <p:nvPr/>
        </p:nvSpPr>
        <p:spPr bwMode="auto">
          <a:xfrm>
            <a:off x="4648576" y="3951172"/>
            <a:ext cx="1285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/>
          </a:p>
        </p:txBody>
      </p:sp>
      <p:sp>
        <p:nvSpPr>
          <p:cNvPr id="171" name="Rectangle 433"/>
          <p:cNvSpPr>
            <a:spLocks noChangeArrowheads="1"/>
          </p:cNvSpPr>
          <p:nvPr/>
        </p:nvSpPr>
        <p:spPr bwMode="auto">
          <a:xfrm>
            <a:off x="4648576" y="4195647"/>
            <a:ext cx="1285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/>
          </a:p>
        </p:txBody>
      </p:sp>
      <p:sp>
        <p:nvSpPr>
          <p:cNvPr id="172" name="Rectangle 434"/>
          <p:cNvSpPr>
            <a:spLocks noChangeArrowheads="1"/>
          </p:cNvSpPr>
          <p:nvPr/>
        </p:nvSpPr>
        <p:spPr bwMode="auto">
          <a:xfrm>
            <a:off x="4648576" y="4440122"/>
            <a:ext cx="1285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/>
          </a:p>
        </p:txBody>
      </p:sp>
      <p:sp>
        <p:nvSpPr>
          <p:cNvPr id="173" name="Rectangle 435"/>
          <p:cNvSpPr>
            <a:spLocks noChangeArrowheads="1"/>
          </p:cNvSpPr>
          <p:nvPr/>
        </p:nvSpPr>
        <p:spPr bwMode="auto">
          <a:xfrm>
            <a:off x="4648576" y="4684597"/>
            <a:ext cx="1285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 sz="1800"/>
          </a:p>
        </p:txBody>
      </p:sp>
      <p:sp>
        <p:nvSpPr>
          <p:cNvPr id="174" name="Rectangle 436"/>
          <p:cNvSpPr>
            <a:spLocks noChangeArrowheads="1"/>
          </p:cNvSpPr>
          <p:nvPr/>
        </p:nvSpPr>
        <p:spPr bwMode="auto">
          <a:xfrm>
            <a:off x="4648576" y="4929072"/>
            <a:ext cx="1285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/>
          </a:p>
        </p:txBody>
      </p:sp>
      <p:sp>
        <p:nvSpPr>
          <p:cNvPr id="175" name="Rectangle 394"/>
          <p:cNvSpPr>
            <a:spLocks noChangeArrowheads="1"/>
          </p:cNvSpPr>
          <p:nvPr/>
        </p:nvSpPr>
        <p:spPr bwMode="auto">
          <a:xfrm>
            <a:off x="7770279" y="5589559"/>
            <a:ext cx="282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(</a:t>
            </a:r>
            <a:r>
              <a:rPr lang="en-US" altLang="en-US" sz="1800" b="1" dirty="0">
                <a:solidFill>
                  <a:srgbClr val="000000"/>
                </a:solidFill>
                <a:latin typeface="Helvetica" pitchFamily="34" charset="0"/>
              </a:rPr>
              <a:t>c</a:t>
            </a:r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)</a:t>
            </a:r>
            <a:endParaRPr lang="en-US" altLang="en-US" sz="1800" dirty="0"/>
          </a:p>
        </p:txBody>
      </p:sp>
      <p:sp>
        <p:nvSpPr>
          <p:cNvPr id="176" name="Rectangle 448"/>
          <p:cNvSpPr>
            <a:spLocks noChangeArrowheads="1"/>
          </p:cNvSpPr>
          <p:nvPr/>
        </p:nvSpPr>
        <p:spPr bwMode="auto">
          <a:xfrm>
            <a:off x="6247289" y="2695104"/>
            <a:ext cx="261673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3-input LUT or 8x1 </a:t>
            </a:r>
            <a:r>
              <a:rPr lang="en-US" altLang="en-US" sz="1800" dirty="0" err="1">
                <a:solidFill>
                  <a:srgbClr val="000000"/>
                </a:solidFill>
                <a:latin typeface="Helvetica" pitchFamily="34" charset="0"/>
              </a:rPr>
              <a:t>Mem</a:t>
            </a:r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.</a:t>
            </a:r>
            <a:endParaRPr lang="en-US" altLang="en-US" sz="1800" dirty="0"/>
          </a:p>
        </p:txBody>
      </p:sp>
      <p:sp>
        <p:nvSpPr>
          <p:cNvPr id="183" name="Rectangle 338"/>
          <p:cNvSpPr>
            <a:spLocks noChangeArrowheads="1"/>
          </p:cNvSpPr>
          <p:nvPr/>
        </p:nvSpPr>
        <p:spPr bwMode="auto">
          <a:xfrm>
            <a:off x="7273125" y="3001730"/>
            <a:ext cx="1055688" cy="2143125"/>
          </a:xfrm>
          <a:prstGeom prst="rect">
            <a:avLst/>
          </a:prstGeom>
          <a:noFill/>
          <a:ln w="12700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/>
              <p:cNvSpPr txBox="1"/>
              <p:nvPr/>
            </p:nvSpPr>
            <p:spPr>
              <a:xfrm>
                <a:off x="1069123" y="5024304"/>
                <a:ext cx="104054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𝑘𝑝𝑠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84" name="TextBox 1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123" y="5024304"/>
                <a:ext cx="1040541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4678" t="-3922" r="-8187" b="-392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4D8F87-C9DE-414F-8516-4F74CB90BDC2}"/>
              </a:ext>
            </a:extLst>
          </p:cNvPr>
          <p:cNvCxnSpPr/>
          <p:nvPr/>
        </p:nvCxnSpPr>
        <p:spPr>
          <a:xfrm>
            <a:off x="6928270" y="4056577"/>
            <a:ext cx="3448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26DB98C8-FA7E-8545-8EA2-27DB4B0583AA}"/>
              </a:ext>
            </a:extLst>
          </p:cNvPr>
          <p:cNvCxnSpPr/>
          <p:nvPr/>
        </p:nvCxnSpPr>
        <p:spPr>
          <a:xfrm>
            <a:off x="6928270" y="4234058"/>
            <a:ext cx="3448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4A82ED2-BD3C-E240-A618-8434AB817EBA}"/>
              </a:ext>
            </a:extLst>
          </p:cNvPr>
          <p:cNvCxnSpPr/>
          <p:nvPr/>
        </p:nvCxnSpPr>
        <p:spPr>
          <a:xfrm>
            <a:off x="6933033" y="4398550"/>
            <a:ext cx="3448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78E89AC7-13D8-EA45-A799-A749B20C8A91}"/>
              </a:ext>
            </a:extLst>
          </p:cNvPr>
          <p:cNvCxnSpPr>
            <a:cxnSpLocks/>
          </p:cNvCxnSpPr>
          <p:nvPr/>
        </p:nvCxnSpPr>
        <p:spPr>
          <a:xfrm rot="5400000">
            <a:off x="7872504" y="5317283"/>
            <a:ext cx="3448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3831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412"/>
    </mc:Choice>
    <mc:Fallback xmlns="">
      <p:transition spd="slow" advTm="844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02 -0.21388 L 4.44444E-6 -4.07407E-6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10" y="1069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/>
      <p:bldP spid="168" grpId="0"/>
      <p:bldP spid="169" grpId="0"/>
      <p:bldP spid="170" grpId="0"/>
      <p:bldP spid="171" grpId="0"/>
      <p:bldP spid="172" grpId="0"/>
      <p:bldP spid="173" grpId="0"/>
      <p:bldP spid="174" grpId="0"/>
      <p:bldP spid="17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2.2. Managing the Size of LUTS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801" y="1908000"/>
            <a:ext cx="6852582" cy="319879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Lookup tables become inefficient for more inputs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3 inputs </a:t>
            </a:r>
            <a:r>
              <a:rPr lang="en-US" altLang="en-US" sz="1600" dirty="0">
                <a:sym typeface="Wingdings" pitchFamily="2" charset="2"/>
              </a:rPr>
              <a:t> only 8 cells 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>
                <a:sym typeface="Wingdings" pitchFamily="2" charset="2"/>
              </a:rPr>
              <a:t>8 inputs  256 cells 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>
                <a:sym typeface="Wingdings" pitchFamily="2" charset="2"/>
              </a:rPr>
              <a:t>16 inputs  65,536 cells!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1600" dirty="0">
              <a:sym typeface="Wingdings" pitchFamily="2" charset="2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1600" dirty="0">
              <a:sym typeface="Wingdings" pitchFamily="2" charset="2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1600" dirty="0">
              <a:sym typeface="Wingdings" pitchFamily="2" charset="2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1600" dirty="0">
              <a:sym typeface="Wingdings" pitchFamily="2" charset="2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1600" dirty="0">
              <a:sym typeface="Wingdings" pitchFamily="2" charset="2"/>
            </a:endParaRPr>
          </a:p>
          <a:p>
            <a:pPr lvl="1" eaLnBrk="1" hangingPunct="1">
              <a:lnSpc>
                <a:spcPct val="80000"/>
              </a:lnSpc>
            </a:pPr>
            <a:endParaRPr lang="en-US" altLang="en-US" sz="1600" dirty="0">
              <a:sym typeface="Wingdings" pitchFamily="2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1800" dirty="0"/>
              <a:t>FPGAs thus have numerous small (3, 4, 5, or even 6-input) LUTs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600" dirty="0"/>
              <a:t>If circuit has more inputs, must partition circuit among LUTs</a:t>
            </a:r>
          </a:p>
        </p:txBody>
      </p:sp>
      <p:sp>
        <p:nvSpPr>
          <p:cNvPr id="11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5" name="Trapezoid 4"/>
          <p:cNvSpPr/>
          <p:nvPr/>
        </p:nvSpPr>
        <p:spPr>
          <a:xfrm rot="5400000">
            <a:off x="5914118" y="3221720"/>
            <a:ext cx="866690" cy="672054"/>
          </a:xfrm>
          <a:prstGeom prst="trapezoi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Line 490"/>
          <p:cNvSpPr>
            <a:spLocks noChangeShapeType="1"/>
          </p:cNvSpPr>
          <p:nvPr/>
        </p:nvSpPr>
        <p:spPr bwMode="auto">
          <a:xfrm rot="5400000">
            <a:off x="6826102" y="3421063"/>
            <a:ext cx="0" cy="212725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" name="Freeform 491"/>
          <p:cNvSpPr>
            <a:spLocks/>
          </p:cNvSpPr>
          <p:nvPr/>
        </p:nvSpPr>
        <p:spPr bwMode="auto">
          <a:xfrm rot="16200000">
            <a:off x="6914961" y="3435248"/>
            <a:ext cx="96838" cy="195263"/>
          </a:xfrm>
          <a:custGeom>
            <a:avLst/>
            <a:gdLst>
              <a:gd name="T0" fmla="*/ 31 w 61"/>
              <a:gd name="T1" fmla="*/ 123 h 123"/>
              <a:gd name="T2" fmla="*/ 61 w 61"/>
              <a:gd name="T3" fmla="*/ 0 h 123"/>
              <a:gd name="T4" fmla="*/ 0 w 61"/>
              <a:gd name="T5" fmla="*/ 0 h 123"/>
              <a:gd name="T6" fmla="*/ 31 w 61"/>
              <a:gd name="T7" fmla="*/ 123 h 123"/>
              <a:gd name="T8" fmla="*/ 0 60000 65536"/>
              <a:gd name="T9" fmla="*/ 0 60000 65536"/>
              <a:gd name="T10" fmla="*/ 0 60000 65536"/>
              <a:gd name="T11" fmla="*/ 0 60000 65536"/>
              <a:gd name="T12" fmla="*/ 0 w 61"/>
              <a:gd name="T13" fmla="*/ 0 h 123"/>
              <a:gd name="T14" fmla="*/ 61 w 61"/>
              <a:gd name="T15" fmla="*/ 123 h 12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" h="123">
                <a:moveTo>
                  <a:pt x="31" y="123"/>
                </a:moveTo>
                <a:lnTo>
                  <a:pt x="61" y="0"/>
                </a:lnTo>
                <a:lnTo>
                  <a:pt x="0" y="0"/>
                </a:lnTo>
                <a:lnTo>
                  <a:pt x="31" y="1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520"/>
          <p:cNvSpPr>
            <a:spLocks noChangeArrowheads="1"/>
          </p:cNvSpPr>
          <p:nvPr/>
        </p:nvSpPr>
        <p:spPr bwMode="auto">
          <a:xfrm>
            <a:off x="7100657" y="3413226"/>
            <a:ext cx="21272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F</a:t>
            </a:r>
            <a:endParaRPr lang="en-US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273069" y="3481673"/>
            <a:ext cx="73836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 rot="16200000">
            <a:off x="6098375" y="4088685"/>
            <a:ext cx="504000" cy="98425"/>
            <a:chOff x="6933969" y="5810120"/>
            <a:chExt cx="379413" cy="98425"/>
          </a:xfrm>
        </p:grpSpPr>
        <p:sp>
          <p:nvSpPr>
            <p:cNvPr id="14" name="Line 496"/>
            <p:cNvSpPr>
              <a:spLocks noChangeShapeType="1"/>
            </p:cNvSpPr>
            <p:nvPr/>
          </p:nvSpPr>
          <p:spPr bwMode="auto">
            <a:xfrm>
              <a:off x="6933969" y="5859332"/>
              <a:ext cx="214313" cy="1588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497"/>
            <p:cNvSpPr>
              <a:spLocks/>
            </p:cNvSpPr>
            <p:nvPr/>
          </p:nvSpPr>
          <p:spPr bwMode="auto">
            <a:xfrm>
              <a:off x="7118119" y="5810120"/>
              <a:ext cx="195263" cy="98425"/>
            </a:xfrm>
            <a:custGeom>
              <a:avLst/>
              <a:gdLst>
                <a:gd name="T0" fmla="*/ 123 w 123"/>
                <a:gd name="T1" fmla="*/ 31 h 62"/>
                <a:gd name="T2" fmla="*/ 0 w 123"/>
                <a:gd name="T3" fmla="*/ 0 h 62"/>
                <a:gd name="T4" fmla="*/ 0 w 123"/>
                <a:gd name="T5" fmla="*/ 62 h 62"/>
                <a:gd name="T6" fmla="*/ 123 w 123"/>
                <a:gd name="T7" fmla="*/ 31 h 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3"/>
                <a:gd name="T13" fmla="*/ 0 h 62"/>
                <a:gd name="T14" fmla="*/ 123 w 123"/>
                <a:gd name="T15" fmla="*/ 62 h 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3" h="62">
                  <a:moveTo>
                    <a:pt x="123" y="31"/>
                  </a:moveTo>
                  <a:lnTo>
                    <a:pt x="0" y="0"/>
                  </a:lnTo>
                  <a:lnTo>
                    <a:pt x="0" y="62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0" name="Freeform 393"/>
          <p:cNvSpPr>
            <a:spLocks/>
          </p:cNvSpPr>
          <p:nvPr/>
        </p:nvSpPr>
        <p:spPr bwMode="auto">
          <a:xfrm>
            <a:off x="5794706" y="3429000"/>
            <a:ext cx="195263" cy="98425"/>
          </a:xfrm>
          <a:custGeom>
            <a:avLst/>
            <a:gdLst>
              <a:gd name="T0" fmla="*/ 123 w 123"/>
              <a:gd name="T1" fmla="*/ 31 h 62"/>
              <a:gd name="T2" fmla="*/ 0 w 123"/>
              <a:gd name="T3" fmla="*/ 0 h 62"/>
              <a:gd name="T4" fmla="*/ 0 w 123"/>
              <a:gd name="T5" fmla="*/ 62 h 62"/>
              <a:gd name="T6" fmla="*/ 123 w 123"/>
              <a:gd name="T7" fmla="*/ 31 h 62"/>
              <a:gd name="T8" fmla="*/ 0 60000 65536"/>
              <a:gd name="T9" fmla="*/ 0 60000 65536"/>
              <a:gd name="T10" fmla="*/ 0 60000 65536"/>
              <a:gd name="T11" fmla="*/ 0 60000 65536"/>
              <a:gd name="T12" fmla="*/ 0 w 123"/>
              <a:gd name="T13" fmla="*/ 0 h 62"/>
              <a:gd name="T14" fmla="*/ 123 w 123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3" h="62">
                <a:moveTo>
                  <a:pt x="123" y="31"/>
                </a:moveTo>
                <a:lnTo>
                  <a:pt x="0" y="0"/>
                </a:lnTo>
                <a:lnTo>
                  <a:pt x="0" y="62"/>
                </a:lnTo>
                <a:lnTo>
                  <a:pt x="123" y="3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" name="Rectangle 1"/>
          <p:cNvSpPr/>
          <p:nvPr/>
        </p:nvSpPr>
        <p:spPr>
          <a:xfrm>
            <a:off x="4359276" y="2819804"/>
            <a:ext cx="913794" cy="15978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k-input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LUT</a:t>
            </a:r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5455328" y="3360777"/>
            <a:ext cx="184179" cy="3002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441999" y="2981564"/>
                <a:ext cx="343384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999" y="2981564"/>
                <a:ext cx="343384" cy="374270"/>
              </a:xfrm>
              <a:prstGeom prst="rect">
                <a:avLst/>
              </a:prstGeom>
              <a:blipFill rotWithShape="0">
                <a:blip r:embed="rId5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 flipH="1">
            <a:off x="6245725" y="4073582"/>
            <a:ext cx="184179" cy="3002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425417" y="4104761"/>
                <a:ext cx="3433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417" y="4104761"/>
                <a:ext cx="343384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6550837" y="4005903"/>
            <a:ext cx="5052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-bit</a:t>
            </a:r>
          </a:p>
        </p:txBody>
      </p:sp>
    </p:spTree>
    <p:extLst>
      <p:ext uri="{BB962C8B-B14F-4D97-AF65-F5344CB8AC3E}">
        <p14:creationId xmlns:p14="http://schemas.microsoft.com/office/powerpoint/2010/main" val="15566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962"/>
    </mc:Choice>
    <mc:Fallback xmlns="">
      <p:transition spd="slow" advTm="4596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799" y="1720799"/>
            <a:ext cx="8375573" cy="130439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Consider the circuit shown below as an extension of Example 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For now, we assume it is possible to create any wires to/between LUTs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 5-input circuit, 3-input LUTs available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Partition the circuit and map it into 3-input LUTs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662862" y="3444317"/>
            <a:ext cx="2995344" cy="2082884"/>
            <a:chOff x="666273" y="3598621"/>
            <a:chExt cx="2230438" cy="1550987"/>
          </a:xfrm>
        </p:grpSpPr>
        <p:sp>
          <p:nvSpPr>
            <p:cNvPr id="20487" name="Rectangle 336"/>
            <p:cNvSpPr>
              <a:spLocks noChangeArrowheads="1"/>
            </p:cNvSpPr>
            <p:nvPr/>
          </p:nvSpPr>
          <p:spPr bwMode="auto">
            <a:xfrm>
              <a:off x="1136173" y="3598621"/>
              <a:ext cx="1535113" cy="1550987"/>
            </a:xfrm>
            <a:prstGeom prst="rect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88" name="Freeform 340"/>
            <p:cNvSpPr>
              <a:spLocks/>
            </p:cNvSpPr>
            <p:nvPr/>
          </p:nvSpPr>
          <p:spPr bwMode="auto">
            <a:xfrm>
              <a:off x="863123" y="3908183"/>
              <a:ext cx="812800" cy="188913"/>
            </a:xfrm>
            <a:custGeom>
              <a:avLst/>
              <a:gdLst>
                <a:gd name="T0" fmla="*/ 812800 w 512"/>
                <a:gd name="T1" fmla="*/ 188913 h 119"/>
                <a:gd name="T2" fmla="*/ 427037 w 512"/>
                <a:gd name="T3" fmla="*/ 188913 h 119"/>
                <a:gd name="T4" fmla="*/ 427037 w 512"/>
                <a:gd name="T5" fmla="*/ 0 h 119"/>
                <a:gd name="T6" fmla="*/ 0 w 512"/>
                <a:gd name="T7" fmla="*/ 0 h 1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2"/>
                <a:gd name="T13" fmla="*/ 0 h 119"/>
                <a:gd name="T14" fmla="*/ 512 w 512"/>
                <a:gd name="T15" fmla="*/ 119 h 1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2" h="119">
                  <a:moveTo>
                    <a:pt x="512" y="119"/>
                  </a:moveTo>
                  <a:lnTo>
                    <a:pt x="269" y="119"/>
                  </a:lnTo>
                  <a:lnTo>
                    <a:pt x="269" y="0"/>
                  </a:ln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89" name="Line 341"/>
            <p:cNvSpPr>
              <a:spLocks noChangeShapeType="1"/>
            </p:cNvSpPr>
            <p:nvPr/>
          </p:nvSpPr>
          <p:spPr bwMode="auto">
            <a:xfrm>
              <a:off x="863123" y="4190758"/>
              <a:ext cx="812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0" name="Freeform 342"/>
            <p:cNvSpPr>
              <a:spLocks/>
            </p:cNvSpPr>
            <p:nvPr/>
          </p:nvSpPr>
          <p:spPr bwMode="auto">
            <a:xfrm>
              <a:off x="1539398" y="4284421"/>
              <a:ext cx="136525" cy="193675"/>
            </a:xfrm>
            <a:custGeom>
              <a:avLst/>
              <a:gdLst>
                <a:gd name="T0" fmla="*/ 0 w 86"/>
                <a:gd name="T1" fmla="*/ 193675 h 122"/>
                <a:gd name="T2" fmla="*/ 65088 w 86"/>
                <a:gd name="T3" fmla="*/ 193675 h 122"/>
                <a:gd name="T4" fmla="*/ 65088 w 86"/>
                <a:gd name="T5" fmla="*/ 0 h 122"/>
                <a:gd name="T6" fmla="*/ 136525 w 86"/>
                <a:gd name="T7" fmla="*/ 0 h 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"/>
                <a:gd name="T13" fmla="*/ 0 h 122"/>
                <a:gd name="T14" fmla="*/ 86 w 86"/>
                <a:gd name="T15" fmla="*/ 122 h 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" h="122">
                  <a:moveTo>
                    <a:pt x="0" y="122"/>
                  </a:moveTo>
                  <a:lnTo>
                    <a:pt x="41" y="122"/>
                  </a:lnTo>
                  <a:lnTo>
                    <a:pt x="41" y="0"/>
                  </a:lnTo>
                  <a:lnTo>
                    <a:pt x="86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1" name="Line 343"/>
            <p:cNvSpPr>
              <a:spLocks noChangeShapeType="1"/>
            </p:cNvSpPr>
            <p:nvPr/>
          </p:nvSpPr>
          <p:spPr bwMode="auto">
            <a:xfrm>
              <a:off x="863123" y="4478096"/>
              <a:ext cx="361950" cy="158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2" name="Freeform 344"/>
            <p:cNvSpPr>
              <a:spLocks/>
            </p:cNvSpPr>
            <p:nvPr/>
          </p:nvSpPr>
          <p:spPr bwMode="auto">
            <a:xfrm>
              <a:off x="2745898" y="4243146"/>
              <a:ext cx="150813" cy="74612"/>
            </a:xfrm>
            <a:custGeom>
              <a:avLst/>
              <a:gdLst>
                <a:gd name="T0" fmla="*/ 150813 w 95"/>
                <a:gd name="T1" fmla="*/ 36512 h 47"/>
                <a:gd name="T2" fmla="*/ 0 w 95"/>
                <a:gd name="T3" fmla="*/ 0 h 47"/>
                <a:gd name="T4" fmla="*/ 0 w 95"/>
                <a:gd name="T5" fmla="*/ 74612 h 47"/>
                <a:gd name="T6" fmla="*/ 150813 w 95"/>
                <a:gd name="T7" fmla="*/ 36512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3" name="Freeform 345"/>
            <p:cNvSpPr>
              <a:spLocks/>
            </p:cNvSpPr>
            <p:nvPr/>
          </p:nvSpPr>
          <p:spPr bwMode="auto">
            <a:xfrm>
              <a:off x="980598" y="3866908"/>
              <a:ext cx="150813" cy="74613"/>
            </a:xfrm>
            <a:custGeom>
              <a:avLst/>
              <a:gdLst>
                <a:gd name="T0" fmla="*/ 150813 w 95"/>
                <a:gd name="T1" fmla="*/ 36513 h 47"/>
                <a:gd name="T2" fmla="*/ 0 w 95"/>
                <a:gd name="T3" fmla="*/ 0 h 47"/>
                <a:gd name="T4" fmla="*/ 0 w 95"/>
                <a:gd name="T5" fmla="*/ 74613 h 47"/>
                <a:gd name="T6" fmla="*/ 150813 w 95"/>
                <a:gd name="T7" fmla="*/ 36513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4" name="Freeform 346"/>
            <p:cNvSpPr>
              <a:spLocks/>
            </p:cNvSpPr>
            <p:nvPr/>
          </p:nvSpPr>
          <p:spPr bwMode="auto">
            <a:xfrm>
              <a:off x="980598" y="4152658"/>
              <a:ext cx="150813" cy="76200"/>
            </a:xfrm>
            <a:custGeom>
              <a:avLst/>
              <a:gdLst>
                <a:gd name="T0" fmla="*/ 150813 w 95"/>
                <a:gd name="T1" fmla="*/ 38100 h 48"/>
                <a:gd name="T2" fmla="*/ 0 w 95"/>
                <a:gd name="T3" fmla="*/ 0 h 48"/>
                <a:gd name="T4" fmla="*/ 0 w 95"/>
                <a:gd name="T5" fmla="*/ 76200 h 48"/>
                <a:gd name="T6" fmla="*/ 150813 w 95"/>
                <a:gd name="T7" fmla="*/ 3810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8"/>
                <a:gd name="T14" fmla="*/ 95 w 9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8">
                  <a:moveTo>
                    <a:pt x="95" y="24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5" name="Freeform 347"/>
            <p:cNvSpPr>
              <a:spLocks/>
            </p:cNvSpPr>
            <p:nvPr/>
          </p:nvSpPr>
          <p:spPr bwMode="auto">
            <a:xfrm>
              <a:off x="980598" y="4439996"/>
              <a:ext cx="150813" cy="74612"/>
            </a:xfrm>
            <a:custGeom>
              <a:avLst/>
              <a:gdLst>
                <a:gd name="T0" fmla="*/ 150813 w 95"/>
                <a:gd name="T1" fmla="*/ 38100 h 47"/>
                <a:gd name="T2" fmla="*/ 0 w 95"/>
                <a:gd name="T3" fmla="*/ 0 h 47"/>
                <a:gd name="T4" fmla="*/ 0 w 95"/>
                <a:gd name="T5" fmla="*/ 74612 h 47"/>
                <a:gd name="T6" fmla="*/ 150813 w 95"/>
                <a:gd name="T7" fmla="*/ 38100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6" name="Freeform 348"/>
            <p:cNvSpPr>
              <a:spLocks/>
            </p:cNvSpPr>
            <p:nvPr/>
          </p:nvSpPr>
          <p:spPr bwMode="auto">
            <a:xfrm>
              <a:off x="980598" y="4713046"/>
              <a:ext cx="150813" cy="74612"/>
            </a:xfrm>
            <a:custGeom>
              <a:avLst/>
              <a:gdLst>
                <a:gd name="T0" fmla="*/ 150813 w 95"/>
                <a:gd name="T1" fmla="*/ 36512 h 47"/>
                <a:gd name="T2" fmla="*/ 0 w 95"/>
                <a:gd name="T3" fmla="*/ 0 h 47"/>
                <a:gd name="T4" fmla="*/ 0 w 95"/>
                <a:gd name="T5" fmla="*/ 74612 h 47"/>
                <a:gd name="T6" fmla="*/ 150813 w 95"/>
                <a:gd name="T7" fmla="*/ 36512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7" name="Freeform 349"/>
            <p:cNvSpPr>
              <a:spLocks/>
            </p:cNvSpPr>
            <p:nvPr/>
          </p:nvSpPr>
          <p:spPr bwMode="auto">
            <a:xfrm>
              <a:off x="980598" y="4989271"/>
              <a:ext cx="150813" cy="76200"/>
            </a:xfrm>
            <a:custGeom>
              <a:avLst/>
              <a:gdLst>
                <a:gd name="T0" fmla="*/ 150813 w 95"/>
                <a:gd name="T1" fmla="*/ 38100 h 48"/>
                <a:gd name="T2" fmla="*/ 0 w 95"/>
                <a:gd name="T3" fmla="*/ 0 h 48"/>
                <a:gd name="T4" fmla="*/ 0 w 95"/>
                <a:gd name="T5" fmla="*/ 76200 h 48"/>
                <a:gd name="T6" fmla="*/ 150813 w 95"/>
                <a:gd name="T7" fmla="*/ 3810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8"/>
                <a:gd name="T14" fmla="*/ 95 w 9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8">
                  <a:moveTo>
                    <a:pt x="95" y="24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8" name="Rectangle 350"/>
            <p:cNvSpPr>
              <a:spLocks noChangeArrowheads="1"/>
            </p:cNvSpPr>
            <p:nvPr/>
          </p:nvSpPr>
          <p:spPr bwMode="auto">
            <a:xfrm>
              <a:off x="852844" y="3712027"/>
              <a:ext cx="85943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800" dirty="0"/>
            </a:p>
          </p:txBody>
        </p:sp>
        <p:sp>
          <p:nvSpPr>
            <p:cNvPr id="20499" name="Rectangle 351"/>
            <p:cNvSpPr>
              <a:spLocks noChangeArrowheads="1"/>
            </p:cNvSpPr>
            <p:nvPr/>
          </p:nvSpPr>
          <p:spPr bwMode="auto">
            <a:xfrm>
              <a:off x="871061" y="3968508"/>
              <a:ext cx="95492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</a:t>
              </a:r>
            </a:p>
          </p:txBody>
        </p:sp>
        <p:sp>
          <p:nvSpPr>
            <p:cNvPr id="20500" name="Rectangle 352"/>
            <p:cNvSpPr>
              <a:spLocks noChangeArrowheads="1"/>
            </p:cNvSpPr>
            <p:nvPr/>
          </p:nvSpPr>
          <p:spPr bwMode="auto">
            <a:xfrm>
              <a:off x="871061" y="4300296"/>
              <a:ext cx="85943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s</a:t>
              </a:r>
            </a:p>
          </p:txBody>
        </p:sp>
        <p:sp>
          <p:nvSpPr>
            <p:cNvPr id="20502" name="Rectangle 354"/>
            <p:cNvSpPr>
              <a:spLocks noChangeArrowheads="1"/>
            </p:cNvSpPr>
            <p:nvPr/>
          </p:nvSpPr>
          <p:spPr bwMode="auto">
            <a:xfrm>
              <a:off x="871061" y="4847983"/>
              <a:ext cx="95492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d</a:t>
              </a:r>
            </a:p>
          </p:txBody>
        </p:sp>
        <p:sp>
          <p:nvSpPr>
            <p:cNvPr id="20503" name="Rectangle 355"/>
            <p:cNvSpPr>
              <a:spLocks noChangeArrowheads="1"/>
            </p:cNvSpPr>
            <p:nvPr/>
          </p:nvSpPr>
          <p:spPr bwMode="auto">
            <a:xfrm>
              <a:off x="2730023" y="4063758"/>
              <a:ext cx="105041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F</a:t>
              </a:r>
              <a:endParaRPr lang="en-US" altLang="en-US" sz="1800" dirty="0"/>
            </a:p>
          </p:txBody>
        </p:sp>
        <p:sp>
          <p:nvSpPr>
            <p:cNvPr id="20504" name="Rectangle 356"/>
            <p:cNvSpPr>
              <a:spLocks noChangeArrowheads="1"/>
            </p:cNvSpPr>
            <p:nvPr/>
          </p:nvSpPr>
          <p:spPr bwMode="auto">
            <a:xfrm>
              <a:off x="1596548" y="3635133"/>
              <a:ext cx="700244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 err="1">
                  <a:solidFill>
                    <a:srgbClr val="000000"/>
                  </a:solidFill>
                  <a:latin typeface="Helvetica" pitchFamily="34" charset="0"/>
                </a:rPr>
                <a:t>BeltWarn</a:t>
              </a:r>
              <a:endParaRPr lang="en-US" altLang="en-US" sz="1800" dirty="0"/>
            </a:p>
          </p:txBody>
        </p:sp>
        <p:sp>
          <p:nvSpPr>
            <p:cNvPr id="20505" name="Freeform 357"/>
            <p:cNvSpPr>
              <a:spLocks/>
            </p:cNvSpPr>
            <p:nvPr/>
          </p:nvSpPr>
          <p:spPr bwMode="auto">
            <a:xfrm>
              <a:off x="1675923" y="4003433"/>
              <a:ext cx="388938" cy="374650"/>
            </a:xfrm>
            <a:custGeom>
              <a:avLst/>
              <a:gdLst>
                <a:gd name="T0" fmla="*/ 0 w 83"/>
                <a:gd name="T1" fmla="*/ 374650 h 80"/>
                <a:gd name="T2" fmla="*/ 201498 w 83"/>
                <a:gd name="T3" fmla="*/ 374650 h 80"/>
                <a:gd name="T4" fmla="*/ 388938 w 83"/>
                <a:gd name="T5" fmla="*/ 187325 h 80"/>
                <a:gd name="T6" fmla="*/ 201498 w 83"/>
                <a:gd name="T7" fmla="*/ 0 h 80"/>
                <a:gd name="T8" fmla="*/ 0 w 83"/>
                <a:gd name="T9" fmla="*/ 0 h 80"/>
                <a:gd name="T10" fmla="*/ 0 w 83"/>
                <a:gd name="T11" fmla="*/ 374650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3"/>
                <a:gd name="T19" fmla="*/ 0 h 80"/>
                <a:gd name="T20" fmla="*/ 83 w 83"/>
                <a:gd name="T21" fmla="*/ 80 h 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3" h="80">
                  <a:moveTo>
                    <a:pt x="0" y="80"/>
                  </a:moveTo>
                  <a:cubicBezTo>
                    <a:pt x="43" y="80"/>
                    <a:pt x="43" y="80"/>
                    <a:pt x="43" y="80"/>
                  </a:cubicBezTo>
                  <a:cubicBezTo>
                    <a:pt x="65" y="80"/>
                    <a:pt x="83" y="62"/>
                    <a:pt x="83" y="40"/>
                  </a:cubicBezTo>
                  <a:cubicBezTo>
                    <a:pt x="83" y="18"/>
                    <a:pt x="65" y="0"/>
                    <a:pt x="4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06" name="Freeform 358"/>
            <p:cNvSpPr>
              <a:spLocks/>
            </p:cNvSpPr>
            <p:nvPr/>
          </p:nvSpPr>
          <p:spPr bwMode="auto">
            <a:xfrm>
              <a:off x="1229836" y="4332046"/>
              <a:ext cx="230187" cy="290512"/>
            </a:xfrm>
            <a:custGeom>
              <a:avLst/>
              <a:gdLst>
                <a:gd name="T0" fmla="*/ 0 w 145"/>
                <a:gd name="T1" fmla="*/ 290512 h 183"/>
                <a:gd name="T2" fmla="*/ 230187 w 145"/>
                <a:gd name="T3" fmla="*/ 146050 h 183"/>
                <a:gd name="T4" fmla="*/ 0 w 145"/>
                <a:gd name="T5" fmla="*/ 0 h 183"/>
                <a:gd name="T6" fmla="*/ 0 w 145"/>
                <a:gd name="T7" fmla="*/ 290512 h 1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"/>
                <a:gd name="T13" fmla="*/ 0 h 183"/>
                <a:gd name="T14" fmla="*/ 145 w 145"/>
                <a:gd name="T15" fmla="*/ 183 h 1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" h="183">
                  <a:moveTo>
                    <a:pt x="0" y="183"/>
                  </a:moveTo>
                  <a:lnTo>
                    <a:pt x="145" y="92"/>
                  </a:lnTo>
                  <a:lnTo>
                    <a:pt x="0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07" name="Oval 359"/>
            <p:cNvSpPr>
              <a:spLocks noChangeArrowheads="1"/>
            </p:cNvSpPr>
            <p:nvPr/>
          </p:nvSpPr>
          <p:spPr bwMode="auto">
            <a:xfrm>
              <a:off x="1464786" y="4439996"/>
              <a:ext cx="69850" cy="69850"/>
            </a:xfrm>
            <a:prstGeom prst="ellipse">
              <a:avLst/>
            </a:prstGeom>
            <a:solidFill>
              <a:srgbClr val="FFFFFF"/>
            </a:solidFill>
            <a:ln w="7938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11" name="Freeform 363"/>
            <p:cNvSpPr>
              <a:spLocks/>
            </p:cNvSpPr>
            <p:nvPr/>
          </p:nvSpPr>
          <p:spPr bwMode="auto">
            <a:xfrm>
              <a:off x="2206148" y="4092333"/>
              <a:ext cx="381000" cy="376238"/>
            </a:xfrm>
            <a:custGeom>
              <a:avLst/>
              <a:gdLst>
                <a:gd name="T0" fmla="*/ 381000 w 81"/>
                <a:gd name="T1" fmla="*/ 188119 h 80"/>
                <a:gd name="T2" fmla="*/ 0 w 81"/>
                <a:gd name="T3" fmla="*/ 376238 h 80"/>
                <a:gd name="T4" fmla="*/ 56444 w 81"/>
                <a:gd name="T5" fmla="*/ 192822 h 80"/>
                <a:gd name="T6" fmla="*/ 56444 w 81"/>
                <a:gd name="T7" fmla="*/ 188119 h 80"/>
                <a:gd name="T8" fmla="*/ 0 w 81"/>
                <a:gd name="T9" fmla="*/ 0 h 80"/>
                <a:gd name="T10" fmla="*/ 381000 w 81"/>
                <a:gd name="T11" fmla="*/ 188119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1"/>
                <a:gd name="T19" fmla="*/ 0 h 80"/>
                <a:gd name="T20" fmla="*/ 81 w 81"/>
                <a:gd name="T21" fmla="*/ 80 h 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1" h="80">
                  <a:moveTo>
                    <a:pt x="81" y="40"/>
                  </a:moveTo>
                  <a:cubicBezTo>
                    <a:pt x="81" y="40"/>
                    <a:pt x="62" y="80"/>
                    <a:pt x="0" y="80"/>
                  </a:cubicBezTo>
                  <a:cubicBezTo>
                    <a:pt x="0" y="80"/>
                    <a:pt x="12" y="76"/>
                    <a:pt x="12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"/>
                    <a:pt x="0" y="0"/>
                    <a:pt x="0" y="0"/>
                  </a:cubicBezTo>
                  <a:cubicBezTo>
                    <a:pt x="62" y="0"/>
                    <a:pt x="81" y="40"/>
                    <a:pt x="81" y="40"/>
                  </a:cubicBezTo>
                  <a:close/>
                </a:path>
              </a:pathLst>
            </a:cu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12" name="Line 364"/>
            <p:cNvSpPr>
              <a:spLocks noChangeShapeType="1"/>
            </p:cNvSpPr>
            <p:nvPr/>
          </p:nvSpPr>
          <p:spPr bwMode="auto">
            <a:xfrm>
              <a:off x="2069623" y="4185996"/>
              <a:ext cx="188913" cy="158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3" name="Freeform 365"/>
            <p:cNvSpPr>
              <a:spLocks/>
            </p:cNvSpPr>
            <p:nvPr/>
          </p:nvSpPr>
          <p:spPr bwMode="auto">
            <a:xfrm>
              <a:off x="877411" y="4373321"/>
              <a:ext cx="1385887" cy="658812"/>
            </a:xfrm>
            <a:custGeom>
              <a:avLst/>
              <a:gdLst>
                <a:gd name="T0" fmla="*/ 1385887 w 873"/>
                <a:gd name="T1" fmla="*/ 0 h 415"/>
                <a:gd name="T2" fmla="*/ 1282700 w 873"/>
                <a:gd name="T3" fmla="*/ 0 h 415"/>
                <a:gd name="T4" fmla="*/ 1282700 w 873"/>
                <a:gd name="T5" fmla="*/ 658812 h 415"/>
                <a:gd name="T6" fmla="*/ 0 w 873"/>
                <a:gd name="T7" fmla="*/ 658812 h 4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3"/>
                <a:gd name="T13" fmla="*/ 0 h 415"/>
                <a:gd name="T14" fmla="*/ 873 w 873"/>
                <a:gd name="T15" fmla="*/ 415 h 4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3" h="415">
                  <a:moveTo>
                    <a:pt x="873" y="0"/>
                  </a:moveTo>
                  <a:lnTo>
                    <a:pt x="808" y="0"/>
                  </a:lnTo>
                  <a:lnTo>
                    <a:pt x="808" y="415"/>
                  </a:lnTo>
                  <a:lnTo>
                    <a:pt x="0" y="415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14" name="Line 366"/>
            <p:cNvSpPr>
              <a:spLocks noChangeShapeType="1"/>
            </p:cNvSpPr>
            <p:nvPr/>
          </p:nvSpPr>
          <p:spPr bwMode="auto">
            <a:xfrm>
              <a:off x="2587148" y="4279658"/>
              <a:ext cx="242888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5" name="Freeform 375"/>
            <p:cNvSpPr>
              <a:spLocks/>
            </p:cNvSpPr>
            <p:nvPr/>
          </p:nvSpPr>
          <p:spPr bwMode="auto">
            <a:xfrm>
              <a:off x="872648" y="4279658"/>
              <a:ext cx="1390650" cy="469900"/>
            </a:xfrm>
            <a:custGeom>
              <a:avLst/>
              <a:gdLst>
                <a:gd name="T0" fmla="*/ 1390650 w 876"/>
                <a:gd name="T1" fmla="*/ 0 h 296"/>
                <a:gd name="T2" fmla="*/ 1211263 w 876"/>
                <a:gd name="T3" fmla="*/ 0 h 296"/>
                <a:gd name="T4" fmla="*/ 1211263 w 876"/>
                <a:gd name="T5" fmla="*/ 469900 h 296"/>
                <a:gd name="T6" fmla="*/ 0 w 876"/>
                <a:gd name="T7" fmla="*/ 469900 h 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6"/>
                <a:gd name="T13" fmla="*/ 0 h 296"/>
                <a:gd name="T14" fmla="*/ 876 w 876"/>
                <a:gd name="T15" fmla="*/ 296 h 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6" h="296">
                  <a:moveTo>
                    <a:pt x="876" y="0"/>
                  </a:moveTo>
                  <a:lnTo>
                    <a:pt x="763" y="0"/>
                  </a:lnTo>
                  <a:lnTo>
                    <a:pt x="763" y="296"/>
                  </a:lnTo>
                  <a:lnTo>
                    <a:pt x="0" y="296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16" name="Line 486"/>
            <p:cNvSpPr>
              <a:spLocks noChangeShapeType="1"/>
            </p:cNvSpPr>
            <p:nvPr/>
          </p:nvSpPr>
          <p:spPr bwMode="auto">
            <a:xfrm>
              <a:off x="666273" y="3598621"/>
              <a:ext cx="1588" cy="1587"/>
            </a:xfrm>
            <a:prstGeom prst="line">
              <a:avLst/>
            </a:prstGeom>
            <a:noFill/>
            <a:ln w="3175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2.3. Example 2: Mapping into 3-input LUTs </a:t>
            </a:r>
            <a:endParaRPr lang="en-GB" dirty="0"/>
          </a:p>
        </p:txBody>
      </p:sp>
      <p:sp>
        <p:nvSpPr>
          <p:cNvPr id="18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176" name="Rectangle 352"/>
          <p:cNvSpPr>
            <a:spLocks noChangeArrowheads="1"/>
          </p:cNvSpPr>
          <p:nvPr/>
        </p:nvSpPr>
        <p:spPr bwMode="auto">
          <a:xfrm>
            <a:off x="925771" y="4746918"/>
            <a:ext cx="641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/>
              <p:cNvSpPr txBox="1"/>
              <p:nvPr/>
            </p:nvSpPr>
            <p:spPr>
              <a:xfrm>
                <a:off x="1258640" y="5710306"/>
                <a:ext cx="19452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𝑘𝑝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3" name="TextBox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640" y="5710306"/>
                <a:ext cx="1945276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2188" r="-1563" b="-3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895242" y="3124402"/>
            <a:ext cx="1484233" cy="2946559"/>
            <a:chOff x="6951161" y="3079952"/>
            <a:chExt cx="1290634" cy="2562225"/>
          </a:xfrm>
        </p:grpSpPr>
        <p:grpSp>
          <p:nvGrpSpPr>
            <p:cNvPr id="20525" name="Group 515"/>
            <p:cNvGrpSpPr>
              <a:grpSpLocks/>
            </p:cNvGrpSpPr>
            <p:nvPr/>
          </p:nvGrpSpPr>
          <p:grpSpPr bwMode="auto">
            <a:xfrm>
              <a:off x="7184520" y="3079952"/>
              <a:ext cx="1057275" cy="2562225"/>
              <a:chOff x="4534" y="2197"/>
              <a:chExt cx="666" cy="1614"/>
            </a:xfrm>
          </p:grpSpPr>
          <p:sp>
            <p:nvSpPr>
              <p:cNvPr id="20529" name="Line 368"/>
              <p:cNvSpPr>
                <a:spLocks noChangeShapeType="1"/>
              </p:cNvSpPr>
              <p:nvPr/>
            </p:nvSpPr>
            <p:spPr bwMode="auto">
              <a:xfrm>
                <a:off x="4949" y="3616"/>
                <a:ext cx="1" cy="15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27" name="Rectangle 339"/>
              <p:cNvSpPr>
                <a:spLocks noChangeArrowheads="1"/>
              </p:cNvSpPr>
              <p:nvPr/>
            </p:nvSpPr>
            <p:spPr bwMode="auto">
              <a:xfrm>
                <a:off x="4534" y="2197"/>
                <a:ext cx="666" cy="1449"/>
              </a:xfrm>
              <a:prstGeom prst="rect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0528" name="Freeform 367"/>
              <p:cNvSpPr>
                <a:spLocks/>
              </p:cNvSpPr>
              <p:nvPr/>
            </p:nvSpPr>
            <p:spPr bwMode="auto">
              <a:xfrm>
                <a:off x="4925" y="3716"/>
                <a:ext cx="47" cy="95"/>
              </a:xfrm>
              <a:custGeom>
                <a:avLst/>
                <a:gdLst>
                  <a:gd name="T0" fmla="*/ 24 w 47"/>
                  <a:gd name="T1" fmla="*/ 95 h 95"/>
                  <a:gd name="T2" fmla="*/ 47 w 47"/>
                  <a:gd name="T3" fmla="*/ 0 h 95"/>
                  <a:gd name="T4" fmla="*/ 0 w 47"/>
                  <a:gd name="T5" fmla="*/ 0 h 95"/>
                  <a:gd name="T6" fmla="*/ 24 w 47"/>
                  <a:gd name="T7" fmla="*/ 9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95"/>
                  <a:gd name="T14" fmla="*/ 47 w 47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95">
                    <a:moveTo>
                      <a:pt x="24" y="95"/>
                    </a:moveTo>
                    <a:lnTo>
                      <a:pt x="47" y="0"/>
                    </a:lnTo>
                    <a:lnTo>
                      <a:pt x="0" y="0"/>
                    </a:lnTo>
                    <a:lnTo>
                      <a:pt x="24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0543" name="Rectangle 453"/>
              <p:cNvSpPr>
                <a:spLocks noChangeArrowheads="1"/>
              </p:cNvSpPr>
              <p:nvPr/>
            </p:nvSpPr>
            <p:spPr bwMode="auto">
              <a:xfrm>
                <a:off x="4816" y="2405"/>
                <a:ext cx="346" cy="1057"/>
              </a:xfrm>
              <a:prstGeom prst="rect">
                <a:avLst/>
              </a:prstGeom>
              <a:solidFill>
                <a:srgbClr val="D4E0F3"/>
              </a:solidFill>
              <a:ln w="12700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0544" name="Line 454"/>
              <p:cNvSpPr>
                <a:spLocks noChangeShapeType="1"/>
              </p:cNvSpPr>
              <p:nvPr/>
            </p:nvSpPr>
            <p:spPr bwMode="auto">
              <a:xfrm>
                <a:off x="4813" y="253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5" name="Line 455"/>
              <p:cNvSpPr>
                <a:spLocks noChangeShapeType="1"/>
              </p:cNvSpPr>
              <p:nvPr/>
            </p:nvSpPr>
            <p:spPr bwMode="auto">
              <a:xfrm>
                <a:off x="4813" y="2669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6" name="Line 456"/>
              <p:cNvSpPr>
                <a:spLocks noChangeShapeType="1"/>
              </p:cNvSpPr>
              <p:nvPr/>
            </p:nvSpPr>
            <p:spPr bwMode="auto">
              <a:xfrm>
                <a:off x="4813" y="280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7" name="Line 457"/>
              <p:cNvSpPr>
                <a:spLocks noChangeShapeType="1"/>
              </p:cNvSpPr>
              <p:nvPr/>
            </p:nvSpPr>
            <p:spPr bwMode="auto">
              <a:xfrm>
                <a:off x="4813" y="293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8" name="Line 458"/>
              <p:cNvSpPr>
                <a:spLocks noChangeShapeType="1"/>
              </p:cNvSpPr>
              <p:nvPr/>
            </p:nvSpPr>
            <p:spPr bwMode="auto">
              <a:xfrm>
                <a:off x="4813" y="306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9" name="Line 459"/>
              <p:cNvSpPr>
                <a:spLocks noChangeShapeType="1"/>
              </p:cNvSpPr>
              <p:nvPr/>
            </p:nvSpPr>
            <p:spPr bwMode="auto">
              <a:xfrm>
                <a:off x="4813" y="319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50" name="Line 460"/>
              <p:cNvSpPr>
                <a:spLocks noChangeShapeType="1"/>
              </p:cNvSpPr>
              <p:nvPr/>
            </p:nvSpPr>
            <p:spPr bwMode="auto">
              <a:xfrm>
                <a:off x="4813" y="333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62" name="Rectangle 473"/>
              <p:cNvSpPr>
                <a:spLocks noChangeArrowheads="1"/>
              </p:cNvSpPr>
              <p:nvPr/>
            </p:nvSpPr>
            <p:spPr bwMode="auto">
              <a:xfrm>
                <a:off x="4915" y="3494"/>
                <a:ext cx="91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  <a:endParaRPr lang="en-US" altLang="en-US" sz="1800"/>
              </a:p>
            </p:txBody>
          </p:sp>
          <p:sp>
            <p:nvSpPr>
              <p:cNvPr id="20564" name="Rectangle 475"/>
              <p:cNvSpPr>
                <a:spLocks noChangeArrowheads="1"/>
              </p:cNvSpPr>
              <p:nvPr/>
            </p:nvSpPr>
            <p:spPr bwMode="auto">
              <a:xfrm>
                <a:off x="4702" y="242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800"/>
              </a:p>
            </p:txBody>
          </p:sp>
          <p:sp>
            <p:nvSpPr>
              <p:cNvPr id="20565" name="Rectangle 476"/>
              <p:cNvSpPr>
                <a:spLocks noChangeArrowheads="1"/>
              </p:cNvSpPr>
              <p:nvPr/>
            </p:nvSpPr>
            <p:spPr bwMode="auto">
              <a:xfrm>
                <a:off x="4702" y="2551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800"/>
              </a:p>
            </p:txBody>
          </p:sp>
          <p:sp>
            <p:nvSpPr>
              <p:cNvPr id="20566" name="Rectangle 477"/>
              <p:cNvSpPr>
                <a:spLocks noChangeArrowheads="1"/>
              </p:cNvSpPr>
              <p:nvPr/>
            </p:nvSpPr>
            <p:spPr bwMode="auto">
              <a:xfrm>
                <a:off x="4702" y="268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 sz="1800"/>
              </a:p>
            </p:txBody>
          </p:sp>
          <p:sp>
            <p:nvSpPr>
              <p:cNvPr id="20567" name="Rectangle 478"/>
              <p:cNvSpPr>
                <a:spLocks noChangeArrowheads="1"/>
              </p:cNvSpPr>
              <p:nvPr/>
            </p:nvSpPr>
            <p:spPr bwMode="auto">
              <a:xfrm>
                <a:off x="4702" y="281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 sz="1800"/>
              </a:p>
            </p:txBody>
          </p:sp>
          <p:sp>
            <p:nvSpPr>
              <p:cNvPr id="20568" name="Rectangle 479"/>
              <p:cNvSpPr>
                <a:spLocks noChangeArrowheads="1"/>
              </p:cNvSpPr>
              <p:nvPr/>
            </p:nvSpPr>
            <p:spPr bwMode="auto">
              <a:xfrm>
                <a:off x="4702" y="2949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 sz="1800"/>
              </a:p>
            </p:txBody>
          </p:sp>
          <p:sp>
            <p:nvSpPr>
              <p:cNvPr id="20569" name="Rectangle 480"/>
              <p:cNvSpPr>
                <a:spLocks noChangeArrowheads="1"/>
              </p:cNvSpPr>
              <p:nvPr/>
            </p:nvSpPr>
            <p:spPr bwMode="auto">
              <a:xfrm>
                <a:off x="4702" y="3078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 sz="1800"/>
              </a:p>
            </p:txBody>
          </p:sp>
          <p:sp>
            <p:nvSpPr>
              <p:cNvPr id="20570" name="Rectangle 481"/>
              <p:cNvSpPr>
                <a:spLocks noChangeArrowheads="1"/>
              </p:cNvSpPr>
              <p:nvPr/>
            </p:nvSpPr>
            <p:spPr bwMode="auto">
              <a:xfrm>
                <a:off x="4702" y="321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 sz="1800"/>
              </a:p>
            </p:txBody>
          </p:sp>
          <p:sp>
            <p:nvSpPr>
              <p:cNvPr id="20571" name="Rectangle 482"/>
              <p:cNvSpPr>
                <a:spLocks noChangeArrowheads="1"/>
              </p:cNvSpPr>
              <p:nvPr/>
            </p:nvSpPr>
            <p:spPr bwMode="auto">
              <a:xfrm>
                <a:off x="4702" y="3340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7</a:t>
                </a:r>
                <a:endParaRPr lang="en-US" altLang="en-US" sz="1800"/>
              </a:p>
            </p:txBody>
          </p:sp>
        </p:grpSp>
        <p:sp>
          <p:nvSpPr>
            <p:cNvPr id="260" name="Line 448"/>
            <p:cNvSpPr>
              <a:spLocks noChangeShapeType="1"/>
            </p:cNvSpPr>
            <p:nvPr/>
          </p:nvSpPr>
          <p:spPr bwMode="auto">
            <a:xfrm>
              <a:off x="6951161" y="42840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1" name="Line 450"/>
            <p:cNvSpPr>
              <a:spLocks noChangeShapeType="1"/>
            </p:cNvSpPr>
            <p:nvPr/>
          </p:nvSpPr>
          <p:spPr bwMode="auto">
            <a:xfrm>
              <a:off x="6951161" y="44618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2" name="Line 452"/>
            <p:cNvSpPr>
              <a:spLocks noChangeShapeType="1"/>
            </p:cNvSpPr>
            <p:nvPr/>
          </p:nvSpPr>
          <p:spPr bwMode="auto">
            <a:xfrm>
              <a:off x="6951161" y="4636436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3" name="Freeform 447"/>
            <p:cNvSpPr>
              <a:spLocks/>
            </p:cNvSpPr>
            <p:nvPr/>
          </p:nvSpPr>
          <p:spPr bwMode="auto">
            <a:xfrm>
              <a:off x="7044823" y="4245911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64" name="Freeform 449"/>
            <p:cNvSpPr>
              <a:spLocks/>
            </p:cNvSpPr>
            <p:nvPr/>
          </p:nvSpPr>
          <p:spPr bwMode="auto">
            <a:xfrm>
              <a:off x="7044823" y="4425298"/>
              <a:ext cx="150813" cy="74613"/>
            </a:xfrm>
            <a:custGeom>
              <a:avLst/>
              <a:gdLst>
                <a:gd name="T0" fmla="*/ 95 w 95"/>
                <a:gd name="T1" fmla="*/ 23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3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65" name="Freeform 451"/>
            <p:cNvSpPr>
              <a:spLocks/>
            </p:cNvSpPr>
            <p:nvPr/>
          </p:nvSpPr>
          <p:spPr bwMode="auto">
            <a:xfrm>
              <a:off x="7044823" y="4598336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sp>
        <p:nvSpPr>
          <p:cNvPr id="307" name="Rectangle 474"/>
          <p:cNvSpPr>
            <a:spLocks noChangeArrowheads="1"/>
          </p:cNvSpPr>
          <p:nvPr/>
        </p:nvSpPr>
        <p:spPr bwMode="auto">
          <a:xfrm>
            <a:off x="7549017" y="5866484"/>
            <a:ext cx="2693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F2</a:t>
            </a:r>
            <a:endParaRPr lang="en-US" altLang="en-US" sz="1800" dirty="0"/>
          </a:p>
        </p:txBody>
      </p:sp>
      <p:sp>
        <p:nvSpPr>
          <p:cNvPr id="309" name="Rectangle 461"/>
          <p:cNvSpPr>
            <a:spLocks noChangeArrowheads="1"/>
          </p:cNvSpPr>
          <p:nvPr/>
        </p:nvSpPr>
        <p:spPr bwMode="auto">
          <a:xfrm>
            <a:off x="7244419" y="3184576"/>
            <a:ext cx="10130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8x1 </a:t>
            </a:r>
            <a:r>
              <a:rPr lang="en-US" altLang="en-US" sz="1800" dirty="0" err="1">
                <a:solidFill>
                  <a:srgbClr val="000000"/>
                </a:solidFill>
                <a:latin typeface="Helvetica" pitchFamily="34" charset="0"/>
              </a:rPr>
              <a:t>Mem</a:t>
            </a:r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 </a:t>
            </a:r>
            <a:endParaRPr lang="en-US" altLang="en-US" sz="1800" dirty="0"/>
          </a:p>
        </p:txBody>
      </p:sp>
      <p:sp>
        <p:nvSpPr>
          <p:cNvPr id="310" name="Rectangle 483"/>
          <p:cNvSpPr>
            <a:spLocks noChangeArrowheads="1"/>
          </p:cNvSpPr>
          <p:nvPr/>
        </p:nvSpPr>
        <p:spPr bwMode="auto">
          <a:xfrm>
            <a:off x="6607708" y="4304799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 sz="1800" dirty="0"/>
          </a:p>
        </p:txBody>
      </p:sp>
      <p:sp>
        <p:nvSpPr>
          <p:cNvPr id="311" name="Rectangle 484"/>
          <p:cNvSpPr>
            <a:spLocks noChangeArrowheads="1"/>
          </p:cNvSpPr>
          <p:nvPr/>
        </p:nvSpPr>
        <p:spPr bwMode="auto">
          <a:xfrm>
            <a:off x="6635223" y="4566646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 sz="1800" dirty="0"/>
          </a:p>
        </p:txBody>
      </p:sp>
      <p:sp>
        <p:nvSpPr>
          <p:cNvPr id="312" name="Rectangle 485"/>
          <p:cNvSpPr>
            <a:spLocks noChangeArrowheads="1"/>
          </p:cNvSpPr>
          <p:nvPr/>
        </p:nvSpPr>
        <p:spPr bwMode="auto">
          <a:xfrm>
            <a:off x="6635223" y="4825344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 sz="1800" dirty="0"/>
          </a:p>
        </p:txBody>
      </p:sp>
      <p:grpSp>
        <p:nvGrpSpPr>
          <p:cNvPr id="346" name="Group 345"/>
          <p:cNvGrpSpPr>
            <a:grpSpLocks noChangeAspect="1"/>
          </p:cNvGrpSpPr>
          <p:nvPr/>
        </p:nvGrpSpPr>
        <p:grpSpPr>
          <a:xfrm>
            <a:off x="5011833" y="3124402"/>
            <a:ext cx="1484233" cy="2946559"/>
            <a:chOff x="6951161" y="3079952"/>
            <a:chExt cx="1290634" cy="2562225"/>
          </a:xfrm>
        </p:grpSpPr>
        <p:grpSp>
          <p:nvGrpSpPr>
            <p:cNvPr id="347" name="Group 515"/>
            <p:cNvGrpSpPr>
              <a:grpSpLocks/>
            </p:cNvGrpSpPr>
            <p:nvPr/>
          </p:nvGrpSpPr>
          <p:grpSpPr bwMode="auto">
            <a:xfrm>
              <a:off x="7184520" y="3079952"/>
              <a:ext cx="1057275" cy="2562225"/>
              <a:chOff x="4534" y="2197"/>
              <a:chExt cx="666" cy="1614"/>
            </a:xfrm>
          </p:grpSpPr>
          <p:sp>
            <p:nvSpPr>
              <p:cNvPr id="354" name="Line 368"/>
              <p:cNvSpPr>
                <a:spLocks noChangeShapeType="1"/>
              </p:cNvSpPr>
              <p:nvPr/>
            </p:nvSpPr>
            <p:spPr bwMode="auto">
              <a:xfrm>
                <a:off x="4949" y="3616"/>
                <a:ext cx="1" cy="15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5" name="Rectangle 339"/>
              <p:cNvSpPr>
                <a:spLocks noChangeArrowheads="1"/>
              </p:cNvSpPr>
              <p:nvPr/>
            </p:nvSpPr>
            <p:spPr bwMode="auto">
              <a:xfrm>
                <a:off x="4534" y="2197"/>
                <a:ext cx="666" cy="1449"/>
              </a:xfrm>
              <a:prstGeom prst="rect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56" name="Freeform 367"/>
              <p:cNvSpPr>
                <a:spLocks/>
              </p:cNvSpPr>
              <p:nvPr/>
            </p:nvSpPr>
            <p:spPr bwMode="auto">
              <a:xfrm>
                <a:off x="4925" y="3716"/>
                <a:ext cx="47" cy="95"/>
              </a:xfrm>
              <a:custGeom>
                <a:avLst/>
                <a:gdLst>
                  <a:gd name="T0" fmla="*/ 24 w 47"/>
                  <a:gd name="T1" fmla="*/ 95 h 95"/>
                  <a:gd name="T2" fmla="*/ 47 w 47"/>
                  <a:gd name="T3" fmla="*/ 0 h 95"/>
                  <a:gd name="T4" fmla="*/ 0 w 47"/>
                  <a:gd name="T5" fmla="*/ 0 h 95"/>
                  <a:gd name="T6" fmla="*/ 24 w 47"/>
                  <a:gd name="T7" fmla="*/ 9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95"/>
                  <a:gd name="T14" fmla="*/ 47 w 47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95">
                    <a:moveTo>
                      <a:pt x="24" y="95"/>
                    </a:moveTo>
                    <a:lnTo>
                      <a:pt x="47" y="0"/>
                    </a:lnTo>
                    <a:lnTo>
                      <a:pt x="0" y="0"/>
                    </a:lnTo>
                    <a:lnTo>
                      <a:pt x="24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57" name="Rectangle 453"/>
              <p:cNvSpPr>
                <a:spLocks noChangeArrowheads="1"/>
              </p:cNvSpPr>
              <p:nvPr/>
            </p:nvSpPr>
            <p:spPr bwMode="auto">
              <a:xfrm>
                <a:off x="4816" y="2405"/>
                <a:ext cx="346" cy="1057"/>
              </a:xfrm>
              <a:prstGeom prst="rect">
                <a:avLst/>
              </a:prstGeom>
              <a:solidFill>
                <a:srgbClr val="D4E0F3"/>
              </a:solidFill>
              <a:ln w="12700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58" name="Line 454"/>
              <p:cNvSpPr>
                <a:spLocks noChangeShapeType="1"/>
              </p:cNvSpPr>
              <p:nvPr/>
            </p:nvSpPr>
            <p:spPr bwMode="auto">
              <a:xfrm>
                <a:off x="4813" y="253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" name="Line 455"/>
              <p:cNvSpPr>
                <a:spLocks noChangeShapeType="1"/>
              </p:cNvSpPr>
              <p:nvPr/>
            </p:nvSpPr>
            <p:spPr bwMode="auto">
              <a:xfrm>
                <a:off x="4813" y="2669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0" name="Line 456"/>
              <p:cNvSpPr>
                <a:spLocks noChangeShapeType="1"/>
              </p:cNvSpPr>
              <p:nvPr/>
            </p:nvSpPr>
            <p:spPr bwMode="auto">
              <a:xfrm>
                <a:off x="4813" y="280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1" name="Line 457"/>
              <p:cNvSpPr>
                <a:spLocks noChangeShapeType="1"/>
              </p:cNvSpPr>
              <p:nvPr/>
            </p:nvSpPr>
            <p:spPr bwMode="auto">
              <a:xfrm>
                <a:off x="4813" y="293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2" name="Line 458"/>
              <p:cNvSpPr>
                <a:spLocks noChangeShapeType="1"/>
              </p:cNvSpPr>
              <p:nvPr/>
            </p:nvSpPr>
            <p:spPr bwMode="auto">
              <a:xfrm>
                <a:off x="4813" y="306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3" name="Line 459"/>
              <p:cNvSpPr>
                <a:spLocks noChangeShapeType="1"/>
              </p:cNvSpPr>
              <p:nvPr/>
            </p:nvSpPr>
            <p:spPr bwMode="auto">
              <a:xfrm>
                <a:off x="4813" y="319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4" name="Line 460"/>
              <p:cNvSpPr>
                <a:spLocks noChangeShapeType="1"/>
              </p:cNvSpPr>
              <p:nvPr/>
            </p:nvSpPr>
            <p:spPr bwMode="auto">
              <a:xfrm>
                <a:off x="4813" y="333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65" name="Rectangle 473"/>
              <p:cNvSpPr>
                <a:spLocks noChangeArrowheads="1"/>
              </p:cNvSpPr>
              <p:nvPr/>
            </p:nvSpPr>
            <p:spPr bwMode="auto">
              <a:xfrm>
                <a:off x="4915" y="3494"/>
                <a:ext cx="91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  <a:endParaRPr lang="en-US" altLang="en-US" sz="1800"/>
              </a:p>
            </p:txBody>
          </p:sp>
          <p:sp>
            <p:nvSpPr>
              <p:cNvPr id="366" name="Rectangle 475"/>
              <p:cNvSpPr>
                <a:spLocks noChangeArrowheads="1"/>
              </p:cNvSpPr>
              <p:nvPr/>
            </p:nvSpPr>
            <p:spPr bwMode="auto">
              <a:xfrm>
                <a:off x="4702" y="242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800"/>
              </a:p>
            </p:txBody>
          </p:sp>
          <p:sp>
            <p:nvSpPr>
              <p:cNvPr id="367" name="Rectangle 476"/>
              <p:cNvSpPr>
                <a:spLocks noChangeArrowheads="1"/>
              </p:cNvSpPr>
              <p:nvPr/>
            </p:nvSpPr>
            <p:spPr bwMode="auto">
              <a:xfrm>
                <a:off x="4702" y="2551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800"/>
              </a:p>
            </p:txBody>
          </p:sp>
          <p:sp>
            <p:nvSpPr>
              <p:cNvPr id="368" name="Rectangle 477"/>
              <p:cNvSpPr>
                <a:spLocks noChangeArrowheads="1"/>
              </p:cNvSpPr>
              <p:nvPr/>
            </p:nvSpPr>
            <p:spPr bwMode="auto">
              <a:xfrm>
                <a:off x="4702" y="268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 sz="1800"/>
              </a:p>
            </p:txBody>
          </p:sp>
          <p:sp>
            <p:nvSpPr>
              <p:cNvPr id="369" name="Rectangle 478"/>
              <p:cNvSpPr>
                <a:spLocks noChangeArrowheads="1"/>
              </p:cNvSpPr>
              <p:nvPr/>
            </p:nvSpPr>
            <p:spPr bwMode="auto">
              <a:xfrm>
                <a:off x="4702" y="281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 sz="1800"/>
              </a:p>
            </p:txBody>
          </p:sp>
          <p:sp>
            <p:nvSpPr>
              <p:cNvPr id="370" name="Rectangle 479"/>
              <p:cNvSpPr>
                <a:spLocks noChangeArrowheads="1"/>
              </p:cNvSpPr>
              <p:nvPr/>
            </p:nvSpPr>
            <p:spPr bwMode="auto">
              <a:xfrm>
                <a:off x="4702" y="2949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 sz="1800"/>
              </a:p>
            </p:txBody>
          </p:sp>
          <p:sp>
            <p:nvSpPr>
              <p:cNvPr id="371" name="Rectangle 480"/>
              <p:cNvSpPr>
                <a:spLocks noChangeArrowheads="1"/>
              </p:cNvSpPr>
              <p:nvPr/>
            </p:nvSpPr>
            <p:spPr bwMode="auto">
              <a:xfrm>
                <a:off x="4702" y="3078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 sz="1800"/>
              </a:p>
            </p:txBody>
          </p:sp>
          <p:sp>
            <p:nvSpPr>
              <p:cNvPr id="372" name="Rectangle 481"/>
              <p:cNvSpPr>
                <a:spLocks noChangeArrowheads="1"/>
              </p:cNvSpPr>
              <p:nvPr/>
            </p:nvSpPr>
            <p:spPr bwMode="auto">
              <a:xfrm>
                <a:off x="4702" y="321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 sz="1800"/>
              </a:p>
            </p:txBody>
          </p:sp>
          <p:sp>
            <p:nvSpPr>
              <p:cNvPr id="373" name="Rectangle 482"/>
              <p:cNvSpPr>
                <a:spLocks noChangeArrowheads="1"/>
              </p:cNvSpPr>
              <p:nvPr/>
            </p:nvSpPr>
            <p:spPr bwMode="auto">
              <a:xfrm>
                <a:off x="4702" y="3340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7</a:t>
                </a:r>
                <a:endParaRPr lang="en-US" altLang="en-US" sz="1800"/>
              </a:p>
            </p:txBody>
          </p:sp>
        </p:grpSp>
        <p:sp>
          <p:nvSpPr>
            <p:cNvPr id="348" name="Line 448"/>
            <p:cNvSpPr>
              <a:spLocks noChangeShapeType="1"/>
            </p:cNvSpPr>
            <p:nvPr/>
          </p:nvSpPr>
          <p:spPr bwMode="auto">
            <a:xfrm>
              <a:off x="6951161" y="42840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49" name="Line 450"/>
            <p:cNvSpPr>
              <a:spLocks noChangeShapeType="1"/>
            </p:cNvSpPr>
            <p:nvPr/>
          </p:nvSpPr>
          <p:spPr bwMode="auto">
            <a:xfrm>
              <a:off x="6951161" y="44618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0" name="Line 452"/>
            <p:cNvSpPr>
              <a:spLocks noChangeShapeType="1"/>
            </p:cNvSpPr>
            <p:nvPr/>
          </p:nvSpPr>
          <p:spPr bwMode="auto">
            <a:xfrm>
              <a:off x="6951161" y="4636436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51" name="Freeform 447"/>
            <p:cNvSpPr>
              <a:spLocks/>
            </p:cNvSpPr>
            <p:nvPr/>
          </p:nvSpPr>
          <p:spPr bwMode="auto">
            <a:xfrm>
              <a:off x="7044823" y="4245911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352" name="Freeform 449"/>
            <p:cNvSpPr>
              <a:spLocks/>
            </p:cNvSpPr>
            <p:nvPr/>
          </p:nvSpPr>
          <p:spPr bwMode="auto">
            <a:xfrm>
              <a:off x="7044823" y="4425298"/>
              <a:ext cx="150813" cy="74613"/>
            </a:xfrm>
            <a:custGeom>
              <a:avLst/>
              <a:gdLst>
                <a:gd name="T0" fmla="*/ 95 w 95"/>
                <a:gd name="T1" fmla="*/ 23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3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353" name="Freeform 451"/>
            <p:cNvSpPr>
              <a:spLocks/>
            </p:cNvSpPr>
            <p:nvPr/>
          </p:nvSpPr>
          <p:spPr bwMode="auto">
            <a:xfrm>
              <a:off x="7044823" y="4598336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sp>
        <p:nvSpPr>
          <p:cNvPr id="374" name="Rectangle 474"/>
          <p:cNvSpPr>
            <a:spLocks noChangeArrowheads="1"/>
          </p:cNvSpPr>
          <p:nvPr/>
        </p:nvSpPr>
        <p:spPr bwMode="auto">
          <a:xfrm>
            <a:off x="5665608" y="5866484"/>
            <a:ext cx="2693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F2</a:t>
            </a:r>
            <a:endParaRPr lang="en-US" altLang="en-US" sz="1800" dirty="0"/>
          </a:p>
        </p:txBody>
      </p:sp>
      <p:sp>
        <p:nvSpPr>
          <p:cNvPr id="375" name="Rectangle 461"/>
          <p:cNvSpPr>
            <a:spLocks noChangeArrowheads="1"/>
          </p:cNvSpPr>
          <p:nvPr/>
        </p:nvSpPr>
        <p:spPr bwMode="auto">
          <a:xfrm>
            <a:off x="5361010" y="3184576"/>
            <a:ext cx="10130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8x1 </a:t>
            </a:r>
            <a:r>
              <a:rPr lang="en-US" altLang="en-US" sz="1800" dirty="0" err="1">
                <a:solidFill>
                  <a:srgbClr val="000000"/>
                </a:solidFill>
                <a:latin typeface="Helvetica" pitchFamily="34" charset="0"/>
              </a:rPr>
              <a:t>Mem</a:t>
            </a:r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 </a:t>
            </a:r>
            <a:endParaRPr lang="en-US" altLang="en-US" sz="1800" dirty="0"/>
          </a:p>
        </p:txBody>
      </p:sp>
      <p:sp>
        <p:nvSpPr>
          <p:cNvPr id="376" name="Rectangle 483"/>
          <p:cNvSpPr>
            <a:spLocks noChangeArrowheads="1"/>
          </p:cNvSpPr>
          <p:nvPr/>
        </p:nvSpPr>
        <p:spPr bwMode="auto">
          <a:xfrm>
            <a:off x="4724299" y="4304799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 sz="1800" dirty="0"/>
          </a:p>
        </p:txBody>
      </p:sp>
      <p:sp>
        <p:nvSpPr>
          <p:cNvPr id="377" name="Rectangle 484"/>
          <p:cNvSpPr>
            <a:spLocks noChangeArrowheads="1"/>
          </p:cNvSpPr>
          <p:nvPr/>
        </p:nvSpPr>
        <p:spPr bwMode="auto">
          <a:xfrm>
            <a:off x="4751814" y="4566646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 sz="1800" dirty="0"/>
          </a:p>
        </p:txBody>
      </p:sp>
      <p:sp>
        <p:nvSpPr>
          <p:cNvPr id="378" name="Rectangle 485"/>
          <p:cNvSpPr>
            <a:spLocks noChangeArrowheads="1"/>
          </p:cNvSpPr>
          <p:nvPr/>
        </p:nvSpPr>
        <p:spPr bwMode="auto">
          <a:xfrm>
            <a:off x="4751814" y="4825344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01160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84"/>
    </mc:Choice>
    <mc:Fallback xmlns="">
      <p:transition spd="slow" advTm="43484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3"/>
          <p:cNvSpPr txBox="1">
            <a:spLocks noChangeArrowheads="1"/>
          </p:cNvSpPr>
          <p:nvPr/>
        </p:nvSpPr>
        <p:spPr bwMode="auto">
          <a:xfrm>
            <a:off x="460800" y="1720800"/>
            <a:ext cx="7865680" cy="72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b="1" kern="0" dirty="0"/>
              <a:t>Step1</a:t>
            </a:r>
            <a:r>
              <a:rPr lang="en-US" altLang="en-US" kern="0" dirty="0"/>
              <a:t>: Divide the</a:t>
            </a:r>
            <a:r>
              <a:rPr lang="en-US" altLang="en-US" b="1" kern="0" dirty="0"/>
              <a:t> circuit </a:t>
            </a:r>
            <a:r>
              <a:rPr lang="en-US" altLang="en-US" kern="0" dirty="0"/>
              <a:t>or the corresponding </a:t>
            </a:r>
            <a:r>
              <a:rPr lang="en-US" altLang="en-US" b="1" kern="0" dirty="0"/>
              <a:t>Boolean function </a:t>
            </a:r>
            <a:r>
              <a:rPr lang="en-US" altLang="en-US" kern="0" dirty="0"/>
              <a:t>into two parts each with 3 inputs. 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kern="0" dirty="0"/>
          </a:p>
          <a:p>
            <a:pPr lvl="1" eaLnBrk="1" hangingPunct="1">
              <a:lnSpc>
                <a:spcPct val="90000"/>
              </a:lnSpc>
            </a:pPr>
            <a:endParaRPr lang="en-US" altLang="en-US" kern="0" dirty="0"/>
          </a:p>
          <a:p>
            <a:pPr lvl="1" eaLnBrk="1" hangingPunct="1">
              <a:lnSpc>
                <a:spcPct val="90000"/>
              </a:lnSpc>
            </a:pPr>
            <a:endParaRPr lang="en-US" altLang="en-US" kern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2.3. Example 2: Solution</a:t>
            </a:r>
            <a:endParaRPr lang="en-GB" dirty="0"/>
          </a:p>
        </p:txBody>
      </p:sp>
      <p:sp>
        <p:nvSpPr>
          <p:cNvPr id="18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18</a:t>
            </a:fld>
            <a:endParaRPr lang="de-DE" dirty="0"/>
          </a:p>
        </p:txBody>
      </p:sp>
      <p:grpSp>
        <p:nvGrpSpPr>
          <p:cNvPr id="6" name="Group 5"/>
          <p:cNvGrpSpPr/>
          <p:nvPr/>
        </p:nvGrpSpPr>
        <p:grpSpPr>
          <a:xfrm>
            <a:off x="510563" y="4011451"/>
            <a:ext cx="2995344" cy="2006632"/>
            <a:chOff x="365614" y="3764968"/>
            <a:chExt cx="2995344" cy="2006632"/>
          </a:xfrm>
        </p:grpSpPr>
        <p:grpSp>
          <p:nvGrpSpPr>
            <p:cNvPr id="7" name="Group 6"/>
            <p:cNvGrpSpPr>
              <a:grpSpLocks noChangeAspect="1"/>
            </p:cNvGrpSpPr>
            <p:nvPr/>
          </p:nvGrpSpPr>
          <p:grpSpPr>
            <a:xfrm>
              <a:off x="365614" y="3764968"/>
              <a:ext cx="2995344" cy="2006632"/>
              <a:chOff x="666273" y="3598621"/>
              <a:chExt cx="2230438" cy="1494207"/>
            </a:xfrm>
          </p:grpSpPr>
          <p:sp>
            <p:nvSpPr>
              <p:cNvPr id="20487" name="Rectangle 336"/>
              <p:cNvSpPr>
                <a:spLocks noChangeArrowheads="1"/>
              </p:cNvSpPr>
              <p:nvPr/>
            </p:nvSpPr>
            <p:spPr bwMode="auto">
              <a:xfrm>
                <a:off x="1136173" y="3695867"/>
                <a:ext cx="1535113" cy="1396961"/>
              </a:xfrm>
              <a:prstGeom prst="rect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88" name="Freeform 340"/>
              <p:cNvSpPr>
                <a:spLocks/>
              </p:cNvSpPr>
              <p:nvPr/>
            </p:nvSpPr>
            <p:spPr bwMode="auto">
              <a:xfrm>
                <a:off x="863123" y="3908183"/>
                <a:ext cx="812800" cy="188913"/>
              </a:xfrm>
              <a:custGeom>
                <a:avLst/>
                <a:gdLst>
                  <a:gd name="T0" fmla="*/ 812800 w 512"/>
                  <a:gd name="T1" fmla="*/ 188913 h 119"/>
                  <a:gd name="T2" fmla="*/ 427037 w 512"/>
                  <a:gd name="T3" fmla="*/ 188913 h 119"/>
                  <a:gd name="T4" fmla="*/ 427037 w 512"/>
                  <a:gd name="T5" fmla="*/ 0 h 119"/>
                  <a:gd name="T6" fmla="*/ 0 w 512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"/>
                  <a:gd name="T13" fmla="*/ 0 h 119"/>
                  <a:gd name="T14" fmla="*/ 512 w 512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" h="119">
                    <a:moveTo>
                      <a:pt x="512" y="119"/>
                    </a:moveTo>
                    <a:lnTo>
                      <a:pt x="269" y="119"/>
                    </a:lnTo>
                    <a:lnTo>
                      <a:pt x="269" y="0"/>
                    </a:ln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89" name="Line 341"/>
              <p:cNvSpPr>
                <a:spLocks noChangeShapeType="1"/>
              </p:cNvSpPr>
              <p:nvPr/>
            </p:nvSpPr>
            <p:spPr bwMode="auto">
              <a:xfrm>
                <a:off x="863123" y="4190758"/>
                <a:ext cx="8128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0" name="Freeform 342"/>
              <p:cNvSpPr>
                <a:spLocks/>
              </p:cNvSpPr>
              <p:nvPr/>
            </p:nvSpPr>
            <p:spPr bwMode="auto">
              <a:xfrm>
                <a:off x="1539398" y="4284421"/>
                <a:ext cx="136525" cy="193675"/>
              </a:xfrm>
              <a:custGeom>
                <a:avLst/>
                <a:gdLst>
                  <a:gd name="T0" fmla="*/ 0 w 86"/>
                  <a:gd name="T1" fmla="*/ 193675 h 122"/>
                  <a:gd name="T2" fmla="*/ 65088 w 86"/>
                  <a:gd name="T3" fmla="*/ 193675 h 122"/>
                  <a:gd name="T4" fmla="*/ 65088 w 86"/>
                  <a:gd name="T5" fmla="*/ 0 h 122"/>
                  <a:gd name="T6" fmla="*/ 136525 w 86"/>
                  <a:gd name="T7" fmla="*/ 0 h 1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122"/>
                  <a:gd name="T14" fmla="*/ 86 w 86"/>
                  <a:gd name="T15" fmla="*/ 122 h 1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122">
                    <a:moveTo>
                      <a:pt x="0" y="122"/>
                    </a:moveTo>
                    <a:lnTo>
                      <a:pt x="41" y="122"/>
                    </a:lnTo>
                    <a:lnTo>
                      <a:pt x="41" y="0"/>
                    </a:lnTo>
                    <a:lnTo>
                      <a:pt x="86" y="0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91" name="Line 343"/>
              <p:cNvSpPr>
                <a:spLocks noChangeShapeType="1"/>
              </p:cNvSpPr>
              <p:nvPr/>
            </p:nvSpPr>
            <p:spPr bwMode="auto">
              <a:xfrm>
                <a:off x="863123" y="4478096"/>
                <a:ext cx="361950" cy="1587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492" name="Freeform 344"/>
              <p:cNvSpPr>
                <a:spLocks/>
              </p:cNvSpPr>
              <p:nvPr/>
            </p:nvSpPr>
            <p:spPr bwMode="auto">
              <a:xfrm>
                <a:off x="2745898" y="4243146"/>
                <a:ext cx="150813" cy="74612"/>
              </a:xfrm>
              <a:custGeom>
                <a:avLst/>
                <a:gdLst>
                  <a:gd name="T0" fmla="*/ 150813 w 95"/>
                  <a:gd name="T1" fmla="*/ 36512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65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93" name="Freeform 345"/>
              <p:cNvSpPr>
                <a:spLocks/>
              </p:cNvSpPr>
              <p:nvPr/>
            </p:nvSpPr>
            <p:spPr bwMode="auto">
              <a:xfrm>
                <a:off x="980598" y="3866908"/>
                <a:ext cx="150813" cy="74613"/>
              </a:xfrm>
              <a:custGeom>
                <a:avLst/>
                <a:gdLst>
                  <a:gd name="T0" fmla="*/ 150813 w 95"/>
                  <a:gd name="T1" fmla="*/ 36513 h 47"/>
                  <a:gd name="T2" fmla="*/ 0 w 95"/>
                  <a:gd name="T3" fmla="*/ 0 h 47"/>
                  <a:gd name="T4" fmla="*/ 0 w 95"/>
                  <a:gd name="T5" fmla="*/ 74613 h 47"/>
                  <a:gd name="T6" fmla="*/ 150813 w 95"/>
                  <a:gd name="T7" fmla="*/ 365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94" name="Freeform 346"/>
              <p:cNvSpPr>
                <a:spLocks/>
              </p:cNvSpPr>
              <p:nvPr/>
            </p:nvSpPr>
            <p:spPr bwMode="auto">
              <a:xfrm>
                <a:off x="980598" y="4152658"/>
                <a:ext cx="150813" cy="76200"/>
              </a:xfrm>
              <a:custGeom>
                <a:avLst/>
                <a:gdLst>
                  <a:gd name="T0" fmla="*/ 150813 w 95"/>
                  <a:gd name="T1" fmla="*/ 38100 h 48"/>
                  <a:gd name="T2" fmla="*/ 0 w 95"/>
                  <a:gd name="T3" fmla="*/ 0 h 48"/>
                  <a:gd name="T4" fmla="*/ 0 w 95"/>
                  <a:gd name="T5" fmla="*/ 76200 h 48"/>
                  <a:gd name="T6" fmla="*/ 150813 w 95"/>
                  <a:gd name="T7" fmla="*/ 3810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8"/>
                  <a:gd name="T14" fmla="*/ 95 w 95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8">
                    <a:moveTo>
                      <a:pt x="95" y="24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95" name="Freeform 347"/>
              <p:cNvSpPr>
                <a:spLocks/>
              </p:cNvSpPr>
              <p:nvPr/>
            </p:nvSpPr>
            <p:spPr bwMode="auto">
              <a:xfrm>
                <a:off x="980598" y="4439996"/>
                <a:ext cx="150813" cy="74612"/>
              </a:xfrm>
              <a:custGeom>
                <a:avLst/>
                <a:gdLst>
                  <a:gd name="T0" fmla="*/ 150813 w 95"/>
                  <a:gd name="T1" fmla="*/ 38100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810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4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96" name="Freeform 348"/>
              <p:cNvSpPr>
                <a:spLocks/>
              </p:cNvSpPr>
              <p:nvPr/>
            </p:nvSpPr>
            <p:spPr bwMode="auto">
              <a:xfrm>
                <a:off x="980598" y="4713046"/>
                <a:ext cx="150813" cy="74612"/>
              </a:xfrm>
              <a:custGeom>
                <a:avLst/>
                <a:gdLst>
                  <a:gd name="T0" fmla="*/ 150813 w 95"/>
                  <a:gd name="T1" fmla="*/ 36512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65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97" name="Freeform 349"/>
              <p:cNvSpPr>
                <a:spLocks/>
              </p:cNvSpPr>
              <p:nvPr/>
            </p:nvSpPr>
            <p:spPr bwMode="auto">
              <a:xfrm>
                <a:off x="980598" y="4989271"/>
                <a:ext cx="150813" cy="76200"/>
              </a:xfrm>
              <a:custGeom>
                <a:avLst/>
                <a:gdLst>
                  <a:gd name="T0" fmla="*/ 150813 w 95"/>
                  <a:gd name="T1" fmla="*/ 38100 h 48"/>
                  <a:gd name="T2" fmla="*/ 0 w 95"/>
                  <a:gd name="T3" fmla="*/ 0 h 48"/>
                  <a:gd name="T4" fmla="*/ 0 w 95"/>
                  <a:gd name="T5" fmla="*/ 76200 h 48"/>
                  <a:gd name="T6" fmla="*/ 150813 w 95"/>
                  <a:gd name="T7" fmla="*/ 3810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8"/>
                  <a:gd name="T14" fmla="*/ 95 w 95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8">
                    <a:moveTo>
                      <a:pt x="95" y="24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498" name="Rectangle 350"/>
              <p:cNvSpPr>
                <a:spLocks noChangeArrowheads="1"/>
              </p:cNvSpPr>
              <p:nvPr/>
            </p:nvSpPr>
            <p:spPr bwMode="auto">
              <a:xfrm>
                <a:off x="852844" y="3712027"/>
                <a:ext cx="85943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k</a:t>
                </a:r>
                <a:endParaRPr lang="en-US" altLang="en-US" sz="1800" dirty="0"/>
              </a:p>
            </p:txBody>
          </p:sp>
          <p:sp>
            <p:nvSpPr>
              <p:cNvPr id="20499" name="Rectangle 351"/>
              <p:cNvSpPr>
                <a:spLocks noChangeArrowheads="1"/>
              </p:cNvSpPr>
              <p:nvPr/>
            </p:nvSpPr>
            <p:spPr bwMode="auto">
              <a:xfrm>
                <a:off x="871061" y="3968508"/>
                <a:ext cx="95492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p</a:t>
                </a:r>
              </a:p>
            </p:txBody>
          </p:sp>
          <p:sp>
            <p:nvSpPr>
              <p:cNvPr id="20500" name="Rectangle 352"/>
              <p:cNvSpPr>
                <a:spLocks noChangeArrowheads="1"/>
              </p:cNvSpPr>
              <p:nvPr/>
            </p:nvSpPr>
            <p:spPr bwMode="auto">
              <a:xfrm>
                <a:off x="871061" y="4300296"/>
                <a:ext cx="85943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s</a:t>
                </a:r>
              </a:p>
            </p:txBody>
          </p:sp>
          <p:sp>
            <p:nvSpPr>
              <p:cNvPr id="20502" name="Rectangle 354"/>
              <p:cNvSpPr>
                <a:spLocks noChangeArrowheads="1"/>
              </p:cNvSpPr>
              <p:nvPr/>
            </p:nvSpPr>
            <p:spPr bwMode="auto">
              <a:xfrm>
                <a:off x="871061" y="4847983"/>
                <a:ext cx="95492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</a:p>
            </p:txBody>
          </p:sp>
          <p:sp>
            <p:nvSpPr>
              <p:cNvPr id="20503" name="Rectangle 355"/>
              <p:cNvSpPr>
                <a:spLocks noChangeArrowheads="1"/>
              </p:cNvSpPr>
              <p:nvPr/>
            </p:nvSpPr>
            <p:spPr bwMode="auto">
              <a:xfrm>
                <a:off x="2730023" y="4063758"/>
                <a:ext cx="105041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F</a:t>
                </a:r>
                <a:endParaRPr lang="en-US" altLang="en-US" sz="1800" dirty="0"/>
              </a:p>
            </p:txBody>
          </p:sp>
          <p:sp>
            <p:nvSpPr>
              <p:cNvPr id="20504" name="Rectangle 356"/>
              <p:cNvSpPr>
                <a:spLocks noChangeArrowheads="1"/>
              </p:cNvSpPr>
              <p:nvPr/>
            </p:nvSpPr>
            <p:spPr bwMode="auto">
              <a:xfrm>
                <a:off x="1596548" y="3695867"/>
                <a:ext cx="700244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 err="1">
                    <a:solidFill>
                      <a:srgbClr val="000000"/>
                    </a:solidFill>
                    <a:latin typeface="Helvetica" pitchFamily="34" charset="0"/>
                  </a:rPr>
                  <a:t>BeltWarn</a:t>
                </a:r>
                <a:endParaRPr lang="en-US" altLang="en-US" sz="1800" dirty="0"/>
              </a:p>
            </p:txBody>
          </p:sp>
          <p:sp>
            <p:nvSpPr>
              <p:cNvPr id="20505" name="Freeform 357"/>
              <p:cNvSpPr>
                <a:spLocks/>
              </p:cNvSpPr>
              <p:nvPr/>
            </p:nvSpPr>
            <p:spPr bwMode="auto">
              <a:xfrm>
                <a:off x="1675923" y="4003433"/>
                <a:ext cx="388938" cy="374650"/>
              </a:xfrm>
              <a:custGeom>
                <a:avLst/>
                <a:gdLst>
                  <a:gd name="T0" fmla="*/ 0 w 83"/>
                  <a:gd name="T1" fmla="*/ 374650 h 80"/>
                  <a:gd name="T2" fmla="*/ 201498 w 83"/>
                  <a:gd name="T3" fmla="*/ 374650 h 80"/>
                  <a:gd name="T4" fmla="*/ 388938 w 83"/>
                  <a:gd name="T5" fmla="*/ 187325 h 80"/>
                  <a:gd name="T6" fmla="*/ 201498 w 83"/>
                  <a:gd name="T7" fmla="*/ 0 h 80"/>
                  <a:gd name="T8" fmla="*/ 0 w 83"/>
                  <a:gd name="T9" fmla="*/ 0 h 80"/>
                  <a:gd name="T10" fmla="*/ 0 w 83"/>
                  <a:gd name="T11" fmla="*/ 374650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3"/>
                  <a:gd name="T19" fmla="*/ 0 h 80"/>
                  <a:gd name="T20" fmla="*/ 83 w 83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3" h="80">
                    <a:moveTo>
                      <a:pt x="0" y="80"/>
                    </a:moveTo>
                    <a:cubicBezTo>
                      <a:pt x="43" y="80"/>
                      <a:pt x="43" y="80"/>
                      <a:pt x="43" y="80"/>
                    </a:cubicBezTo>
                    <a:cubicBezTo>
                      <a:pt x="65" y="80"/>
                      <a:pt x="83" y="62"/>
                      <a:pt x="83" y="40"/>
                    </a:cubicBezTo>
                    <a:cubicBezTo>
                      <a:pt x="83" y="18"/>
                      <a:pt x="65" y="0"/>
                      <a:pt x="4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506" name="Freeform 358"/>
              <p:cNvSpPr>
                <a:spLocks/>
              </p:cNvSpPr>
              <p:nvPr/>
            </p:nvSpPr>
            <p:spPr bwMode="auto">
              <a:xfrm>
                <a:off x="1229836" y="4332046"/>
                <a:ext cx="230187" cy="290512"/>
              </a:xfrm>
              <a:custGeom>
                <a:avLst/>
                <a:gdLst>
                  <a:gd name="T0" fmla="*/ 0 w 145"/>
                  <a:gd name="T1" fmla="*/ 290512 h 183"/>
                  <a:gd name="T2" fmla="*/ 230187 w 145"/>
                  <a:gd name="T3" fmla="*/ 146050 h 183"/>
                  <a:gd name="T4" fmla="*/ 0 w 145"/>
                  <a:gd name="T5" fmla="*/ 0 h 183"/>
                  <a:gd name="T6" fmla="*/ 0 w 145"/>
                  <a:gd name="T7" fmla="*/ 290512 h 18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5"/>
                  <a:gd name="T13" fmla="*/ 0 h 183"/>
                  <a:gd name="T14" fmla="*/ 145 w 145"/>
                  <a:gd name="T15" fmla="*/ 183 h 18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5" h="183">
                    <a:moveTo>
                      <a:pt x="0" y="183"/>
                    </a:moveTo>
                    <a:lnTo>
                      <a:pt x="145" y="92"/>
                    </a:lnTo>
                    <a:lnTo>
                      <a:pt x="0" y="0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507" name="Oval 359"/>
              <p:cNvSpPr>
                <a:spLocks noChangeArrowheads="1"/>
              </p:cNvSpPr>
              <p:nvPr/>
            </p:nvSpPr>
            <p:spPr bwMode="auto">
              <a:xfrm>
                <a:off x="1464786" y="4439996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511" name="Freeform 363"/>
              <p:cNvSpPr>
                <a:spLocks/>
              </p:cNvSpPr>
              <p:nvPr/>
            </p:nvSpPr>
            <p:spPr bwMode="auto">
              <a:xfrm>
                <a:off x="2206148" y="4092333"/>
                <a:ext cx="381000" cy="376238"/>
              </a:xfrm>
              <a:custGeom>
                <a:avLst/>
                <a:gdLst>
                  <a:gd name="T0" fmla="*/ 381000 w 81"/>
                  <a:gd name="T1" fmla="*/ 188119 h 80"/>
                  <a:gd name="T2" fmla="*/ 0 w 81"/>
                  <a:gd name="T3" fmla="*/ 376238 h 80"/>
                  <a:gd name="T4" fmla="*/ 56444 w 81"/>
                  <a:gd name="T5" fmla="*/ 192822 h 80"/>
                  <a:gd name="T6" fmla="*/ 56444 w 81"/>
                  <a:gd name="T7" fmla="*/ 188119 h 80"/>
                  <a:gd name="T8" fmla="*/ 0 w 81"/>
                  <a:gd name="T9" fmla="*/ 0 h 80"/>
                  <a:gd name="T10" fmla="*/ 381000 w 81"/>
                  <a:gd name="T11" fmla="*/ 188119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1"/>
                  <a:gd name="T19" fmla="*/ 0 h 80"/>
                  <a:gd name="T20" fmla="*/ 81 w 81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1" h="80">
                    <a:moveTo>
                      <a:pt x="81" y="40"/>
                    </a:moveTo>
                    <a:cubicBezTo>
                      <a:pt x="81" y="40"/>
                      <a:pt x="62" y="80"/>
                      <a:pt x="0" y="80"/>
                    </a:cubicBezTo>
                    <a:cubicBezTo>
                      <a:pt x="0" y="80"/>
                      <a:pt x="12" y="76"/>
                      <a:pt x="12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2" y="4"/>
                      <a:pt x="0" y="0"/>
                      <a:pt x="0" y="0"/>
                    </a:cubicBezTo>
                    <a:cubicBezTo>
                      <a:pt x="62" y="0"/>
                      <a:pt x="81" y="40"/>
                      <a:pt x="81" y="40"/>
                    </a:cubicBezTo>
                    <a:close/>
                  </a:path>
                </a:pathLst>
              </a:cu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512" name="Line 364"/>
              <p:cNvSpPr>
                <a:spLocks noChangeShapeType="1"/>
              </p:cNvSpPr>
              <p:nvPr/>
            </p:nvSpPr>
            <p:spPr bwMode="auto">
              <a:xfrm>
                <a:off x="2069623" y="4185996"/>
                <a:ext cx="188913" cy="1587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13" name="Freeform 365"/>
              <p:cNvSpPr>
                <a:spLocks/>
              </p:cNvSpPr>
              <p:nvPr/>
            </p:nvSpPr>
            <p:spPr bwMode="auto">
              <a:xfrm>
                <a:off x="877411" y="4373321"/>
                <a:ext cx="1385887" cy="658812"/>
              </a:xfrm>
              <a:custGeom>
                <a:avLst/>
                <a:gdLst>
                  <a:gd name="T0" fmla="*/ 1385887 w 873"/>
                  <a:gd name="T1" fmla="*/ 0 h 415"/>
                  <a:gd name="T2" fmla="*/ 1282700 w 873"/>
                  <a:gd name="T3" fmla="*/ 0 h 415"/>
                  <a:gd name="T4" fmla="*/ 1282700 w 873"/>
                  <a:gd name="T5" fmla="*/ 658812 h 415"/>
                  <a:gd name="T6" fmla="*/ 0 w 873"/>
                  <a:gd name="T7" fmla="*/ 658812 h 4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73"/>
                  <a:gd name="T13" fmla="*/ 0 h 415"/>
                  <a:gd name="T14" fmla="*/ 873 w 873"/>
                  <a:gd name="T15" fmla="*/ 415 h 4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73" h="415">
                    <a:moveTo>
                      <a:pt x="873" y="0"/>
                    </a:moveTo>
                    <a:lnTo>
                      <a:pt x="808" y="0"/>
                    </a:lnTo>
                    <a:lnTo>
                      <a:pt x="808" y="415"/>
                    </a:lnTo>
                    <a:lnTo>
                      <a:pt x="0" y="415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514" name="Line 366"/>
              <p:cNvSpPr>
                <a:spLocks noChangeShapeType="1"/>
              </p:cNvSpPr>
              <p:nvPr/>
            </p:nvSpPr>
            <p:spPr bwMode="auto">
              <a:xfrm>
                <a:off x="2587148" y="4279658"/>
                <a:ext cx="242888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15" name="Freeform 375"/>
              <p:cNvSpPr>
                <a:spLocks/>
              </p:cNvSpPr>
              <p:nvPr/>
            </p:nvSpPr>
            <p:spPr bwMode="auto">
              <a:xfrm>
                <a:off x="872648" y="4279658"/>
                <a:ext cx="1390650" cy="469900"/>
              </a:xfrm>
              <a:custGeom>
                <a:avLst/>
                <a:gdLst>
                  <a:gd name="T0" fmla="*/ 1390650 w 876"/>
                  <a:gd name="T1" fmla="*/ 0 h 296"/>
                  <a:gd name="T2" fmla="*/ 1211263 w 876"/>
                  <a:gd name="T3" fmla="*/ 0 h 296"/>
                  <a:gd name="T4" fmla="*/ 1211263 w 876"/>
                  <a:gd name="T5" fmla="*/ 469900 h 296"/>
                  <a:gd name="T6" fmla="*/ 0 w 876"/>
                  <a:gd name="T7" fmla="*/ 469900 h 2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76"/>
                  <a:gd name="T13" fmla="*/ 0 h 296"/>
                  <a:gd name="T14" fmla="*/ 876 w 876"/>
                  <a:gd name="T15" fmla="*/ 296 h 2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76" h="296">
                    <a:moveTo>
                      <a:pt x="876" y="0"/>
                    </a:moveTo>
                    <a:lnTo>
                      <a:pt x="763" y="0"/>
                    </a:lnTo>
                    <a:lnTo>
                      <a:pt x="763" y="296"/>
                    </a:lnTo>
                    <a:lnTo>
                      <a:pt x="0" y="296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0516" name="Line 486"/>
              <p:cNvSpPr>
                <a:spLocks noChangeShapeType="1"/>
              </p:cNvSpPr>
              <p:nvPr/>
            </p:nvSpPr>
            <p:spPr bwMode="auto">
              <a:xfrm>
                <a:off x="666273" y="3598621"/>
                <a:ext cx="1588" cy="1587"/>
              </a:xfrm>
              <a:prstGeom prst="line">
                <a:avLst/>
              </a:prstGeom>
              <a:noFill/>
              <a:ln w="3175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76" name="Rectangle 352"/>
            <p:cNvSpPr>
              <a:spLocks noChangeArrowheads="1"/>
            </p:cNvSpPr>
            <p:nvPr/>
          </p:nvSpPr>
          <p:spPr bwMode="auto">
            <a:xfrm>
              <a:off x="650659" y="5051352"/>
              <a:ext cx="64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/>
              <p:cNvSpPr txBox="1"/>
              <p:nvPr/>
            </p:nvSpPr>
            <p:spPr>
              <a:xfrm>
                <a:off x="1103734" y="2518497"/>
                <a:ext cx="19452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𝑘𝑝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3" name="TextBox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734" y="2518497"/>
                <a:ext cx="1945276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2194" r="-1881" b="-37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515888" y="2819804"/>
            <a:ext cx="1484233" cy="3004979"/>
            <a:chOff x="6951161" y="3079952"/>
            <a:chExt cx="1290634" cy="2613025"/>
          </a:xfrm>
        </p:grpSpPr>
        <p:grpSp>
          <p:nvGrpSpPr>
            <p:cNvPr id="20525" name="Group 515"/>
            <p:cNvGrpSpPr>
              <a:grpSpLocks/>
            </p:cNvGrpSpPr>
            <p:nvPr/>
          </p:nvGrpSpPr>
          <p:grpSpPr bwMode="auto">
            <a:xfrm>
              <a:off x="7184520" y="3079952"/>
              <a:ext cx="1057275" cy="2613025"/>
              <a:chOff x="4534" y="2197"/>
              <a:chExt cx="666" cy="1646"/>
            </a:xfrm>
          </p:grpSpPr>
          <p:sp>
            <p:nvSpPr>
              <p:cNvPr id="20529" name="Line 368"/>
              <p:cNvSpPr>
                <a:spLocks noChangeShapeType="1"/>
              </p:cNvSpPr>
              <p:nvPr/>
            </p:nvSpPr>
            <p:spPr bwMode="auto">
              <a:xfrm>
                <a:off x="4949" y="3648"/>
                <a:ext cx="1" cy="15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27" name="Rectangle 339"/>
              <p:cNvSpPr>
                <a:spLocks noChangeArrowheads="1"/>
              </p:cNvSpPr>
              <p:nvPr/>
            </p:nvSpPr>
            <p:spPr bwMode="auto">
              <a:xfrm>
                <a:off x="4534" y="2197"/>
                <a:ext cx="666" cy="1449"/>
              </a:xfrm>
              <a:prstGeom prst="rect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0528" name="Freeform 367"/>
              <p:cNvSpPr>
                <a:spLocks/>
              </p:cNvSpPr>
              <p:nvPr/>
            </p:nvSpPr>
            <p:spPr bwMode="auto">
              <a:xfrm>
                <a:off x="4925" y="3748"/>
                <a:ext cx="47" cy="95"/>
              </a:xfrm>
              <a:custGeom>
                <a:avLst/>
                <a:gdLst>
                  <a:gd name="T0" fmla="*/ 24 w 47"/>
                  <a:gd name="T1" fmla="*/ 95 h 95"/>
                  <a:gd name="T2" fmla="*/ 47 w 47"/>
                  <a:gd name="T3" fmla="*/ 0 h 95"/>
                  <a:gd name="T4" fmla="*/ 0 w 47"/>
                  <a:gd name="T5" fmla="*/ 0 h 95"/>
                  <a:gd name="T6" fmla="*/ 24 w 47"/>
                  <a:gd name="T7" fmla="*/ 9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95"/>
                  <a:gd name="T14" fmla="*/ 47 w 47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95">
                    <a:moveTo>
                      <a:pt x="24" y="95"/>
                    </a:moveTo>
                    <a:lnTo>
                      <a:pt x="47" y="0"/>
                    </a:lnTo>
                    <a:lnTo>
                      <a:pt x="0" y="0"/>
                    </a:lnTo>
                    <a:lnTo>
                      <a:pt x="24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0543" name="Rectangle 453"/>
              <p:cNvSpPr>
                <a:spLocks noChangeArrowheads="1"/>
              </p:cNvSpPr>
              <p:nvPr/>
            </p:nvSpPr>
            <p:spPr bwMode="auto">
              <a:xfrm>
                <a:off x="4816" y="2405"/>
                <a:ext cx="346" cy="1057"/>
              </a:xfrm>
              <a:prstGeom prst="rect">
                <a:avLst/>
              </a:prstGeom>
              <a:solidFill>
                <a:srgbClr val="D4E0F3"/>
              </a:solidFill>
              <a:ln w="12700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0544" name="Line 454"/>
              <p:cNvSpPr>
                <a:spLocks noChangeShapeType="1"/>
              </p:cNvSpPr>
              <p:nvPr/>
            </p:nvSpPr>
            <p:spPr bwMode="auto">
              <a:xfrm>
                <a:off x="4813" y="253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5" name="Line 455"/>
              <p:cNvSpPr>
                <a:spLocks noChangeShapeType="1"/>
              </p:cNvSpPr>
              <p:nvPr/>
            </p:nvSpPr>
            <p:spPr bwMode="auto">
              <a:xfrm>
                <a:off x="4813" y="2669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6" name="Line 456"/>
              <p:cNvSpPr>
                <a:spLocks noChangeShapeType="1"/>
              </p:cNvSpPr>
              <p:nvPr/>
            </p:nvSpPr>
            <p:spPr bwMode="auto">
              <a:xfrm>
                <a:off x="4813" y="280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7" name="Line 457"/>
              <p:cNvSpPr>
                <a:spLocks noChangeShapeType="1"/>
              </p:cNvSpPr>
              <p:nvPr/>
            </p:nvSpPr>
            <p:spPr bwMode="auto">
              <a:xfrm>
                <a:off x="4813" y="293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8" name="Line 458"/>
              <p:cNvSpPr>
                <a:spLocks noChangeShapeType="1"/>
              </p:cNvSpPr>
              <p:nvPr/>
            </p:nvSpPr>
            <p:spPr bwMode="auto">
              <a:xfrm>
                <a:off x="4813" y="306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9" name="Line 459"/>
              <p:cNvSpPr>
                <a:spLocks noChangeShapeType="1"/>
              </p:cNvSpPr>
              <p:nvPr/>
            </p:nvSpPr>
            <p:spPr bwMode="auto">
              <a:xfrm>
                <a:off x="4813" y="319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50" name="Line 460"/>
              <p:cNvSpPr>
                <a:spLocks noChangeShapeType="1"/>
              </p:cNvSpPr>
              <p:nvPr/>
            </p:nvSpPr>
            <p:spPr bwMode="auto">
              <a:xfrm>
                <a:off x="4813" y="333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62" name="Rectangle 473"/>
              <p:cNvSpPr>
                <a:spLocks noChangeArrowheads="1"/>
              </p:cNvSpPr>
              <p:nvPr/>
            </p:nvSpPr>
            <p:spPr bwMode="auto">
              <a:xfrm>
                <a:off x="4915" y="3494"/>
                <a:ext cx="91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  <a:endParaRPr lang="en-US" altLang="en-US" sz="1800"/>
              </a:p>
            </p:txBody>
          </p:sp>
          <p:sp>
            <p:nvSpPr>
              <p:cNvPr id="20564" name="Rectangle 475"/>
              <p:cNvSpPr>
                <a:spLocks noChangeArrowheads="1"/>
              </p:cNvSpPr>
              <p:nvPr/>
            </p:nvSpPr>
            <p:spPr bwMode="auto">
              <a:xfrm>
                <a:off x="4702" y="242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800"/>
              </a:p>
            </p:txBody>
          </p:sp>
          <p:sp>
            <p:nvSpPr>
              <p:cNvPr id="20565" name="Rectangle 476"/>
              <p:cNvSpPr>
                <a:spLocks noChangeArrowheads="1"/>
              </p:cNvSpPr>
              <p:nvPr/>
            </p:nvSpPr>
            <p:spPr bwMode="auto">
              <a:xfrm>
                <a:off x="4702" y="2551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800"/>
              </a:p>
            </p:txBody>
          </p:sp>
          <p:sp>
            <p:nvSpPr>
              <p:cNvPr id="20566" name="Rectangle 477"/>
              <p:cNvSpPr>
                <a:spLocks noChangeArrowheads="1"/>
              </p:cNvSpPr>
              <p:nvPr/>
            </p:nvSpPr>
            <p:spPr bwMode="auto">
              <a:xfrm>
                <a:off x="4702" y="268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 sz="1800"/>
              </a:p>
            </p:txBody>
          </p:sp>
          <p:sp>
            <p:nvSpPr>
              <p:cNvPr id="20567" name="Rectangle 478"/>
              <p:cNvSpPr>
                <a:spLocks noChangeArrowheads="1"/>
              </p:cNvSpPr>
              <p:nvPr/>
            </p:nvSpPr>
            <p:spPr bwMode="auto">
              <a:xfrm>
                <a:off x="4702" y="281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 sz="1800"/>
              </a:p>
            </p:txBody>
          </p:sp>
          <p:sp>
            <p:nvSpPr>
              <p:cNvPr id="20568" name="Rectangle 479"/>
              <p:cNvSpPr>
                <a:spLocks noChangeArrowheads="1"/>
              </p:cNvSpPr>
              <p:nvPr/>
            </p:nvSpPr>
            <p:spPr bwMode="auto">
              <a:xfrm>
                <a:off x="4702" y="2949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 sz="1800"/>
              </a:p>
            </p:txBody>
          </p:sp>
          <p:sp>
            <p:nvSpPr>
              <p:cNvPr id="20569" name="Rectangle 480"/>
              <p:cNvSpPr>
                <a:spLocks noChangeArrowheads="1"/>
              </p:cNvSpPr>
              <p:nvPr/>
            </p:nvSpPr>
            <p:spPr bwMode="auto">
              <a:xfrm>
                <a:off x="4702" y="3078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 sz="1800"/>
              </a:p>
            </p:txBody>
          </p:sp>
          <p:sp>
            <p:nvSpPr>
              <p:cNvPr id="20570" name="Rectangle 481"/>
              <p:cNvSpPr>
                <a:spLocks noChangeArrowheads="1"/>
              </p:cNvSpPr>
              <p:nvPr/>
            </p:nvSpPr>
            <p:spPr bwMode="auto">
              <a:xfrm>
                <a:off x="4702" y="321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 sz="1800"/>
              </a:p>
            </p:txBody>
          </p:sp>
          <p:sp>
            <p:nvSpPr>
              <p:cNvPr id="20571" name="Rectangle 482"/>
              <p:cNvSpPr>
                <a:spLocks noChangeArrowheads="1"/>
              </p:cNvSpPr>
              <p:nvPr/>
            </p:nvSpPr>
            <p:spPr bwMode="auto">
              <a:xfrm>
                <a:off x="4702" y="3340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7</a:t>
                </a:r>
                <a:endParaRPr lang="en-US" altLang="en-US" sz="1800"/>
              </a:p>
            </p:txBody>
          </p:sp>
        </p:grpSp>
        <p:sp>
          <p:nvSpPr>
            <p:cNvPr id="260" name="Line 448"/>
            <p:cNvSpPr>
              <a:spLocks noChangeShapeType="1"/>
            </p:cNvSpPr>
            <p:nvPr/>
          </p:nvSpPr>
          <p:spPr bwMode="auto">
            <a:xfrm>
              <a:off x="6951161" y="42840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1" name="Line 450"/>
            <p:cNvSpPr>
              <a:spLocks noChangeShapeType="1"/>
            </p:cNvSpPr>
            <p:nvPr/>
          </p:nvSpPr>
          <p:spPr bwMode="auto">
            <a:xfrm>
              <a:off x="6951161" y="44618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2" name="Line 452"/>
            <p:cNvSpPr>
              <a:spLocks noChangeShapeType="1"/>
            </p:cNvSpPr>
            <p:nvPr/>
          </p:nvSpPr>
          <p:spPr bwMode="auto">
            <a:xfrm>
              <a:off x="6951161" y="4636436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3" name="Freeform 447"/>
            <p:cNvSpPr>
              <a:spLocks/>
            </p:cNvSpPr>
            <p:nvPr/>
          </p:nvSpPr>
          <p:spPr bwMode="auto">
            <a:xfrm>
              <a:off x="7044823" y="4245911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64" name="Freeform 449"/>
            <p:cNvSpPr>
              <a:spLocks/>
            </p:cNvSpPr>
            <p:nvPr/>
          </p:nvSpPr>
          <p:spPr bwMode="auto">
            <a:xfrm>
              <a:off x="7044823" y="4425298"/>
              <a:ext cx="150813" cy="74613"/>
            </a:xfrm>
            <a:custGeom>
              <a:avLst/>
              <a:gdLst>
                <a:gd name="T0" fmla="*/ 95 w 95"/>
                <a:gd name="T1" fmla="*/ 23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3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65" name="Freeform 451"/>
            <p:cNvSpPr>
              <a:spLocks/>
            </p:cNvSpPr>
            <p:nvPr/>
          </p:nvSpPr>
          <p:spPr bwMode="auto">
            <a:xfrm>
              <a:off x="7044823" y="4598336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sp>
        <p:nvSpPr>
          <p:cNvPr id="307" name="Rectangle 474"/>
          <p:cNvSpPr>
            <a:spLocks noChangeArrowheads="1"/>
          </p:cNvSpPr>
          <p:nvPr/>
        </p:nvSpPr>
        <p:spPr bwMode="auto">
          <a:xfrm>
            <a:off x="7169663" y="5561886"/>
            <a:ext cx="2693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F2</a:t>
            </a:r>
            <a:endParaRPr lang="en-US" altLang="en-US" sz="1800" dirty="0"/>
          </a:p>
        </p:txBody>
      </p:sp>
      <p:sp>
        <p:nvSpPr>
          <p:cNvPr id="309" name="Rectangle 461"/>
          <p:cNvSpPr>
            <a:spLocks noChangeArrowheads="1"/>
          </p:cNvSpPr>
          <p:nvPr/>
        </p:nvSpPr>
        <p:spPr bwMode="auto">
          <a:xfrm>
            <a:off x="6865065" y="2879978"/>
            <a:ext cx="10130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8x1 </a:t>
            </a:r>
            <a:r>
              <a:rPr lang="en-US" altLang="en-US" sz="1800" dirty="0" err="1">
                <a:solidFill>
                  <a:srgbClr val="000000"/>
                </a:solidFill>
                <a:latin typeface="Helvetica" pitchFamily="34" charset="0"/>
              </a:rPr>
              <a:t>Mem</a:t>
            </a:r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 </a:t>
            </a:r>
            <a:endParaRPr lang="en-US" altLang="en-US" sz="1800" dirty="0"/>
          </a:p>
        </p:txBody>
      </p:sp>
      <p:sp>
        <p:nvSpPr>
          <p:cNvPr id="310" name="Rectangle 483"/>
          <p:cNvSpPr>
            <a:spLocks noChangeArrowheads="1"/>
          </p:cNvSpPr>
          <p:nvPr/>
        </p:nvSpPr>
        <p:spPr bwMode="auto">
          <a:xfrm>
            <a:off x="6228354" y="4000201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 sz="1800" dirty="0"/>
          </a:p>
        </p:txBody>
      </p:sp>
      <p:sp>
        <p:nvSpPr>
          <p:cNvPr id="311" name="Rectangle 484"/>
          <p:cNvSpPr>
            <a:spLocks noChangeArrowheads="1"/>
          </p:cNvSpPr>
          <p:nvPr/>
        </p:nvSpPr>
        <p:spPr bwMode="auto">
          <a:xfrm>
            <a:off x="6255869" y="4262048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 sz="1800" dirty="0"/>
          </a:p>
        </p:txBody>
      </p:sp>
      <p:sp>
        <p:nvSpPr>
          <p:cNvPr id="312" name="Rectangle 485"/>
          <p:cNvSpPr>
            <a:spLocks noChangeArrowheads="1"/>
          </p:cNvSpPr>
          <p:nvPr/>
        </p:nvSpPr>
        <p:spPr bwMode="auto">
          <a:xfrm>
            <a:off x="6255869" y="4520746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 sz="1800" dirty="0"/>
          </a:p>
        </p:txBody>
      </p:sp>
      <p:grpSp>
        <p:nvGrpSpPr>
          <p:cNvPr id="313" name="Group 312"/>
          <p:cNvGrpSpPr>
            <a:grpSpLocks noChangeAspect="1"/>
          </p:cNvGrpSpPr>
          <p:nvPr/>
        </p:nvGrpSpPr>
        <p:grpSpPr>
          <a:xfrm>
            <a:off x="4402637" y="2829659"/>
            <a:ext cx="1484233" cy="2946559"/>
            <a:chOff x="6951161" y="3079952"/>
            <a:chExt cx="1290634" cy="2562225"/>
          </a:xfrm>
        </p:grpSpPr>
        <p:grpSp>
          <p:nvGrpSpPr>
            <p:cNvPr id="314" name="Group 515"/>
            <p:cNvGrpSpPr>
              <a:grpSpLocks/>
            </p:cNvGrpSpPr>
            <p:nvPr/>
          </p:nvGrpSpPr>
          <p:grpSpPr bwMode="auto">
            <a:xfrm>
              <a:off x="7184520" y="3079952"/>
              <a:ext cx="1057275" cy="2562225"/>
              <a:chOff x="4534" y="2197"/>
              <a:chExt cx="666" cy="1614"/>
            </a:xfrm>
          </p:grpSpPr>
          <p:sp>
            <p:nvSpPr>
              <p:cNvPr id="321" name="Line 368"/>
              <p:cNvSpPr>
                <a:spLocks noChangeShapeType="1"/>
              </p:cNvSpPr>
              <p:nvPr/>
            </p:nvSpPr>
            <p:spPr bwMode="auto">
              <a:xfrm>
                <a:off x="4949" y="3616"/>
                <a:ext cx="1" cy="15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2" name="Rectangle 339"/>
              <p:cNvSpPr>
                <a:spLocks noChangeArrowheads="1"/>
              </p:cNvSpPr>
              <p:nvPr/>
            </p:nvSpPr>
            <p:spPr bwMode="auto">
              <a:xfrm>
                <a:off x="4534" y="2197"/>
                <a:ext cx="666" cy="1449"/>
              </a:xfrm>
              <a:prstGeom prst="rect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23" name="Freeform 367"/>
              <p:cNvSpPr>
                <a:spLocks/>
              </p:cNvSpPr>
              <p:nvPr/>
            </p:nvSpPr>
            <p:spPr bwMode="auto">
              <a:xfrm>
                <a:off x="4925" y="3716"/>
                <a:ext cx="47" cy="95"/>
              </a:xfrm>
              <a:custGeom>
                <a:avLst/>
                <a:gdLst>
                  <a:gd name="T0" fmla="*/ 24 w 47"/>
                  <a:gd name="T1" fmla="*/ 95 h 95"/>
                  <a:gd name="T2" fmla="*/ 47 w 47"/>
                  <a:gd name="T3" fmla="*/ 0 h 95"/>
                  <a:gd name="T4" fmla="*/ 0 w 47"/>
                  <a:gd name="T5" fmla="*/ 0 h 95"/>
                  <a:gd name="T6" fmla="*/ 24 w 47"/>
                  <a:gd name="T7" fmla="*/ 9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95"/>
                  <a:gd name="T14" fmla="*/ 47 w 47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95">
                    <a:moveTo>
                      <a:pt x="24" y="95"/>
                    </a:moveTo>
                    <a:lnTo>
                      <a:pt x="47" y="0"/>
                    </a:lnTo>
                    <a:lnTo>
                      <a:pt x="0" y="0"/>
                    </a:lnTo>
                    <a:lnTo>
                      <a:pt x="24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24" name="Rectangle 453"/>
              <p:cNvSpPr>
                <a:spLocks noChangeArrowheads="1"/>
              </p:cNvSpPr>
              <p:nvPr/>
            </p:nvSpPr>
            <p:spPr bwMode="auto">
              <a:xfrm>
                <a:off x="4816" y="2405"/>
                <a:ext cx="346" cy="1057"/>
              </a:xfrm>
              <a:prstGeom prst="rect">
                <a:avLst/>
              </a:prstGeom>
              <a:solidFill>
                <a:srgbClr val="D4E0F3"/>
              </a:solidFill>
              <a:ln w="12700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25" name="Line 454"/>
              <p:cNvSpPr>
                <a:spLocks noChangeShapeType="1"/>
              </p:cNvSpPr>
              <p:nvPr/>
            </p:nvSpPr>
            <p:spPr bwMode="auto">
              <a:xfrm>
                <a:off x="4813" y="253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6" name="Line 455"/>
              <p:cNvSpPr>
                <a:spLocks noChangeShapeType="1"/>
              </p:cNvSpPr>
              <p:nvPr/>
            </p:nvSpPr>
            <p:spPr bwMode="auto">
              <a:xfrm>
                <a:off x="4813" y="2669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7" name="Line 456"/>
              <p:cNvSpPr>
                <a:spLocks noChangeShapeType="1"/>
              </p:cNvSpPr>
              <p:nvPr/>
            </p:nvSpPr>
            <p:spPr bwMode="auto">
              <a:xfrm>
                <a:off x="4813" y="280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" name="Line 457"/>
              <p:cNvSpPr>
                <a:spLocks noChangeShapeType="1"/>
              </p:cNvSpPr>
              <p:nvPr/>
            </p:nvSpPr>
            <p:spPr bwMode="auto">
              <a:xfrm>
                <a:off x="4813" y="293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9" name="Line 458"/>
              <p:cNvSpPr>
                <a:spLocks noChangeShapeType="1"/>
              </p:cNvSpPr>
              <p:nvPr/>
            </p:nvSpPr>
            <p:spPr bwMode="auto">
              <a:xfrm>
                <a:off x="4813" y="306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0" name="Line 459"/>
              <p:cNvSpPr>
                <a:spLocks noChangeShapeType="1"/>
              </p:cNvSpPr>
              <p:nvPr/>
            </p:nvSpPr>
            <p:spPr bwMode="auto">
              <a:xfrm>
                <a:off x="4813" y="319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1" name="Line 460"/>
              <p:cNvSpPr>
                <a:spLocks noChangeShapeType="1"/>
              </p:cNvSpPr>
              <p:nvPr/>
            </p:nvSpPr>
            <p:spPr bwMode="auto">
              <a:xfrm>
                <a:off x="4813" y="333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2" name="Rectangle 473"/>
              <p:cNvSpPr>
                <a:spLocks noChangeArrowheads="1"/>
              </p:cNvSpPr>
              <p:nvPr/>
            </p:nvSpPr>
            <p:spPr bwMode="auto">
              <a:xfrm>
                <a:off x="4915" y="3494"/>
                <a:ext cx="91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  <a:endParaRPr lang="en-US" altLang="en-US" sz="1800"/>
              </a:p>
            </p:txBody>
          </p:sp>
          <p:sp>
            <p:nvSpPr>
              <p:cNvPr id="333" name="Rectangle 475"/>
              <p:cNvSpPr>
                <a:spLocks noChangeArrowheads="1"/>
              </p:cNvSpPr>
              <p:nvPr/>
            </p:nvSpPr>
            <p:spPr bwMode="auto">
              <a:xfrm>
                <a:off x="4702" y="242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800"/>
              </a:p>
            </p:txBody>
          </p:sp>
          <p:sp>
            <p:nvSpPr>
              <p:cNvPr id="334" name="Rectangle 476"/>
              <p:cNvSpPr>
                <a:spLocks noChangeArrowheads="1"/>
              </p:cNvSpPr>
              <p:nvPr/>
            </p:nvSpPr>
            <p:spPr bwMode="auto">
              <a:xfrm>
                <a:off x="4702" y="2551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800"/>
              </a:p>
            </p:txBody>
          </p:sp>
          <p:sp>
            <p:nvSpPr>
              <p:cNvPr id="335" name="Rectangle 477"/>
              <p:cNvSpPr>
                <a:spLocks noChangeArrowheads="1"/>
              </p:cNvSpPr>
              <p:nvPr/>
            </p:nvSpPr>
            <p:spPr bwMode="auto">
              <a:xfrm>
                <a:off x="4702" y="268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 sz="1800"/>
              </a:p>
            </p:txBody>
          </p:sp>
          <p:sp>
            <p:nvSpPr>
              <p:cNvPr id="336" name="Rectangle 478"/>
              <p:cNvSpPr>
                <a:spLocks noChangeArrowheads="1"/>
              </p:cNvSpPr>
              <p:nvPr/>
            </p:nvSpPr>
            <p:spPr bwMode="auto">
              <a:xfrm>
                <a:off x="4702" y="281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 sz="1800"/>
              </a:p>
            </p:txBody>
          </p:sp>
          <p:sp>
            <p:nvSpPr>
              <p:cNvPr id="337" name="Rectangle 479"/>
              <p:cNvSpPr>
                <a:spLocks noChangeArrowheads="1"/>
              </p:cNvSpPr>
              <p:nvPr/>
            </p:nvSpPr>
            <p:spPr bwMode="auto">
              <a:xfrm>
                <a:off x="4702" y="2949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 sz="1800"/>
              </a:p>
            </p:txBody>
          </p:sp>
          <p:sp>
            <p:nvSpPr>
              <p:cNvPr id="338" name="Rectangle 480"/>
              <p:cNvSpPr>
                <a:spLocks noChangeArrowheads="1"/>
              </p:cNvSpPr>
              <p:nvPr/>
            </p:nvSpPr>
            <p:spPr bwMode="auto">
              <a:xfrm>
                <a:off x="4702" y="3078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 sz="1800"/>
              </a:p>
            </p:txBody>
          </p:sp>
          <p:sp>
            <p:nvSpPr>
              <p:cNvPr id="339" name="Rectangle 481"/>
              <p:cNvSpPr>
                <a:spLocks noChangeArrowheads="1"/>
              </p:cNvSpPr>
              <p:nvPr/>
            </p:nvSpPr>
            <p:spPr bwMode="auto">
              <a:xfrm>
                <a:off x="4702" y="321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 sz="1800"/>
              </a:p>
            </p:txBody>
          </p:sp>
          <p:sp>
            <p:nvSpPr>
              <p:cNvPr id="340" name="Rectangle 482"/>
              <p:cNvSpPr>
                <a:spLocks noChangeArrowheads="1"/>
              </p:cNvSpPr>
              <p:nvPr/>
            </p:nvSpPr>
            <p:spPr bwMode="auto">
              <a:xfrm>
                <a:off x="4702" y="3340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7</a:t>
                </a:r>
                <a:endParaRPr lang="en-US" altLang="en-US" sz="1800"/>
              </a:p>
            </p:txBody>
          </p:sp>
        </p:grpSp>
        <p:sp>
          <p:nvSpPr>
            <p:cNvPr id="315" name="Line 448"/>
            <p:cNvSpPr>
              <a:spLocks noChangeShapeType="1"/>
            </p:cNvSpPr>
            <p:nvPr/>
          </p:nvSpPr>
          <p:spPr bwMode="auto">
            <a:xfrm>
              <a:off x="6951161" y="42840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6" name="Line 450"/>
            <p:cNvSpPr>
              <a:spLocks noChangeShapeType="1"/>
            </p:cNvSpPr>
            <p:nvPr/>
          </p:nvSpPr>
          <p:spPr bwMode="auto">
            <a:xfrm>
              <a:off x="6951161" y="44618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" name="Line 452"/>
            <p:cNvSpPr>
              <a:spLocks noChangeShapeType="1"/>
            </p:cNvSpPr>
            <p:nvPr/>
          </p:nvSpPr>
          <p:spPr bwMode="auto">
            <a:xfrm>
              <a:off x="6951161" y="4636436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" name="Freeform 447"/>
            <p:cNvSpPr>
              <a:spLocks/>
            </p:cNvSpPr>
            <p:nvPr/>
          </p:nvSpPr>
          <p:spPr bwMode="auto">
            <a:xfrm>
              <a:off x="7044823" y="4245911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319" name="Freeform 449"/>
            <p:cNvSpPr>
              <a:spLocks/>
            </p:cNvSpPr>
            <p:nvPr/>
          </p:nvSpPr>
          <p:spPr bwMode="auto">
            <a:xfrm>
              <a:off x="7044823" y="4425298"/>
              <a:ext cx="150813" cy="74613"/>
            </a:xfrm>
            <a:custGeom>
              <a:avLst/>
              <a:gdLst>
                <a:gd name="T0" fmla="*/ 95 w 95"/>
                <a:gd name="T1" fmla="*/ 23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3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320" name="Freeform 451"/>
            <p:cNvSpPr>
              <a:spLocks/>
            </p:cNvSpPr>
            <p:nvPr/>
          </p:nvSpPr>
          <p:spPr bwMode="auto">
            <a:xfrm>
              <a:off x="7044823" y="4598336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sp>
        <p:nvSpPr>
          <p:cNvPr id="341" name="Rectangle 474"/>
          <p:cNvSpPr>
            <a:spLocks noChangeArrowheads="1"/>
          </p:cNvSpPr>
          <p:nvPr/>
        </p:nvSpPr>
        <p:spPr bwMode="auto">
          <a:xfrm>
            <a:off x="5041604" y="5500620"/>
            <a:ext cx="2693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F1</a:t>
            </a:r>
            <a:endParaRPr lang="en-US" altLang="en-US" sz="1800" dirty="0"/>
          </a:p>
        </p:txBody>
      </p:sp>
      <p:sp>
        <p:nvSpPr>
          <p:cNvPr id="342" name="Rectangle 461"/>
          <p:cNvSpPr>
            <a:spLocks noChangeArrowheads="1"/>
          </p:cNvSpPr>
          <p:nvPr/>
        </p:nvSpPr>
        <p:spPr bwMode="auto">
          <a:xfrm>
            <a:off x="4751814" y="2889833"/>
            <a:ext cx="10130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8x1 </a:t>
            </a:r>
            <a:r>
              <a:rPr lang="en-US" altLang="en-US" sz="1800" dirty="0" err="1">
                <a:solidFill>
                  <a:srgbClr val="000000"/>
                </a:solidFill>
                <a:latin typeface="Helvetica" pitchFamily="34" charset="0"/>
              </a:rPr>
              <a:t>Mem</a:t>
            </a:r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 </a:t>
            </a:r>
            <a:endParaRPr lang="en-US" altLang="en-US" sz="1800" dirty="0"/>
          </a:p>
        </p:txBody>
      </p:sp>
      <p:sp>
        <p:nvSpPr>
          <p:cNvPr id="343" name="Rectangle 483"/>
          <p:cNvSpPr>
            <a:spLocks noChangeArrowheads="1"/>
          </p:cNvSpPr>
          <p:nvPr/>
        </p:nvSpPr>
        <p:spPr bwMode="auto">
          <a:xfrm>
            <a:off x="4115103" y="4010056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 sz="1800" dirty="0"/>
          </a:p>
        </p:txBody>
      </p:sp>
      <p:sp>
        <p:nvSpPr>
          <p:cNvPr id="344" name="Rectangle 484"/>
          <p:cNvSpPr>
            <a:spLocks noChangeArrowheads="1"/>
          </p:cNvSpPr>
          <p:nvPr/>
        </p:nvSpPr>
        <p:spPr bwMode="auto">
          <a:xfrm>
            <a:off x="4142618" y="4271903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 sz="1800" dirty="0"/>
          </a:p>
        </p:txBody>
      </p:sp>
      <p:sp>
        <p:nvSpPr>
          <p:cNvPr id="345" name="Rectangle 485"/>
          <p:cNvSpPr>
            <a:spLocks noChangeArrowheads="1"/>
          </p:cNvSpPr>
          <p:nvPr/>
        </p:nvSpPr>
        <p:spPr bwMode="auto">
          <a:xfrm>
            <a:off x="4142618" y="4530601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1217149" y="2995907"/>
                <a:ext cx="16795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𝑘𝑝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149" y="2995907"/>
                <a:ext cx="1679562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2909" b="-37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069123" y="3399454"/>
                <a:ext cx="195271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123" y="3399454"/>
                <a:ext cx="1952714" cy="40011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Oval 498"/>
          <p:cNvSpPr>
            <a:spLocks noChangeArrowheads="1"/>
          </p:cNvSpPr>
          <p:nvPr/>
        </p:nvSpPr>
        <p:spPr bwMode="auto">
          <a:xfrm>
            <a:off x="1573809" y="2362907"/>
            <a:ext cx="558800" cy="573180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ounded Rectangle 3"/>
          <p:cNvSpPr/>
          <p:nvPr/>
        </p:nvSpPr>
        <p:spPr>
          <a:xfrm>
            <a:off x="1151484" y="2942557"/>
            <a:ext cx="1745227" cy="4191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ounded Rectangle 106"/>
          <p:cNvSpPr/>
          <p:nvPr/>
        </p:nvSpPr>
        <p:spPr>
          <a:xfrm>
            <a:off x="1172866" y="3430760"/>
            <a:ext cx="1745227" cy="4191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Oval 497"/>
          <p:cNvSpPr>
            <a:spLocks noChangeArrowheads="1"/>
          </p:cNvSpPr>
          <p:nvPr/>
        </p:nvSpPr>
        <p:spPr bwMode="auto">
          <a:xfrm rot="19855884">
            <a:off x="1050812" y="4413566"/>
            <a:ext cx="1474520" cy="1036391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7" name="Oval 498"/>
          <p:cNvSpPr>
            <a:spLocks noChangeArrowheads="1"/>
          </p:cNvSpPr>
          <p:nvPr/>
        </p:nvSpPr>
        <p:spPr bwMode="auto">
          <a:xfrm>
            <a:off x="2508880" y="4530600"/>
            <a:ext cx="692429" cy="710967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8" name="Rectangle 351"/>
          <p:cNvSpPr>
            <a:spLocks noChangeArrowheads="1"/>
          </p:cNvSpPr>
          <p:nvPr/>
        </p:nvSpPr>
        <p:spPr bwMode="auto">
          <a:xfrm>
            <a:off x="2439814" y="4495093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1340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258"/>
    </mc:Choice>
    <mc:Fallback xmlns="">
      <p:transition spd="slow" advTm="512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36" grpId="0" animBg="1"/>
      <p:bldP spid="13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3"/>
          <p:cNvSpPr txBox="1">
            <a:spLocks noChangeArrowheads="1"/>
          </p:cNvSpPr>
          <p:nvPr/>
        </p:nvSpPr>
        <p:spPr bwMode="auto">
          <a:xfrm>
            <a:off x="460800" y="1720800"/>
            <a:ext cx="7865680" cy="72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b="1" kern="0" dirty="0"/>
              <a:t>Step 2</a:t>
            </a:r>
            <a:r>
              <a:rPr lang="en-US" altLang="en-US" kern="0" dirty="0"/>
              <a:t>: Assign the required variables to the inputs of Look Up Tables and fill them in with the output of the logic functions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kern="0" dirty="0"/>
          </a:p>
          <a:p>
            <a:pPr lvl="1" eaLnBrk="1" hangingPunct="1">
              <a:lnSpc>
                <a:spcPct val="90000"/>
              </a:lnSpc>
            </a:pPr>
            <a:endParaRPr lang="en-US" altLang="en-US" kern="0" dirty="0"/>
          </a:p>
          <a:p>
            <a:pPr lvl="1" eaLnBrk="1" hangingPunct="1">
              <a:lnSpc>
                <a:spcPct val="90000"/>
              </a:lnSpc>
            </a:pPr>
            <a:endParaRPr lang="en-US" altLang="en-US" kern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2.3. Example 2: Solution</a:t>
            </a:r>
            <a:endParaRPr lang="en-GB" dirty="0"/>
          </a:p>
        </p:txBody>
      </p:sp>
      <p:sp>
        <p:nvSpPr>
          <p:cNvPr id="18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19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/>
              <p:cNvSpPr txBox="1"/>
              <p:nvPr/>
            </p:nvSpPr>
            <p:spPr>
              <a:xfrm>
                <a:off x="799136" y="2706812"/>
                <a:ext cx="19452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𝑘𝑝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3" name="TextBox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36" y="2706812"/>
                <a:ext cx="1945276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2194" r="-1881" b="-37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7047541" y="2667505"/>
            <a:ext cx="1484233" cy="3004979"/>
            <a:chOff x="6951161" y="3079952"/>
            <a:chExt cx="1290634" cy="2613025"/>
          </a:xfrm>
        </p:grpSpPr>
        <p:grpSp>
          <p:nvGrpSpPr>
            <p:cNvPr id="20525" name="Group 515"/>
            <p:cNvGrpSpPr>
              <a:grpSpLocks/>
            </p:cNvGrpSpPr>
            <p:nvPr/>
          </p:nvGrpSpPr>
          <p:grpSpPr bwMode="auto">
            <a:xfrm>
              <a:off x="7184520" y="3079952"/>
              <a:ext cx="1057275" cy="2613025"/>
              <a:chOff x="4534" y="2197"/>
              <a:chExt cx="666" cy="1646"/>
            </a:xfrm>
          </p:grpSpPr>
          <p:sp>
            <p:nvSpPr>
              <p:cNvPr id="20529" name="Line 368"/>
              <p:cNvSpPr>
                <a:spLocks noChangeShapeType="1"/>
              </p:cNvSpPr>
              <p:nvPr/>
            </p:nvSpPr>
            <p:spPr bwMode="auto">
              <a:xfrm>
                <a:off x="4949" y="3648"/>
                <a:ext cx="1" cy="15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27" name="Rectangle 339"/>
              <p:cNvSpPr>
                <a:spLocks noChangeArrowheads="1"/>
              </p:cNvSpPr>
              <p:nvPr/>
            </p:nvSpPr>
            <p:spPr bwMode="auto">
              <a:xfrm>
                <a:off x="4534" y="2197"/>
                <a:ext cx="666" cy="1449"/>
              </a:xfrm>
              <a:prstGeom prst="rect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0528" name="Freeform 367"/>
              <p:cNvSpPr>
                <a:spLocks/>
              </p:cNvSpPr>
              <p:nvPr/>
            </p:nvSpPr>
            <p:spPr bwMode="auto">
              <a:xfrm>
                <a:off x="4925" y="3748"/>
                <a:ext cx="47" cy="95"/>
              </a:xfrm>
              <a:custGeom>
                <a:avLst/>
                <a:gdLst>
                  <a:gd name="T0" fmla="*/ 24 w 47"/>
                  <a:gd name="T1" fmla="*/ 95 h 95"/>
                  <a:gd name="T2" fmla="*/ 47 w 47"/>
                  <a:gd name="T3" fmla="*/ 0 h 95"/>
                  <a:gd name="T4" fmla="*/ 0 w 47"/>
                  <a:gd name="T5" fmla="*/ 0 h 95"/>
                  <a:gd name="T6" fmla="*/ 24 w 47"/>
                  <a:gd name="T7" fmla="*/ 9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95"/>
                  <a:gd name="T14" fmla="*/ 47 w 47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95">
                    <a:moveTo>
                      <a:pt x="24" y="95"/>
                    </a:moveTo>
                    <a:lnTo>
                      <a:pt x="47" y="0"/>
                    </a:lnTo>
                    <a:lnTo>
                      <a:pt x="0" y="0"/>
                    </a:lnTo>
                    <a:lnTo>
                      <a:pt x="24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0543" name="Rectangle 453"/>
              <p:cNvSpPr>
                <a:spLocks noChangeArrowheads="1"/>
              </p:cNvSpPr>
              <p:nvPr/>
            </p:nvSpPr>
            <p:spPr bwMode="auto">
              <a:xfrm>
                <a:off x="4816" y="2405"/>
                <a:ext cx="346" cy="1057"/>
              </a:xfrm>
              <a:prstGeom prst="rect">
                <a:avLst/>
              </a:prstGeom>
              <a:solidFill>
                <a:srgbClr val="D4E0F3"/>
              </a:solidFill>
              <a:ln w="12700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0544" name="Line 454"/>
              <p:cNvSpPr>
                <a:spLocks noChangeShapeType="1"/>
              </p:cNvSpPr>
              <p:nvPr/>
            </p:nvSpPr>
            <p:spPr bwMode="auto">
              <a:xfrm>
                <a:off x="4813" y="253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5" name="Line 455"/>
              <p:cNvSpPr>
                <a:spLocks noChangeShapeType="1"/>
              </p:cNvSpPr>
              <p:nvPr/>
            </p:nvSpPr>
            <p:spPr bwMode="auto">
              <a:xfrm>
                <a:off x="4813" y="2669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6" name="Line 456"/>
              <p:cNvSpPr>
                <a:spLocks noChangeShapeType="1"/>
              </p:cNvSpPr>
              <p:nvPr/>
            </p:nvSpPr>
            <p:spPr bwMode="auto">
              <a:xfrm>
                <a:off x="4813" y="280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7" name="Line 457"/>
              <p:cNvSpPr>
                <a:spLocks noChangeShapeType="1"/>
              </p:cNvSpPr>
              <p:nvPr/>
            </p:nvSpPr>
            <p:spPr bwMode="auto">
              <a:xfrm>
                <a:off x="4813" y="293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8" name="Line 458"/>
              <p:cNvSpPr>
                <a:spLocks noChangeShapeType="1"/>
              </p:cNvSpPr>
              <p:nvPr/>
            </p:nvSpPr>
            <p:spPr bwMode="auto">
              <a:xfrm>
                <a:off x="4813" y="306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49" name="Line 459"/>
              <p:cNvSpPr>
                <a:spLocks noChangeShapeType="1"/>
              </p:cNvSpPr>
              <p:nvPr/>
            </p:nvSpPr>
            <p:spPr bwMode="auto">
              <a:xfrm>
                <a:off x="4813" y="319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50" name="Line 460"/>
              <p:cNvSpPr>
                <a:spLocks noChangeShapeType="1"/>
              </p:cNvSpPr>
              <p:nvPr/>
            </p:nvSpPr>
            <p:spPr bwMode="auto">
              <a:xfrm>
                <a:off x="4813" y="333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562" name="Rectangle 473"/>
              <p:cNvSpPr>
                <a:spLocks noChangeArrowheads="1"/>
              </p:cNvSpPr>
              <p:nvPr/>
            </p:nvSpPr>
            <p:spPr bwMode="auto">
              <a:xfrm>
                <a:off x="4915" y="3494"/>
                <a:ext cx="91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  <a:endParaRPr lang="en-US" altLang="en-US" sz="1800"/>
              </a:p>
            </p:txBody>
          </p:sp>
          <p:sp>
            <p:nvSpPr>
              <p:cNvPr id="20564" name="Rectangle 475"/>
              <p:cNvSpPr>
                <a:spLocks noChangeArrowheads="1"/>
              </p:cNvSpPr>
              <p:nvPr/>
            </p:nvSpPr>
            <p:spPr bwMode="auto">
              <a:xfrm>
                <a:off x="4702" y="242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800"/>
              </a:p>
            </p:txBody>
          </p:sp>
          <p:sp>
            <p:nvSpPr>
              <p:cNvPr id="20565" name="Rectangle 476"/>
              <p:cNvSpPr>
                <a:spLocks noChangeArrowheads="1"/>
              </p:cNvSpPr>
              <p:nvPr/>
            </p:nvSpPr>
            <p:spPr bwMode="auto">
              <a:xfrm>
                <a:off x="4702" y="2551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800"/>
              </a:p>
            </p:txBody>
          </p:sp>
          <p:sp>
            <p:nvSpPr>
              <p:cNvPr id="20566" name="Rectangle 477"/>
              <p:cNvSpPr>
                <a:spLocks noChangeArrowheads="1"/>
              </p:cNvSpPr>
              <p:nvPr/>
            </p:nvSpPr>
            <p:spPr bwMode="auto">
              <a:xfrm>
                <a:off x="4702" y="268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 sz="1800"/>
              </a:p>
            </p:txBody>
          </p:sp>
          <p:sp>
            <p:nvSpPr>
              <p:cNvPr id="20567" name="Rectangle 478"/>
              <p:cNvSpPr>
                <a:spLocks noChangeArrowheads="1"/>
              </p:cNvSpPr>
              <p:nvPr/>
            </p:nvSpPr>
            <p:spPr bwMode="auto">
              <a:xfrm>
                <a:off x="4702" y="281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 sz="1800"/>
              </a:p>
            </p:txBody>
          </p:sp>
          <p:sp>
            <p:nvSpPr>
              <p:cNvPr id="20568" name="Rectangle 479"/>
              <p:cNvSpPr>
                <a:spLocks noChangeArrowheads="1"/>
              </p:cNvSpPr>
              <p:nvPr/>
            </p:nvSpPr>
            <p:spPr bwMode="auto">
              <a:xfrm>
                <a:off x="4702" y="2949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 sz="1800"/>
              </a:p>
            </p:txBody>
          </p:sp>
          <p:sp>
            <p:nvSpPr>
              <p:cNvPr id="20569" name="Rectangle 480"/>
              <p:cNvSpPr>
                <a:spLocks noChangeArrowheads="1"/>
              </p:cNvSpPr>
              <p:nvPr/>
            </p:nvSpPr>
            <p:spPr bwMode="auto">
              <a:xfrm>
                <a:off x="4702" y="3078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 sz="1800"/>
              </a:p>
            </p:txBody>
          </p:sp>
          <p:sp>
            <p:nvSpPr>
              <p:cNvPr id="20570" name="Rectangle 481"/>
              <p:cNvSpPr>
                <a:spLocks noChangeArrowheads="1"/>
              </p:cNvSpPr>
              <p:nvPr/>
            </p:nvSpPr>
            <p:spPr bwMode="auto">
              <a:xfrm>
                <a:off x="4702" y="321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 sz="1800"/>
              </a:p>
            </p:txBody>
          </p:sp>
          <p:sp>
            <p:nvSpPr>
              <p:cNvPr id="20571" name="Rectangle 482"/>
              <p:cNvSpPr>
                <a:spLocks noChangeArrowheads="1"/>
              </p:cNvSpPr>
              <p:nvPr/>
            </p:nvSpPr>
            <p:spPr bwMode="auto">
              <a:xfrm>
                <a:off x="4702" y="3340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7</a:t>
                </a:r>
                <a:endParaRPr lang="en-US" altLang="en-US" sz="1800"/>
              </a:p>
            </p:txBody>
          </p:sp>
        </p:grpSp>
        <p:sp>
          <p:nvSpPr>
            <p:cNvPr id="260" name="Line 448"/>
            <p:cNvSpPr>
              <a:spLocks noChangeShapeType="1"/>
            </p:cNvSpPr>
            <p:nvPr/>
          </p:nvSpPr>
          <p:spPr bwMode="auto">
            <a:xfrm>
              <a:off x="6951161" y="42840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1" name="Line 450"/>
            <p:cNvSpPr>
              <a:spLocks noChangeShapeType="1"/>
            </p:cNvSpPr>
            <p:nvPr/>
          </p:nvSpPr>
          <p:spPr bwMode="auto">
            <a:xfrm>
              <a:off x="6951161" y="44618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2" name="Line 452"/>
            <p:cNvSpPr>
              <a:spLocks noChangeShapeType="1"/>
            </p:cNvSpPr>
            <p:nvPr/>
          </p:nvSpPr>
          <p:spPr bwMode="auto">
            <a:xfrm>
              <a:off x="6951161" y="4636436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3" name="Freeform 447"/>
            <p:cNvSpPr>
              <a:spLocks/>
            </p:cNvSpPr>
            <p:nvPr/>
          </p:nvSpPr>
          <p:spPr bwMode="auto">
            <a:xfrm>
              <a:off x="7044823" y="4245911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64" name="Freeform 449"/>
            <p:cNvSpPr>
              <a:spLocks/>
            </p:cNvSpPr>
            <p:nvPr/>
          </p:nvSpPr>
          <p:spPr bwMode="auto">
            <a:xfrm>
              <a:off x="7044823" y="4425298"/>
              <a:ext cx="150813" cy="74613"/>
            </a:xfrm>
            <a:custGeom>
              <a:avLst/>
              <a:gdLst>
                <a:gd name="T0" fmla="*/ 95 w 95"/>
                <a:gd name="T1" fmla="*/ 23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3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65" name="Freeform 451"/>
            <p:cNvSpPr>
              <a:spLocks/>
            </p:cNvSpPr>
            <p:nvPr/>
          </p:nvSpPr>
          <p:spPr bwMode="auto">
            <a:xfrm>
              <a:off x="7044823" y="4598336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sp>
        <p:nvSpPr>
          <p:cNvPr id="307" name="Rectangle 474"/>
          <p:cNvSpPr>
            <a:spLocks noChangeArrowheads="1"/>
          </p:cNvSpPr>
          <p:nvPr/>
        </p:nvSpPr>
        <p:spPr bwMode="auto">
          <a:xfrm>
            <a:off x="7701316" y="5409587"/>
            <a:ext cx="2693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F2</a:t>
            </a:r>
            <a:endParaRPr lang="en-US" altLang="en-US" sz="1800" dirty="0"/>
          </a:p>
        </p:txBody>
      </p:sp>
      <p:sp>
        <p:nvSpPr>
          <p:cNvPr id="309" name="Rectangle 461"/>
          <p:cNvSpPr>
            <a:spLocks noChangeArrowheads="1"/>
          </p:cNvSpPr>
          <p:nvPr/>
        </p:nvSpPr>
        <p:spPr bwMode="auto">
          <a:xfrm>
            <a:off x="7396718" y="2727679"/>
            <a:ext cx="10130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8x1 </a:t>
            </a:r>
            <a:r>
              <a:rPr lang="en-US" altLang="en-US" sz="1800" dirty="0" err="1">
                <a:solidFill>
                  <a:srgbClr val="000000"/>
                </a:solidFill>
                <a:latin typeface="Helvetica" pitchFamily="34" charset="0"/>
              </a:rPr>
              <a:t>Mem</a:t>
            </a:r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 </a:t>
            </a:r>
            <a:endParaRPr lang="en-US" altLang="en-US" sz="1800" dirty="0"/>
          </a:p>
        </p:txBody>
      </p:sp>
      <p:sp>
        <p:nvSpPr>
          <p:cNvPr id="310" name="Rectangle 483"/>
          <p:cNvSpPr>
            <a:spLocks noChangeArrowheads="1"/>
          </p:cNvSpPr>
          <p:nvPr/>
        </p:nvSpPr>
        <p:spPr bwMode="auto">
          <a:xfrm>
            <a:off x="6760007" y="3847902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 sz="1800" dirty="0"/>
          </a:p>
        </p:txBody>
      </p:sp>
      <p:sp>
        <p:nvSpPr>
          <p:cNvPr id="311" name="Rectangle 484"/>
          <p:cNvSpPr>
            <a:spLocks noChangeArrowheads="1"/>
          </p:cNvSpPr>
          <p:nvPr/>
        </p:nvSpPr>
        <p:spPr bwMode="auto">
          <a:xfrm>
            <a:off x="6787522" y="4109749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 sz="1800" dirty="0"/>
          </a:p>
        </p:txBody>
      </p:sp>
      <p:sp>
        <p:nvSpPr>
          <p:cNvPr id="312" name="Rectangle 485"/>
          <p:cNvSpPr>
            <a:spLocks noChangeArrowheads="1"/>
          </p:cNvSpPr>
          <p:nvPr/>
        </p:nvSpPr>
        <p:spPr bwMode="auto">
          <a:xfrm>
            <a:off x="6787522" y="4368447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 sz="1800" dirty="0"/>
          </a:p>
        </p:txBody>
      </p:sp>
      <p:grpSp>
        <p:nvGrpSpPr>
          <p:cNvPr id="313" name="Group 312"/>
          <p:cNvGrpSpPr>
            <a:grpSpLocks noChangeAspect="1"/>
          </p:cNvGrpSpPr>
          <p:nvPr/>
        </p:nvGrpSpPr>
        <p:grpSpPr>
          <a:xfrm>
            <a:off x="4416856" y="2667505"/>
            <a:ext cx="1484233" cy="2946559"/>
            <a:chOff x="6951161" y="3079952"/>
            <a:chExt cx="1290634" cy="2562225"/>
          </a:xfrm>
        </p:grpSpPr>
        <p:grpSp>
          <p:nvGrpSpPr>
            <p:cNvPr id="314" name="Group 515"/>
            <p:cNvGrpSpPr>
              <a:grpSpLocks/>
            </p:cNvGrpSpPr>
            <p:nvPr/>
          </p:nvGrpSpPr>
          <p:grpSpPr bwMode="auto">
            <a:xfrm>
              <a:off x="7184520" y="3079952"/>
              <a:ext cx="1057275" cy="2562225"/>
              <a:chOff x="4534" y="2197"/>
              <a:chExt cx="666" cy="1614"/>
            </a:xfrm>
          </p:grpSpPr>
          <p:sp>
            <p:nvSpPr>
              <p:cNvPr id="321" name="Line 368"/>
              <p:cNvSpPr>
                <a:spLocks noChangeShapeType="1"/>
              </p:cNvSpPr>
              <p:nvPr/>
            </p:nvSpPr>
            <p:spPr bwMode="auto">
              <a:xfrm>
                <a:off x="4949" y="3616"/>
                <a:ext cx="1" cy="154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2" name="Rectangle 339"/>
              <p:cNvSpPr>
                <a:spLocks noChangeArrowheads="1"/>
              </p:cNvSpPr>
              <p:nvPr/>
            </p:nvSpPr>
            <p:spPr bwMode="auto">
              <a:xfrm>
                <a:off x="4534" y="2197"/>
                <a:ext cx="666" cy="1449"/>
              </a:xfrm>
              <a:prstGeom prst="rect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23" name="Freeform 367"/>
              <p:cNvSpPr>
                <a:spLocks/>
              </p:cNvSpPr>
              <p:nvPr/>
            </p:nvSpPr>
            <p:spPr bwMode="auto">
              <a:xfrm>
                <a:off x="4925" y="3716"/>
                <a:ext cx="47" cy="95"/>
              </a:xfrm>
              <a:custGeom>
                <a:avLst/>
                <a:gdLst>
                  <a:gd name="T0" fmla="*/ 24 w 47"/>
                  <a:gd name="T1" fmla="*/ 95 h 95"/>
                  <a:gd name="T2" fmla="*/ 47 w 47"/>
                  <a:gd name="T3" fmla="*/ 0 h 95"/>
                  <a:gd name="T4" fmla="*/ 0 w 47"/>
                  <a:gd name="T5" fmla="*/ 0 h 95"/>
                  <a:gd name="T6" fmla="*/ 24 w 47"/>
                  <a:gd name="T7" fmla="*/ 95 h 9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95"/>
                  <a:gd name="T14" fmla="*/ 47 w 47"/>
                  <a:gd name="T15" fmla="*/ 95 h 9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95">
                    <a:moveTo>
                      <a:pt x="24" y="95"/>
                    </a:moveTo>
                    <a:lnTo>
                      <a:pt x="47" y="0"/>
                    </a:lnTo>
                    <a:lnTo>
                      <a:pt x="0" y="0"/>
                    </a:lnTo>
                    <a:lnTo>
                      <a:pt x="24" y="9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24" name="Rectangle 453"/>
              <p:cNvSpPr>
                <a:spLocks noChangeArrowheads="1"/>
              </p:cNvSpPr>
              <p:nvPr/>
            </p:nvSpPr>
            <p:spPr bwMode="auto">
              <a:xfrm>
                <a:off x="4816" y="2405"/>
                <a:ext cx="346" cy="1057"/>
              </a:xfrm>
              <a:prstGeom prst="rect">
                <a:avLst/>
              </a:prstGeom>
              <a:solidFill>
                <a:srgbClr val="D4E0F3"/>
              </a:solidFill>
              <a:ln w="12700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325" name="Line 454"/>
              <p:cNvSpPr>
                <a:spLocks noChangeShapeType="1"/>
              </p:cNvSpPr>
              <p:nvPr/>
            </p:nvSpPr>
            <p:spPr bwMode="auto">
              <a:xfrm>
                <a:off x="4813" y="253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6" name="Line 455"/>
              <p:cNvSpPr>
                <a:spLocks noChangeShapeType="1"/>
              </p:cNvSpPr>
              <p:nvPr/>
            </p:nvSpPr>
            <p:spPr bwMode="auto">
              <a:xfrm>
                <a:off x="4813" y="2669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7" name="Line 456"/>
              <p:cNvSpPr>
                <a:spLocks noChangeShapeType="1"/>
              </p:cNvSpPr>
              <p:nvPr/>
            </p:nvSpPr>
            <p:spPr bwMode="auto">
              <a:xfrm>
                <a:off x="4813" y="280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" name="Line 457"/>
              <p:cNvSpPr>
                <a:spLocks noChangeShapeType="1"/>
              </p:cNvSpPr>
              <p:nvPr/>
            </p:nvSpPr>
            <p:spPr bwMode="auto">
              <a:xfrm>
                <a:off x="4813" y="293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9" name="Line 458"/>
              <p:cNvSpPr>
                <a:spLocks noChangeShapeType="1"/>
              </p:cNvSpPr>
              <p:nvPr/>
            </p:nvSpPr>
            <p:spPr bwMode="auto">
              <a:xfrm>
                <a:off x="4813" y="3065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0" name="Line 459"/>
              <p:cNvSpPr>
                <a:spLocks noChangeShapeType="1"/>
              </p:cNvSpPr>
              <p:nvPr/>
            </p:nvSpPr>
            <p:spPr bwMode="auto">
              <a:xfrm>
                <a:off x="4813" y="3198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1" name="Line 460"/>
              <p:cNvSpPr>
                <a:spLocks noChangeShapeType="1"/>
              </p:cNvSpPr>
              <p:nvPr/>
            </p:nvSpPr>
            <p:spPr bwMode="auto">
              <a:xfrm>
                <a:off x="4813" y="3332"/>
                <a:ext cx="349" cy="1"/>
              </a:xfrm>
              <a:prstGeom prst="line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2" name="Rectangle 473"/>
              <p:cNvSpPr>
                <a:spLocks noChangeArrowheads="1"/>
              </p:cNvSpPr>
              <p:nvPr/>
            </p:nvSpPr>
            <p:spPr bwMode="auto">
              <a:xfrm>
                <a:off x="4915" y="3494"/>
                <a:ext cx="91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  <a:endParaRPr lang="en-US" altLang="en-US" sz="1800"/>
              </a:p>
            </p:txBody>
          </p:sp>
          <p:sp>
            <p:nvSpPr>
              <p:cNvPr id="333" name="Rectangle 475"/>
              <p:cNvSpPr>
                <a:spLocks noChangeArrowheads="1"/>
              </p:cNvSpPr>
              <p:nvPr/>
            </p:nvSpPr>
            <p:spPr bwMode="auto">
              <a:xfrm>
                <a:off x="4702" y="242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800"/>
              </a:p>
            </p:txBody>
          </p:sp>
          <p:sp>
            <p:nvSpPr>
              <p:cNvPr id="334" name="Rectangle 476"/>
              <p:cNvSpPr>
                <a:spLocks noChangeArrowheads="1"/>
              </p:cNvSpPr>
              <p:nvPr/>
            </p:nvSpPr>
            <p:spPr bwMode="auto">
              <a:xfrm>
                <a:off x="4702" y="2551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800"/>
              </a:p>
            </p:txBody>
          </p:sp>
          <p:sp>
            <p:nvSpPr>
              <p:cNvPr id="335" name="Rectangle 477"/>
              <p:cNvSpPr>
                <a:spLocks noChangeArrowheads="1"/>
              </p:cNvSpPr>
              <p:nvPr/>
            </p:nvSpPr>
            <p:spPr bwMode="auto">
              <a:xfrm>
                <a:off x="4702" y="268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 sz="1800"/>
              </a:p>
            </p:txBody>
          </p:sp>
          <p:sp>
            <p:nvSpPr>
              <p:cNvPr id="336" name="Rectangle 478"/>
              <p:cNvSpPr>
                <a:spLocks noChangeArrowheads="1"/>
              </p:cNvSpPr>
              <p:nvPr/>
            </p:nvSpPr>
            <p:spPr bwMode="auto">
              <a:xfrm>
                <a:off x="4702" y="2813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 sz="1800"/>
              </a:p>
            </p:txBody>
          </p:sp>
          <p:sp>
            <p:nvSpPr>
              <p:cNvPr id="337" name="Rectangle 479"/>
              <p:cNvSpPr>
                <a:spLocks noChangeArrowheads="1"/>
              </p:cNvSpPr>
              <p:nvPr/>
            </p:nvSpPr>
            <p:spPr bwMode="auto">
              <a:xfrm>
                <a:off x="4702" y="2949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 sz="1800"/>
              </a:p>
            </p:txBody>
          </p:sp>
          <p:sp>
            <p:nvSpPr>
              <p:cNvPr id="338" name="Rectangle 480"/>
              <p:cNvSpPr>
                <a:spLocks noChangeArrowheads="1"/>
              </p:cNvSpPr>
              <p:nvPr/>
            </p:nvSpPr>
            <p:spPr bwMode="auto">
              <a:xfrm>
                <a:off x="4702" y="3078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 sz="1800"/>
              </a:p>
            </p:txBody>
          </p:sp>
          <p:sp>
            <p:nvSpPr>
              <p:cNvPr id="339" name="Rectangle 481"/>
              <p:cNvSpPr>
                <a:spLocks noChangeArrowheads="1"/>
              </p:cNvSpPr>
              <p:nvPr/>
            </p:nvSpPr>
            <p:spPr bwMode="auto">
              <a:xfrm>
                <a:off x="4702" y="3212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 sz="1800"/>
              </a:p>
            </p:txBody>
          </p:sp>
          <p:sp>
            <p:nvSpPr>
              <p:cNvPr id="340" name="Rectangle 482"/>
              <p:cNvSpPr>
                <a:spLocks noChangeArrowheads="1"/>
              </p:cNvSpPr>
              <p:nvPr/>
            </p:nvSpPr>
            <p:spPr bwMode="auto">
              <a:xfrm>
                <a:off x="4702" y="3340"/>
                <a:ext cx="70" cy="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7</a:t>
                </a:r>
                <a:endParaRPr lang="en-US" altLang="en-US" sz="1800"/>
              </a:p>
            </p:txBody>
          </p:sp>
        </p:grpSp>
        <p:sp>
          <p:nvSpPr>
            <p:cNvPr id="315" name="Line 448"/>
            <p:cNvSpPr>
              <a:spLocks noChangeShapeType="1"/>
            </p:cNvSpPr>
            <p:nvPr/>
          </p:nvSpPr>
          <p:spPr bwMode="auto">
            <a:xfrm>
              <a:off x="6951161" y="42840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6" name="Line 450"/>
            <p:cNvSpPr>
              <a:spLocks noChangeShapeType="1"/>
            </p:cNvSpPr>
            <p:nvPr/>
          </p:nvSpPr>
          <p:spPr bwMode="auto">
            <a:xfrm>
              <a:off x="6951161" y="4461811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7" name="Line 452"/>
            <p:cNvSpPr>
              <a:spLocks noChangeShapeType="1"/>
            </p:cNvSpPr>
            <p:nvPr/>
          </p:nvSpPr>
          <p:spPr bwMode="auto">
            <a:xfrm>
              <a:off x="6951161" y="4636436"/>
              <a:ext cx="177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18" name="Freeform 447"/>
            <p:cNvSpPr>
              <a:spLocks/>
            </p:cNvSpPr>
            <p:nvPr/>
          </p:nvSpPr>
          <p:spPr bwMode="auto">
            <a:xfrm>
              <a:off x="7044823" y="4245911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319" name="Freeform 449"/>
            <p:cNvSpPr>
              <a:spLocks/>
            </p:cNvSpPr>
            <p:nvPr/>
          </p:nvSpPr>
          <p:spPr bwMode="auto">
            <a:xfrm>
              <a:off x="7044823" y="4425298"/>
              <a:ext cx="150813" cy="74613"/>
            </a:xfrm>
            <a:custGeom>
              <a:avLst/>
              <a:gdLst>
                <a:gd name="T0" fmla="*/ 95 w 95"/>
                <a:gd name="T1" fmla="*/ 23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3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320" name="Freeform 451"/>
            <p:cNvSpPr>
              <a:spLocks/>
            </p:cNvSpPr>
            <p:nvPr/>
          </p:nvSpPr>
          <p:spPr bwMode="auto">
            <a:xfrm>
              <a:off x="7044823" y="4598336"/>
              <a:ext cx="150813" cy="74613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sp>
        <p:nvSpPr>
          <p:cNvPr id="341" name="Rectangle 474"/>
          <p:cNvSpPr>
            <a:spLocks noChangeArrowheads="1"/>
          </p:cNvSpPr>
          <p:nvPr/>
        </p:nvSpPr>
        <p:spPr bwMode="auto">
          <a:xfrm>
            <a:off x="5055823" y="5338466"/>
            <a:ext cx="26930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F1</a:t>
            </a:r>
            <a:endParaRPr lang="en-US" altLang="en-US" sz="1800" dirty="0"/>
          </a:p>
        </p:txBody>
      </p:sp>
      <p:sp>
        <p:nvSpPr>
          <p:cNvPr id="342" name="Rectangle 461"/>
          <p:cNvSpPr>
            <a:spLocks noChangeArrowheads="1"/>
          </p:cNvSpPr>
          <p:nvPr/>
        </p:nvSpPr>
        <p:spPr bwMode="auto">
          <a:xfrm>
            <a:off x="4766033" y="2727679"/>
            <a:ext cx="10130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8x1 </a:t>
            </a:r>
            <a:r>
              <a:rPr lang="en-US" altLang="en-US" sz="1800" dirty="0" err="1">
                <a:solidFill>
                  <a:srgbClr val="000000"/>
                </a:solidFill>
                <a:latin typeface="Helvetica" pitchFamily="34" charset="0"/>
              </a:rPr>
              <a:t>Mem</a:t>
            </a:r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 </a:t>
            </a:r>
            <a:endParaRPr lang="en-US" altLang="en-US" sz="1800" dirty="0"/>
          </a:p>
        </p:txBody>
      </p:sp>
      <p:sp>
        <p:nvSpPr>
          <p:cNvPr id="343" name="Rectangle 483"/>
          <p:cNvSpPr>
            <a:spLocks noChangeArrowheads="1"/>
          </p:cNvSpPr>
          <p:nvPr/>
        </p:nvSpPr>
        <p:spPr bwMode="auto">
          <a:xfrm>
            <a:off x="4129322" y="3847902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 sz="1800" dirty="0"/>
          </a:p>
        </p:txBody>
      </p:sp>
      <p:sp>
        <p:nvSpPr>
          <p:cNvPr id="344" name="Rectangle 484"/>
          <p:cNvSpPr>
            <a:spLocks noChangeArrowheads="1"/>
          </p:cNvSpPr>
          <p:nvPr/>
        </p:nvSpPr>
        <p:spPr bwMode="auto">
          <a:xfrm>
            <a:off x="4156837" y="4109749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 sz="1800" dirty="0"/>
          </a:p>
        </p:txBody>
      </p:sp>
      <p:sp>
        <p:nvSpPr>
          <p:cNvPr id="345" name="Rectangle 485"/>
          <p:cNvSpPr>
            <a:spLocks noChangeArrowheads="1"/>
          </p:cNvSpPr>
          <p:nvPr/>
        </p:nvSpPr>
        <p:spPr bwMode="auto">
          <a:xfrm>
            <a:off x="4156837" y="4368447"/>
            <a:ext cx="255588" cy="277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912551" y="3184222"/>
                <a:ext cx="16795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𝑘𝑝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51" y="3184222"/>
                <a:ext cx="1679562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2909" b="-37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64525" y="3587769"/>
                <a:ext cx="195271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25" y="3587769"/>
                <a:ext cx="1952714" cy="40011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Oval 498"/>
          <p:cNvSpPr>
            <a:spLocks noChangeArrowheads="1"/>
          </p:cNvSpPr>
          <p:nvPr/>
        </p:nvSpPr>
        <p:spPr bwMode="auto">
          <a:xfrm>
            <a:off x="1269211" y="2551222"/>
            <a:ext cx="558800" cy="573180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ounded Rectangle 3"/>
          <p:cNvSpPr/>
          <p:nvPr/>
        </p:nvSpPr>
        <p:spPr>
          <a:xfrm>
            <a:off x="846886" y="3130872"/>
            <a:ext cx="1745227" cy="4191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ounded Rectangle 106"/>
          <p:cNvSpPr/>
          <p:nvPr/>
        </p:nvSpPr>
        <p:spPr>
          <a:xfrm>
            <a:off x="868268" y="3619075"/>
            <a:ext cx="1745227" cy="4191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419"/>
          <p:cNvSpPr>
            <a:spLocks noChangeArrowheads="1"/>
          </p:cNvSpPr>
          <p:nvPr/>
        </p:nvSpPr>
        <p:spPr bwMode="auto">
          <a:xfrm>
            <a:off x="5418398" y="3066727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11" name="Rectangle 419"/>
          <p:cNvSpPr>
            <a:spLocks noChangeArrowheads="1"/>
          </p:cNvSpPr>
          <p:nvPr/>
        </p:nvSpPr>
        <p:spPr bwMode="auto">
          <a:xfrm>
            <a:off x="5426426" y="3304168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12" name="Rectangle 419"/>
          <p:cNvSpPr>
            <a:spLocks noChangeArrowheads="1"/>
          </p:cNvSpPr>
          <p:nvPr/>
        </p:nvSpPr>
        <p:spPr bwMode="auto">
          <a:xfrm>
            <a:off x="5441943" y="3540401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13" name="Rectangle 419"/>
          <p:cNvSpPr>
            <a:spLocks noChangeArrowheads="1"/>
          </p:cNvSpPr>
          <p:nvPr/>
        </p:nvSpPr>
        <p:spPr bwMode="auto">
          <a:xfrm>
            <a:off x="5444192" y="3803049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14" name="Rectangle 419"/>
          <p:cNvSpPr>
            <a:spLocks noChangeArrowheads="1"/>
          </p:cNvSpPr>
          <p:nvPr/>
        </p:nvSpPr>
        <p:spPr bwMode="auto">
          <a:xfrm>
            <a:off x="5433522" y="4023459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15" name="Rectangle 419"/>
          <p:cNvSpPr>
            <a:spLocks noChangeArrowheads="1"/>
          </p:cNvSpPr>
          <p:nvPr/>
        </p:nvSpPr>
        <p:spPr bwMode="auto">
          <a:xfrm>
            <a:off x="5444192" y="4258779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16" name="Rectangle 419"/>
          <p:cNvSpPr>
            <a:spLocks noChangeArrowheads="1"/>
          </p:cNvSpPr>
          <p:nvPr/>
        </p:nvSpPr>
        <p:spPr bwMode="auto">
          <a:xfrm>
            <a:off x="5441943" y="4466022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17" name="Rectangle 419"/>
          <p:cNvSpPr>
            <a:spLocks noChangeArrowheads="1"/>
          </p:cNvSpPr>
          <p:nvPr/>
        </p:nvSpPr>
        <p:spPr bwMode="auto">
          <a:xfrm>
            <a:off x="5444192" y="4729270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25" name="Rectangle 419"/>
          <p:cNvSpPr>
            <a:spLocks noChangeArrowheads="1"/>
          </p:cNvSpPr>
          <p:nvPr/>
        </p:nvSpPr>
        <p:spPr bwMode="auto">
          <a:xfrm>
            <a:off x="8092077" y="3036237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26" name="Rectangle 419"/>
          <p:cNvSpPr>
            <a:spLocks noChangeArrowheads="1"/>
          </p:cNvSpPr>
          <p:nvPr/>
        </p:nvSpPr>
        <p:spPr bwMode="auto">
          <a:xfrm>
            <a:off x="8100105" y="3273678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27" name="Rectangle 419"/>
          <p:cNvSpPr>
            <a:spLocks noChangeArrowheads="1"/>
          </p:cNvSpPr>
          <p:nvPr/>
        </p:nvSpPr>
        <p:spPr bwMode="auto">
          <a:xfrm>
            <a:off x="8115622" y="3509911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28" name="Rectangle 419"/>
          <p:cNvSpPr>
            <a:spLocks noChangeArrowheads="1"/>
          </p:cNvSpPr>
          <p:nvPr/>
        </p:nvSpPr>
        <p:spPr bwMode="auto">
          <a:xfrm>
            <a:off x="8117871" y="3772559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29" name="Rectangle 419"/>
          <p:cNvSpPr>
            <a:spLocks noChangeArrowheads="1"/>
          </p:cNvSpPr>
          <p:nvPr/>
        </p:nvSpPr>
        <p:spPr bwMode="auto">
          <a:xfrm>
            <a:off x="8107201" y="3992969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30" name="Rectangle 419"/>
          <p:cNvSpPr>
            <a:spLocks noChangeArrowheads="1"/>
          </p:cNvSpPr>
          <p:nvPr/>
        </p:nvSpPr>
        <p:spPr bwMode="auto">
          <a:xfrm>
            <a:off x="8117871" y="4228289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31" name="Rectangle 419"/>
          <p:cNvSpPr>
            <a:spLocks noChangeArrowheads="1"/>
          </p:cNvSpPr>
          <p:nvPr/>
        </p:nvSpPr>
        <p:spPr bwMode="auto">
          <a:xfrm>
            <a:off x="8115622" y="4435532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32" name="Rectangle 419"/>
          <p:cNvSpPr>
            <a:spLocks noChangeArrowheads="1"/>
          </p:cNvSpPr>
          <p:nvPr/>
        </p:nvSpPr>
        <p:spPr bwMode="auto">
          <a:xfrm>
            <a:off x="8117871" y="4698780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133" name="Rectangle 483"/>
          <p:cNvSpPr>
            <a:spLocks noChangeArrowheads="1"/>
          </p:cNvSpPr>
          <p:nvPr/>
        </p:nvSpPr>
        <p:spPr bwMode="auto">
          <a:xfrm>
            <a:off x="3823081" y="3860003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B050"/>
                </a:solidFill>
                <a:latin typeface="Helvetica" pitchFamily="34" charset="0"/>
              </a:rPr>
              <a:t>k</a:t>
            </a:r>
            <a:endParaRPr lang="en-US" altLang="en-US" sz="1800" dirty="0">
              <a:solidFill>
                <a:srgbClr val="00B050"/>
              </a:solidFill>
            </a:endParaRPr>
          </a:p>
        </p:txBody>
      </p:sp>
      <p:sp>
        <p:nvSpPr>
          <p:cNvPr id="134" name="Rectangle 483"/>
          <p:cNvSpPr>
            <a:spLocks noChangeArrowheads="1"/>
          </p:cNvSpPr>
          <p:nvPr/>
        </p:nvSpPr>
        <p:spPr bwMode="auto">
          <a:xfrm>
            <a:off x="3835399" y="4119578"/>
            <a:ext cx="617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B050"/>
                </a:solidFill>
                <a:latin typeface="Helvetica" pitchFamily="34" charset="0"/>
              </a:rPr>
              <a:t>p</a:t>
            </a:r>
            <a:endParaRPr lang="en-US" altLang="en-US" sz="1800" dirty="0">
              <a:solidFill>
                <a:srgbClr val="00B050"/>
              </a:solidFill>
            </a:endParaRPr>
          </a:p>
        </p:txBody>
      </p:sp>
      <p:sp>
        <p:nvSpPr>
          <p:cNvPr id="135" name="Rectangle 483"/>
          <p:cNvSpPr>
            <a:spLocks noChangeArrowheads="1"/>
          </p:cNvSpPr>
          <p:nvPr/>
        </p:nvSpPr>
        <p:spPr bwMode="auto">
          <a:xfrm>
            <a:off x="3810505" y="4356208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B050"/>
                </a:solidFill>
                <a:latin typeface="Helvetica" pitchFamily="34" charset="0"/>
              </a:rPr>
              <a:t>s</a:t>
            </a:r>
            <a:endParaRPr lang="en-US" altLang="en-US" sz="1800" dirty="0">
              <a:solidFill>
                <a:srgbClr val="00B050"/>
              </a:solidFill>
            </a:endParaRPr>
          </a:p>
        </p:txBody>
      </p:sp>
      <p:sp>
        <p:nvSpPr>
          <p:cNvPr id="136" name="Rectangle 483"/>
          <p:cNvSpPr>
            <a:spLocks noChangeArrowheads="1"/>
          </p:cNvSpPr>
          <p:nvPr/>
        </p:nvSpPr>
        <p:spPr bwMode="auto">
          <a:xfrm>
            <a:off x="6564463" y="3885897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B050"/>
                </a:solidFill>
                <a:latin typeface="Helvetica" pitchFamily="34" charset="0"/>
              </a:rPr>
              <a:t>x</a:t>
            </a:r>
            <a:endParaRPr lang="en-US" altLang="en-US" sz="1800" dirty="0">
              <a:solidFill>
                <a:srgbClr val="00B050"/>
              </a:solidFill>
            </a:endParaRPr>
          </a:p>
        </p:txBody>
      </p:sp>
      <p:sp>
        <p:nvSpPr>
          <p:cNvPr id="137" name="Rectangle 483"/>
          <p:cNvSpPr>
            <a:spLocks noChangeArrowheads="1"/>
          </p:cNvSpPr>
          <p:nvPr/>
        </p:nvSpPr>
        <p:spPr bwMode="auto">
          <a:xfrm>
            <a:off x="6576781" y="4145472"/>
            <a:ext cx="6174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B050"/>
                </a:solidFill>
                <a:latin typeface="Helvetica" pitchFamily="34" charset="0"/>
              </a:rPr>
              <a:t>t</a:t>
            </a:r>
            <a:endParaRPr lang="en-US" altLang="en-US" sz="1800" dirty="0">
              <a:solidFill>
                <a:srgbClr val="00B050"/>
              </a:solidFill>
            </a:endParaRPr>
          </a:p>
        </p:txBody>
      </p:sp>
      <p:sp>
        <p:nvSpPr>
          <p:cNvPr id="138" name="Rectangle 483"/>
          <p:cNvSpPr>
            <a:spLocks noChangeArrowheads="1"/>
          </p:cNvSpPr>
          <p:nvPr/>
        </p:nvSpPr>
        <p:spPr bwMode="auto">
          <a:xfrm>
            <a:off x="6551887" y="4382102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B050"/>
                </a:solidFill>
                <a:latin typeface="Helvetica" pitchFamily="34" charset="0"/>
              </a:rPr>
              <a:t>d</a:t>
            </a:r>
            <a:endParaRPr lang="en-US" altLang="en-US" sz="1800" dirty="0">
              <a:solidFill>
                <a:srgbClr val="00B050"/>
              </a:solidFill>
            </a:endParaRPr>
          </a:p>
        </p:txBody>
      </p:sp>
      <p:grpSp>
        <p:nvGrpSpPr>
          <p:cNvPr id="139" name="Group 138"/>
          <p:cNvGrpSpPr/>
          <p:nvPr/>
        </p:nvGrpSpPr>
        <p:grpSpPr>
          <a:xfrm>
            <a:off x="307628" y="4011451"/>
            <a:ext cx="2995344" cy="2006632"/>
            <a:chOff x="365614" y="3764968"/>
            <a:chExt cx="2995344" cy="2006632"/>
          </a:xfrm>
        </p:grpSpPr>
        <p:grpSp>
          <p:nvGrpSpPr>
            <p:cNvPr id="140" name="Group 139"/>
            <p:cNvGrpSpPr>
              <a:grpSpLocks noChangeAspect="1"/>
            </p:cNvGrpSpPr>
            <p:nvPr/>
          </p:nvGrpSpPr>
          <p:grpSpPr>
            <a:xfrm>
              <a:off x="365614" y="3764968"/>
              <a:ext cx="2995344" cy="2006632"/>
              <a:chOff x="666273" y="3598621"/>
              <a:chExt cx="2230438" cy="1494207"/>
            </a:xfrm>
          </p:grpSpPr>
          <p:sp>
            <p:nvSpPr>
              <p:cNvPr id="142" name="Rectangle 336"/>
              <p:cNvSpPr>
                <a:spLocks noChangeArrowheads="1"/>
              </p:cNvSpPr>
              <p:nvPr/>
            </p:nvSpPr>
            <p:spPr bwMode="auto">
              <a:xfrm>
                <a:off x="1136173" y="3695867"/>
                <a:ext cx="1535113" cy="1396961"/>
              </a:xfrm>
              <a:prstGeom prst="rect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3" name="Freeform 340"/>
              <p:cNvSpPr>
                <a:spLocks/>
              </p:cNvSpPr>
              <p:nvPr/>
            </p:nvSpPr>
            <p:spPr bwMode="auto">
              <a:xfrm>
                <a:off x="863123" y="3908183"/>
                <a:ext cx="812800" cy="188913"/>
              </a:xfrm>
              <a:custGeom>
                <a:avLst/>
                <a:gdLst>
                  <a:gd name="T0" fmla="*/ 812800 w 512"/>
                  <a:gd name="T1" fmla="*/ 188913 h 119"/>
                  <a:gd name="T2" fmla="*/ 427037 w 512"/>
                  <a:gd name="T3" fmla="*/ 188913 h 119"/>
                  <a:gd name="T4" fmla="*/ 427037 w 512"/>
                  <a:gd name="T5" fmla="*/ 0 h 119"/>
                  <a:gd name="T6" fmla="*/ 0 w 512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"/>
                  <a:gd name="T13" fmla="*/ 0 h 119"/>
                  <a:gd name="T14" fmla="*/ 512 w 512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" h="119">
                    <a:moveTo>
                      <a:pt x="512" y="119"/>
                    </a:moveTo>
                    <a:lnTo>
                      <a:pt x="269" y="119"/>
                    </a:lnTo>
                    <a:lnTo>
                      <a:pt x="269" y="0"/>
                    </a:ln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4" name="Line 341"/>
              <p:cNvSpPr>
                <a:spLocks noChangeShapeType="1"/>
              </p:cNvSpPr>
              <p:nvPr/>
            </p:nvSpPr>
            <p:spPr bwMode="auto">
              <a:xfrm>
                <a:off x="863123" y="4190758"/>
                <a:ext cx="8128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5" name="Freeform 342"/>
              <p:cNvSpPr>
                <a:spLocks/>
              </p:cNvSpPr>
              <p:nvPr/>
            </p:nvSpPr>
            <p:spPr bwMode="auto">
              <a:xfrm>
                <a:off x="1539398" y="4284421"/>
                <a:ext cx="136525" cy="193675"/>
              </a:xfrm>
              <a:custGeom>
                <a:avLst/>
                <a:gdLst>
                  <a:gd name="T0" fmla="*/ 0 w 86"/>
                  <a:gd name="T1" fmla="*/ 193675 h 122"/>
                  <a:gd name="T2" fmla="*/ 65088 w 86"/>
                  <a:gd name="T3" fmla="*/ 193675 h 122"/>
                  <a:gd name="T4" fmla="*/ 65088 w 86"/>
                  <a:gd name="T5" fmla="*/ 0 h 122"/>
                  <a:gd name="T6" fmla="*/ 136525 w 86"/>
                  <a:gd name="T7" fmla="*/ 0 h 1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122"/>
                  <a:gd name="T14" fmla="*/ 86 w 86"/>
                  <a:gd name="T15" fmla="*/ 122 h 1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122">
                    <a:moveTo>
                      <a:pt x="0" y="122"/>
                    </a:moveTo>
                    <a:lnTo>
                      <a:pt x="41" y="122"/>
                    </a:lnTo>
                    <a:lnTo>
                      <a:pt x="41" y="0"/>
                    </a:lnTo>
                    <a:lnTo>
                      <a:pt x="86" y="0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6" name="Line 343"/>
              <p:cNvSpPr>
                <a:spLocks noChangeShapeType="1"/>
              </p:cNvSpPr>
              <p:nvPr/>
            </p:nvSpPr>
            <p:spPr bwMode="auto">
              <a:xfrm>
                <a:off x="863123" y="4478096"/>
                <a:ext cx="361950" cy="1587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7" name="Freeform 344"/>
              <p:cNvSpPr>
                <a:spLocks/>
              </p:cNvSpPr>
              <p:nvPr/>
            </p:nvSpPr>
            <p:spPr bwMode="auto">
              <a:xfrm>
                <a:off x="2745898" y="4243146"/>
                <a:ext cx="150813" cy="74612"/>
              </a:xfrm>
              <a:custGeom>
                <a:avLst/>
                <a:gdLst>
                  <a:gd name="T0" fmla="*/ 150813 w 95"/>
                  <a:gd name="T1" fmla="*/ 36512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65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8" name="Freeform 345"/>
              <p:cNvSpPr>
                <a:spLocks/>
              </p:cNvSpPr>
              <p:nvPr/>
            </p:nvSpPr>
            <p:spPr bwMode="auto">
              <a:xfrm>
                <a:off x="980598" y="3866908"/>
                <a:ext cx="150813" cy="74613"/>
              </a:xfrm>
              <a:custGeom>
                <a:avLst/>
                <a:gdLst>
                  <a:gd name="T0" fmla="*/ 150813 w 95"/>
                  <a:gd name="T1" fmla="*/ 36513 h 47"/>
                  <a:gd name="T2" fmla="*/ 0 w 95"/>
                  <a:gd name="T3" fmla="*/ 0 h 47"/>
                  <a:gd name="T4" fmla="*/ 0 w 95"/>
                  <a:gd name="T5" fmla="*/ 74613 h 47"/>
                  <a:gd name="T6" fmla="*/ 150813 w 95"/>
                  <a:gd name="T7" fmla="*/ 365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49" name="Freeform 346"/>
              <p:cNvSpPr>
                <a:spLocks/>
              </p:cNvSpPr>
              <p:nvPr/>
            </p:nvSpPr>
            <p:spPr bwMode="auto">
              <a:xfrm>
                <a:off x="980598" y="4152658"/>
                <a:ext cx="150813" cy="76200"/>
              </a:xfrm>
              <a:custGeom>
                <a:avLst/>
                <a:gdLst>
                  <a:gd name="T0" fmla="*/ 150813 w 95"/>
                  <a:gd name="T1" fmla="*/ 38100 h 48"/>
                  <a:gd name="T2" fmla="*/ 0 w 95"/>
                  <a:gd name="T3" fmla="*/ 0 h 48"/>
                  <a:gd name="T4" fmla="*/ 0 w 95"/>
                  <a:gd name="T5" fmla="*/ 76200 h 48"/>
                  <a:gd name="T6" fmla="*/ 150813 w 95"/>
                  <a:gd name="T7" fmla="*/ 3810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8"/>
                  <a:gd name="T14" fmla="*/ 95 w 95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8">
                    <a:moveTo>
                      <a:pt x="95" y="24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0" name="Freeform 347"/>
              <p:cNvSpPr>
                <a:spLocks/>
              </p:cNvSpPr>
              <p:nvPr/>
            </p:nvSpPr>
            <p:spPr bwMode="auto">
              <a:xfrm>
                <a:off x="980598" y="4439996"/>
                <a:ext cx="150813" cy="74612"/>
              </a:xfrm>
              <a:custGeom>
                <a:avLst/>
                <a:gdLst>
                  <a:gd name="T0" fmla="*/ 150813 w 95"/>
                  <a:gd name="T1" fmla="*/ 38100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810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4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1" name="Freeform 348"/>
              <p:cNvSpPr>
                <a:spLocks/>
              </p:cNvSpPr>
              <p:nvPr/>
            </p:nvSpPr>
            <p:spPr bwMode="auto">
              <a:xfrm>
                <a:off x="980598" y="4713046"/>
                <a:ext cx="150813" cy="74612"/>
              </a:xfrm>
              <a:custGeom>
                <a:avLst/>
                <a:gdLst>
                  <a:gd name="T0" fmla="*/ 150813 w 95"/>
                  <a:gd name="T1" fmla="*/ 36512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65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2" name="Freeform 349"/>
              <p:cNvSpPr>
                <a:spLocks/>
              </p:cNvSpPr>
              <p:nvPr/>
            </p:nvSpPr>
            <p:spPr bwMode="auto">
              <a:xfrm>
                <a:off x="980598" y="4989271"/>
                <a:ext cx="150813" cy="76200"/>
              </a:xfrm>
              <a:custGeom>
                <a:avLst/>
                <a:gdLst>
                  <a:gd name="T0" fmla="*/ 150813 w 95"/>
                  <a:gd name="T1" fmla="*/ 38100 h 48"/>
                  <a:gd name="T2" fmla="*/ 0 w 95"/>
                  <a:gd name="T3" fmla="*/ 0 h 48"/>
                  <a:gd name="T4" fmla="*/ 0 w 95"/>
                  <a:gd name="T5" fmla="*/ 76200 h 48"/>
                  <a:gd name="T6" fmla="*/ 150813 w 95"/>
                  <a:gd name="T7" fmla="*/ 3810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8"/>
                  <a:gd name="T14" fmla="*/ 95 w 95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8">
                    <a:moveTo>
                      <a:pt x="95" y="24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53" name="Rectangle 350"/>
              <p:cNvSpPr>
                <a:spLocks noChangeArrowheads="1"/>
              </p:cNvSpPr>
              <p:nvPr/>
            </p:nvSpPr>
            <p:spPr bwMode="auto">
              <a:xfrm>
                <a:off x="852844" y="3712027"/>
                <a:ext cx="85943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k</a:t>
                </a:r>
                <a:endParaRPr lang="en-US" altLang="en-US" sz="1800" dirty="0"/>
              </a:p>
            </p:txBody>
          </p:sp>
          <p:sp>
            <p:nvSpPr>
              <p:cNvPr id="154" name="Rectangle 351"/>
              <p:cNvSpPr>
                <a:spLocks noChangeArrowheads="1"/>
              </p:cNvSpPr>
              <p:nvPr/>
            </p:nvSpPr>
            <p:spPr bwMode="auto">
              <a:xfrm>
                <a:off x="871061" y="3968508"/>
                <a:ext cx="95492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p</a:t>
                </a:r>
              </a:p>
            </p:txBody>
          </p:sp>
          <p:sp>
            <p:nvSpPr>
              <p:cNvPr id="155" name="Rectangle 352"/>
              <p:cNvSpPr>
                <a:spLocks noChangeArrowheads="1"/>
              </p:cNvSpPr>
              <p:nvPr/>
            </p:nvSpPr>
            <p:spPr bwMode="auto">
              <a:xfrm>
                <a:off x="871061" y="4300296"/>
                <a:ext cx="85943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s</a:t>
                </a:r>
              </a:p>
            </p:txBody>
          </p:sp>
          <p:sp>
            <p:nvSpPr>
              <p:cNvPr id="156" name="Rectangle 354"/>
              <p:cNvSpPr>
                <a:spLocks noChangeArrowheads="1"/>
              </p:cNvSpPr>
              <p:nvPr/>
            </p:nvSpPr>
            <p:spPr bwMode="auto">
              <a:xfrm>
                <a:off x="871061" y="4847983"/>
                <a:ext cx="95492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</a:p>
            </p:txBody>
          </p:sp>
          <p:sp>
            <p:nvSpPr>
              <p:cNvPr id="157" name="Rectangle 355"/>
              <p:cNvSpPr>
                <a:spLocks noChangeArrowheads="1"/>
              </p:cNvSpPr>
              <p:nvPr/>
            </p:nvSpPr>
            <p:spPr bwMode="auto">
              <a:xfrm>
                <a:off x="2730023" y="4063758"/>
                <a:ext cx="105041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F</a:t>
                </a:r>
                <a:endParaRPr lang="en-US" altLang="en-US" sz="1800" dirty="0"/>
              </a:p>
            </p:txBody>
          </p:sp>
          <p:sp>
            <p:nvSpPr>
              <p:cNvPr id="158" name="Rectangle 356"/>
              <p:cNvSpPr>
                <a:spLocks noChangeArrowheads="1"/>
              </p:cNvSpPr>
              <p:nvPr/>
            </p:nvSpPr>
            <p:spPr bwMode="auto">
              <a:xfrm>
                <a:off x="1596548" y="3695867"/>
                <a:ext cx="700244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 err="1">
                    <a:solidFill>
                      <a:srgbClr val="000000"/>
                    </a:solidFill>
                    <a:latin typeface="Helvetica" pitchFamily="34" charset="0"/>
                  </a:rPr>
                  <a:t>BeltWarn</a:t>
                </a:r>
                <a:endParaRPr lang="en-US" altLang="en-US" sz="1800" dirty="0"/>
              </a:p>
            </p:txBody>
          </p:sp>
          <p:sp>
            <p:nvSpPr>
              <p:cNvPr id="159" name="Freeform 357"/>
              <p:cNvSpPr>
                <a:spLocks/>
              </p:cNvSpPr>
              <p:nvPr/>
            </p:nvSpPr>
            <p:spPr bwMode="auto">
              <a:xfrm>
                <a:off x="1675923" y="4003433"/>
                <a:ext cx="388938" cy="374650"/>
              </a:xfrm>
              <a:custGeom>
                <a:avLst/>
                <a:gdLst>
                  <a:gd name="T0" fmla="*/ 0 w 83"/>
                  <a:gd name="T1" fmla="*/ 374650 h 80"/>
                  <a:gd name="T2" fmla="*/ 201498 w 83"/>
                  <a:gd name="T3" fmla="*/ 374650 h 80"/>
                  <a:gd name="T4" fmla="*/ 388938 w 83"/>
                  <a:gd name="T5" fmla="*/ 187325 h 80"/>
                  <a:gd name="T6" fmla="*/ 201498 w 83"/>
                  <a:gd name="T7" fmla="*/ 0 h 80"/>
                  <a:gd name="T8" fmla="*/ 0 w 83"/>
                  <a:gd name="T9" fmla="*/ 0 h 80"/>
                  <a:gd name="T10" fmla="*/ 0 w 83"/>
                  <a:gd name="T11" fmla="*/ 374650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3"/>
                  <a:gd name="T19" fmla="*/ 0 h 80"/>
                  <a:gd name="T20" fmla="*/ 83 w 83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3" h="80">
                    <a:moveTo>
                      <a:pt x="0" y="80"/>
                    </a:moveTo>
                    <a:cubicBezTo>
                      <a:pt x="43" y="80"/>
                      <a:pt x="43" y="80"/>
                      <a:pt x="43" y="80"/>
                    </a:cubicBezTo>
                    <a:cubicBezTo>
                      <a:pt x="65" y="80"/>
                      <a:pt x="83" y="62"/>
                      <a:pt x="83" y="40"/>
                    </a:cubicBezTo>
                    <a:cubicBezTo>
                      <a:pt x="83" y="18"/>
                      <a:pt x="65" y="0"/>
                      <a:pt x="4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0" name="Freeform 358"/>
              <p:cNvSpPr>
                <a:spLocks/>
              </p:cNvSpPr>
              <p:nvPr/>
            </p:nvSpPr>
            <p:spPr bwMode="auto">
              <a:xfrm>
                <a:off x="1229836" y="4332046"/>
                <a:ext cx="230187" cy="290512"/>
              </a:xfrm>
              <a:custGeom>
                <a:avLst/>
                <a:gdLst>
                  <a:gd name="T0" fmla="*/ 0 w 145"/>
                  <a:gd name="T1" fmla="*/ 290512 h 183"/>
                  <a:gd name="T2" fmla="*/ 230187 w 145"/>
                  <a:gd name="T3" fmla="*/ 146050 h 183"/>
                  <a:gd name="T4" fmla="*/ 0 w 145"/>
                  <a:gd name="T5" fmla="*/ 0 h 183"/>
                  <a:gd name="T6" fmla="*/ 0 w 145"/>
                  <a:gd name="T7" fmla="*/ 290512 h 18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5"/>
                  <a:gd name="T13" fmla="*/ 0 h 183"/>
                  <a:gd name="T14" fmla="*/ 145 w 145"/>
                  <a:gd name="T15" fmla="*/ 183 h 18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5" h="183">
                    <a:moveTo>
                      <a:pt x="0" y="183"/>
                    </a:moveTo>
                    <a:lnTo>
                      <a:pt x="145" y="92"/>
                    </a:lnTo>
                    <a:lnTo>
                      <a:pt x="0" y="0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1" name="Oval 359"/>
              <p:cNvSpPr>
                <a:spLocks noChangeArrowheads="1"/>
              </p:cNvSpPr>
              <p:nvPr/>
            </p:nvSpPr>
            <p:spPr bwMode="auto">
              <a:xfrm>
                <a:off x="1464786" y="4439996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2" name="Freeform 363"/>
              <p:cNvSpPr>
                <a:spLocks/>
              </p:cNvSpPr>
              <p:nvPr/>
            </p:nvSpPr>
            <p:spPr bwMode="auto">
              <a:xfrm>
                <a:off x="2206148" y="4092333"/>
                <a:ext cx="381000" cy="376238"/>
              </a:xfrm>
              <a:custGeom>
                <a:avLst/>
                <a:gdLst>
                  <a:gd name="T0" fmla="*/ 381000 w 81"/>
                  <a:gd name="T1" fmla="*/ 188119 h 80"/>
                  <a:gd name="T2" fmla="*/ 0 w 81"/>
                  <a:gd name="T3" fmla="*/ 376238 h 80"/>
                  <a:gd name="T4" fmla="*/ 56444 w 81"/>
                  <a:gd name="T5" fmla="*/ 192822 h 80"/>
                  <a:gd name="T6" fmla="*/ 56444 w 81"/>
                  <a:gd name="T7" fmla="*/ 188119 h 80"/>
                  <a:gd name="T8" fmla="*/ 0 w 81"/>
                  <a:gd name="T9" fmla="*/ 0 h 80"/>
                  <a:gd name="T10" fmla="*/ 381000 w 81"/>
                  <a:gd name="T11" fmla="*/ 188119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1"/>
                  <a:gd name="T19" fmla="*/ 0 h 80"/>
                  <a:gd name="T20" fmla="*/ 81 w 81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1" h="80">
                    <a:moveTo>
                      <a:pt x="81" y="40"/>
                    </a:moveTo>
                    <a:cubicBezTo>
                      <a:pt x="81" y="40"/>
                      <a:pt x="62" y="80"/>
                      <a:pt x="0" y="80"/>
                    </a:cubicBezTo>
                    <a:cubicBezTo>
                      <a:pt x="0" y="80"/>
                      <a:pt x="12" y="76"/>
                      <a:pt x="12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2" y="4"/>
                      <a:pt x="0" y="0"/>
                      <a:pt x="0" y="0"/>
                    </a:cubicBezTo>
                    <a:cubicBezTo>
                      <a:pt x="62" y="0"/>
                      <a:pt x="81" y="40"/>
                      <a:pt x="81" y="40"/>
                    </a:cubicBezTo>
                    <a:close/>
                  </a:path>
                </a:pathLst>
              </a:cu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3" name="Line 364"/>
              <p:cNvSpPr>
                <a:spLocks noChangeShapeType="1"/>
              </p:cNvSpPr>
              <p:nvPr/>
            </p:nvSpPr>
            <p:spPr bwMode="auto">
              <a:xfrm>
                <a:off x="2069623" y="4185996"/>
                <a:ext cx="188913" cy="1587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4" name="Freeform 365"/>
              <p:cNvSpPr>
                <a:spLocks/>
              </p:cNvSpPr>
              <p:nvPr/>
            </p:nvSpPr>
            <p:spPr bwMode="auto">
              <a:xfrm>
                <a:off x="877411" y="4373321"/>
                <a:ext cx="1385887" cy="658812"/>
              </a:xfrm>
              <a:custGeom>
                <a:avLst/>
                <a:gdLst>
                  <a:gd name="T0" fmla="*/ 1385887 w 873"/>
                  <a:gd name="T1" fmla="*/ 0 h 415"/>
                  <a:gd name="T2" fmla="*/ 1282700 w 873"/>
                  <a:gd name="T3" fmla="*/ 0 h 415"/>
                  <a:gd name="T4" fmla="*/ 1282700 w 873"/>
                  <a:gd name="T5" fmla="*/ 658812 h 415"/>
                  <a:gd name="T6" fmla="*/ 0 w 873"/>
                  <a:gd name="T7" fmla="*/ 658812 h 4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73"/>
                  <a:gd name="T13" fmla="*/ 0 h 415"/>
                  <a:gd name="T14" fmla="*/ 873 w 873"/>
                  <a:gd name="T15" fmla="*/ 415 h 4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73" h="415">
                    <a:moveTo>
                      <a:pt x="873" y="0"/>
                    </a:moveTo>
                    <a:lnTo>
                      <a:pt x="808" y="0"/>
                    </a:lnTo>
                    <a:lnTo>
                      <a:pt x="808" y="415"/>
                    </a:lnTo>
                    <a:lnTo>
                      <a:pt x="0" y="415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5" name="Line 366"/>
              <p:cNvSpPr>
                <a:spLocks noChangeShapeType="1"/>
              </p:cNvSpPr>
              <p:nvPr/>
            </p:nvSpPr>
            <p:spPr bwMode="auto">
              <a:xfrm>
                <a:off x="2587148" y="4279658"/>
                <a:ext cx="242888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6" name="Freeform 375"/>
              <p:cNvSpPr>
                <a:spLocks/>
              </p:cNvSpPr>
              <p:nvPr/>
            </p:nvSpPr>
            <p:spPr bwMode="auto">
              <a:xfrm>
                <a:off x="872648" y="4279658"/>
                <a:ext cx="1390650" cy="469900"/>
              </a:xfrm>
              <a:custGeom>
                <a:avLst/>
                <a:gdLst>
                  <a:gd name="T0" fmla="*/ 1390650 w 876"/>
                  <a:gd name="T1" fmla="*/ 0 h 296"/>
                  <a:gd name="T2" fmla="*/ 1211263 w 876"/>
                  <a:gd name="T3" fmla="*/ 0 h 296"/>
                  <a:gd name="T4" fmla="*/ 1211263 w 876"/>
                  <a:gd name="T5" fmla="*/ 469900 h 296"/>
                  <a:gd name="T6" fmla="*/ 0 w 876"/>
                  <a:gd name="T7" fmla="*/ 469900 h 2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76"/>
                  <a:gd name="T13" fmla="*/ 0 h 296"/>
                  <a:gd name="T14" fmla="*/ 876 w 876"/>
                  <a:gd name="T15" fmla="*/ 296 h 2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76" h="296">
                    <a:moveTo>
                      <a:pt x="876" y="0"/>
                    </a:moveTo>
                    <a:lnTo>
                      <a:pt x="763" y="0"/>
                    </a:lnTo>
                    <a:lnTo>
                      <a:pt x="763" y="296"/>
                    </a:lnTo>
                    <a:lnTo>
                      <a:pt x="0" y="296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67" name="Line 486"/>
              <p:cNvSpPr>
                <a:spLocks noChangeShapeType="1"/>
              </p:cNvSpPr>
              <p:nvPr/>
            </p:nvSpPr>
            <p:spPr bwMode="auto">
              <a:xfrm>
                <a:off x="666273" y="3598621"/>
                <a:ext cx="1588" cy="1587"/>
              </a:xfrm>
              <a:prstGeom prst="line">
                <a:avLst/>
              </a:prstGeom>
              <a:noFill/>
              <a:ln w="3175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41" name="Rectangle 352"/>
            <p:cNvSpPr>
              <a:spLocks noChangeArrowheads="1"/>
            </p:cNvSpPr>
            <p:nvPr/>
          </p:nvSpPr>
          <p:spPr bwMode="auto">
            <a:xfrm>
              <a:off x="650659" y="5051352"/>
              <a:ext cx="64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t</a:t>
              </a:r>
            </a:p>
          </p:txBody>
        </p:sp>
      </p:grpSp>
      <p:sp>
        <p:nvSpPr>
          <p:cNvPr id="168" name="Oval 497"/>
          <p:cNvSpPr>
            <a:spLocks noChangeArrowheads="1"/>
          </p:cNvSpPr>
          <p:nvPr/>
        </p:nvSpPr>
        <p:spPr bwMode="auto">
          <a:xfrm rot="19855884">
            <a:off x="847877" y="4413566"/>
            <a:ext cx="1474520" cy="1036391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9" name="Oval 498"/>
          <p:cNvSpPr>
            <a:spLocks noChangeArrowheads="1"/>
          </p:cNvSpPr>
          <p:nvPr/>
        </p:nvSpPr>
        <p:spPr bwMode="auto">
          <a:xfrm>
            <a:off x="2305945" y="4530600"/>
            <a:ext cx="692429" cy="710967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0" name="Rectangle 351"/>
          <p:cNvSpPr>
            <a:spLocks noChangeArrowheads="1"/>
          </p:cNvSpPr>
          <p:nvPr/>
        </p:nvSpPr>
        <p:spPr bwMode="auto">
          <a:xfrm>
            <a:off x="2236879" y="4495093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621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25"/>
    </mc:Choice>
    <mc:Fallback xmlns="">
      <p:transition spd="slow" advTm="484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68" grpId="0" animBg="1"/>
      <p:bldP spid="16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3"/>
          <p:cNvSpPr txBox="1">
            <a:spLocks noChangeArrowheads="1"/>
          </p:cNvSpPr>
          <p:nvPr/>
        </p:nvSpPr>
        <p:spPr bwMode="auto">
          <a:xfrm>
            <a:off x="460800" y="1720800"/>
            <a:ext cx="7865680" cy="725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b="1" kern="0" dirty="0"/>
              <a:t>Step 3</a:t>
            </a:r>
            <a:r>
              <a:rPr lang="en-US" altLang="en-US" kern="0" dirty="0"/>
              <a:t>: Draw the wires between the different LUTs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kern="0" dirty="0"/>
          </a:p>
          <a:p>
            <a:pPr lvl="1" eaLnBrk="1" hangingPunct="1">
              <a:lnSpc>
                <a:spcPct val="90000"/>
              </a:lnSpc>
            </a:pPr>
            <a:endParaRPr lang="en-US" altLang="en-US" kern="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2.3. Example 2: Solution</a:t>
            </a:r>
            <a:endParaRPr lang="en-GB" dirty="0"/>
          </a:p>
        </p:txBody>
      </p:sp>
      <p:sp>
        <p:nvSpPr>
          <p:cNvPr id="18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20</a:t>
            </a:fld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/>
              <p:cNvSpPr txBox="1"/>
              <p:nvPr/>
            </p:nvSpPr>
            <p:spPr>
              <a:xfrm>
                <a:off x="799136" y="2518497"/>
                <a:ext cx="19452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𝑘𝑝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3" name="TextBox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36" y="2518497"/>
                <a:ext cx="1945276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2194" r="-1881" b="-37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912551" y="2995907"/>
                <a:ext cx="16795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𝑘𝑝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51" y="2995907"/>
                <a:ext cx="1679562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2909" b="-37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64525" y="3399454"/>
                <a:ext cx="195271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2=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25" y="3399454"/>
                <a:ext cx="1952714" cy="400110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Oval 498"/>
          <p:cNvSpPr>
            <a:spLocks noChangeArrowheads="1"/>
          </p:cNvSpPr>
          <p:nvPr/>
        </p:nvSpPr>
        <p:spPr bwMode="auto">
          <a:xfrm>
            <a:off x="1269211" y="2362907"/>
            <a:ext cx="558800" cy="573180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ounded Rectangle 3"/>
          <p:cNvSpPr/>
          <p:nvPr/>
        </p:nvSpPr>
        <p:spPr>
          <a:xfrm>
            <a:off x="846886" y="2942557"/>
            <a:ext cx="1745227" cy="4191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ounded Rectangle 106"/>
          <p:cNvSpPr/>
          <p:nvPr/>
        </p:nvSpPr>
        <p:spPr>
          <a:xfrm>
            <a:off x="868268" y="3430760"/>
            <a:ext cx="1745227" cy="4191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92" name="Group 513"/>
          <p:cNvGrpSpPr>
            <a:grpSpLocks/>
          </p:cNvGrpSpPr>
          <p:nvPr/>
        </p:nvGrpSpPr>
        <p:grpSpPr bwMode="auto">
          <a:xfrm>
            <a:off x="4419701" y="2515206"/>
            <a:ext cx="1871662" cy="2836609"/>
            <a:chOff x="3368" y="2263"/>
            <a:chExt cx="900" cy="1364"/>
          </a:xfrm>
        </p:grpSpPr>
        <p:sp>
          <p:nvSpPr>
            <p:cNvPr id="194" name="Rectangle 338"/>
            <p:cNvSpPr>
              <a:spLocks noChangeArrowheads="1"/>
            </p:cNvSpPr>
            <p:nvPr/>
          </p:nvSpPr>
          <p:spPr bwMode="auto">
            <a:xfrm>
              <a:off x="3603" y="2263"/>
              <a:ext cx="665" cy="1350"/>
            </a:xfrm>
            <a:prstGeom prst="rect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96" name="Rectangle 407"/>
            <p:cNvSpPr>
              <a:spLocks noChangeArrowheads="1"/>
            </p:cNvSpPr>
            <p:nvPr/>
          </p:nvSpPr>
          <p:spPr bwMode="auto">
            <a:xfrm>
              <a:off x="3842" y="2405"/>
              <a:ext cx="349" cy="1057"/>
            </a:xfrm>
            <a:prstGeom prst="rect">
              <a:avLst/>
            </a:prstGeom>
            <a:solidFill>
              <a:srgbClr val="D4E0F3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97" name="Line 408"/>
            <p:cNvSpPr>
              <a:spLocks noChangeShapeType="1"/>
            </p:cNvSpPr>
            <p:nvPr/>
          </p:nvSpPr>
          <p:spPr bwMode="auto">
            <a:xfrm>
              <a:off x="3842" y="2538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" name="Line 409"/>
            <p:cNvSpPr>
              <a:spLocks noChangeShapeType="1"/>
            </p:cNvSpPr>
            <p:nvPr/>
          </p:nvSpPr>
          <p:spPr bwMode="auto">
            <a:xfrm>
              <a:off x="3842" y="2669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9" name="Line 410"/>
            <p:cNvSpPr>
              <a:spLocks noChangeShapeType="1"/>
            </p:cNvSpPr>
            <p:nvPr/>
          </p:nvSpPr>
          <p:spPr bwMode="auto">
            <a:xfrm>
              <a:off x="3842" y="2802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0" name="Line 411"/>
            <p:cNvSpPr>
              <a:spLocks noChangeShapeType="1"/>
            </p:cNvSpPr>
            <p:nvPr/>
          </p:nvSpPr>
          <p:spPr bwMode="auto">
            <a:xfrm>
              <a:off x="3842" y="2935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1" name="Line 412"/>
            <p:cNvSpPr>
              <a:spLocks noChangeShapeType="1"/>
            </p:cNvSpPr>
            <p:nvPr/>
          </p:nvSpPr>
          <p:spPr bwMode="auto">
            <a:xfrm>
              <a:off x="3842" y="3065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2" name="Line 413"/>
            <p:cNvSpPr>
              <a:spLocks noChangeShapeType="1"/>
            </p:cNvSpPr>
            <p:nvPr/>
          </p:nvSpPr>
          <p:spPr bwMode="auto">
            <a:xfrm>
              <a:off x="3842" y="3198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3" name="Line 414"/>
            <p:cNvSpPr>
              <a:spLocks noChangeShapeType="1"/>
            </p:cNvSpPr>
            <p:nvPr/>
          </p:nvSpPr>
          <p:spPr bwMode="auto">
            <a:xfrm>
              <a:off x="3842" y="3332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" name="Rectangle 415"/>
            <p:cNvSpPr>
              <a:spLocks noChangeArrowheads="1"/>
            </p:cNvSpPr>
            <p:nvPr/>
          </p:nvSpPr>
          <p:spPr bwMode="auto">
            <a:xfrm>
              <a:off x="3727" y="2278"/>
              <a:ext cx="11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8x</a:t>
              </a:r>
              <a:endParaRPr lang="en-US" altLang="en-US" sz="1800"/>
            </a:p>
          </p:txBody>
        </p:sp>
        <p:sp>
          <p:nvSpPr>
            <p:cNvPr id="205" name="Rectangle 417"/>
            <p:cNvSpPr>
              <a:spLocks noChangeArrowheads="1"/>
            </p:cNvSpPr>
            <p:nvPr/>
          </p:nvSpPr>
          <p:spPr bwMode="auto">
            <a:xfrm>
              <a:off x="3832" y="2278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206" name="Rectangle 418"/>
            <p:cNvSpPr>
              <a:spLocks noChangeArrowheads="1"/>
            </p:cNvSpPr>
            <p:nvPr/>
          </p:nvSpPr>
          <p:spPr bwMode="auto">
            <a:xfrm>
              <a:off x="3908" y="2278"/>
              <a:ext cx="27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Mem.</a:t>
              </a:r>
              <a:endParaRPr lang="en-US" altLang="en-US" sz="1800"/>
            </a:p>
          </p:txBody>
        </p:sp>
        <p:sp>
          <p:nvSpPr>
            <p:cNvPr id="207" name="Rectangle 419"/>
            <p:cNvSpPr>
              <a:spLocks noChangeArrowheads="1"/>
            </p:cNvSpPr>
            <p:nvPr/>
          </p:nvSpPr>
          <p:spPr bwMode="auto">
            <a:xfrm>
              <a:off x="3991" y="2422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208" name="Rectangle 420"/>
            <p:cNvSpPr>
              <a:spLocks noChangeArrowheads="1"/>
            </p:cNvSpPr>
            <p:nvPr/>
          </p:nvSpPr>
          <p:spPr bwMode="auto">
            <a:xfrm>
              <a:off x="3991" y="2551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209" name="Rectangle 421"/>
            <p:cNvSpPr>
              <a:spLocks noChangeArrowheads="1"/>
            </p:cNvSpPr>
            <p:nvPr/>
          </p:nvSpPr>
          <p:spPr bwMode="auto">
            <a:xfrm>
              <a:off x="3991" y="2683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10" name="Rectangle 422"/>
            <p:cNvSpPr>
              <a:spLocks noChangeArrowheads="1"/>
            </p:cNvSpPr>
            <p:nvPr/>
          </p:nvSpPr>
          <p:spPr bwMode="auto">
            <a:xfrm>
              <a:off x="3991" y="2813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11" name="Rectangle 423"/>
            <p:cNvSpPr>
              <a:spLocks noChangeArrowheads="1"/>
            </p:cNvSpPr>
            <p:nvPr/>
          </p:nvSpPr>
          <p:spPr bwMode="auto">
            <a:xfrm>
              <a:off x="3991" y="2949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12" name="Rectangle 424"/>
            <p:cNvSpPr>
              <a:spLocks noChangeArrowheads="1"/>
            </p:cNvSpPr>
            <p:nvPr/>
          </p:nvSpPr>
          <p:spPr bwMode="auto">
            <a:xfrm>
              <a:off x="3991" y="3078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13" name="Rectangle 425"/>
            <p:cNvSpPr>
              <a:spLocks noChangeArrowheads="1"/>
            </p:cNvSpPr>
            <p:nvPr/>
          </p:nvSpPr>
          <p:spPr bwMode="auto">
            <a:xfrm>
              <a:off x="3991" y="3212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14" name="Rectangle 426"/>
            <p:cNvSpPr>
              <a:spLocks noChangeArrowheads="1"/>
            </p:cNvSpPr>
            <p:nvPr/>
          </p:nvSpPr>
          <p:spPr bwMode="auto">
            <a:xfrm>
              <a:off x="3991" y="3340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15" name="Rectangle 427"/>
            <p:cNvSpPr>
              <a:spLocks noChangeArrowheads="1"/>
            </p:cNvSpPr>
            <p:nvPr/>
          </p:nvSpPr>
          <p:spPr bwMode="auto">
            <a:xfrm>
              <a:off x="3988" y="3494"/>
              <a:ext cx="8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D</a:t>
              </a:r>
              <a:endParaRPr lang="en-US" altLang="en-US" sz="1800"/>
            </a:p>
          </p:txBody>
        </p:sp>
        <p:sp>
          <p:nvSpPr>
            <p:cNvPr id="216" name="Rectangle 428"/>
            <p:cNvSpPr>
              <a:spLocks noChangeArrowheads="1"/>
            </p:cNvSpPr>
            <p:nvPr/>
          </p:nvSpPr>
          <p:spPr bwMode="auto">
            <a:xfrm>
              <a:off x="3771" y="2422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217" name="Rectangle 429"/>
            <p:cNvSpPr>
              <a:spLocks noChangeArrowheads="1"/>
            </p:cNvSpPr>
            <p:nvPr/>
          </p:nvSpPr>
          <p:spPr bwMode="auto">
            <a:xfrm>
              <a:off x="3771" y="2551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218" name="Rectangle 430"/>
            <p:cNvSpPr>
              <a:spLocks noChangeArrowheads="1"/>
            </p:cNvSpPr>
            <p:nvPr/>
          </p:nvSpPr>
          <p:spPr bwMode="auto">
            <a:xfrm>
              <a:off x="3771" y="2683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 sz="1800"/>
            </a:p>
          </p:txBody>
        </p:sp>
        <p:sp>
          <p:nvSpPr>
            <p:cNvPr id="219" name="Rectangle 431"/>
            <p:cNvSpPr>
              <a:spLocks noChangeArrowheads="1"/>
            </p:cNvSpPr>
            <p:nvPr/>
          </p:nvSpPr>
          <p:spPr bwMode="auto">
            <a:xfrm>
              <a:off x="3771" y="2813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 sz="1800"/>
            </a:p>
          </p:txBody>
        </p:sp>
        <p:sp>
          <p:nvSpPr>
            <p:cNvPr id="220" name="Rectangle 432"/>
            <p:cNvSpPr>
              <a:spLocks noChangeArrowheads="1"/>
            </p:cNvSpPr>
            <p:nvPr/>
          </p:nvSpPr>
          <p:spPr bwMode="auto">
            <a:xfrm>
              <a:off x="3771" y="2949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 altLang="en-US" sz="1800"/>
            </a:p>
          </p:txBody>
        </p:sp>
        <p:sp>
          <p:nvSpPr>
            <p:cNvPr id="221" name="Rectangle 433"/>
            <p:cNvSpPr>
              <a:spLocks noChangeArrowheads="1"/>
            </p:cNvSpPr>
            <p:nvPr/>
          </p:nvSpPr>
          <p:spPr bwMode="auto">
            <a:xfrm>
              <a:off x="3771" y="3078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 altLang="en-US" sz="1800"/>
            </a:p>
          </p:txBody>
        </p:sp>
        <p:sp>
          <p:nvSpPr>
            <p:cNvPr id="222" name="Rectangle 434"/>
            <p:cNvSpPr>
              <a:spLocks noChangeArrowheads="1"/>
            </p:cNvSpPr>
            <p:nvPr/>
          </p:nvSpPr>
          <p:spPr bwMode="auto">
            <a:xfrm>
              <a:off x="3771" y="3212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6</a:t>
              </a:r>
              <a:endParaRPr lang="en-US" altLang="en-US" sz="1800"/>
            </a:p>
          </p:txBody>
        </p:sp>
        <p:sp>
          <p:nvSpPr>
            <p:cNvPr id="223" name="Rectangle 435"/>
            <p:cNvSpPr>
              <a:spLocks noChangeArrowheads="1"/>
            </p:cNvSpPr>
            <p:nvPr/>
          </p:nvSpPr>
          <p:spPr bwMode="auto">
            <a:xfrm>
              <a:off x="3771" y="3340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7</a:t>
              </a:r>
              <a:endParaRPr lang="en-US" altLang="en-US" sz="1800"/>
            </a:p>
          </p:txBody>
        </p:sp>
        <p:sp>
          <p:nvSpPr>
            <p:cNvPr id="224" name="Rectangle 436"/>
            <p:cNvSpPr>
              <a:spLocks noChangeArrowheads="1"/>
            </p:cNvSpPr>
            <p:nvPr/>
          </p:nvSpPr>
          <p:spPr bwMode="auto">
            <a:xfrm>
              <a:off x="3620" y="2886"/>
              <a:ext cx="109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a2</a:t>
              </a:r>
              <a:endParaRPr lang="en-US" altLang="en-US" sz="1600" dirty="0"/>
            </a:p>
          </p:txBody>
        </p:sp>
        <p:sp>
          <p:nvSpPr>
            <p:cNvPr id="225" name="Rectangle 437"/>
            <p:cNvSpPr>
              <a:spLocks noChangeArrowheads="1"/>
            </p:cNvSpPr>
            <p:nvPr/>
          </p:nvSpPr>
          <p:spPr bwMode="auto">
            <a:xfrm>
              <a:off x="3620" y="2987"/>
              <a:ext cx="109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a1</a:t>
              </a:r>
              <a:endParaRPr lang="en-US" altLang="en-US" sz="1600" dirty="0"/>
            </a:p>
          </p:txBody>
        </p:sp>
        <p:sp>
          <p:nvSpPr>
            <p:cNvPr id="226" name="Rectangle 438"/>
            <p:cNvSpPr>
              <a:spLocks noChangeArrowheads="1"/>
            </p:cNvSpPr>
            <p:nvPr/>
          </p:nvSpPr>
          <p:spPr bwMode="auto">
            <a:xfrm>
              <a:off x="3620" y="3107"/>
              <a:ext cx="109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a0</a:t>
              </a:r>
              <a:endParaRPr lang="en-US" altLang="en-US" sz="1600" dirty="0"/>
            </a:p>
          </p:txBody>
        </p:sp>
        <p:sp>
          <p:nvSpPr>
            <p:cNvPr id="227" name="Rectangle 439"/>
            <p:cNvSpPr>
              <a:spLocks noChangeArrowheads="1"/>
            </p:cNvSpPr>
            <p:nvPr/>
          </p:nvSpPr>
          <p:spPr bwMode="auto">
            <a:xfrm>
              <a:off x="3371" y="2884"/>
              <a:ext cx="55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800"/>
            </a:p>
          </p:txBody>
        </p:sp>
        <p:sp>
          <p:nvSpPr>
            <p:cNvPr id="228" name="Rectangle 440"/>
            <p:cNvSpPr>
              <a:spLocks noChangeArrowheads="1"/>
            </p:cNvSpPr>
            <p:nvPr/>
          </p:nvSpPr>
          <p:spPr bwMode="auto">
            <a:xfrm>
              <a:off x="3368" y="2985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p</a:t>
              </a:r>
              <a:endParaRPr lang="en-US" altLang="en-US" sz="1800"/>
            </a:p>
          </p:txBody>
        </p:sp>
        <p:sp>
          <p:nvSpPr>
            <p:cNvPr id="229" name="Rectangle 441"/>
            <p:cNvSpPr>
              <a:spLocks noChangeArrowheads="1"/>
            </p:cNvSpPr>
            <p:nvPr/>
          </p:nvSpPr>
          <p:spPr bwMode="auto">
            <a:xfrm>
              <a:off x="3371" y="3105"/>
              <a:ext cx="55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s</a:t>
              </a:r>
              <a:endParaRPr lang="en-US" altLang="en-US" sz="1800" dirty="0"/>
            </a:p>
          </p:txBody>
        </p:sp>
        <p:sp>
          <p:nvSpPr>
            <p:cNvPr id="230" name="Freeform 447"/>
            <p:cNvSpPr>
              <a:spLocks/>
            </p:cNvSpPr>
            <p:nvPr/>
          </p:nvSpPr>
          <p:spPr bwMode="auto">
            <a:xfrm>
              <a:off x="3502" y="2926"/>
              <a:ext cx="95" cy="47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31" name="Line 448"/>
            <p:cNvSpPr>
              <a:spLocks noChangeShapeType="1"/>
            </p:cNvSpPr>
            <p:nvPr/>
          </p:nvSpPr>
          <p:spPr bwMode="auto">
            <a:xfrm>
              <a:off x="3443" y="2950"/>
              <a:ext cx="112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2" name="Freeform 449"/>
            <p:cNvSpPr>
              <a:spLocks/>
            </p:cNvSpPr>
            <p:nvPr/>
          </p:nvSpPr>
          <p:spPr bwMode="auto">
            <a:xfrm>
              <a:off x="3502" y="3039"/>
              <a:ext cx="95" cy="47"/>
            </a:xfrm>
            <a:custGeom>
              <a:avLst/>
              <a:gdLst>
                <a:gd name="T0" fmla="*/ 95 w 95"/>
                <a:gd name="T1" fmla="*/ 23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3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33" name="Line 450"/>
            <p:cNvSpPr>
              <a:spLocks noChangeShapeType="1"/>
            </p:cNvSpPr>
            <p:nvPr/>
          </p:nvSpPr>
          <p:spPr bwMode="auto">
            <a:xfrm>
              <a:off x="3443" y="3062"/>
              <a:ext cx="112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4" name="Freeform 451"/>
            <p:cNvSpPr>
              <a:spLocks/>
            </p:cNvSpPr>
            <p:nvPr/>
          </p:nvSpPr>
          <p:spPr bwMode="auto">
            <a:xfrm>
              <a:off x="3502" y="3148"/>
              <a:ext cx="95" cy="47"/>
            </a:xfrm>
            <a:custGeom>
              <a:avLst/>
              <a:gdLst>
                <a:gd name="T0" fmla="*/ 95 w 95"/>
                <a:gd name="T1" fmla="*/ 24 h 47"/>
                <a:gd name="T2" fmla="*/ 0 w 95"/>
                <a:gd name="T3" fmla="*/ 0 h 47"/>
                <a:gd name="T4" fmla="*/ 0 w 95"/>
                <a:gd name="T5" fmla="*/ 47 h 47"/>
                <a:gd name="T6" fmla="*/ 95 w 95"/>
                <a:gd name="T7" fmla="*/ 24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35" name="Line 452"/>
            <p:cNvSpPr>
              <a:spLocks noChangeShapeType="1"/>
            </p:cNvSpPr>
            <p:nvPr/>
          </p:nvSpPr>
          <p:spPr bwMode="auto">
            <a:xfrm>
              <a:off x="3443" y="3172"/>
              <a:ext cx="112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8" name="Group 515"/>
          <p:cNvGrpSpPr>
            <a:grpSpLocks/>
          </p:cNvGrpSpPr>
          <p:nvPr/>
        </p:nvGrpSpPr>
        <p:grpSpPr bwMode="auto">
          <a:xfrm>
            <a:off x="4353147" y="2515204"/>
            <a:ext cx="3876415" cy="3477130"/>
            <a:chOff x="3336" y="2263"/>
            <a:chExt cx="1864" cy="1672"/>
          </a:xfrm>
        </p:grpSpPr>
        <p:sp>
          <p:nvSpPr>
            <p:cNvPr id="240" name="Rectangle 339"/>
            <p:cNvSpPr>
              <a:spLocks noChangeArrowheads="1"/>
            </p:cNvSpPr>
            <p:nvPr/>
          </p:nvSpPr>
          <p:spPr bwMode="auto">
            <a:xfrm>
              <a:off x="4534" y="2263"/>
              <a:ext cx="666" cy="1350"/>
            </a:xfrm>
            <a:prstGeom prst="rect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41" name="Freeform 367"/>
            <p:cNvSpPr>
              <a:spLocks/>
            </p:cNvSpPr>
            <p:nvPr/>
          </p:nvSpPr>
          <p:spPr bwMode="auto">
            <a:xfrm>
              <a:off x="4925" y="3716"/>
              <a:ext cx="47" cy="95"/>
            </a:xfrm>
            <a:custGeom>
              <a:avLst/>
              <a:gdLst>
                <a:gd name="T0" fmla="*/ 24 w 47"/>
                <a:gd name="T1" fmla="*/ 95 h 95"/>
                <a:gd name="T2" fmla="*/ 47 w 47"/>
                <a:gd name="T3" fmla="*/ 0 h 95"/>
                <a:gd name="T4" fmla="*/ 0 w 47"/>
                <a:gd name="T5" fmla="*/ 0 h 95"/>
                <a:gd name="T6" fmla="*/ 24 w 47"/>
                <a:gd name="T7" fmla="*/ 95 h 9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7"/>
                <a:gd name="T13" fmla="*/ 0 h 95"/>
                <a:gd name="T14" fmla="*/ 47 w 47"/>
                <a:gd name="T15" fmla="*/ 95 h 9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7" h="95">
                  <a:moveTo>
                    <a:pt x="24" y="95"/>
                  </a:moveTo>
                  <a:lnTo>
                    <a:pt x="47" y="0"/>
                  </a:lnTo>
                  <a:lnTo>
                    <a:pt x="0" y="0"/>
                  </a:lnTo>
                  <a:lnTo>
                    <a:pt x="24" y="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42" name="Line 368"/>
            <p:cNvSpPr>
              <a:spLocks noChangeShapeType="1"/>
            </p:cNvSpPr>
            <p:nvPr/>
          </p:nvSpPr>
          <p:spPr bwMode="auto">
            <a:xfrm>
              <a:off x="4949" y="3616"/>
              <a:ext cx="1" cy="15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1" name="Rectangle 442"/>
            <p:cNvSpPr>
              <a:spLocks noChangeArrowheads="1"/>
            </p:cNvSpPr>
            <p:nvPr/>
          </p:nvSpPr>
          <p:spPr bwMode="auto">
            <a:xfrm>
              <a:off x="3336" y="3762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d</a:t>
              </a:r>
              <a:endParaRPr lang="en-US" altLang="en-US" sz="1800" dirty="0"/>
            </a:p>
          </p:txBody>
        </p:sp>
        <p:sp>
          <p:nvSpPr>
            <p:cNvPr id="252" name="Rectangle 443"/>
            <p:cNvSpPr>
              <a:spLocks noChangeArrowheads="1"/>
            </p:cNvSpPr>
            <p:nvPr/>
          </p:nvSpPr>
          <p:spPr bwMode="auto">
            <a:xfrm>
              <a:off x="3347" y="3642"/>
              <a:ext cx="31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t</a:t>
              </a:r>
              <a:endParaRPr lang="en-US" altLang="en-US" sz="1800" dirty="0"/>
            </a:p>
          </p:txBody>
        </p:sp>
        <p:sp>
          <p:nvSpPr>
            <p:cNvPr id="255" name="Rectangle 453"/>
            <p:cNvSpPr>
              <a:spLocks noChangeArrowheads="1"/>
            </p:cNvSpPr>
            <p:nvPr/>
          </p:nvSpPr>
          <p:spPr bwMode="auto">
            <a:xfrm>
              <a:off x="4774" y="2405"/>
              <a:ext cx="346" cy="1057"/>
            </a:xfrm>
            <a:prstGeom prst="rect">
              <a:avLst/>
            </a:prstGeom>
            <a:solidFill>
              <a:srgbClr val="D4E0F3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" name="Line 454"/>
            <p:cNvSpPr>
              <a:spLocks noChangeShapeType="1"/>
            </p:cNvSpPr>
            <p:nvPr/>
          </p:nvSpPr>
          <p:spPr bwMode="auto">
            <a:xfrm>
              <a:off x="4771" y="2538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7" name="Line 455"/>
            <p:cNvSpPr>
              <a:spLocks noChangeShapeType="1"/>
            </p:cNvSpPr>
            <p:nvPr/>
          </p:nvSpPr>
          <p:spPr bwMode="auto">
            <a:xfrm>
              <a:off x="4771" y="2669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8" name="Line 456"/>
            <p:cNvSpPr>
              <a:spLocks noChangeShapeType="1"/>
            </p:cNvSpPr>
            <p:nvPr/>
          </p:nvSpPr>
          <p:spPr bwMode="auto">
            <a:xfrm>
              <a:off x="4771" y="2802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9" name="Line 457"/>
            <p:cNvSpPr>
              <a:spLocks noChangeShapeType="1"/>
            </p:cNvSpPr>
            <p:nvPr/>
          </p:nvSpPr>
          <p:spPr bwMode="auto">
            <a:xfrm>
              <a:off x="4771" y="2935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6" name="Line 458"/>
            <p:cNvSpPr>
              <a:spLocks noChangeShapeType="1"/>
            </p:cNvSpPr>
            <p:nvPr/>
          </p:nvSpPr>
          <p:spPr bwMode="auto">
            <a:xfrm>
              <a:off x="4771" y="3065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7" name="Line 459"/>
            <p:cNvSpPr>
              <a:spLocks noChangeShapeType="1"/>
            </p:cNvSpPr>
            <p:nvPr/>
          </p:nvSpPr>
          <p:spPr bwMode="auto">
            <a:xfrm>
              <a:off x="4771" y="3198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8" name="Line 460"/>
            <p:cNvSpPr>
              <a:spLocks noChangeShapeType="1"/>
            </p:cNvSpPr>
            <p:nvPr/>
          </p:nvSpPr>
          <p:spPr bwMode="auto">
            <a:xfrm>
              <a:off x="4771" y="3332"/>
              <a:ext cx="349" cy="1"/>
            </a:xfrm>
            <a:prstGeom prst="line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69" name="Rectangle 461"/>
            <p:cNvSpPr>
              <a:spLocks noChangeArrowheads="1"/>
            </p:cNvSpPr>
            <p:nvPr/>
          </p:nvSpPr>
          <p:spPr bwMode="auto">
            <a:xfrm>
              <a:off x="4658" y="2278"/>
              <a:ext cx="11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8x</a:t>
              </a:r>
              <a:endParaRPr lang="en-US" altLang="en-US" sz="1800"/>
            </a:p>
          </p:txBody>
        </p:sp>
        <p:sp>
          <p:nvSpPr>
            <p:cNvPr id="270" name="Rectangle 463"/>
            <p:cNvSpPr>
              <a:spLocks noChangeArrowheads="1"/>
            </p:cNvSpPr>
            <p:nvPr/>
          </p:nvSpPr>
          <p:spPr bwMode="auto">
            <a:xfrm>
              <a:off x="4763" y="2278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271" name="Rectangle 464"/>
            <p:cNvSpPr>
              <a:spLocks noChangeArrowheads="1"/>
            </p:cNvSpPr>
            <p:nvPr/>
          </p:nvSpPr>
          <p:spPr bwMode="auto">
            <a:xfrm>
              <a:off x="4839" y="2278"/>
              <a:ext cx="27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Mem.</a:t>
              </a:r>
              <a:endParaRPr lang="en-US" altLang="en-US" sz="1800"/>
            </a:p>
          </p:txBody>
        </p:sp>
        <p:sp>
          <p:nvSpPr>
            <p:cNvPr id="272" name="Rectangle 465"/>
            <p:cNvSpPr>
              <a:spLocks noChangeArrowheads="1"/>
            </p:cNvSpPr>
            <p:nvPr/>
          </p:nvSpPr>
          <p:spPr bwMode="auto">
            <a:xfrm>
              <a:off x="4921" y="2422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73" name="Rectangle 466"/>
            <p:cNvSpPr>
              <a:spLocks noChangeArrowheads="1"/>
            </p:cNvSpPr>
            <p:nvPr/>
          </p:nvSpPr>
          <p:spPr bwMode="auto">
            <a:xfrm>
              <a:off x="4921" y="2551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74" name="Rectangle 467"/>
            <p:cNvSpPr>
              <a:spLocks noChangeArrowheads="1"/>
            </p:cNvSpPr>
            <p:nvPr/>
          </p:nvSpPr>
          <p:spPr bwMode="auto">
            <a:xfrm>
              <a:off x="4921" y="2683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75" name="Rectangle 468"/>
            <p:cNvSpPr>
              <a:spLocks noChangeArrowheads="1"/>
            </p:cNvSpPr>
            <p:nvPr/>
          </p:nvSpPr>
          <p:spPr bwMode="auto">
            <a:xfrm>
              <a:off x="4921" y="2813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76" name="Rectangle 469"/>
            <p:cNvSpPr>
              <a:spLocks noChangeArrowheads="1"/>
            </p:cNvSpPr>
            <p:nvPr/>
          </p:nvSpPr>
          <p:spPr bwMode="auto">
            <a:xfrm>
              <a:off x="4921" y="2949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77" name="Rectangle 470"/>
            <p:cNvSpPr>
              <a:spLocks noChangeArrowheads="1"/>
            </p:cNvSpPr>
            <p:nvPr/>
          </p:nvSpPr>
          <p:spPr bwMode="auto">
            <a:xfrm>
              <a:off x="4921" y="3078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78" name="Rectangle 471"/>
            <p:cNvSpPr>
              <a:spLocks noChangeArrowheads="1"/>
            </p:cNvSpPr>
            <p:nvPr/>
          </p:nvSpPr>
          <p:spPr bwMode="auto">
            <a:xfrm>
              <a:off x="4921" y="3212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79" name="Rectangle 472"/>
            <p:cNvSpPr>
              <a:spLocks noChangeArrowheads="1"/>
            </p:cNvSpPr>
            <p:nvPr/>
          </p:nvSpPr>
          <p:spPr bwMode="auto">
            <a:xfrm>
              <a:off x="4921" y="3340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 sz="1800">
                <a:solidFill>
                  <a:srgbClr val="FF0000"/>
                </a:solidFill>
              </a:endParaRPr>
            </a:p>
          </p:txBody>
        </p:sp>
        <p:sp>
          <p:nvSpPr>
            <p:cNvPr id="280" name="Rectangle 473"/>
            <p:cNvSpPr>
              <a:spLocks noChangeArrowheads="1"/>
            </p:cNvSpPr>
            <p:nvPr/>
          </p:nvSpPr>
          <p:spPr bwMode="auto">
            <a:xfrm>
              <a:off x="4915" y="3494"/>
              <a:ext cx="80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D</a:t>
              </a:r>
              <a:endParaRPr lang="en-US" altLang="en-US" sz="1800"/>
            </a:p>
          </p:txBody>
        </p:sp>
        <p:sp>
          <p:nvSpPr>
            <p:cNvPr id="281" name="Rectangle 474"/>
            <p:cNvSpPr>
              <a:spLocks noChangeArrowheads="1"/>
            </p:cNvSpPr>
            <p:nvPr/>
          </p:nvSpPr>
          <p:spPr bwMode="auto">
            <a:xfrm>
              <a:off x="4915" y="3802"/>
              <a:ext cx="68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F</a:t>
              </a:r>
              <a:endParaRPr lang="en-US" altLang="en-US" sz="1800" dirty="0"/>
            </a:p>
          </p:txBody>
        </p:sp>
        <p:sp>
          <p:nvSpPr>
            <p:cNvPr id="282" name="Rectangle 475"/>
            <p:cNvSpPr>
              <a:spLocks noChangeArrowheads="1"/>
            </p:cNvSpPr>
            <p:nvPr/>
          </p:nvSpPr>
          <p:spPr bwMode="auto">
            <a:xfrm>
              <a:off x="4702" y="2422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283" name="Rectangle 476"/>
            <p:cNvSpPr>
              <a:spLocks noChangeArrowheads="1"/>
            </p:cNvSpPr>
            <p:nvPr/>
          </p:nvSpPr>
          <p:spPr bwMode="auto">
            <a:xfrm>
              <a:off x="4702" y="2551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284" name="Rectangle 477"/>
            <p:cNvSpPr>
              <a:spLocks noChangeArrowheads="1"/>
            </p:cNvSpPr>
            <p:nvPr/>
          </p:nvSpPr>
          <p:spPr bwMode="auto">
            <a:xfrm>
              <a:off x="4702" y="2683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 sz="1800"/>
            </a:p>
          </p:txBody>
        </p:sp>
        <p:sp>
          <p:nvSpPr>
            <p:cNvPr id="285" name="Rectangle 478"/>
            <p:cNvSpPr>
              <a:spLocks noChangeArrowheads="1"/>
            </p:cNvSpPr>
            <p:nvPr/>
          </p:nvSpPr>
          <p:spPr bwMode="auto">
            <a:xfrm>
              <a:off x="4702" y="2813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 sz="1800"/>
            </a:p>
          </p:txBody>
        </p:sp>
        <p:sp>
          <p:nvSpPr>
            <p:cNvPr id="286" name="Rectangle 479"/>
            <p:cNvSpPr>
              <a:spLocks noChangeArrowheads="1"/>
            </p:cNvSpPr>
            <p:nvPr/>
          </p:nvSpPr>
          <p:spPr bwMode="auto">
            <a:xfrm>
              <a:off x="4702" y="2949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 altLang="en-US" sz="1800"/>
            </a:p>
          </p:txBody>
        </p:sp>
        <p:sp>
          <p:nvSpPr>
            <p:cNvPr id="287" name="Rectangle 480"/>
            <p:cNvSpPr>
              <a:spLocks noChangeArrowheads="1"/>
            </p:cNvSpPr>
            <p:nvPr/>
          </p:nvSpPr>
          <p:spPr bwMode="auto">
            <a:xfrm>
              <a:off x="4702" y="3078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 altLang="en-US" sz="1800"/>
            </a:p>
          </p:txBody>
        </p:sp>
        <p:sp>
          <p:nvSpPr>
            <p:cNvPr id="288" name="Rectangle 481"/>
            <p:cNvSpPr>
              <a:spLocks noChangeArrowheads="1"/>
            </p:cNvSpPr>
            <p:nvPr/>
          </p:nvSpPr>
          <p:spPr bwMode="auto">
            <a:xfrm>
              <a:off x="4702" y="3212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6</a:t>
              </a:r>
              <a:endParaRPr lang="en-US" altLang="en-US" sz="1800"/>
            </a:p>
          </p:txBody>
        </p:sp>
        <p:sp>
          <p:nvSpPr>
            <p:cNvPr id="289" name="Rectangle 482"/>
            <p:cNvSpPr>
              <a:spLocks noChangeArrowheads="1"/>
            </p:cNvSpPr>
            <p:nvPr/>
          </p:nvSpPr>
          <p:spPr bwMode="auto">
            <a:xfrm>
              <a:off x="4702" y="3340"/>
              <a:ext cx="62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7</a:t>
              </a:r>
              <a:endParaRPr lang="en-US" altLang="en-US" sz="1800"/>
            </a:p>
          </p:txBody>
        </p:sp>
        <p:sp>
          <p:nvSpPr>
            <p:cNvPr id="290" name="Rectangle 483"/>
            <p:cNvSpPr>
              <a:spLocks noChangeArrowheads="1"/>
            </p:cNvSpPr>
            <p:nvPr/>
          </p:nvSpPr>
          <p:spPr bwMode="auto">
            <a:xfrm>
              <a:off x="4551" y="2886"/>
              <a:ext cx="109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a2</a:t>
              </a:r>
              <a:endParaRPr lang="en-US" altLang="en-US" sz="1600" dirty="0"/>
            </a:p>
          </p:txBody>
        </p:sp>
        <p:sp>
          <p:nvSpPr>
            <p:cNvPr id="291" name="Rectangle 484"/>
            <p:cNvSpPr>
              <a:spLocks noChangeArrowheads="1"/>
            </p:cNvSpPr>
            <p:nvPr/>
          </p:nvSpPr>
          <p:spPr bwMode="auto">
            <a:xfrm>
              <a:off x="4551" y="2987"/>
              <a:ext cx="109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a1</a:t>
              </a:r>
              <a:endParaRPr lang="en-US" altLang="en-US" sz="1600" dirty="0"/>
            </a:p>
          </p:txBody>
        </p:sp>
        <p:sp>
          <p:nvSpPr>
            <p:cNvPr id="292" name="Rectangle 485"/>
            <p:cNvSpPr>
              <a:spLocks noChangeArrowheads="1"/>
            </p:cNvSpPr>
            <p:nvPr/>
          </p:nvSpPr>
          <p:spPr bwMode="auto">
            <a:xfrm>
              <a:off x="4551" y="3107"/>
              <a:ext cx="109" cy="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a0</a:t>
              </a:r>
              <a:endParaRPr lang="en-US" altLang="en-US" sz="1600" dirty="0"/>
            </a:p>
          </p:txBody>
        </p:sp>
      </p:grpSp>
      <p:grpSp>
        <p:nvGrpSpPr>
          <p:cNvPr id="294" name="Group 293"/>
          <p:cNvGrpSpPr/>
          <p:nvPr/>
        </p:nvGrpSpPr>
        <p:grpSpPr>
          <a:xfrm>
            <a:off x="307628" y="4011451"/>
            <a:ext cx="2995344" cy="2006632"/>
            <a:chOff x="365614" y="3764968"/>
            <a:chExt cx="2995344" cy="2006632"/>
          </a:xfrm>
        </p:grpSpPr>
        <p:grpSp>
          <p:nvGrpSpPr>
            <p:cNvPr id="295" name="Group 294"/>
            <p:cNvGrpSpPr>
              <a:grpSpLocks noChangeAspect="1"/>
            </p:cNvGrpSpPr>
            <p:nvPr/>
          </p:nvGrpSpPr>
          <p:grpSpPr>
            <a:xfrm>
              <a:off x="365614" y="3764968"/>
              <a:ext cx="2995344" cy="2006632"/>
              <a:chOff x="666273" y="3598621"/>
              <a:chExt cx="2230438" cy="1494207"/>
            </a:xfrm>
          </p:grpSpPr>
          <p:sp>
            <p:nvSpPr>
              <p:cNvPr id="297" name="Rectangle 336"/>
              <p:cNvSpPr>
                <a:spLocks noChangeArrowheads="1"/>
              </p:cNvSpPr>
              <p:nvPr/>
            </p:nvSpPr>
            <p:spPr bwMode="auto">
              <a:xfrm>
                <a:off x="1136173" y="3695867"/>
                <a:ext cx="1535113" cy="1396961"/>
              </a:xfrm>
              <a:prstGeom prst="rect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8" name="Freeform 340"/>
              <p:cNvSpPr>
                <a:spLocks/>
              </p:cNvSpPr>
              <p:nvPr/>
            </p:nvSpPr>
            <p:spPr bwMode="auto">
              <a:xfrm>
                <a:off x="863123" y="3908183"/>
                <a:ext cx="812800" cy="188913"/>
              </a:xfrm>
              <a:custGeom>
                <a:avLst/>
                <a:gdLst>
                  <a:gd name="T0" fmla="*/ 812800 w 512"/>
                  <a:gd name="T1" fmla="*/ 188913 h 119"/>
                  <a:gd name="T2" fmla="*/ 427037 w 512"/>
                  <a:gd name="T3" fmla="*/ 188913 h 119"/>
                  <a:gd name="T4" fmla="*/ 427037 w 512"/>
                  <a:gd name="T5" fmla="*/ 0 h 119"/>
                  <a:gd name="T6" fmla="*/ 0 w 512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"/>
                  <a:gd name="T13" fmla="*/ 0 h 119"/>
                  <a:gd name="T14" fmla="*/ 512 w 512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" h="119">
                    <a:moveTo>
                      <a:pt x="512" y="119"/>
                    </a:moveTo>
                    <a:lnTo>
                      <a:pt x="269" y="119"/>
                    </a:lnTo>
                    <a:lnTo>
                      <a:pt x="269" y="0"/>
                    </a:ln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99" name="Line 341"/>
              <p:cNvSpPr>
                <a:spLocks noChangeShapeType="1"/>
              </p:cNvSpPr>
              <p:nvPr/>
            </p:nvSpPr>
            <p:spPr bwMode="auto">
              <a:xfrm>
                <a:off x="863123" y="4190758"/>
                <a:ext cx="8128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0" name="Freeform 342"/>
              <p:cNvSpPr>
                <a:spLocks/>
              </p:cNvSpPr>
              <p:nvPr/>
            </p:nvSpPr>
            <p:spPr bwMode="auto">
              <a:xfrm>
                <a:off x="1539398" y="4284421"/>
                <a:ext cx="136525" cy="193675"/>
              </a:xfrm>
              <a:custGeom>
                <a:avLst/>
                <a:gdLst>
                  <a:gd name="T0" fmla="*/ 0 w 86"/>
                  <a:gd name="T1" fmla="*/ 193675 h 122"/>
                  <a:gd name="T2" fmla="*/ 65088 w 86"/>
                  <a:gd name="T3" fmla="*/ 193675 h 122"/>
                  <a:gd name="T4" fmla="*/ 65088 w 86"/>
                  <a:gd name="T5" fmla="*/ 0 h 122"/>
                  <a:gd name="T6" fmla="*/ 136525 w 86"/>
                  <a:gd name="T7" fmla="*/ 0 h 1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122"/>
                  <a:gd name="T14" fmla="*/ 86 w 86"/>
                  <a:gd name="T15" fmla="*/ 122 h 1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122">
                    <a:moveTo>
                      <a:pt x="0" y="122"/>
                    </a:moveTo>
                    <a:lnTo>
                      <a:pt x="41" y="122"/>
                    </a:lnTo>
                    <a:lnTo>
                      <a:pt x="41" y="0"/>
                    </a:lnTo>
                    <a:lnTo>
                      <a:pt x="86" y="0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1" name="Line 343"/>
              <p:cNvSpPr>
                <a:spLocks noChangeShapeType="1"/>
              </p:cNvSpPr>
              <p:nvPr/>
            </p:nvSpPr>
            <p:spPr bwMode="auto">
              <a:xfrm>
                <a:off x="863123" y="4478096"/>
                <a:ext cx="361950" cy="1587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2" name="Freeform 344"/>
              <p:cNvSpPr>
                <a:spLocks/>
              </p:cNvSpPr>
              <p:nvPr/>
            </p:nvSpPr>
            <p:spPr bwMode="auto">
              <a:xfrm>
                <a:off x="2745898" y="4243146"/>
                <a:ext cx="150813" cy="74612"/>
              </a:xfrm>
              <a:custGeom>
                <a:avLst/>
                <a:gdLst>
                  <a:gd name="T0" fmla="*/ 150813 w 95"/>
                  <a:gd name="T1" fmla="*/ 36512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65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3" name="Freeform 345"/>
              <p:cNvSpPr>
                <a:spLocks/>
              </p:cNvSpPr>
              <p:nvPr/>
            </p:nvSpPr>
            <p:spPr bwMode="auto">
              <a:xfrm>
                <a:off x="980598" y="3866908"/>
                <a:ext cx="150813" cy="74613"/>
              </a:xfrm>
              <a:custGeom>
                <a:avLst/>
                <a:gdLst>
                  <a:gd name="T0" fmla="*/ 150813 w 95"/>
                  <a:gd name="T1" fmla="*/ 36513 h 47"/>
                  <a:gd name="T2" fmla="*/ 0 w 95"/>
                  <a:gd name="T3" fmla="*/ 0 h 47"/>
                  <a:gd name="T4" fmla="*/ 0 w 95"/>
                  <a:gd name="T5" fmla="*/ 74613 h 47"/>
                  <a:gd name="T6" fmla="*/ 150813 w 95"/>
                  <a:gd name="T7" fmla="*/ 365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4" name="Freeform 346"/>
              <p:cNvSpPr>
                <a:spLocks/>
              </p:cNvSpPr>
              <p:nvPr/>
            </p:nvSpPr>
            <p:spPr bwMode="auto">
              <a:xfrm>
                <a:off x="980598" y="4152658"/>
                <a:ext cx="150813" cy="76200"/>
              </a:xfrm>
              <a:custGeom>
                <a:avLst/>
                <a:gdLst>
                  <a:gd name="T0" fmla="*/ 150813 w 95"/>
                  <a:gd name="T1" fmla="*/ 38100 h 48"/>
                  <a:gd name="T2" fmla="*/ 0 w 95"/>
                  <a:gd name="T3" fmla="*/ 0 h 48"/>
                  <a:gd name="T4" fmla="*/ 0 w 95"/>
                  <a:gd name="T5" fmla="*/ 76200 h 48"/>
                  <a:gd name="T6" fmla="*/ 150813 w 95"/>
                  <a:gd name="T7" fmla="*/ 3810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8"/>
                  <a:gd name="T14" fmla="*/ 95 w 95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8">
                    <a:moveTo>
                      <a:pt x="95" y="24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5" name="Freeform 347"/>
              <p:cNvSpPr>
                <a:spLocks/>
              </p:cNvSpPr>
              <p:nvPr/>
            </p:nvSpPr>
            <p:spPr bwMode="auto">
              <a:xfrm>
                <a:off x="980598" y="4439996"/>
                <a:ext cx="150813" cy="74612"/>
              </a:xfrm>
              <a:custGeom>
                <a:avLst/>
                <a:gdLst>
                  <a:gd name="T0" fmla="*/ 150813 w 95"/>
                  <a:gd name="T1" fmla="*/ 38100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810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4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6" name="Freeform 348"/>
              <p:cNvSpPr>
                <a:spLocks/>
              </p:cNvSpPr>
              <p:nvPr/>
            </p:nvSpPr>
            <p:spPr bwMode="auto">
              <a:xfrm>
                <a:off x="980598" y="4713046"/>
                <a:ext cx="150813" cy="74612"/>
              </a:xfrm>
              <a:custGeom>
                <a:avLst/>
                <a:gdLst>
                  <a:gd name="T0" fmla="*/ 150813 w 95"/>
                  <a:gd name="T1" fmla="*/ 36512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65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08" name="Freeform 349"/>
              <p:cNvSpPr>
                <a:spLocks/>
              </p:cNvSpPr>
              <p:nvPr/>
            </p:nvSpPr>
            <p:spPr bwMode="auto">
              <a:xfrm>
                <a:off x="980598" y="4989271"/>
                <a:ext cx="150813" cy="76200"/>
              </a:xfrm>
              <a:custGeom>
                <a:avLst/>
                <a:gdLst>
                  <a:gd name="T0" fmla="*/ 150813 w 95"/>
                  <a:gd name="T1" fmla="*/ 38100 h 48"/>
                  <a:gd name="T2" fmla="*/ 0 w 95"/>
                  <a:gd name="T3" fmla="*/ 0 h 48"/>
                  <a:gd name="T4" fmla="*/ 0 w 95"/>
                  <a:gd name="T5" fmla="*/ 76200 h 48"/>
                  <a:gd name="T6" fmla="*/ 150813 w 95"/>
                  <a:gd name="T7" fmla="*/ 3810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8"/>
                  <a:gd name="T14" fmla="*/ 95 w 95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8">
                    <a:moveTo>
                      <a:pt x="95" y="24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46" name="Rectangle 350"/>
              <p:cNvSpPr>
                <a:spLocks noChangeArrowheads="1"/>
              </p:cNvSpPr>
              <p:nvPr/>
            </p:nvSpPr>
            <p:spPr bwMode="auto">
              <a:xfrm>
                <a:off x="852844" y="3712027"/>
                <a:ext cx="85943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k</a:t>
                </a:r>
                <a:endParaRPr lang="en-US" altLang="en-US" sz="1800" dirty="0"/>
              </a:p>
            </p:txBody>
          </p:sp>
          <p:sp>
            <p:nvSpPr>
              <p:cNvPr id="347" name="Rectangle 351"/>
              <p:cNvSpPr>
                <a:spLocks noChangeArrowheads="1"/>
              </p:cNvSpPr>
              <p:nvPr/>
            </p:nvSpPr>
            <p:spPr bwMode="auto">
              <a:xfrm>
                <a:off x="871061" y="3968508"/>
                <a:ext cx="95492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p</a:t>
                </a:r>
              </a:p>
            </p:txBody>
          </p:sp>
          <p:sp>
            <p:nvSpPr>
              <p:cNvPr id="348" name="Rectangle 352"/>
              <p:cNvSpPr>
                <a:spLocks noChangeArrowheads="1"/>
              </p:cNvSpPr>
              <p:nvPr/>
            </p:nvSpPr>
            <p:spPr bwMode="auto">
              <a:xfrm>
                <a:off x="871061" y="4300296"/>
                <a:ext cx="85943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s</a:t>
                </a:r>
              </a:p>
            </p:txBody>
          </p:sp>
          <p:sp>
            <p:nvSpPr>
              <p:cNvPr id="349" name="Rectangle 354"/>
              <p:cNvSpPr>
                <a:spLocks noChangeArrowheads="1"/>
              </p:cNvSpPr>
              <p:nvPr/>
            </p:nvSpPr>
            <p:spPr bwMode="auto">
              <a:xfrm>
                <a:off x="871061" y="4847983"/>
                <a:ext cx="95492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</a:p>
            </p:txBody>
          </p:sp>
          <p:sp>
            <p:nvSpPr>
              <p:cNvPr id="350" name="Rectangle 355"/>
              <p:cNvSpPr>
                <a:spLocks noChangeArrowheads="1"/>
              </p:cNvSpPr>
              <p:nvPr/>
            </p:nvSpPr>
            <p:spPr bwMode="auto">
              <a:xfrm>
                <a:off x="2730023" y="4063758"/>
                <a:ext cx="105041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F</a:t>
                </a:r>
                <a:endParaRPr lang="en-US" altLang="en-US" sz="1800" dirty="0"/>
              </a:p>
            </p:txBody>
          </p:sp>
          <p:sp>
            <p:nvSpPr>
              <p:cNvPr id="351" name="Rectangle 356"/>
              <p:cNvSpPr>
                <a:spLocks noChangeArrowheads="1"/>
              </p:cNvSpPr>
              <p:nvPr/>
            </p:nvSpPr>
            <p:spPr bwMode="auto">
              <a:xfrm>
                <a:off x="1596548" y="3695867"/>
                <a:ext cx="700244" cy="206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 err="1">
                    <a:solidFill>
                      <a:srgbClr val="000000"/>
                    </a:solidFill>
                    <a:latin typeface="Helvetica" pitchFamily="34" charset="0"/>
                  </a:rPr>
                  <a:t>BeltWarn</a:t>
                </a:r>
                <a:endParaRPr lang="en-US" altLang="en-US" sz="1800" dirty="0"/>
              </a:p>
            </p:txBody>
          </p:sp>
          <p:sp>
            <p:nvSpPr>
              <p:cNvPr id="352" name="Freeform 357"/>
              <p:cNvSpPr>
                <a:spLocks/>
              </p:cNvSpPr>
              <p:nvPr/>
            </p:nvSpPr>
            <p:spPr bwMode="auto">
              <a:xfrm>
                <a:off x="1675923" y="4003433"/>
                <a:ext cx="388938" cy="374650"/>
              </a:xfrm>
              <a:custGeom>
                <a:avLst/>
                <a:gdLst>
                  <a:gd name="T0" fmla="*/ 0 w 83"/>
                  <a:gd name="T1" fmla="*/ 374650 h 80"/>
                  <a:gd name="T2" fmla="*/ 201498 w 83"/>
                  <a:gd name="T3" fmla="*/ 374650 h 80"/>
                  <a:gd name="T4" fmla="*/ 388938 w 83"/>
                  <a:gd name="T5" fmla="*/ 187325 h 80"/>
                  <a:gd name="T6" fmla="*/ 201498 w 83"/>
                  <a:gd name="T7" fmla="*/ 0 h 80"/>
                  <a:gd name="T8" fmla="*/ 0 w 83"/>
                  <a:gd name="T9" fmla="*/ 0 h 80"/>
                  <a:gd name="T10" fmla="*/ 0 w 83"/>
                  <a:gd name="T11" fmla="*/ 374650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3"/>
                  <a:gd name="T19" fmla="*/ 0 h 80"/>
                  <a:gd name="T20" fmla="*/ 83 w 83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3" h="80">
                    <a:moveTo>
                      <a:pt x="0" y="80"/>
                    </a:moveTo>
                    <a:cubicBezTo>
                      <a:pt x="43" y="80"/>
                      <a:pt x="43" y="80"/>
                      <a:pt x="43" y="80"/>
                    </a:cubicBezTo>
                    <a:cubicBezTo>
                      <a:pt x="65" y="80"/>
                      <a:pt x="83" y="62"/>
                      <a:pt x="83" y="40"/>
                    </a:cubicBezTo>
                    <a:cubicBezTo>
                      <a:pt x="83" y="18"/>
                      <a:pt x="65" y="0"/>
                      <a:pt x="4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3" name="Freeform 358"/>
              <p:cNvSpPr>
                <a:spLocks/>
              </p:cNvSpPr>
              <p:nvPr/>
            </p:nvSpPr>
            <p:spPr bwMode="auto">
              <a:xfrm>
                <a:off x="1229836" y="4332046"/>
                <a:ext cx="230187" cy="290512"/>
              </a:xfrm>
              <a:custGeom>
                <a:avLst/>
                <a:gdLst>
                  <a:gd name="T0" fmla="*/ 0 w 145"/>
                  <a:gd name="T1" fmla="*/ 290512 h 183"/>
                  <a:gd name="T2" fmla="*/ 230187 w 145"/>
                  <a:gd name="T3" fmla="*/ 146050 h 183"/>
                  <a:gd name="T4" fmla="*/ 0 w 145"/>
                  <a:gd name="T5" fmla="*/ 0 h 183"/>
                  <a:gd name="T6" fmla="*/ 0 w 145"/>
                  <a:gd name="T7" fmla="*/ 290512 h 18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5"/>
                  <a:gd name="T13" fmla="*/ 0 h 183"/>
                  <a:gd name="T14" fmla="*/ 145 w 145"/>
                  <a:gd name="T15" fmla="*/ 183 h 18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5" h="183">
                    <a:moveTo>
                      <a:pt x="0" y="183"/>
                    </a:moveTo>
                    <a:lnTo>
                      <a:pt x="145" y="92"/>
                    </a:lnTo>
                    <a:lnTo>
                      <a:pt x="0" y="0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4" name="Oval 359"/>
              <p:cNvSpPr>
                <a:spLocks noChangeArrowheads="1"/>
              </p:cNvSpPr>
              <p:nvPr/>
            </p:nvSpPr>
            <p:spPr bwMode="auto">
              <a:xfrm>
                <a:off x="1464786" y="4439996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5" name="Freeform 363"/>
              <p:cNvSpPr>
                <a:spLocks/>
              </p:cNvSpPr>
              <p:nvPr/>
            </p:nvSpPr>
            <p:spPr bwMode="auto">
              <a:xfrm>
                <a:off x="2206148" y="4092333"/>
                <a:ext cx="381000" cy="376238"/>
              </a:xfrm>
              <a:custGeom>
                <a:avLst/>
                <a:gdLst>
                  <a:gd name="T0" fmla="*/ 381000 w 81"/>
                  <a:gd name="T1" fmla="*/ 188119 h 80"/>
                  <a:gd name="T2" fmla="*/ 0 w 81"/>
                  <a:gd name="T3" fmla="*/ 376238 h 80"/>
                  <a:gd name="T4" fmla="*/ 56444 w 81"/>
                  <a:gd name="T5" fmla="*/ 192822 h 80"/>
                  <a:gd name="T6" fmla="*/ 56444 w 81"/>
                  <a:gd name="T7" fmla="*/ 188119 h 80"/>
                  <a:gd name="T8" fmla="*/ 0 w 81"/>
                  <a:gd name="T9" fmla="*/ 0 h 80"/>
                  <a:gd name="T10" fmla="*/ 381000 w 81"/>
                  <a:gd name="T11" fmla="*/ 188119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1"/>
                  <a:gd name="T19" fmla="*/ 0 h 80"/>
                  <a:gd name="T20" fmla="*/ 81 w 81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1" h="80">
                    <a:moveTo>
                      <a:pt x="81" y="40"/>
                    </a:moveTo>
                    <a:cubicBezTo>
                      <a:pt x="81" y="40"/>
                      <a:pt x="62" y="80"/>
                      <a:pt x="0" y="80"/>
                    </a:cubicBezTo>
                    <a:cubicBezTo>
                      <a:pt x="0" y="80"/>
                      <a:pt x="12" y="76"/>
                      <a:pt x="12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2" y="4"/>
                      <a:pt x="0" y="0"/>
                      <a:pt x="0" y="0"/>
                    </a:cubicBezTo>
                    <a:cubicBezTo>
                      <a:pt x="62" y="0"/>
                      <a:pt x="81" y="40"/>
                      <a:pt x="81" y="40"/>
                    </a:cubicBezTo>
                    <a:close/>
                  </a:path>
                </a:pathLst>
              </a:cu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6" name="Line 364"/>
              <p:cNvSpPr>
                <a:spLocks noChangeShapeType="1"/>
              </p:cNvSpPr>
              <p:nvPr/>
            </p:nvSpPr>
            <p:spPr bwMode="auto">
              <a:xfrm>
                <a:off x="2069623" y="4185996"/>
                <a:ext cx="188913" cy="1587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7" name="Freeform 365"/>
              <p:cNvSpPr>
                <a:spLocks/>
              </p:cNvSpPr>
              <p:nvPr/>
            </p:nvSpPr>
            <p:spPr bwMode="auto">
              <a:xfrm>
                <a:off x="877411" y="4373321"/>
                <a:ext cx="1385887" cy="658812"/>
              </a:xfrm>
              <a:custGeom>
                <a:avLst/>
                <a:gdLst>
                  <a:gd name="T0" fmla="*/ 1385887 w 873"/>
                  <a:gd name="T1" fmla="*/ 0 h 415"/>
                  <a:gd name="T2" fmla="*/ 1282700 w 873"/>
                  <a:gd name="T3" fmla="*/ 0 h 415"/>
                  <a:gd name="T4" fmla="*/ 1282700 w 873"/>
                  <a:gd name="T5" fmla="*/ 658812 h 415"/>
                  <a:gd name="T6" fmla="*/ 0 w 873"/>
                  <a:gd name="T7" fmla="*/ 658812 h 4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73"/>
                  <a:gd name="T13" fmla="*/ 0 h 415"/>
                  <a:gd name="T14" fmla="*/ 873 w 873"/>
                  <a:gd name="T15" fmla="*/ 415 h 4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73" h="415">
                    <a:moveTo>
                      <a:pt x="873" y="0"/>
                    </a:moveTo>
                    <a:lnTo>
                      <a:pt x="808" y="0"/>
                    </a:lnTo>
                    <a:lnTo>
                      <a:pt x="808" y="415"/>
                    </a:lnTo>
                    <a:lnTo>
                      <a:pt x="0" y="415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58" name="Line 366"/>
              <p:cNvSpPr>
                <a:spLocks noChangeShapeType="1"/>
              </p:cNvSpPr>
              <p:nvPr/>
            </p:nvSpPr>
            <p:spPr bwMode="auto">
              <a:xfrm>
                <a:off x="2587148" y="4279658"/>
                <a:ext cx="242888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9" name="Freeform 375"/>
              <p:cNvSpPr>
                <a:spLocks/>
              </p:cNvSpPr>
              <p:nvPr/>
            </p:nvSpPr>
            <p:spPr bwMode="auto">
              <a:xfrm>
                <a:off x="872648" y="4279658"/>
                <a:ext cx="1390650" cy="469900"/>
              </a:xfrm>
              <a:custGeom>
                <a:avLst/>
                <a:gdLst>
                  <a:gd name="T0" fmla="*/ 1390650 w 876"/>
                  <a:gd name="T1" fmla="*/ 0 h 296"/>
                  <a:gd name="T2" fmla="*/ 1211263 w 876"/>
                  <a:gd name="T3" fmla="*/ 0 h 296"/>
                  <a:gd name="T4" fmla="*/ 1211263 w 876"/>
                  <a:gd name="T5" fmla="*/ 469900 h 296"/>
                  <a:gd name="T6" fmla="*/ 0 w 876"/>
                  <a:gd name="T7" fmla="*/ 469900 h 2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76"/>
                  <a:gd name="T13" fmla="*/ 0 h 296"/>
                  <a:gd name="T14" fmla="*/ 876 w 876"/>
                  <a:gd name="T15" fmla="*/ 296 h 2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76" h="296">
                    <a:moveTo>
                      <a:pt x="876" y="0"/>
                    </a:moveTo>
                    <a:lnTo>
                      <a:pt x="763" y="0"/>
                    </a:lnTo>
                    <a:lnTo>
                      <a:pt x="763" y="296"/>
                    </a:lnTo>
                    <a:lnTo>
                      <a:pt x="0" y="296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60" name="Line 486"/>
              <p:cNvSpPr>
                <a:spLocks noChangeShapeType="1"/>
              </p:cNvSpPr>
              <p:nvPr/>
            </p:nvSpPr>
            <p:spPr bwMode="auto">
              <a:xfrm>
                <a:off x="666273" y="3598621"/>
                <a:ext cx="1588" cy="1587"/>
              </a:xfrm>
              <a:prstGeom prst="line">
                <a:avLst/>
              </a:prstGeom>
              <a:noFill/>
              <a:ln w="3175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96" name="Rectangle 352"/>
            <p:cNvSpPr>
              <a:spLocks noChangeArrowheads="1"/>
            </p:cNvSpPr>
            <p:nvPr/>
          </p:nvSpPr>
          <p:spPr bwMode="auto">
            <a:xfrm>
              <a:off x="650659" y="5051352"/>
              <a:ext cx="64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t</a:t>
              </a:r>
            </a:p>
          </p:txBody>
        </p:sp>
      </p:grpSp>
      <p:sp>
        <p:nvSpPr>
          <p:cNvPr id="361" name="Oval 497"/>
          <p:cNvSpPr>
            <a:spLocks noChangeArrowheads="1"/>
          </p:cNvSpPr>
          <p:nvPr/>
        </p:nvSpPr>
        <p:spPr bwMode="auto">
          <a:xfrm rot="19855884">
            <a:off x="847877" y="4413566"/>
            <a:ext cx="1474520" cy="1036391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2" name="Oval 498"/>
          <p:cNvSpPr>
            <a:spLocks noChangeArrowheads="1"/>
          </p:cNvSpPr>
          <p:nvPr/>
        </p:nvSpPr>
        <p:spPr bwMode="auto">
          <a:xfrm>
            <a:off x="2305945" y="4530600"/>
            <a:ext cx="692429" cy="710967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3" name="Rectangle 351"/>
          <p:cNvSpPr>
            <a:spLocks noChangeArrowheads="1"/>
          </p:cNvSpPr>
          <p:nvPr/>
        </p:nvSpPr>
        <p:spPr bwMode="auto">
          <a:xfrm>
            <a:off x="2236879" y="4495093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x</a:t>
            </a:r>
          </a:p>
        </p:txBody>
      </p:sp>
      <p:sp>
        <p:nvSpPr>
          <p:cNvPr id="364" name="Freeform 373"/>
          <p:cNvSpPr>
            <a:spLocks/>
          </p:cNvSpPr>
          <p:nvPr/>
        </p:nvSpPr>
        <p:spPr bwMode="auto">
          <a:xfrm>
            <a:off x="6642813" y="4355671"/>
            <a:ext cx="195484" cy="97742"/>
          </a:xfrm>
          <a:custGeom>
            <a:avLst/>
            <a:gdLst>
              <a:gd name="T0" fmla="*/ 94 w 94"/>
              <a:gd name="T1" fmla="*/ 24 h 47"/>
              <a:gd name="T2" fmla="*/ 0 w 94"/>
              <a:gd name="T3" fmla="*/ 0 h 47"/>
              <a:gd name="T4" fmla="*/ 0 w 94"/>
              <a:gd name="T5" fmla="*/ 47 h 47"/>
              <a:gd name="T6" fmla="*/ 94 w 94"/>
              <a:gd name="T7" fmla="*/ 24 h 47"/>
              <a:gd name="T8" fmla="*/ 0 60000 65536"/>
              <a:gd name="T9" fmla="*/ 0 60000 65536"/>
              <a:gd name="T10" fmla="*/ 0 60000 65536"/>
              <a:gd name="T11" fmla="*/ 0 60000 65536"/>
              <a:gd name="T12" fmla="*/ 0 w 94"/>
              <a:gd name="T13" fmla="*/ 0 h 47"/>
              <a:gd name="T14" fmla="*/ 94 w 94"/>
              <a:gd name="T15" fmla="*/ 47 h 4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" h="47">
                <a:moveTo>
                  <a:pt x="94" y="24"/>
                </a:moveTo>
                <a:lnTo>
                  <a:pt x="0" y="0"/>
                </a:lnTo>
                <a:lnTo>
                  <a:pt x="0" y="47"/>
                </a:lnTo>
                <a:lnTo>
                  <a:pt x="94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365" name="Freeform 374"/>
          <p:cNvSpPr>
            <a:spLocks/>
          </p:cNvSpPr>
          <p:nvPr/>
        </p:nvSpPr>
        <p:spPr bwMode="auto">
          <a:xfrm>
            <a:off x="4569430" y="4405582"/>
            <a:ext cx="2183603" cy="1285207"/>
          </a:xfrm>
          <a:custGeom>
            <a:avLst/>
            <a:gdLst>
              <a:gd name="T0" fmla="*/ 1050 w 1050"/>
              <a:gd name="T1" fmla="*/ 0 h 618"/>
              <a:gd name="T2" fmla="*/ 964 w 1050"/>
              <a:gd name="T3" fmla="*/ 0 h 618"/>
              <a:gd name="T4" fmla="*/ 964 w 1050"/>
              <a:gd name="T5" fmla="*/ 618 h 618"/>
              <a:gd name="T6" fmla="*/ 0 w 1050"/>
              <a:gd name="T7" fmla="*/ 618 h 618"/>
              <a:gd name="T8" fmla="*/ 0 60000 65536"/>
              <a:gd name="T9" fmla="*/ 0 60000 65536"/>
              <a:gd name="T10" fmla="*/ 0 60000 65536"/>
              <a:gd name="T11" fmla="*/ 0 60000 65536"/>
              <a:gd name="T12" fmla="*/ 0 w 1050"/>
              <a:gd name="T13" fmla="*/ 0 h 618"/>
              <a:gd name="T14" fmla="*/ 1050 w 1050"/>
              <a:gd name="T15" fmla="*/ 618 h 6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0" h="618">
                <a:moveTo>
                  <a:pt x="1050" y="0"/>
                </a:moveTo>
                <a:lnTo>
                  <a:pt x="964" y="0"/>
                </a:lnTo>
                <a:lnTo>
                  <a:pt x="964" y="618"/>
                </a:lnTo>
                <a:lnTo>
                  <a:pt x="0" y="618"/>
                </a:lnTo>
              </a:path>
            </a:pathLst>
          </a:cu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366" name="Freeform 369"/>
          <p:cNvSpPr>
            <a:spLocks/>
          </p:cNvSpPr>
          <p:nvPr/>
        </p:nvSpPr>
        <p:spPr bwMode="auto">
          <a:xfrm>
            <a:off x="6655291" y="3898153"/>
            <a:ext cx="195484" cy="97742"/>
          </a:xfrm>
          <a:custGeom>
            <a:avLst/>
            <a:gdLst>
              <a:gd name="T0" fmla="*/ 94 w 94"/>
              <a:gd name="T1" fmla="*/ 24 h 47"/>
              <a:gd name="T2" fmla="*/ 0 w 94"/>
              <a:gd name="T3" fmla="*/ 0 h 47"/>
              <a:gd name="T4" fmla="*/ 0 w 94"/>
              <a:gd name="T5" fmla="*/ 47 h 47"/>
              <a:gd name="T6" fmla="*/ 94 w 94"/>
              <a:gd name="T7" fmla="*/ 24 h 47"/>
              <a:gd name="T8" fmla="*/ 0 60000 65536"/>
              <a:gd name="T9" fmla="*/ 0 60000 65536"/>
              <a:gd name="T10" fmla="*/ 0 60000 65536"/>
              <a:gd name="T11" fmla="*/ 0 60000 65536"/>
              <a:gd name="T12" fmla="*/ 0 w 94"/>
              <a:gd name="T13" fmla="*/ 0 h 47"/>
              <a:gd name="T14" fmla="*/ 94 w 94"/>
              <a:gd name="T15" fmla="*/ 47 h 4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" h="47">
                <a:moveTo>
                  <a:pt x="94" y="24"/>
                </a:moveTo>
                <a:lnTo>
                  <a:pt x="0" y="0"/>
                </a:lnTo>
                <a:lnTo>
                  <a:pt x="0" y="47"/>
                </a:lnTo>
                <a:lnTo>
                  <a:pt x="94" y="2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367" name="Freeform 370"/>
          <p:cNvSpPr>
            <a:spLocks/>
          </p:cNvSpPr>
          <p:nvPr/>
        </p:nvSpPr>
        <p:spPr bwMode="auto">
          <a:xfrm>
            <a:off x="5775611" y="3956383"/>
            <a:ext cx="977422" cy="1501488"/>
          </a:xfrm>
          <a:custGeom>
            <a:avLst/>
            <a:gdLst>
              <a:gd name="T0" fmla="*/ 470 w 470"/>
              <a:gd name="T1" fmla="*/ 0 h 722"/>
              <a:gd name="T2" fmla="*/ 293 w 470"/>
              <a:gd name="T3" fmla="*/ 0 h 722"/>
              <a:gd name="T4" fmla="*/ 293 w 470"/>
              <a:gd name="T5" fmla="*/ 722 h 722"/>
              <a:gd name="T6" fmla="*/ 0 w 470"/>
              <a:gd name="T7" fmla="*/ 722 h 722"/>
              <a:gd name="T8" fmla="*/ 0 w 470"/>
              <a:gd name="T9" fmla="*/ 657 h 7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0"/>
              <a:gd name="T16" fmla="*/ 0 h 722"/>
              <a:gd name="T17" fmla="*/ 470 w 470"/>
              <a:gd name="T18" fmla="*/ 722 h 7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0" h="722">
                <a:moveTo>
                  <a:pt x="470" y="0"/>
                </a:moveTo>
                <a:lnTo>
                  <a:pt x="293" y="0"/>
                </a:lnTo>
                <a:lnTo>
                  <a:pt x="293" y="722"/>
                </a:lnTo>
                <a:lnTo>
                  <a:pt x="0" y="722"/>
                </a:lnTo>
                <a:lnTo>
                  <a:pt x="0" y="657"/>
                </a:lnTo>
              </a:path>
            </a:pathLst>
          </a:cu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368" name="Rectangle 394"/>
          <p:cNvSpPr>
            <a:spLocks noChangeArrowheads="1"/>
          </p:cNvSpPr>
          <p:nvPr/>
        </p:nvSpPr>
        <p:spPr bwMode="auto">
          <a:xfrm>
            <a:off x="6461886" y="3731784"/>
            <a:ext cx="114379" cy="276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x</a:t>
            </a:r>
            <a:endParaRPr lang="en-US" altLang="en-US" sz="1800"/>
          </a:p>
        </p:txBody>
      </p:sp>
      <p:sp>
        <p:nvSpPr>
          <p:cNvPr id="369" name="Freeform 371"/>
          <p:cNvSpPr>
            <a:spLocks/>
          </p:cNvSpPr>
          <p:nvPr/>
        </p:nvSpPr>
        <p:spPr bwMode="auto">
          <a:xfrm>
            <a:off x="6642813" y="4116514"/>
            <a:ext cx="195484" cy="97742"/>
          </a:xfrm>
          <a:custGeom>
            <a:avLst/>
            <a:gdLst>
              <a:gd name="T0" fmla="*/ 94 w 94"/>
              <a:gd name="T1" fmla="*/ 23 h 47"/>
              <a:gd name="T2" fmla="*/ 0 w 94"/>
              <a:gd name="T3" fmla="*/ 0 h 47"/>
              <a:gd name="T4" fmla="*/ 0 w 94"/>
              <a:gd name="T5" fmla="*/ 47 h 47"/>
              <a:gd name="T6" fmla="*/ 94 w 94"/>
              <a:gd name="T7" fmla="*/ 23 h 47"/>
              <a:gd name="T8" fmla="*/ 0 60000 65536"/>
              <a:gd name="T9" fmla="*/ 0 60000 65536"/>
              <a:gd name="T10" fmla="*/ 0 60000 65536"/>
              <a:gd name="T11" fmla="*/ 0 60000 65536"/>
              <a:gd name="T12" fmla="*/ 0 w 94"/>
              <a:gd name="T13" fmla="*/ 0 h 47"/>
              <a:gd name="T14" fmla="*/ 94 w 94"/>
              <a:gd name="T15" fmla="*/ 47 h 4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" h="47">
                <a:moveTo>
                  <a:pt x="94" y="23"/>
                </a:moveTo>
                <a:lnTo>
                  <a:pt x="0" y="0"/>
                </a:lnTo>
                <a:lnTo>
                  <a:pt x="0" y="47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370" name="Freeform 372"/>
          <p:cNvSpPr>
            <a:spLocks/>
          </p:cNvSpPr>
          <p:nvPr/>
        </p:nvSpPr>
        <p:spPr bwMode="auto">
          <a:xfrm>
            <a:off x="4569430" y="4164345"/>
            <a:ext cx="2183603" cy="1409985"/>
          </a:xfrm>
          <a:custGeom>
            <a:avLst/>
            <a:gdLst>
              <a:gd name="T0" fmla="*/ 1050 w 1050"/>
              <a:gd name="T1" fmla="*/ 0 h 678"/>
              <a:gd name="T2" fmla="*/ 920 w 1050"/>
              <a:gd name="T3" fmla="*/ 0 h 678"/>
              <a:gd name="T4" fmla="*/ 920 w 1050"/>
              <a:gd name="T5" fmla="*/ 678 h 678"/>
              <a:gd name="T6" fmla="*/ 0 w 1050"/>
              <a:gd name="T7" fmla="*/ 678 h 678"/>
              <a:gd name="T8" fmla="*/ 0 60000 65536"/>
              <a:gd name="T9" fmla="*/ 0 60000 65536"/>
              <a:gd name="T10" fmla="*/ 0 60000 65536"/>
              <a:gd name="T11" fmla="*/ 0 60000 65536"/>
              <a:gd name="T12" fmla="*/ 0 w 1050"/>
              <a:gd name="T13" fmla="*/ 0 h 678"/>
              <a:gd name="T14" fmla="*/ 1050 w 1050"/>
              <a:gd name="T15" fmla="*/ 678 h 6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0" h="678">
                <a:moveTo>
                  <a:pt x="1050" y="0"/>
                </a:moveTo>
                <a:lnTo>
                  <a:pt x="920" y="0"/>
                </a:lnTo>
                <a:lnTo>
                  <a:pt x="920" y="678"/>
                </a:lnTo>
                <a:lnTo>
                  <a:pt x="0" y="678"/>
                </a:lnTo>
              </a:path>
            </a:pathLst>
          </a:cu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823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345"/>
    </mc:Choice>
    <mc:Fallback xmlns="">
      <p:transition spd="slow" advTm="393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" grpId="0" animBg="1"/>
      <p:bldP spid="365" grpId="0" animBg="1"/>
      <p:bldP spid="366" grpId="0" animBg="1"/>
      <p:bldP spid="367" grpId="0" animBg="1"/>
      <p:bldP spid="368" grpId="0"/>
      <p:bldP spid="369" grpId="0" animBg="1"/>
      <p:bldP spid="37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3. FPGA Switching Matrices 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800" y="1908000"/>
            <a:ext cx="7876072" cy="161344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Programming the connections between LUTs instead of being hardwired.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Use switch matrices (also known as programmable interconnect).</a:t>
            </a:r>
          </a:p>
        </p:txBody>
      </p:sp>
      <p:sp>
        <p:nvSpPr>
          <p:cNvPr id="25694" name="Line 538"/>
          <p:cNvSpPr>
            <a:spLocks noChangeShapeType="1"/>
          </p:cNvSpPr>
          <p:nvPr/>
        </p:nvSpPr>
        <p:spPr bwMode="auto">
          <a:xfrm>
            <a:off x="4956536" y="5631461"/>
            <a:ext cx="0" cy="0"/>
          </a:xfrm>
          <a:prstGeom prst="line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21</a:t>
            </a:fld>
            <a:endParaRPr lang="de-DE" dirty="0"/>
          </a:p>
        </p:txBody>
      </p:sp>
      <p:grpSp>
        <p:nvGrpSpPr>
          <p:cNvPr id="4" name="Group 3"/>
          <p:cNvGrpSpPr/>
          <p:nvPr/>
        </p:nvGrpSpPr>
        <p:grpSpPr>
          <a:xfrm>
            <a:off x="3658206" y="2589032"/>
            <a:ext cx="5406175" cy="3429051"/>
            <a:chOff x="1069123" y="2614063"/>
            <a:chExt cx="5406175" cy="3429051"/>
          </a:xfrm>
        </p:grpSpPr>
        <p:sp>
          <p:nvSpPr>
            <p:cNvPr id="25607" name="Rectangle 360"/>
            <p:cNvSpPr>
              <a:spLocks noChangeArrowheads="1"/>
            </p:cNvSpPr>
            <p:nvPr/>
          </p:nvSpPr>
          <p:spPr bwMode="auto">
            <a:xfrm>
              <a:off x="1626152" y="2614063"/>
              <a:ext cx="4242974" cy="3429051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08" name="Rectangle 381"/>
            <p:cNvSpPr>
              <a:spLocks noChangeArrowheads="1"/>
            </p:cNvSpPr>
            <p:nvPr/>
          </p:nvSpPr>
          <p:spPr bwMode="auto">
            <a:xfrm>
              <a:off x="1886851" y="2667505"/>
              <a:ext cx="1133475" cy="2477563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09" name="Rectangle 382"/>
            <p:cNvSpPr>
              <a:spLocks noChangeArrowheads="1"/>
            </p:cNvSpPr>
            <p:nvPr/>
          </p:nvSpPr>
          <p:spPr bwMode="auto">
            <a:xfrm>
              <a:off x="4552405" y="2667505"/>
              <a:ext cx="1139143" cy="2461530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10" name="Line 383"/>
            <p:cNvSpPr>
              <a:spLocks noChangeShapeType="1"/>
            </p:cNvSpPr>
            <p:nvPr/>
          </p:nvSpPr>
          <p:spPr bwMode="auto">
            <a:xfrm>
              <a:off x="2646279" y="5129035"/>
              <a:ext cx="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1" name="Rectangle 384"/>
            <p:cNvSpPr>
              <a:spLocks noChangeArrowheads="1"/>
            </p:cNvSpPr>
            <p:nvPr/>
          </p:nvSpPr>
          <p:spPr bwMode="auto">
            <a:xfrm>
              <a:off x="2328906" y="2926316"/>
              <a:ext cx="630968" cy="1926907"/>
            </a:xfrm>
            <a:prstGeom prst="rect">
              <a:avLst/>
            </a:prstGeom>
            <a:solidFill>
              <a:srgbClr val="D4E0F3"/>
            </a:solidFill>
            <a:ln w="12700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12" name="Line 385"/>
            <p:cNvSpPr>
              <a:spLocks noChangeShapeType="1"/>
            </p:cNvSpPr>
            <p:nvPr/>
          </p:nvSpPr>
          <p:spPr bwMode="auto">
            <a:xfrm>
              <a:off x="2323238" y="3170012"/>
              <a:ext cx="636636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3" name="Line 386"/>
            <p:cNvSpPr>
              <a:spLocks noChangeShapeType="1"/>
            </p:cNvSpPr>
            <p:nvPr/>
          </p:nvSpPr>
          <p:spPr bwMode="auto">
            <a:xfrm>
              <a:off x="2323238" y="3406153"/>
              <a:ext cx="636636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4" name="Line 387"/>
            <p:cNvSpPr>
              <a:spLocks noChangeShapeType="1"/>
            </p:cNvSpPr>
            <p:nvPr/>
          </p:nvSpPr>
          <p:spPr bwMode="auto">
            <a:xfrm>
              <a:off x="2323238" y="3649850"/>
              <a:ext cx="636636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5" name="Line 388"/>
            <p:cNvSpPr>
              <a:spLocks noChangeShapeType="1"/>
            </p:cNvSpPr>
            <p:nvPr/>
          </p:nvSpPr>
          <p:spPr bwMode="auto">
            <a:xfrm>
              <a:off x="2323238" y="3891658"/>
              <a:ext cx="636636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6" name="Line 389"/>
            <p:cNvSpPr>
              <a:spLocks noChangeShapeType="1"/>
            </p:cNvSpPr>
            <p:nvPr/>
          </p:nvSpPr>
          <p:spPr bwMode="auto">
            <a:xfrm>
              <a:off x="2323238" y="4129688"/>
              <a:ext cx="636636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7" name="Line 390"/>
            <p:cNvSpPr>
              <a:spLocks noChangeShapeType="1"/>
            </p:cNvSpPr>
            <p:nvPr/>
          </p:nvSpPr>
          <p:spPr bwMode="auto">
            <a:xfrm>
              <a:off x="2323238" y="4373385"/>
              <a:ext cx="636636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8" name="Line 391"/>
            <p:cNvSpPr>
              <a:spLocks noChangeShapeType="1"/>
            </p:cNvSpPr>
            <p:nvPr/>
          </p:nvSpPr>
          <p:spPr bwMode="auto">
            <a:xfrm>
              <a:off x="2323238" y="4615193"/>
              <a:ext cx="636636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19" name="Rectangle 392"/>
            <p:cNvSpPr>
              <a:spLocks noChangeArrowheads="1"/>
            </p:cNvSpPr>
            <p:nvPr/>
          </p:nvSpPr>
          <p:spPr bwMode="auto">
            <a:xfrm>
              <a:off x="1969972" y="2692064"/>
              <a:ext cx="89768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700" dirty="0">
                  <a:solidFill>
                    <a:srgbClr val="000000"/>
                  </a:solidFill>
                  <a:latin typeface="Helvetica" pitchFamily="34" charset="0"/>
                </a:rPr>
                <a:t>8x2 </a:t>
              </a:r>
              <a:r>
                <a:rPr lang="en-US" altLang="en-US" sz="1700" dirty="0" err="1">
                  <a:solidFill>
                    <a:srgbClr val="000000"/>
                  </a:solidFill>
                  <a:latin typeface="Helvetica" pitchFamily="34" charset="0"/>
                </a:rPr>
                <a:t>Mem</a:t>
              </a:r>
              <a:endParaRPr lang="en-US" altLang="en-US" sz="1700" dirty="0"/>
            </a:p>
          </p:txBody>
        </p:sp>
        <p:sp>
          <p:nvSpPr>
            <p:cNvPr id="25622" name="Rectangle 397"/>
            <p:cNvSpPr>
              <a:spLocks noChangeArrowheads="1"/>
            </p:cNvSpPr>
            <p:nvPr/>
          </p:nvSpPr>
          <p:spPr bwMode="auto">
            <a:xfrm>
              <a:off x="2494273" y="2929719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  <a:endParaRPr lang="en-US" altLang="en-US" sz="1600" dirty="0"/>
            </a:p>
          </p:txBody>
        </p:sp>
        <p:sp>
          <p:nvSpPr>
            <p:cNvPr id="25630" name="Rectangle 405"/>
            <p:cNvSpPr>
              <a:spLocks noChangeArrowheads="1"/>
            </p:cNvSpPr>
            <p:nvPr/>
          </p:nvSpPr>
          <p:spPr bwMode="auto">
            <a:xfrm>
              <a:off x="2687840" y="4911785"/>
              <a:ext cx="26129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D0</a:t>
              </a:r>
              <a:endParaRPr lang="en-US" altLang="en-US" sz="1600" dirty="0"/>
            </a:p>
          </p:txBody>
        </p:sp>
        <p:sp>
          <p:nvSpPr>
            <p:cNvPr id="25631" name="Rectangle 406"/>
            <p:cNvSpPr>
              <a:spLocks noChangeArrowheads="1"/>
            </p:cNvSpPr>
            <p:nvPr/>
          </p:nvSpPr>
          <p:spPr bwMode="auto">
            <a:xfrm>
              <a:off x="2287515" y="4911785"/>
              <a:ext cx="26129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D1</a:t>
              </a:r>
              <a:endParaRPr lang="en-US" altLang="en-US" sz="1600" dirty="0"/>
            </a:p>
          </p:txBody>
        </p:sp>
        <p:sp>
          <p:nvSpPr>
            <p:cNvPr id="25632" name="Rectangle 407"/>
            <p:cNvSpPr>
              <a:spLocks noChangeArrowheads="1"/>
            </p:cNvSpPr>
            <p:nvPr/>
          </p:nvSpPr>
          <p:spPr bwMode="auto">
            <a:xfrm>
              <a:off x="2196667" y="2954652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</a:p>
          </p:txBody>
        </p:sp>
        <p:sp>
          <p:nvSpPr>
            <p:cNvPr id="25633" name="Rectangle 408"/>
            <p:cNvSpPr>
              <a:spLocks noChangeArrowheads="1"/>
            </p:cNvSpPr>
            <p:nvPr/>
          </p:nvSpPr>
          <p:spPr bwMode="auto">
            <a:xfrm>
              <a:off x="2196667" y="3192682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</a:p>
          </p:txBody>
        </p:sp>
        <p:sp>
          <p:nvSpPr>
            <p:cNvPr id="25634" name="Rectangle 409"/>
            <p:cNvSpPr>
              <a:spLocks noChangeArrowheads="1"/>
            </p:cNvSpPr>
            <p:nvPr/>
          </p:nvSpPr>
          <p:spPr bwMode="auto">
            <a:xfrm>
              <a:off x="2196667" y="3432601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</a:p>
          </p:txBody>
        </p:sp>
        <p:sp>
          <p:nvSpPr>
            <p:cNvPr id="25635" name="Rectangle 410"/>
            <p:cNvSpPr>
              <a:spLocks noChangeArrowheads="1"/>
            </p:cNvSpPr>
            <p:nvPr/>
          </p:nvSpPr>
          <p:spPr bwMode="auto">
            <a:xfrm>
              <a:off x="2196667" y="3670631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</a:p>
          </p:txBody>
        </p:sp>
        <p:sp>
          <p:nvSpPr>
            <p:cNvPr id="25636" name="Rectangle 411"/>
            <p:cNvSpPr>
              <a:spLocks noChangeArrowheads="1"/>
            </p:cNvSpPr>
            <p:nvPr/>
          </p:nvSpPr>
          <p:spPr bwMode="auto">
            <a:xfrm>
              <a:off x="2196667" y="3918106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</a:p>
          </p:txBody>
        </p:sp>
        <p:sp>
          <p:nvSpPr>
            <p:cNvPr id="25637" name="Rectangle 412"/>
            <p:cNvSpPr>
              <a:spLocks noChangeArrowheads="1"/>
            </p:cNvSpPr>
            <p:nvPr/>
          </p:nvSpPr>
          <p:spPr bwMode="auto">
            <a:xfrm>
              <a:off x="2196667" y="4152357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</a:p>
          </p:txBody>
        </p:sp>
        <p:sp>
          <p:nvSpPr>
            <p:cNvPr id="25638" name="Rectangle 413"/>
            <p:cNvSpPr>
              <a:spLocks noChangeArrowheads="1"/>
            </p:cNvSpPr>
            <p:nvPr/>
          </p:nvSpPr>
          <p:spPr bwMode="auto">
            <a:xfrm>
              <a:off x="2196667" y="4399833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6</a:t>
              </a:r>
            </a:p>
          </p:txBody>
        </p:sp>
        <p:sp>
          <p:nvSpPr>
            <p:cNvPr id="25639" name="Rectangle 414"/>
            <p:cNvSpPr>
              <a:spLocks noChangeArrowheads="1"/>
            </p:cNvSpPr>
            <p:nvPr/>
          </p:nvSpPr>
          <p:spPr bwMode="auto">
            <a:xfrm>
              <a:off x="2196667" y="4634085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7</a:t>
              </a:r>
            </a:p>
          </p:txBody>
        </p:sp>
        <p:sp>
          <p:nvSpPr>
            <p:cNvPr id="25640" name="Rectangle 415"/>
            <p:cNvSpPr>
              <a:spLocks noChangeArrowheads="1"/>
            </p:cNvSpPr>
            <p:nvPr/>
          </p:nvSpPr>
          <p:spPr bwMode="auto">
            <a:xfrm>
              <a:off x="1920855" y="3806648"/>
              <a:ext cx="24365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700" dirty="0">
                  <a:solidFill>
                    <a:srgbClr val="000000"/>
                  </a:solidFill>
                  <a:latin typeface="Helvetica" pitchFamily="34" charset="0"/>
                </a:rPr>
                <a:t>a2</a:t>
              </a:r>
              <a:endParaRPr lang="en-US" altLang="en-US" sz="1700" dirty="0"/>
            </a:p>
          </p:txBody>
        </p:sp>
        <p:sp>
          <p:nvSpPr>
            <p:cNvPr id="25641" name="Rectangle 416"/>
            <p:cNvSpPr>
              <a:spLocks noChangeArrowheads="1"/>
            </p:cNvSpPr>
            <p:nvPr/>
          </p:nvSpPr>
          <p:spPr bwMode="auto">
            <a:xfrm>
              <a:off x="1920855" y="3989893"/>
              <a:ext cx="24365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700" dirty="0">
                  <a:solidFill>
                    <a:srgbClr val="000000"/>
                  </a:solidFill>
                  <a:latin typeface="Helvetica" pitchFamily="34" charset="0"/>
                </a:rPr>
                <a:t>a1</a:t>
              </a:r>
              <a:endParaRPr lang="en-US" altLang="en-US" sz="1700" dirty="0"/>
            </a:p>
          </p:txBody>
        </p:sp>
        <p:sp>
          <p:nvSpPr>
            <p:cNvPr id="25642" name="Rectangle 417"/>
            <p:cNvSpPr>
              <a:spLocks noChangeArrowheads="1"/>
            </p:cNvSpPr>
            <p:nvPr/>
          </p:nvSpPr>
          <p:spPr bwMode="auto">
            <a:xfrm>
              <a:off x="1920855" y="4203364"/>
              <a:ext cx="24365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700" dirty="0">
                  <a:solidFill>
                    <a:srgbClr val="000000"/>
                  </a:solidFill>
                  <a:latin typeface="Helvetica" pitchFamily="34" charset="0"/>
                </a:rPr>
                <a:t>a0</a:t>
              </a:r>
              <a:endParaRPr lang="en-US" altLang="en-US" sz="1700" dirty="0"/>
            </a:p>
          </p:txBody>
        </p:sp>
        <p:sp>
          <p:nvSpPr>
            <p:cNvPr id="25643" name="Rectangle 418"/>
            <p:cNvSpPr>
              <a:spLocks noChangeArrowheads="1"/>
            </p:cNvSpPr>
            <p:nvPr/>
          </p:nvSpPr>
          <p:spPr bwMode="auto">
            <a:xfrm>
              <a:off x="1223369" y="4243024"/>
              <a:ext cx="335733" cy="329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P1</a:t>
              </a:r>
              <a:endParaRPr lang="en-US" altLang="en-US" sz="1800" dirty="0"/>
            </a:p>
          </p:txBody>
        </p:sp>
        <p:sp>
          <p:nvSpPr>
            <p:cNvPr id="25644" name="Rectangle 419"/>
            <p:cNvSpPr>
              <a:spLocks noChangeArrowheads="1"/>
            </p:cNvSpPr>
            <p:nvPr/>
          </p:nvSpPr>
          <p:spPr bwMode="auto">
            <a:xfrm>
              <a:off x="1234178" y="3696403"/>
              <a:ext cx="335733" cy="329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P0</a:t>
              </a:r>
              <a:endParaRPr lang="en-US" altLang="en-US" sz="1800" dirty="0"/>
            </a:p>
          </p:txBody>
        </p:sp>
        <p:sp>
          <p:nvSpPr>
            <p:cNvPr id="25645" name="Rectangle 420"/>
            <p:cNvSpPr>
              <a:spLocks noChangeArrowheads="1"/>
            </p:cNvSpPr>
            <p:nvPr/>
          </p:nvSpPr>
          <p:spPr bwMode="auto">
            <a:xfrm>
              <a:off x="6109043" y="5238605"/>
              <a:ext cx="366255" cy="329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Q0</a:t>
              </a:r>
              <a:endParaRPr lang="en-US" altLang="en-US" sz="1800"/>
            </a:p>
          </p:txBody>
        </p:sp>
        <p:sp>
          <p:nvSpPr>
            <p:cNvPr id="25646" name="Rectangle 421"/>
            <p:cNvSpPr>
              <a:spLocks noChangeArrowheads="1"/>
            </p:cNvSpPr>
            <p:nvPr/>
          </p:nvSpPr>
          <p:spPr bwMode="auto">
            <a:xfrm>
              <a:off x="6109043" y="5529530"/>
              <a:ext cx="366255" cy="329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Q1</a:t>
              </a:r>
              <a:endParaRPr lang="en-US" altLang="en-US" sz="1800"/>
            </a:p>
          </p:txBody>
        </p:sp>
        <p:sp>
          <p:nvSpPr>
            <p:cNvPr id="25647" name="Rectangle 422"/>
            <p:cNvSpPr>
              <a:spLocks noChangeArrowheads="1"/>
            </p:cNvSpPr>
            <p:nvPr/>
          </p:nvSpPr>
          <p:spPr bwMode="auto">
            <a:xfrm>
              <a:off x="1221421" y="3955883"/>
              <a:ext cx="335733" cy="329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P2</a:t>
              </a:r>
              <a:endParaRPr lang="en-US" altLang="en-US" sz="1800" dirty="0"/>
            </a:p>
          </p:txBody>
        </p:sp>
        <p:sp>
          <p:nvSpPr>
            <p:cNvPr id="25648" name="Rectangle 423"/>
            <p:cNvSpPr>
              <a:spLocks noChangeArrowheads="1"/>
            </p:cNvSpPr>
            <p:nvPr/>
          </p:nvSpPr>
          <p:spPr bwMode="auto">
            <a:xfrm>
              <a:off x="1069123" y="5408887"/>
              <a:ext cx="335733" cy="329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P3</a:t>
              </a:r>
              <a:endParaRPr lang="en-US" altLang="en-US" sz="1800" dirty="0"/>
            </a:p>
          </p:txBody>
        </p:sp>
        <p:sp>
          <p:nvSpPr>
            <p:cNvPr id="25649" name="Rectangle 424"/>
            <p:cNvSpPr>
              <a:spLocks noChangeArrowheads="1"/>
            </p:cNvSpPr>
            <p:nvPr/>
          </p:nvSpPr>
          <p:spPr bwMode="auto">
            <a:xfrm>
              <a:off x="1069123" y="5713485"/>
              <a:ext cx="335733" cy="3296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P4</a:t>
              </a:r>
              <a:endParaRPr lang="en-US" altLang="en-US" sz="1800" dirty="0"/>
            </a:p>
          </p:txBody>
        </p:sp>
        <p:sp>
          <p:nvSpPr>
            <p:cNvPr id="25653" name="Line 431"/>
            <p:cNvSpPr>
              <a:spLocks noChangeShapeType="1"/>
            </p:cNvSpPr>
            <p:nvPr/>
          </p:nvSpPr>
          <p:spPr bwMode="auto">
            <a:xfrm>
              <a:off x="1526020" y="3919995"/>
              <a:ext cx="2880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54" name="Freeform 432"/>
            <p:cNvSpPr>
              <a:spLocks/>
            </p:cNvSpPr>
            <p:nvPr/>
          </p:nvSpPr>
          <p:spPr bwMode="auto">
            <a:xfrm>
              <a:off x="1718718" y="3870878"/>
              <a:ext cx="177578" cy="96345"/>
            </a:xfrm>
            <a:custGeom>
              <a:avLst/>
              <a:gdLst>
                <a:gd name="T0" fmla="*/ 0 w 94"/>
                <a:gd name="T1" fmla="*/ 80962 h 51"/>
                <a:gd name="T2" fmla="*/ 149225 w 94"/>
                <a:gd name="T3" fmla="*/ 41275 h 51"/>
                <a:gd name="T4" fmla="*/ 0 w 94"/>
                <a:gd name="T5" fmla="*/ 0 h 51"/>
                <a:gd name="T6" fmla="*/ 0 w 94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55" name="Rectangle 433"/>
            <p:cNvSpPr>
              <a:spLocks noChangeArrowheads="1"/>
            </p:cNvSpPr>
            <p:nvPr/>
          </p:nvSpPr>
          <p:spPr bwMode="auto">
            <a:xfrm>
              <a:off x="4988793" y="2926316"/>
              <a:ext cx="632856" cy="1926907"/>
            </a:xfrm>
            <a:prstGeom prst="rect">
              <a:avLst/>
            </a:prstGeom>
            <a:solidFill>
              <a:srgbClr val="D4E0F3"/>
            </a:solidFill>
            <a:ln w="12700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56" name="Line 434"/>
            <p:cNvSpPr>
              <a:spLocks noChangeShapeType="1"/>
            </p:cNvSpPr>
            <p:nvPr/>
          </p:nvSpPr>
          <p:spPr bwMode="auto">
            <a:xfrm>
              <a:off x="4985015" y="3170012"/>
              <a:ext cx="636634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57" name="Line 435"/>
            <p:cNvSpPr>
              <a:spLocks noChangeShapeType="1"/>
            </p:cNvSpPr>
            <p:nvPr/>
          </p:nvSpPr>
          <p:spPr bwMode="auto">
            <a:xfrm>
              <a:off x="4985015" y="3406153"/>
              <a:ext cx="636634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58" name="Line 436"/>
            <p:cNvSpPr>
              <a:spLocks noChangeShapeType="1"/>
            </p:cNvSpPr>
            <p:nvPr/>
          </p:nvSpPr>
          <p:spPr bwMode="auto">
            <a:xfrm>
              <a:off x="4985015" y="3649850"/>
              <a:ext cx="636634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59" name="Line 437"/>
            <p:cNvSpPr>
              <a:spLocks noChangeShapeType="1"/>
            </p:cNvSpPr>
            <p:nvPr/>
          </p:nvSpPr>
          <p:spPr bwMode="auto">
            <a:xfrm>
              <a:off x="4985015" y="3891658"/>
              <a:ext cx="636634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0" name="Line 438"/>
            <p:cNvSpPr>
              <a:spLocks noChangeShapeType="1"/>
            </p:cNvSpPr>
            <p:nvPr/>
          </p:nvSpPr>
          <p:spPr bwMode="auto">
            <a:xfrm>
              <a:off x="4985015" y="4129688"/>
              <a:ext cx="636634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1" name="Line 439"/>
            <p:cNvSpPr>
              <a:spLocks noChangeShapeType="1"/>
            </p:cNvSpPr>
            <p:nvPr/>
          </p:nvSpPr>
          <p:spPr bwMode="auto">
            <a:xfrm>
              <a:off x="4985015" y="4373385"/>
              <a:ext cx="636634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2" name="Line 440"/>
            <p:cNvSpPr>
              <a:spLocks noChangeShapeType="1"/>
            </p:cNvSpPr>
            <p:nvPr/>
          </p:nvSpPr>
          <p:spPr bwMode="auto">
            <a:xfrm>
              <a:off x="4985015" y="4615193"/>
              <a:ext cx="636634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63" name="Rectangle 441"/>
            <p:cNvSpPr>
              <a:spLocks noChangeArrowheads="1"/>
            </p:cNvSpPr>
            <p:nvPr/>
          </p:nvSpPr>
          <p:spPr bwMode="auto">
            <a:xfrm>
              <a:off x="4656307" y="2692064"/>
              <a:ext cx="897682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700" dirty="0">
                  <a:solidFill>
                    <a:srgbClr val="000000"/>
                  </a:solidFill>
                  <a:latin typeface="Helvetica" pitchFamily="34" charset="0"/>
                </a:rPr>
                <a:t>8x2 </a:t>
              </a:r>
              <a:r>
                <a:rPr lang="en-US" altLang="en-US" sz="1700" dirty="0" err="1">
                  <a:solidFill>
                    <a:srgbClr val="000000"/>
                  </a:solidFill>
                  <a:latin typeface="Helvetica" pitchFamily="34" charset="0"/>
                </a:rPr>
                <a:t>Mem</a:t>
              </a:r>
              <a:endParaRPr lang="en-US" altLang="en-US" sz="1700" dirty="0"/>
            </a:p>
          </p:txBody>
        </p:sp>
        <p:sp>
          <p:nvSpPr>
            <p:cNvPr id="25674" name="Rectangle 454"/>
            <p:cNvSpPr>
              <a:spLocks noChangeArrowheads="1"/>
            </p:cNvSpPr>
            <p:nvPr/>
          </p:nvSpPr>
          <p:spPr bwMode="auto">
            <a:xfrm>
              <a:off x="5328836" y="4911785"/>
              <a:ext cx="26129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D0</a:t>
              </a:r>
              <a:endParaRPr lang="en-US" altLang="en-US" sz="1600" dirty="0"/>
            </a:p>
          </p:txBody>
        </p:sp>
        <p:sp>
          <p:nvSpPr>
            <p:cNvPr id="25675" name="Rectangle 455"/>
            <p:cNvSpPr>
              <a:spLocks noChangeArrowheads="1"/>
            </p:cNvSpPr>
            <p:nvPr/>
          </p:nvSpPr>
          <p:spPr bwMode="auto">
            <a:xfrm>
              <a:off x="5056802" y="4911785"/>
              <a:ext cx="26129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D1</a:t>
              </a:r>
              <a:endParaRPr lang="en-US" altLang="en-US" sz="1600" dirty="0"/>
            </a:p>
          </p:txBody>
        </p:sp>
        <p:sp>
          <p:nvSpPr>
            <p:cNvPr id="25676" name="Rectangle 456"/>
            <p:cNvSpPr>
              <a:spLocks noChangeArrowheads="1"/>
            </p:cNvSpPr>
            <p:nvPr/>
          </p:nvSpPr>
          <p:spPr bwMode="auto">
            <a:xfrm>
              <a:off x="4858443" y="2954652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600" dirty="0"/>
            </a:p>
          </p:txBody>
        </p:sp>
        <p:sp>
          <p:nvSpPr>
            <p:cNvPr id="25677" name="Rectangle 457"/>
            <p:cNvSpPr>
              <a:spLocks noChangeArrowheads="1"/>
            </p:cNvSpPr>
            <p:nvPr/>
          </p:nvSpPr>
          <p:spPr bwMode="auto">
            <a:xfrm>
              <a:off x="4858443" y="3192682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</a:p>
          </p:txBody>
        </p:sp>
        <p:sp>
          <p:nvSpPr>
            <p:cNvPr id="25678" name="Rectangle 458"/>
            <p:cNvSpPr>
              <a:spLocks noChangeArrowheads="1"/>
            </p:cNvSpPr>
            <p:nvPr/>
          </p:nvSpPr>
          <p:spPr bwMode="auto">
            <a:xfrm>
              <a:off x="4858443" y="3432601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</a:p>
          </p:txBody>
        </p:sp>
        <p:sp>
          <p:nvSpPr>
            <p:cNvPr id="25679" name="Rectangle 459"/>
            <p:cNvSpPr>
              <a:spLocks noChangeArrowheads="1"/>
            </p:cNvSpPr>
            <p:nvPr/>
          </p:nvSpPr>
          <p:spPr bwMode="auto">
            <a:xfrm>
              <a:off x="4858443" y="3670631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</a:p>
          </p:txBody>
        </p:sp>
        <p:sp>
          <p:nvSpPr>
            <p:cNvPr id="25680" name="Rectangle 460"/>
            <p:cNvSpPr>
              <a:spLocks noChangeArrowheads="1"/>
            </p:cNvSpPr>
            <p:nvPr/>
          </p:nvSpPr>
          <p:spPr bwMode="auto">
            <a:xfrm>
              <a:off x="4858443" y="3918106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</a:p>
          </p:txBody>
        </p:sp>
        <p:sp>
          <p:nvSpPr>
            <p:cNvPr id="25681" name="Rectangle 461"/>
            <p:cNvSpPr>
              <a:spLocks noChangeArrowheads="1"/>
            </p:cNvSpPr>
            <p:nvPr/>
          </p:nvSpPr>
          <p:spPr bwMode="auto">
            <a:xfrm>
              <a:off x="4858443" y="4152357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</a:p>
          </p:txBody>
        </p:sp>
        <p:sp>
          <p:nvSpPr>
            <p:cNvPr id="25682" name="Rectangle 462"/>
            <p:cNvSpPr>
              <a:spLocks noChangeArrowheads="1"/>
            </p:cNvSpPr>
            <p:nvPr/>
          </p:nvSpPr>
          <p:spPr bwMode="auto">
            <a:xfrm>
              <a:off x="4858443" y="4399833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6</a:t>
              </a:r>
            </a:p>
          </p:txBody>
        </p:sp>
        <p:sp>
          <p:nvSpPr>
            <p:cNvPr id="25683" name="Rectangle 463"/>
            <p:cNvSpPr>
              <a:spLocks noChangeArrowheads="1"/>
            </p:cNvSpPr>
            <p:nvPr/>
          </p:nvSpPr>
          <p:spPr bwMode="auto">
            <a:xfrm>
              <a:off x="4858443" y="4634085"/>
              <a:ext cx="113814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7</a:t>
              </a:r>
            </a:p>
          </p:txBody>
        </p:sp>
        <p:sp>
          <p:nvSpPr>
            <p:cNvPr id="25684" name="Rectangle 464"/>
            <p:cNvSpPr>
              <a:spLocks noChangeArrowheads="1"/>
            </p:cNvSpPr>
            <p:nvPr/>
          </p:nvSpPr>
          <p:spPr bwMode="auto">
            <a:xfrm>
              <a:off x="4582631" y="3806648"/>
              <a:ext cx="24365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700" dirty="0">
                  <a:solidFill>
                    <a:srgbClr val="000000"/>
                  </a:solidFill>
                  <a:latin typeface="Helvetica" pitchFamily="34" charset="0"/>
                </a:rPr>
                <a:t>a2</a:t>
              </a:r>
              <a:endParaRPr lang="en-US" altLang="en-US" sz="1700" dirty="0"/>
            </a:p>
          </p:txBody>
        </p:sp>
        <p:sp>
          <p:nvSpPr>
            <p:cNvPr id="25685" name="Rectangle 465"/>
            <p:cNvSpPr>
              <a:spLocks noChangeArrowheads="1"/>
            </p:cNvSpPr>
            <p:nvPr/>
          </p:nvSpPr>
          <p:spPr bwMode="auto">
            <a:xfrm>
              <a:off x="4582631" y="3989893"/>
              <a:ext cx="24365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700" dirty="0">
                  <a:solidFill>
                    <a:srgbClr val="000000"/>
                  </a:solidFill>
                  <a:latin typeface="Helvetica" pitchFamily="34" charset="0"/>
                </a:rPr>
                <a:t>a1</a:t>
              </a:r>
              <a:endParaRPr lang="en-US" altLang="en-US" sz="1700" dirty="0"/>
            </a:p>
          </p:txBody>
        </p:sp>
        <p:sp>
          <p:nvSpPr>
            <p:cNvPr id="25686" name="Rectangle 466"/>
            <p:cNvSpPr>
              <a:spLocks noChangeArrowheads="1"/>
            </p:cNvSpPr>
            <p:nvPr/>
          </p:nvSpPr>
          <p:spPr bwMode="auto">
            <a:xfrm>
              <a:off x="4582631" y="4203364"/>
              <a:ext cx="243656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700" dirty="0">
                  <a:solidFill>
                    <a:srgbClr val="000000"/>
                  </a:solidFill>
                  <a:latin typeface="Helvetica" pitchFamily="34" charset="0"/>
                </a:rPr>
                <a:t>a0</a:t>
              </a:r>
              <a:endParaRPr lang="en-US" altLang="en-US" sz="1700" dirty="0"/>
            </a:p>
          </p:txBody>
        </p:sp>
        <p:sp>
          <p:nvSpPr>
            <p:cNvPr id="25688" name="Freeform 532"/>
            <p:cNvSpPr>
              <a:spLocks/>
            </p:cNvSpPr>
            <p:nvPr/>
          </p:nvSpPr>
          <p:spPr bwMode="auto">
            <a:xfrm>
              <a:off x="2718072" y="5104289"/>
              <a:ext cx="264474" cy="135095"/>
            </a:xfrm>
            <a:custGeom>
              <a:avLst/>
              <a:gdLst>
                <a:gd name="T0" fmla="*/ 0 w 134"/>
                <a:gd name="T1" fmla="*/ 0 h 131"/>
                <a:gd name="T2" fmla="*/ 0 w 134"/>
                <a:gd name="T3" fmla="*/ 207962 h 131"/>
                <a:gd name="T4" fmla="*/ 212725 w 134"/>
                <a:gd name="T5" fmla="*/ 207962 h 131"/>
                <a:gd name="T6" fmla="*/ 0 60000 65536"/>
                <a:gd name="T7" fmla="*/ 0 60000 65536"/>
                <a:gd name="T8" fmla="*/ 0 60000 65536"/>
                <a:gd name="T9" fmla="*/ 0 w 134"/>
                <a:gd name="T10" fmla="*/ 0 h 131"/>
                <a:gd name="T11" fmla="*/ 134 w 134"/>
                <a:gd name="T12" fmla="*/ 131 h 1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" h="131">
                  <a:moveTo>
                    <a:pt x="0" y="0"/>
                  </a:moveTo>
                  <a:lnTo>
                    <a:pt x="0" y="131"/>
                  </a:lnTo>
                  <a:lnTo>
                    <a:pt x="134" y="131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89" name="Freeform 533"/>
            <p:cNvSpPr>
              <a:spLocks/>
            </p:cNvSpPr>
            <p:nvPr/>
          </p:nvSpPr>
          <p:spPr bwMode="auto">
            <a:xfrm>
              <a:off x="2971208" y="5190268"/>
              <a:ext cx="177578" cy="98234"/>
            </a:xfrm>
            <a:custGeom>
              <a:avLst/>
              <a:gdLst>
                <a:gd name="T0" fmla="*/ 0 w 94"/>
                <a:gd name="T1" fmla="*/ 82550 h 52"/>
                <a:gd name="T2" fmla="*/ 149225 w 94"/>
                <a:gd name="T3" fmla="*/ 41275 h 52"/>
                <a:gd name="T4" fmla="*/ 0 w 94"/>
                <a:gd name="T5" fmla="*/ 0 h 52"/>
                <a:gd name="T6" fmla="*/ 0 w 94"/>
                <a:gd name="T7" fmla="*/ 8255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2"/>
                <a:gd name="T14" fmla="*/ 94 w 94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2">
                  <a:moveTo>
                    <a:pt x="0" y="52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90" name="Freeform 534"/>
            <p:cNvSpPr>
              <a:spLocks/>
            </p:cNvSpPr>
            <p:nvPr/>
          </p:nvSpPr>
          <p:spPr bwMode="auto">
            <a:xfrm>
              <a:off x="2402583" y="5145068"/>
              <a:ext cx="589024" cy="341011"/>
            </a:xfrm>
            <a:custGeom>
              <a:avLst/>
              <a:gdLst>
                <a:gd name="T0" fmla="*/ 0 w 229"/>
                <a:gd name="T1" fmla="*/ 0 h 235"/>
                <a:gd name="T2" fmla="*/ 0 w 229"/>
                <a:gd name="T3" fmla="*/ 373063 h 235"/>
                <a:gd name="T4" fmla="*/ 363537 w 229"/>
                <a:gd name="T5" fmla="*/ 373063 h 235"/>
                <a:gd name="T6" fmla="*/ 0 60000 65536"/>
                <a:gd name="T7" fmla="*/ 0 60000 65536"/>
                <a:gd name="T8" fmla="*/ 0 60000 65536"/>
                <a:gd name="T9" fmla="*/ 0 w 229"/>
                <a:gd name="T10" fmla="*/ 0 h 235"/>
                <a:gd name="T11" fmla="*/ 229 w 229"/>
                <a:gd name="T12" fmla="*/ 235 h 2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35">
                  <a:moveTo>
                    <a:pt x="0" y="0"/>
                  </a:moveTo>
                  <a:lnTo>
                    <a:pt x="0" y="235"/>
                  </a:lnTo>
                  <a:lnTo>
                    <a:pt x="229" y="235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91" name="Freeform 535"/>
            <p:cNvSpPr>
              <a:spLocks/>
            </p:cNvSpPr>
            <p:nvPr/>
          </p:nvSpPr>
          <p:spPr bwMode="auto">
            <a:xfrm>
              <a:off x="2959491" y="5436962"/>
              <a:ext cx="177578" cy="96345"/>
            </a:xfrm>
            <a:custGeom>
              <a:avLst/>
              <a:gdLst>
                <a:gd name="T0" fmla="*/ 0 w 94"/>
                <a:gd name="T1" fmla="*/ 80962 h 51"/>
                <a:gd name="T2" fmla="*/ 149225 w 94"/>
                <a:gd name="T3" fmla="*/ 41275 h 51"/>
                <a:gd name="T4" fmla="*/ 0 w 94"/>
                <a:gd name="T5" fmla="*/ 0 h 51"/>
                <a:gd name="T6" fmla="*/ 0 w 94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92" name="Line 536"/>
            <p:cNvSpPr>
              <a:spLocks noChangeShapeType="1"/>
            </p:cNvSpPr>
            <p:nvPr/>
          </p:nvSpPr>
          <p:spPr bwMode="auto">
            <a:xfrm>
              <a:off x="1373721" y="5664369"/>
              <a:ext cx="16920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93" name="Freeform 537"/>
            <p:cNvSpPr>
              <a:spLocks/>
            </p:cNvSpPr>
            <p:nvPr/>
          </p:nvSpPr>
          <p:spPr bwMode="auto">
            <a:xfrm>
              <a:off x="2971208" y="5615251"/>
              <a:ext cx="177578" cy="98234"/>
            </a:xfrm>
            <a:custGeom>
              <a:avLst/>
              <a:gdLst>
                <a:gd name="T0" fmla="*/ 0 w 94"/>
                <a:gd name="T1" fmla="*/ 82550 h 52"/>
                <a:gd name="T2" fmla="*/ 149225 w 94"/>
                <a:gd name="T3" fmla="*/ 41275 h 52"/>
                <a:gd name="T4" fmla="*/ 0 w 94"/>
                <a:gd name="T5" fmla="*/ 0 h 52"/>
                <a:gd name="T6" fmla="*/ 0 w 94"/>
                <a:gd name="T7" fmla="*/ 8255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2"/>
                <a:gd name="T14" fmla="*/ 94 w 94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2">
                  <a:moveTo>
                    <a:pt x="0" y="52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695" name="Line 539"/>
            <p:cNvSpPr>
              <a:spLocks noChangeShapeType="1"/>
            </p:cNvSpPr>
            <p:nvPr/>
          </p:nvSpPr>
          <p:spPr bwMode="auto">
            <a:xfrm>
              <a:off x="1373721" y="5840066"/>
              <a:ext cx="16920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96" name="Freeform 540"/>
            <p:cNvSpPr>
              <a:spLocks/>
            </p:cNvSpPr>
            <p:nvPr/>
          </p:nvSpPr>
          <p:spPr bwMode="auto">
            <a:xfrm>
              <a:off x="2959874" y="5790949"/>
              <a:ext cx="177578" cy="96346"/>
            </a:xfrm>
            <a:custGeom>
              <a:avLst/>
              <a:gdLst>
                <a:gd name="T0" fmla="*/ 0 w 94"/>
                <a:gd name="T1" fmla="*/ 80963 h 51"/>
                <a:gd name="T2" fmla="*/ 149225 w 94"/>
                <a:gd name="T3" fmla="*/ 41275 h 51"/>
                <a:gd name="T4" fmla="*/ 0 w 94"/>
                <a:gd name="T5" fmla="*/ 0 h 51"/>
                <a:gd name="T6" fmla="*/ 0 w 94"/>
                <a:gd name="T7" fmla="*/ 80963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grpSp>
          <p:nvGrpSpPr>
            <p:cNvPr id="2" name="Group 576"/>
            <p:cNvGrpSpPr>
              <a:grpSpLocks/>
            </p:cNvGrpSpPr>
            <p:nvPr/>
          </p:nvGrpSpPr>
          <p:grpSpPr bwMode="auto">
            <a:xfrm>
              <a:off x="3128006" y="4728546"/>
              <a:ext cx="1031463" cy="1290273"/>
              <a:chOff x="1788" y="2985"/>
              <a:chExt cx="546" cy="683"/>
            </a:xfrm>
          </p:grpSpPr>
          <p:sp>
            <p:nvSpPr>
              <p:cNvPr id="25801" name="Rectangle 480"/>
              <p:cNvSpPr>
                <a:spLocks noChangeArrowheads="1"/>
              </p:cNvSpPr>
              <p:nvPr/>
            </p:nvSpPr>
            <p:spPr bwMode="auto">
              <a:xfrm>
                <a:off x="1816" y="3184"/>
                <a:ext cx="20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m0</a:t>
                </a:r>
                <a:endParaRPr lang="en-US" altLang="en-US" sz="1800" dirty="0"/>
              </a:p>
            </p:txBody>
          </p:sp>
          <p:sp>
            <p:nvSpPr>
              <p:cNvPr id="25802" name="Rectangle 481"/>
              <p:cNvSpPr>
                <a:spLocks noChangeArrowheads="1"/>
              </p:cNvSpPr>
              <p:nvPr/>
            </p:nvSpPr>
            <p:spPr bwMode="auto">
              <a:xfrm>
                <a:off x="1816" y="3287"/>
                <a:ext cx="20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m1</a:t>
                </a:r>
                <a:endParaRPr lang="en-US" altLang="en-US" sz="1800" dirty="0"/>
              </a:p>
            </p:txBody>
          </p:sp>
          <p:sp>
            <p:nvSpPr>
              <p:cNvPr id="25803" name="Rectangle 482"/>
              <p:cNvSpPr>
                <a:spLocks noChangeArrowheads="1"/>
              </p:cNvSpPr>
              <p:nvPr/>
            </p:nvSpPr>
            <p:spPr bwMode="auto">
              <a:xfrm>
                <a:off x="2172" y="3198"/>
                <a:ext cx="16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o0</a:t>
                </a:r>
                <a:endParaRPr lang="en-US" altLang="en-US" sz="1800" dirty="0"/>
              </a:p>
            </p:txBody>
          </p:sp>
          <p:sp>
            <p:nvSpPr>
              <p:cNvPr id="25804" name="Rectangle 483"/>
              <p:cNvSpPr>
                <a:spLocks noChangeArrowheads="1"/>
              </p:cNvSpPr>
              <p:nvPr/>
            </p:nvSpPr>
            <p:spPr bwMode="auto">
              <a:xfrm>
                <a:off x="2172" y="3345"/>
                <a:ext cx="16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o1</a:t>
                </a:r>
                <a:endParaRPr lang="en-US" altLang="en-US" sz="1800"/>
              </a:p>
            </p:txBody>
          </p:sp>
          <p:sp>
            <p:nvSpPr>
              <p:cNvPr id="25805" name="Rectangle 484"/>
              <p:cNvSpPr>
                <a:spLocks noChangeArrowheads="1"/>
              </p:cNvSpPr>
              <p:nvPr/>
            </p:nvSpPr>
            <p:spPr bwMode="auto">
              <a:xfrm>
                <a:off x="1816" y="3387"/>
                <a:ext cx="20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m2</a:t>
                </a:r>
                <a:endParaRPr lang="en-US" altLang="en-US" sz="1800"/>
              </a:p>
            </p:txBody>
          </p:sp>
          <p:sp>
            <p:nvSpPr>
              <p:cNvPr id="25806" name="Rectangle 485"/>
              <p:cNvSpPr>
                <a:spLocks noChangeArrowheads="1"/>
              </p:cNvSpPr>
              <p:nvPr/>
            </p:nvSpPr>
            <p:spPr bwMode="auto">
              <a:xfrm>
                <a:off x="1816" y="3494"/>
                <a:ext cx="20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m3</a:t>
                </a:r>
                <a:endParaRPr lang="en-US" altLang="en-US" sz="1800"/>
              </a:p>
            </p:txBody>
          </p:sp>
          <p:sp>
            <p:nvSpPr>
              <p:cNvPr id="25807" name="Rectangle 486"/>
              <p:cNvSpPr>
                <a:spLocks noChangeArrowheads="1"/>
              </p:cNvSpPr>
              <p:nvPr/>
            </p:nvSpPr>
            <p:spPr bwMode="auto">
              <a:xfrm>
                <a:off x="1788" y="2985"/>
                <a:ext cx="528" cy="682"/>
              </a:xfrm>
              <a:prstGeom prst="rect">
                <a:avLst/>
              </a:prstGeom>
              <a:noFill/>
              <a:ln w="12700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5812" name="Rectangle 491"/>
              <p:cNvSpPr>
                <a:spLocks noChangeArrowheads="1"/>
              </p:cNvSpPr>
              <p:nvPr/>
            </p:nvSpPr>
            <p:spPr bwMode="auto">
              <a:xfrm>
                <a:off x="2005" y="3197"/>
                <a:ext cx="143" cy="97"/>
              </a:xfrm>
              <a:prstGeom prst="rect">
                <a:avLst/>
              </a:prstGeom>
              <a:noFill/>
              <a:ln w="12700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5813" name="Rectangle 492"/>
              <p:cNvSpPr>
                <a:spLocks noChangeArrowheads="1"/>
              </p:cNvSpPr>
              <p:nvPr/>
            </p:nvSpPr>
            <p:spPr bwMode="auto">
              <a:xfrm>
                <a:off x="2006" y="3305"/>
                <a:ext cx="143" cy="100"/>
              </a:xfrm>
              <a:prstGeom prst="rect">
                <a:avLst/>
              </a:prstGeom>
              <a:noFill/>
              <a:ln w="12700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  <p:sp>
            <p:nvSpPr>
              <p:cNvPr id="25814" name="Rectangle 541"/>
              <p:cNvSpPr>
                <a:spLocks noChangeArrowheads="1"/>
              </p:cNvSpPr>
              <p:nvPr/>
            </p:nvSpPr>
            <p:spPr bwMode="auto">
              <a:xfrm>
                <a:off x="2172" y="3487"/>
                <a:ext cx="16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rgbClr val="000000"/>
                    </a:solidFill>
                    <a:latin typeface="Helvetica" pitchFamily="34" charset="0"/>
                  </a:rPr>
                  <a:t>o2</a:t>
                </a:r>
                <a:endParaRPr lang="en-US" altLang="en-US" sz="1800"/>
              </a:p>
            </p:txBody>
          </p:sp>
          <p:sp>
            <p:nvSpPr>
              <p:cNvPr id="25815" name="Rectangle 542"/>
              <p:cNvSpPr>
                <a:spLocks noChangeArrowheads="1"/>
              </p:cNvSpPr>
              <p:nvPr/>
            </p:nvSpPr>
            <p:spPr bwMode="auto">
              <a:xfrm>
                <a:off x="2005" y="3420"/>
                <a:ext cx="143" cy="100"/>
              </a:xfrm>
              <a:prstGeom prst="rect">
                <a:avLst/>
              </a:prstGeom>
              <a:noFill/>
              <a:ln w="12700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800"/>
              </a:p>
            </p:txBody>
          </p:sp>
        </p:grpSp>
        <p:sp>
          <p:nvSpPr>
            <p:cNvPr id="25698" name="Line 543"/>
            <p:cNvSpPr>
              <a:spLocks noChangeShapeType="1"/>
            </p:cNvSpPr>
            <p:nvPr/>
          </p:nvSpPr>
          <p:spPr bwMode="auto">
            <a:xfrm>
              <a:off x="1526020" y="4103240"/>
              <a:ext cx="2880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99" name="Freeform 544"/>
            <p:cNvSpPr>
              <a:spLocks/>
            </p:cNvSpPr>
            <p:nvPr/>
          </p:nvSpPr>
          <p:spPr bwMode="auto">
            <a:xfrm>
              <a:off x="1718718" y="4054123"/>
              <a:ext cx="177578" cy="98234"/>
            </a:xfrm>
            <a:custGeom>
              <a:avLst/>
              <a:gdLst>
                <a:gd name="T0" fmla="*/ 0 w 94"/>
                <a:gd name="T1" fmla="*/ 82550 h 52"/>
                <a:gd name="T2" fmla="*/ 149225 w 94"/>
                <a:gd name="T3" fmla="*/ 41275 h 52"/>
                <a:gd name="T4" fmla="*/ 0 w 94"/>
                <a:gd name="T5" fmla="*/ 0 h 52"/>
                <a:gd name="T6" fmla="*/ 0 w 94"/>
                <a:gd name="T7" fmla="*/ 8255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2"/>
                <a:gd name="T14" fmla="*/ 94 w 94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2">
                  <a:moveTo>
                    <a:pt x="0" y="52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00" name="Line 545"/>
            <p:cNvSpPr>
              <a:spLocks noChangeShapeType="1"/>
            </p:cNvSpPr>
            <p:nvPr/>
          </p:nvSpPr>
          <p:spPr bwMode="auto">
            <a:xfrm>
              <a:off x="1526020" y="4297820"/>
              <a:ext cx="2880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701" name="Freeform 546"/>
            <p:cNvSpPr>
              <a:spLocks/>
            </p:cNvSpPr>
            <p:nvPr/>
          </p:nvSpPr>
          <p:spPr bwMode="auto">
            <a:xfrm>
              <a:off x="1718718" y="4248703"/>
              <a:ext cx="177578" cy="96345"/>
            </a:xfrm>
            <a:custGeom>
              <a:avLst/>
              <a:gdLst>
                <a:gd name="T0" fmla="*/ 0 w 94"/>
                <a:gd name="T1" fmla="*/ 80962 h 51"/>
                <a:gd name="T2" fmla="*/ 149225 w 94"/>
                <a:gd name="T3" fmla="*/ 41275 h 51"/>
                <a:gd name="T4" fmla="*/ 0 w 94"/>
                <a:gd name="T5" fmla="*/ 0 h 51"/>
                <a:gd name="T6" fmla="*/ 0 w 94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02" name="Freeform 547"/>
            <p:cNvSpPr>
              <a:spLocks/>
            </p:cNvSpPr>
            <p:nvPr/>
          </p:nvSpPr>
          <p:spPr bwMode="auto">
            <a:xfrm>
              <a:off x="4125226" y="3919995"/>
              <a:ext cx="224630" cy="1379067"/>
            </a:xfrm>
            <a:custGeom>
              <a:avLst/>
              <a:gdLst>
                <a:gd name="T0" fmla="*/ 282575 w 178"/>
                <a:gd name="T1" fmla="*/ 0 h 788"/>
                <a:gd name="T2" fmla="*/ 95250 w 178"/>
                <a:gd name="T3" fmla="*/ 0 h 788"/>
                <a:gd name="T4" fmla="*/ 95250 w 178"/>
                <a:gd name="T5" fmla="*/ 1250950 h 788"/>
                <a:gd name="T6" fmla="*/ 0 w 178"/>
                <a:gd name="T7" fmla="*/ 1250950 h 7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8"/>
                <a:gd name="T13" fmla="*/ 0 h 788"/>
                <a:gd name="T14" fmla="*/ 178 w 178"/>
                <a:gd name="T15" fmla="*/ 788 h 7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8" h="788">
                  <a:moveTo>
                    <a:pt x="178" y="0"/>
                  </a:moveTo>
                  <a:lnTo>
                    <a:pt x="60" y="0"/>
                  </a:lnTo>
                  <a:lnTo>
                    <a:pt x="60" y="788"/>
                  </a:lnTo>
                  <a:lnTo>
                    <a:pt x="0" y="788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03" name="Freeform 548"/>
            <p:cNvSpPr>
              <a:spLocks/>
            </p:cNvSpPr>
            <p:nvPr/>
          </p:nvSpPr>
          <p:spPr bwMode="auto">
            <a:xfrm>
              <a:off x="4384273" y="3870878"/>
              <a:ext cx="179466" cy="96345"/>
            </a:xfrm>
            <a:custGeom>
              <a:avLst/>
              <a:gdLst>
                <a:gd name="T0" fmla="*/ 0 w 95"/>
                <a:gd name="T1" fmla="*/ 80962 h 51"/>
                <a:gd name="T2" fmla="*/ 150812 w 95"/>
                <a:gd name="T3" fmla="*/ 41275 h 51"/>
                <a:gd name="T4" fmla="*/ 0 w 95"/>
                <a:gd name="T5" fmla="*/ 0 h 51"/>
                <a:gd name="T6" fmla="*/ 0 w 95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51"/>
                <a:gd name="T14" fmla="*/ 95 w 95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51">
                  <a:moveTo>
                    <a:pt x="0" y="51"/>
                  </a:moveTo>
                  <a:lnTo>
                    <a:pt x="95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04" name="Freeform 549"/>
            <p:cNvSpPr>
              <a:spLocks/>
            </p:cNvSpPr>
            <p:nvPr/>
          </p:nvSpPr>
          <p:spPr bwMode="auto">
            <a:xfrm>
              <a:off x="4111855" y="4114575"/>
              <a:ext cx="270529" cy="1482969"/>
            </a:xfrm>
            <a:custGeom>
              <a:avLst/>
              <a:gdLst>
                <a:gd name="T0" fmla="*/ 282575 w 178"/>
                <a:gd name="T1" fmla="*/ 0 h 839"/>
                <a:gd name="T2" fmla="*/ 155575 w 178"/>
                <a:gd name="T3" fmla="*/ 0 h 839"/>
                <a:gd name="T4" fmla="*/ 155575 w 178"/>
                <a:gd name="T5" fmla="*/ 1331913 h 839"/>
                <a:gd name="T6" fmla="*/ 0 w 178"/>
                <a:gd name="T7" fmla="*/ 1331913 h 8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8"/>
                <a:gd name="T13" fmla="*/ 0 h 839"/>
                <a:gd name="T14" fmla="*/ 178 w 178"/>
                <a:gd name="T15" fmla="*/ 839 h 8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8" h="839">
                  <a:moveTo>
                    <a:pt x="178" y="0"/>
                  </a:moveTo>
                  <a:lnTo>
                    <a:pt x="98" y="0"/>
                  </a:lnTo>
                  <a:lnTo>
                    <a:pt x="98" y="839"/>
                  </a:lnTo>
                  <a:lnTo>
                    <a:pt x="0" y="839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05" name="Freeform 550"/>
            <p:cNvSpPr>
              <a:spLocks/>
            </p:cNvSpPr>
            <p:nvPr/>
          </p:nvSpPr>
          <p:spPr bwMode="auto">
            <a:xfrm>
              <a:off x="4384273" y="4065458"/>
              <a:ext cx="179466" cy="96346"/>
            </a:xfrm>
            <a:custGeom>
              <a:avLst/>
              <a:gdLst>
                <a:gd name="T0" fmla="*/ 0 w 95"/>
                <a:gd name="T1" fmla="*/ 80963 h 51"/>
                <a:gd name="T2" fmla="*/ 150812 w 95"/>
                <a:gd name="T3" fmla="*/ 41275 h 51"/>
                <a:gd name="T4" fmla="*/ 0 w 95"/>
                <a:gd name="T5" fmla="*/ 0 h 51"/>
                <a:gd name="T6" fmla="*/ 0 w 95"/>
                <a:gd name="T7" fmla="*/ 80963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51"/>
                <a:gd name="T14" fmla="*/ 95 w 95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51">
                  <a:moveTo>
                    <a:pt x="0" y="51"/>
                  </a:moveTo>
                  <a:lnTo>
                    <a:pt x="95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06" name="Freeform 551"/>
            <p:cNvSpPr>
              <a:spLocks/>
            </p:cNvSpPr>
            <p:nvPr/>
          </p:nvSpPr>
          <p:spPr bwMode="auto">
            <a:xfrm>
              <a:off x="4093348" y="4307266"/>
              <a:ext cx="334374" cy="1551893"/>
            </a:xfrm>
            <a:custGeom>
              <a:avLst/>
              <a:gdLst>
                <a:gd name="T0" fmla="*/ 280987 w 177"/>
                <a:gd name="T1" fmla="*/ 0 h 880"/>
                <a:gd name="T2" fmla="*/ 204787 w 177"/>
                <a:gd name="T3" fmla="*/ 0 h 880"/>
                <a:gd name="T4" fmla="*/ 204787 w 177"/>
                <a:gd name="T5" fmla="*/ 1397000 h 880"/>
                <a:gd name="T6" fmla="*/ 0 w 177"/>
                <a:gd name="T7" fmla="*/ 1397000 h 8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880"/>
                <a:gd name="T14" fmla="*/ 177 w 177"/>
                <a:gd name="T15" fmla="*/ 880 h 8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880">
                  <a:moveTo>
                    <a:pt x="177" y="0"/>
                  </a:moveTo>
                  <a:lnTo>
                    <a:pt x="129" y="0"/>
                  </a:lnTo>
                  <a:lnTo>
                    <a:pt x="129" y="880"/>
                  </a:lnTo>
                  <a:lnTo>
                    <a:pt x="0" y="88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07" name="Freeform 552"/>
            <p:cNvSpPr>
              <a:spLocks/>
            </p:cNvSpPr>
            <p:nvPr/>
          </p:nvSpPr>
          <p:spPr bwMode="auto">
            <a:xfrm>
              <a:off x="4395608" y="4260038"/>
              <a:ext cx="177578" cy="96345"/>
            </a:xfrm>
            <a:custGeom>
              <a:avLst/>
              <a:gdLst>
                <a:gd name="T0" fmla="*/ 0 w 94"/>
                <a:gd name="T1" fmla="*/ 80962 h 51"/>
                <a:gd name="T2" fmla="*/ 149225 w 94"/>
                <a:gd name="T3" fmla="*/ 39687 h 51"/>
                <a:gd name="T4" fmla="*/ 0 w 94"/>
                <a:gd name="T5" fmla="*/ 0 h 51"/>
                <a:gd name="T6" fmla="*/ 0 w 94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5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10" name="Freeform 572"/>
            <p:cNvSpPr>
              <a:spLocks/>
            </p:cNvSpPr>
            <p:nvPr/>
          </p:nvSpPr>
          <p:spPr bwMode="auto">
            <a:xfrm>
              <a:off x="5383620" y="5129035"/>
              <a:ext cx="566737" cy="247475"/>
            </a:xfrm>
            <a:custGeom>
              <a:avLst/>
              <a:gdLst>
                <a:gd name="T0" fmla="*/ 0 w 300"/>
                <a:gd name="T1" fmla="*/ 0 h 131"/>
                <a:gd name="T2" fmla="*/ 0 w 300"/>
                <a:gd name="T3" fmla="*/ 207962 h 131"/>
                <a:gd name="T4" fmla="*/ 476250 w 300"/>
                <a:gd name="T5" fmla="*/ 207962 h 131"/>
                <a:gd name="T6" fmla="*/ 0 60000 65536"/>
                <a:gd name="T7" fmla="*/ 0 60000 65536"/>
                <a:gd name="T8" fmla="*/ 0 60000 65536"/>
                <a:gd name="T9" fmla="*/ 0 w 300"/>
                <a:gd name="T10" fmla="*/ 0 h 131"/>
                <a:gd name="T11" fmla="*/ 300 w 300"/>
                <a:gd name="T12" fmla="*/ 131 h 1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0" h="131">
                  <a:moveTo>
                    <a:pt x="0" y="0"/>
                  </a:moveTo>
                  <a:lnTo>
                    <a:pt x="0" y="131"/>
                  </a:lnTo>
                  <a:lnTo>
                    <a:pt x="300" y="131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11" name="Freeform 573"/>
            <p:cNvSpPr>
              <a:spLocks/>
            </p:cNvSpPr>
            <p:nvPr/>
          </p:nvSpPr>
          <p:spPr bwMode="auto">
            <a:xfrm>
              <a:off x="5918242" y="5327393"/>
              <a:ext cx="177578" cy="98234"/>
            </a:xfrm>
            <a:custGeom>
              <a:avLst/>
              <a:gdLst>
                <a:gd name="T0" fmla="*/ 0 w 94"/>
                <a:gd name="T1" fmla="*/ 82550 h 52"/>
                <a:gd name="T2" fmla="*/ 149225 w 94"/>
                <a:gd name="T3" fmla="*/ 41275 h 52"/>
                <a:gd name="T4" fmla="*/ 0 w 94"/>
                <a:gd name="T5" fmla="*/ 0 h 52"/>
                <a:gd name="T6" fmla="*/ 0 w 94"/>
                <a:gd name="T7" fmla="*/ 8255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2"/>
                <a:gd name="T14" fmla="*/ 94 w 94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2">
                  <a:moveTo>
                    <a:pt x="0" y="52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12" name="Freeform 574"/>
            <p:cNvSpPr>
              <a:spLocks/>
            </p:cNvSpPr>
            <p:nvPr/>
          </p:nvSpPr>
          <p:spPr bwMode="auto">
            <a:xfrm>
              <a:off x="5124810" y="5142433"/>
              <a:ext cx="825547" cy="439992"/>
            </a:xfrm>
            <a:custGeom>
              <a:avLst/>
              <a:gdLst>
                <a:gd name="T0" fmla="*/ 0 w 394"/>
                <a:gd name="T1" fmla="*/ 0 h 235"/>
                <a:gd name="T2" fmla="*/ 0 w 394"/>
                <a:gd name="T3" fmla="*/ 373063 h 235"/>
                <a:gd name="T4" fmla="*/ 625475 w 394"/>
                <a:gd name="T5" fmla="*/ 373063 h 235"/>
                <a:gd name="T6" fmla="*/ 0 60000 65536"/>
                <a:gd name="T7" fmla="*/ 0 60000 65536"/>
                <a:gd name="T8" fmla="*/ 0 60000 65536"/>
                <a:gd name="T9" fmla="*/ 0 w 394"/>
                <a:gd name="T10" fmla="*/ 0 h 235"/>
                <a:gd name="T11" fmla="*/ 394 w 394"/>
                <a:gd name="T12" fmla="*/ 235 h 2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4" h="235">
                  <a:moveTo>
                    <a:pt x="0" y="0"/>
                  </a:moveTo>
                  <a:lnTo>
                    <a:pt x="0" y="235"/>
                  </a:lnTo>
                  <a:lnTo>
                    <a:pt x="394" y="235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5713" name="Freeform 575"/>
            <p:cNvSpPr>
              <a:spLocks/>
            </p:cNvSpPr>
            <p:nvPr/>
          </p:nvSpPr>
          <p:spPr bwMode="auto">
            <a:xfrm>
              <a:off x="5918242" y="5533308"/>
              <a:ext cx="177578" cy="96345"/>
            </a:xfrm>
            <a:custGeom>
              <a:avLst/>
              <a:gdLst>
                <a:gd name="T0" fmla="*/ 0 w 94"/>
                <a:gd name="T1" fmla="*/ 80962 h 51"/>
                <a:gd name="T2" fmla="*/ 149225 w 94"/>
                <a:gd name="T3" fmla="*/ 41275 h 51"/>
                <a:gd name="T4" fmla="*/ 0 w 94"/>
                <a:gd name="T5" fmla="*/ 0 h 51"/>
                <a:gd name="T6" fmla="*/ 0 w 94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121" name="Rectangle 493"/>
            <p:cNvSpPr>
              <a:spLocks noChangeArrowheads="1"/>
            </p:cNvSpPr>
            <p:nvPr/>
          </p:nvSpPr>
          <p:spPr bwMode="auto">
            <a:xfrm>
              <a:off x="3326364" y="2755002"/>
              <a:ext cx="64120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000000"/>
                  </a:solidFill>
                  <a:latin typeface="Helvetica" pitchFamily="34" charset="0"/>
                </a:rPr>
                <a:t>FPGA</a:t>
              </a:r>
              <a:endParaRPr lang="en-US" altLang="en-US" sz="1800" b="1" dirty="0"/>
            </a:p>
          </p:txBody>
        </p:sp>
        <p:sp>
          <p:nvSpPr>
            <p:cNvPr id="122" name="Rectangle 487"/>
            <p:cNvSpPr>
              <a:spLocks noChangeArrowheads="1"/>
            </p:cNvSpPr>
            <p:nvPr/>
          </p:nvSpPr>
          <p:spPr bwMode="auto">
            <a:xfrm>
              <a:off x="3416326" y="4721926"/>
              <a:ext cx="4520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 dirty="0">
                  <a:solidFill>
                    <a:srgbClr val="FF0000"/>
                  </a:solidFill>
                  <a:latin typeface="Helvetica" pitchFamily="34" charset="0"/>
                </a:rPr>
                <a:t>Switch</a:t>
              </a:r>
            </a:p>
            <a:p>
              <a:pPr eaLnBrk="1" hangingPunct="1"/>
              <a:r>
                <a:rPr lang="en-US" altLang="en-US" sz="1200" dirty="0">
                  <a:solidFill>
                    <a:srgbClr val="FF0000"/>
                  </a:solidFill>
                  <a:latin typeface="Helvetica" pitchFamily="34" charset="0"/>
                </a:rPr>
                <a:t>matrix</a:t>
              </a:r>
              <a:endParaRPr lang="en-US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23" name="Rectangle 397"/>
            <p:cNvSpPr>
              <a:spLocks noChangeArrowheads="1"/>
            </p:cNvSpPr>
            <p:nvPr/>
          </p:nvSpPr>
          <p:spPr bwMode="auto">
            <a:xfrm>
              <a:off x="2509199" y="3165323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  <a:endParaRPr lang="en-US" altLang="en-US" sz="1600" dirty="0"/>
            </a:p>
          </p:txBody>
        </p:sp>
        <p:sp>
          <p:nvSpPr>
            <p:cNvPr id="124" name="Rectangle 397"/>
            <p:cNvSpPr>
              <a:spLocks noChangeArrowheads="1"/>
            </p:cNvSpPr>
            <p:nvPr/>
          </p:nvSpPr>
          <p:spPr bwMode="auto">
            <a:xfrm>
              <a:off x="2509198" y="3418300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25" name="Rectangle 397"/>
            <p:cNvSpPr>
              <a:spLocks noChangeArrowheads="1"/>
            </p:cNvSpPr>
            <p:nvPr/>
          </p:nvSpPr>
          <p:spPr bwMode="auto">
            <a:xfrm>
              <a:off x="2509197" y="3661996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26" name="Rectangle 397"/>
            <p:cNvSpPr>
              <a:spLocks noChangeArrowheads="1"/>
            </p:cNvSpPr>
            <p:nvPr/>
          </p:nvSpPr>
          <p:spPr bwMode="auto">
            <a:xfrm>
              <a:off x="2498788" y="3900689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27" name="Rectangle 397"/>
            <p:cNvSpPr>
              <a:spLocks noChangeArrowheads="1"/>
            </p:cNvSpPr>
            <p:nvPr/>
          </p:nvSpPr>
          <p:spPr bwMode="auto">
            <a:xfrm>
              <a:off x="2481512" y="4121318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28" name="Rectangle 397"/>
            <p:cNvSpPr>
              <a:spLocks noChangeArrowheads="1"/>
            </p:cNvSpPr>
            <p:nvPr/>
          </p:nvSpPr>
          <p:spPr bwMode="auto">
            <a:xfrm>
              <a:off x="2483924" y="4355978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29" name="Rectangle 397"/>
            <p:cNvSpPr>
              <a:spLocks noChangeArrowheads="1"/>
            </p:cNvSpPr>
            <p:nvPr/>
          </p:nvSpPr>
          <p:spPr bwMode="auto">
            <a:xfrm>
              <a:off x="2509276" y="4621058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30" name="Rectangle 397"/>
            <p:cNvSpPr>
              <a:spLocks noChangeArrowheads="1"/>
            </p:cNvSpPr>
            <p:nvPr/>
          </p:nvSpPr>
          <p:spPr bwMode="auto">
            <a:xfrm>
              <a:off x="5163953" y="2910456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31" name="Rectangle 397"/>
            <p:cNvSpPr>
              <a:spLocks noChangeArrowheads="1"/>
            </p:cNvSpPr>
            <p:nvPr/>
          </p:nvSpPr>
          <p:spPr bwMode="auto">
            <a:xfrm>
              <a:off x="5178879" y="3146060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32" name="Rectangle 397"/>
            <p:cNvSpPr>
              <a:spLocks noChangeArrowheads="1"/>
            </p:cNvSpPr>
            <p:nvPr/>
          </p:nvSpPr>
          <p:spPr bwMode="auto">
            <a:xfrm>
              <a:off x="5178878" y="3399037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33" name="Rectangle 397"/>
            <p:cNvSpPr>
              <a:spLocks noChangeArrowheads="1"/>
            </p:cNvSpPr>
            <p:nvPr/>
          </p:nvSpPr>
          <p:spPr bwMode="auto">
            <a:xfrm>
              <a:off x="5178877" y="3642733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34" name="Rectangle 397"/>
            <p:cNvSpPr>
              <a:spLocks noChangeArrowheads="1"/>
            </p:cNvSpPr>
            <p:nvPr/>
          </p:nvSpPr>
          <p:spPr bwMode="auto">
            <a:xfrm>
              <a:off x="5168468" y="3881426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35" name="Rectangle 397"/>
            <p:cNvSpPr>
              <a:spLocks noChangeArrowheads="1"/>
            </p:cNvSpPr>
            <p:nvPr/>
          </p:nvSpPr>
          <p:spPr bwMode="auto">
            <a:xfrm>
              <a:off x="5151192" y="4102055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36" name="Rectangle 397"/>
            <p:cNvSpPr>
              <a:spLocks noChangeArrowheads="1"/>
            </p:cNvSpPr>
            <p:nvPr/>
          </p:nvSpPr>
          <p:spPr bwMode="auto">
            <a:xfrm>
              <a:off x="5153604" y="4336715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  <p:sp>
          <p:nvSpPr>
            <p:cNvPr id="137" name="Rectangle 397"/>
            <p:cNvSpPr>
              <a:spLocks noChangeArrowheads="1"/>
            </p:cNvSpPr>
            <p:nvPr/>
          </p:nvSpPr>
          <p:spPr bwMode="auto">
            <a:xfrm>
              <a:off x="5178956" y="4601795"/>
              <a:ext cx="285335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</a:p>
          </p:txBody>
        </p:sp>
      </p:grpSp>
      <p:sp>
        <p:nvSpPr>
          <p:cNvPr id="116" name="Rectangle 542"/>
          <p:cNvSpPr>
            <a:spLocks noChangeArrowheads="1"/>
          </p:cNvSpPr>
          <p:nvPr/>
        </p:nvSpPr>
        <p:spPr bwMode="auto">
          <a:xfrm>
            <a:off x="6127029" y="5731913"/>
            <a:ext cx="275387" cy="166243"/>
          </a:xfrm>
          <a:prstGeom prst="rect">
            <a:avLst/>
          </a:prstGeom>
          <a:noFill/>
          <a:ln w="12700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1494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82"/>
    </mc:Choice>
    <mc:Fallback xmlns="">
      <p:transition spd="slow" advTm="2568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3.1. Multiplexer Version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22</a:t>
            </a:fld>
            <a:endParaRPr lang="de-DE" dirty="0"/>
          </a:p>
        </p:txBody>
      </p:sp>
      <p:grpSp>
        <p:nvGrpSpPr>
          <p:cNvPr id="5" name="Group 578"/>
          <p:cNvGrpSpPr>
            <a:grpSpLocks noChangeAspect="1"/>
          </p:cNvGrpSpPr>
          <p:nvPr/>
        </p:nvGrpSpPr>
        <p:grpSpPr bwMode="auto">
          <a:xfrm>
            <a:off x="6094356" y="2043489"/>
            <a:ext cx="2589717" cy="3990285"/>
            <a:chOff x="3689" y="1774"/>
            <a:chExt cx="1396" cy="2151"/>
          </a:xfrm>
        </p:grpSpPr>
        <p:sp>
          <p:nvSpPr>
            <p:cNvPr id="6" name="Rectangle 359"/>
            <p:cNvSpPr>
              <a:spLocks noChangeArrowheads="1"/>
            </p:cNvSpPr>
            <p:nvPr/>
          </p:nvSpPr>
          <p:spPr bwMode="auto">
            <a:xfrm>
              <a:off x="3743" y="1774"/>
              <a:ext cx="1188" cy="2151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7" name="Oval 361"/>
            <p:cNvSpPr>
              <a:spLocks noChangeArrowheads="1"/>
            </p:cNvSpPr>
            <p:nvPr/>
          </p:nvSpPr>
          <p:spPr bwMode="auto">
            <a:xfrm>
              <a:off x="3991" y="2508"/>
              <a:ext cx="45" cy="46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8" name="Oval 362"/>
            <p:cNvSpPr>
              <a:spLocks noChangeArrowheads="1"/>
            </p:cNvSpPr>
            <p:nvPr/>
          </p:nvSpPr>
          <p:spPr bwMode="auto">
            <a:xfrm>
              <a:off x="4036" y="2411"/>
              <a:ext cx="43" cy="46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9" name="Oval 363"/>
            <p:cNvSpPr>
              <a:spLocks noChangeArrowheads="1"/>
            </p:cNvSpPr>
            <p:nvPr/>
          </p:nvSpPr>
          <p:spPr bwMode="auto">
            <a:xfrm>
              <a:off x="4085" y="2314"/>
              <a:ext cx="46" cy="43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10" name="Oval 364"/>
            <p:cNvSpPr>
              <a:spLocks noChangeArrowheads="1"/>
            </p:cNvSpPr>
            <p:nvPr/>
          </p:nvSpPr>
          <p:spPr bwMode="auto">
            <a:xfrm>
              <a:off x="4142" y="2217"/>
              <a:ext cx="43" cy="43"/>
            </a:xfrm>
            <a:prstGeom prst="ellipse">
              <a:avLst/>
            </a:prstGeom>
            <a:solidFill>
              <a:srgbClr val="000000"/>
            </a:solidFill>
            <a:ln w="793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11" name="Line 365"/>
            <p:cNvSpPr>
              <a:spLocks noChangeShapeType="1"/>
            </p:cNvSpPr>
            <p:nvPr/>
          </p:nvSpPr>
          <p:spPr bwMode="auto">
            <a:xfrm>
              <a:off x="4442" y="1983"/>
              <a:ext cx="0" cy="5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2" name="Freeform 366"/>
            <p:cNvSpPr>
              <a:spLocks/>
            </p:cNvSpPr>
            <p:nvPr/>
          </p:nvSpPr>
          <p:spPr bwMode="auto">
            <a:xfrm>
              <a:off x="4419" y="2020"/>
              <a:ext cx="46" cy="91"/>
            </a:xfrm>
            <a:custGeom>
              <a:avLst/>
              <a:gdLst>
                <a:gd name="T0" fmla="*/ 23 w 46"/>
                <a:gd name="T1" fmla="*/ 91 h 91"/>
                <a:gd name="T2" fmla="*/ 46 w 46"/>
                <a:gd name="T3" fmla="*/ 0 h 91"/>
                <a:gd name="T4" fmla="*/ 0 w 46"/>
                <a:gd name="T5" fmla="*/ 0 h 91"/>
                <a:gd name="T6" fmla="*/ 23 w 46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"/>
                <a:gd name="T13" fmla="*/ 0 h 91"/>
                <a:gd name="T14" fmla="*/ 46 w 46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" h="91">
                  <a:moveTo>
                    <a:pt x="23" y="91"/>
                  </a:moveTo>
                  <a:lnTo>
                    <a:pt x="46" y="0"/>
                  </a:lnTo>
                  <a:lnTo>
                    <a:pt x="0" y="0"/>
                  </a:lnTo>
                  <a:lnTo>
                    <a:pt x="23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13" name="Line 367"/>
            <p:cNvSpPr>
              <a:spLocks noChangeShapeType="1"/>
            </p:cNvSpPr>
            <p:nvPr/>
          </p:nvSpPr>
          <p:spPr bwMode="auto">
            <a:xfrm>
              <a:off x="4608" y="1983"/>
              <a:ext cx="0" cy="5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4" name="Freeform 368"/>
            <p:cNvSpPr>
              <a:spLocks/>
            </p:cNvSpPr>
            <p:nvPr/>
          </p:nvSpPr>
          <p:spPr bwMode="auto">
            <a:xfrm>
              <a:off x="4585" y="2020"/>
              <a:ext cx="46" cy="91"/>
            </a:xfrm>
            <a:custGeom>
              <a:avLst/>
              <a:gdLst>
                <a:gd name="T0" fmla="*/ 23 w 46"/>
                <a:gd name="T1" fmla="*/ 91 h 91"/>
                <a:gd name="T2" fmla="*/ 46 w 46"/>
                <a:gd name="T3" fmla="*/ 0 h 91"/>
                <a:gd name="T4" fmla="*/ 0 w 46"/>
                <a:gd name="T5" fmla="*/ 0 h 91"/>
                <a:gd name="T6" fmla="*/ 23 w 46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"/>
                <a:gd name="T13" fmla="*/ 0 h 91"/>
                <a:gd name="T14" fmla="*/ 46 w 46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" h="91">
                  <a:moveTo>
                    <a:pt x="23" y="91"/>
                  </a:moveTo>
                  <a:lnTo>
                    <a:pt x="46" y="0"/>
                  </a:lnTo>
                  <a:lnTo>
                    <a:pt x="0" y="0"/>
                  </a:lnTo>
                  <a:lnTo>
                    <a:pt x="23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15" name="Line 369"/>
            <p:cNvSpPr>
              <a:spLocks noChangeShapeType="1"/>
            </p:cNvSpPr>
            <p:nvPr/>
          </p:nvSpPr>
          <p:spPr bwMode="auto">
            <a:xfrm>
              <a:off x="3689" y="2240"/>
              <a:ext cx="543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6" name="Freeform 370"/>
            <p:cNvSpPr>
              <a:spLocks/>
            </p:cNvSpPr>
            <p:nvPr/>
          </p:nvSpPr>
          <p:spPr bwMode="auto">
            <a:xfrm>
              <a:off x="4202" y="2217"/>
              <a:ext cx="91" cy="46"/>
            </a:xfrm>
            <a:custGeom>
              <a:avLst/>
              <a:gdLst>
                <a:gd name="T0" fmla="*/ 91 w 91"/>
                <a:gd name="T1" fmla="*/ 23 h 46"/>
                <a:gd name="T2" fmla="*/ 0 w 91"/>
                <a:gd name="T3" fmla="*/ 0 h 46"/>
                <a:gd name="T4" fmla="*/ 0 w 91"/>
                <a:gd name="T5" fmla="*/ 46 h 46"/>
                <a:gd name="T6" fmla="*/ 91 w 91"/>
                <a:gd name="T7" fmla="*/ 23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46"/>
                <a:gd name="T14" fmla="*/ 91 w 91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46">
                  <a:moveTo>
                    <a:pt x="91" y="23"/>
                  </a:moveTo>
                  <a:lnTo>
                    <a:pt x="0" y="0"/>
                  </a:lnTo>
                  <a:lnTo>
                    <a:pt x="0" y="46"/>
                  </a:lnTo>
                  <a:lnTo>
                    <a:pt x="91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17" name="Line 371"/>
            <p:cNvSpPr>
              <a:spLocks noChangeShapeType="1"/>
            </p:cNvSpPr>
            <p:nvPr/>
          </p:nvSpPr>
          <p:spPr bwMode="auto">
            <a:xfrm>
              <a:off x="3689" y="2337"/>
              <a:ext cx="543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18" name="Freeform 372"/>
            <p:cNvSpPr>
              <a:spLocks/>
            </p:cNvSpPr>
            <p:nvPr/>
          </p:nvSpPr>
          <p:spPr bwMode="auto">
            <a:xfrm>
              <a:off x="4202" y="2314"/>
              <a:ext cx="91" cy="46"/>
            </a:xfrm>
            <a:custGeom>
              <a:avLst/>
              <a:gdLst>
                <a:gd name="T0" fmla="*/ 91 w 91"/>
                <a:gd name="T1" fmla="*/ 23 h 46"/>
                <a:gd name="T2" fmla="*/ 0 w 91"/>
                <a:gd name="T3" fmla="*/ 0 h 46"/>
                <a:gd name="T4" fmla="*/ 0 w 91"/>
                <a:gd name="T5" fmla="*/ 46 h 46"/>
                <a:gd name="T6" fmla="*/ 91 w 91"/>
                <a:gd name="T7" fmla="*/ 23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46"/>
                <a:gd name="T14" fmla="*/ 91 w 91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46">
                  <a:moveTo>
                    <a:pt x="91" y="23"/>
                  </a:moveTo>
                  <a:lnTo>
                    <a:pt x="0" y="0"/>
                  </a:lnTo>
                  <a:lnTo>
                    <a:pt x="0" y="46"/>
                  </a:lnTo>
                  <a:lnTo>
                    <a:pt x="91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19" name="Line 373"/>
            <p:cNvSpPr>
              <a:spLocks noChangeShapeType="1"/>
            </p:cNvSpPr>
            <p:nvPr/>
          </p:nvSpPr>
          <p:spPr bwMode="auto">
            <a:xfrm>
              <a:off x="4768" y="2382"/>
              <a:ext cx="243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0" name="Freeform 374"/>
            <p:cNvSpPr>
              <a:spLocks/>
            </p:cNvSpPr>
            <p:nvPr/>
          </p:nvSpPr>
          <p:spPr bwMode="auto">
            <a:xfrm>
              <a:off x="4994" y="2360"/>
              <a:ext cx="91" cy="45"/>
            </a:xfrm>
            <a:custGeom>
              <a:avLst/>
              <a:gdLst>
                <a:gd name="T0" fmla="*/ 91 w 91"/>
                <a:gd name="T1" fmla="*/ 22 h 45"/>
                <a:gd name="T2" fmla="*/ 0 w 91"/>
                <a:gd name="T3" fmla="*/ 0 h 45"/>
                <a:gd name="T4" fmla="*/ 0 w 91"/>
                <a:gd name="T5" fmla="*/ 45 h 45"/>
                <a:gd name="T6" fmla="*/ 91 w 91"/>
                <a:gd name="T7" fmla="*/ 22 h 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45"/>
                <a:gd name="T14" fmla="*/ 91 w 91"/>
                <a:gd name="T15" fmla="*/ 45 h 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45">
                  <a:moveTo>
                    <a:pt x="91" y="22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91" y="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21" name="Line 375"/>
            <p:cNvSpPr>
              <a:spLocks noChangeShapeType="1"/>
            </p:cNvSpPr>
            <p:nvPr/>
          </p:nvSpPr>
          <p:spPr bwMode="auto">
            <a:xfrm>
              <a:off x="4768" y="3262"/>
              <a:ext cx="243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2" name="Freeform 376"/>
            <p:cNvSpPr>
              <a:spLocks/>
            </p:cNvSpPr>
            <p:nvPr/>
          </p:nvSpPr>
          <p:spPr bwMode="auto">
            <a:xfrm>
              <a:off x="4994" y="3239"/>
              <a:ext cx="91" cy="46"/>
            </a:xfrm>
            <a:custGeom>
              <a:avLst/>
              <a:gdLst>
                <a:gd name="T0" fmla="*/ 91 w 91"/>
                <a:gd name="T1" fmla="*/ 23 h 46"/>
                <a:gd name="T2" fmla="*/ 0 w 91"/>
                <a:gd name="T3" fmla="*/ 0 h 46"/>
                <a:gd name="T4" fmla="*/ 0 w 91"/>
                <a:gd name="T5" fmla="*/ 46 h 46"/>
                <a:gd name="T6" fmla="*/ 91 w 91"/>
                <a:gd name="T7" fmla="*/ 23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46"/>
                <a:gd name="T14" fmla="*/ 91 w 91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46">
                  <a:moveTo>
                    <a:pt x="91" y="23"/>
                  </a:moveTo>
                  <a:lnTo>
                    <a:pt x="0" y="0"/>
                  </a:lnTo>
                  <a:lnTo>
                    <a:pt x="0" y="46"/>
                  </a:lnTo>
                  <a:lnTo>
                    <a:pt x="91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23" name="Line 377"/>
            <p:cNvSpPr>
              <a:spLocks noChangeShapeType="1"/>
            </p:cNvSpPr>
            <p:nvPr/>
          </p:nvSpPr>
          <p:spPr bwMode="auto">
            <a:xfrm>
              <a:off x="3689" y="2434"/>
              <a:ext cx="543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4" name="Freeform 378"/>
            <p:cNvSpPr>
              <a:spLocks/>
            </p:cNvSpPr>
            <p:nvPr/>
          </p:nvSpPr>
          <p:spPr bwMode="auto">
            <a:xfrm>
              <a:off x="4202" y="2411"/>
              <a:ext cx="91" cy="46"/>
            </a:xfrm>
            <a:custGeom>
              <a:avLst/>
              <a:gdLst>
                <a:gd name="T0" fmla="*/ 91 w 91"/>
                <a:gd name="T1" fmla="*/ 23 h 46"/>
                <a:gd name="T2" fmla="*/ 0 w 91"/>
                <a:gd name="T3" fmla="*/ 0 h 46"/>
                <a:gd name="T4" fmla="*/ 0 w 91"/>
                <a:gd name="T5" fmla="*/ 46 h 46"/>
                <a:gd name="T6" fmla="*/ 91 w 91"/>
                <a:gd name="T7" fmla="*/ 23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46"/>
                <a:gd name="T14" fmla="*/ 91 w 91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46">
                  <a:moveTo>
                    <a:pt x="91" y="23"/>
                  </a:moveTo>
                  <a:lnTo>
                    <a:pt x="0" y="0"/>
                  </a:lnTo>
                  <a:lnTo>
                    <a:pt x="0" y="46"/>
                  </a:lnTo>
                  <a:lnTo>
                    <a:pt x="91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25" name="Line 379"/>
            <p:cNvSpPr>
              <a:spLocks noChangeShapeType="1"/>
            </p:cNvSpPr>
            <p:nvPr/>
          </p:nvSpPr>
          <p:spPr bwMode="auto">
            <a:xfrm>
              <a:off x="3689" y="2531"/>
              <a:ext cx="543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26" name="Freeform 380"/>
            <p:cNvSpPr>
              <a:spLocks/>
            </p:cNvSpPr>
            <p:nvPr/>
          </p:nvSpPr>
          <p:spPr bwMode="auto">
            <a:xfrm>
              <a:off x="4202" y="2508"/>
              <a:ext cx="91" cy="46"/>
            </a:xfrm>
            <a:custGeom>
              <a:avLst/>
              <a:gdLst>
                <a:gd name="T0" fmla="*/ 91 w 91"/>
                <a:gd name="T1" fmla="*/ 23 h 46"/>
                <a:gd name="T2" fmla="*/ 0 w 91"/>
                <a:gd name="T3" fmla="*/ 0 h 46"/>
                <a:gd name="T4" fmla="*/ 0 w 91"/>
                <a:gd name="T5" fmla="*/ 46 h 46"/>
                <a:gd name="T6" fmla="*/ 91 w 91"/>
                <a:gd name="T7" fmla="*/ 23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46"/>
                <a:gd name="T14" fmla="*/ 91 w 91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46">
                  <a:moveTo>
                    <a:pt x="91" y="23"/>
                  </a:moveTo>
                  <a:lnTo>
                    <a:pt x="0" y="0"/>
                  </a:lnTo>
                  <a:lnTo>
                    <a:pt x="0" y="46"/>
                  </a:lnTo>
                  <a:lnTo>
                    <a:pt x="91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30" name="Rectangle 467"/>
            <p:cNvSpPr>
              <a:spLocks noChangeArrowheads="1"/>
            </p:cNvSpPr>
            <p:nvPr/>
          </p:nvSpPr>
          <p:spPr bwMode="auto">
            <a:xfrm>
              <a:off x="3857" y="2115"/>
              <a:ext cx="15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m0</a:t>
              </a:r>
              <a:endParaRPr lang="en-US" altLang="en-US" sz="1600" dirty="0"/>
            </a:p>
          </p:txBody>
        </p:sp>
        <p:sp>
          <p:nvSpPr>
            <p:cNvPr id="31" name="Rectangle 468"/>
            <p:cNvSpPr>
              <a:spLocks noChangeArrowheads="1"/>
            </p:cNvSpPr>
            <p:nvPr/>
          </p:nvSpPr>
          <p:spPr bwMode="auto">
            <a:xfrm>
              <a:off x="4805" y="2224"/>
              <a:ext cx="123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o0</a:t>
              </a:r>
              <a:endParaRPr lang="en-US" altLang="en-US" sz="1600" dirty="0"/>
            </a:p>
          </p:txBody>
        </p:sp>
        <p:sp>
          <p:nvSpPr>
            <p:cNvPr id="32" name="Rectangle 469"/>
            <p:cNvSpPr>
              <a:spLocks noChangeArrowheads="1"/>
            </p:cNvSpPr>
            <p:nvPr/>
          </p:nvSpPr>
          <p:spPr bwMode="auto">
            <a:xfrm>
              <a:off x="4809" y="3127"/>
              <a:ext cx="123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o1</a:t>
              </a:r>
              <a:endParaRPr lang="en-US" altLang="en-US" sz="1600" dirty="0"/>
            </a:p>
          </p:txBody>
        </p:sp>
        <p:sp>
          <p:nvSpPr>
            <p:cNvPr id="33" name="Rectangle 470"/>
            <p:cNvSpPr>
              <a:spLocks noChangeArrowheads="1"/>
            </p:cNvSpPr>
            <p:nvPr/>
          </p:nvSpPr>
          <p:spPr bwMode="auto">
            <a:xfrm>
              <a:off x="4320" y="2186"/>
              <a:ext cx="86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i0</a:t>
              </a:r>
              <a:endParaRPr lang="en-US" altLang="en-US" sz="1600"/>
            </a:p>
          </p:txBody>
        </p:sp>
        <p:sp>
          <p:nvSpPr>
            <p:cNvPr id="34" name="Rectangle 471"/>
            <p:cNvSpPr>
              <a:spLocks noChangeArrowheads="1"/>
            </p:cNvSpPr>
            <p:nvPr/>
          </p:nvSpPr>
          <p:spPr bwMode="auto">
            <a:xfrm>
              <a:off x="4560" y="2116"/>
              <a:ext cx="11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s0</a:t>
              </a:r>
              <a:endParaRPr lang="en-US" altLang="en-US" sz="1600"/>
            </a:p>
          </p:txBody>
        </p:sp>
        <p:sp>
          <p:nvSpPr>
            <p:cNvPr id="35" name="Rectangle 472"/>
            <p:cNvSpPr>
              <a:spLocks noChangeArrowheads="1"/>
            </p:cNvSpPr>
            <p:nvPr/>
          </p:nvSpPr>
          <p:spPr bwMode="auto">
            <a:xfrm>
              <a:off x="4700" y="2335"/>
              <a:ext cx="61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d</a:t>
              </a:r>
              <a:endParaRPr lang="en-US" altLang="en-US" sz="1600"/>
            </a:p>
          </p:txBody>
        </p:sp>
        <p:sp>
          <p:nvSpPr>
            <p:cNvPr id="36" name="Rectangle 473"/>
            <p:cNvSpPr>
              <a:spLocks noChangeArrowheads="1"/>
            </p:cNvSpPr>
            <p:nvPr/>
          </p:nvSpPr>
          <p:spPr bwMode="auto">
            <a:xfrm>
              <a:off x="4395" y="2116"/>
              <a:ext cx="11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s1</a:t>
              </a:r>
              <a:endParaRPr lang="en-US" altLang="en-US" sz="1600"/>
            </a:p>
          </p:txBody>
        </p:sp>
        <p:sp>
          <p:nvSpPr>
            <p:cNvPr id="37" name="Rectangle 474"/>
            <p:cNvSpPr>
              <a:spLocks noChangeArrowheads="1"/>
            </p:cNvSpPr>
            <p:nvPr/>
          </p:nvSpPr>
          <p:spPr bwMode="auto">
            <a:xfrm>
              <a:off x="4320" y="2283"/>
              <a:ext cx="86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i1</a:t>
              </a:r>
              <a:endParaRPr lang="en-US" altLang="en-US" sz="1600"/>
            </a:p>
          </p:txBody>
        </p:sp>
        <p:sp>
          <p:nvSpPr>
            <p:cNvPr id="38" name="Rectangle 475"/>
            <p:cNvSpPr>
              <a:spLocks noChangeArrowheads="1"/>
            </p:cNvSpPr>
            <p:nvPr/>
          </p:nvSpPr>
          <p:spPr bwMode="auto">
            <a:xfrm>
              <a:off x="4320" y="2373"/>
              <a:ext cx="86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i2</a:t>
              </a:r>
              <a:endParaRPr lang="en-US" altLang="en-US" sz="1600"/>
            </a:p>
          </p:txBody>
        </p:sp>
        <p:sp>
          <p:nvSpPr>
            <p:cNvPr id="39" name="Rectangle 476"/>
            <p:cNvSpPr>
              <a:spLocks noChangeArrowheads="1"/>
            </p:cNvSpPr>
            <p:nvPr/>
          </p:nvSpPr>
          <p:spPr bwMode="auto">
            <a:xfrm>
              <a:off x="4320" y="2470"/>
              <a:ext cx="86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i3</a:t>
              </a:r>
              <a:endParaRPr lang="en-US" altLang="en-US" sz="1600"/>
            </a:p>
          </p:txBody>
        </p:sp>
        <p:sp>
          <p:nvSpPr>
            <p:cNvPr id="40" name="Rectangle 477"/>
            <p:cNvSpPr>
              <a:spLocks noChangeArrowheads="1"/>
            </p:cNvSpPr>
            <p:nvPr/>
          </p:nvSpPr>
          <p:spPr bwMode="auto">
            <a:xfrm>
              <a:off x="3857" y="2224"/>
              <a:ext cx="15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m1</a:t>
              </a:r>
              <a:endParaRPr lang="en-US" altLang="en-US" sz="1600" dirty="0"/>
            </a:p>
          </p:txBody>
        </p:sp>
        <p:sp>
          <p:nvSpPr>
            <p:cNvPr id="41" name="Rectangle 478"/>
            <p:cNvSpPr>
              <a:spLocks noChangeArrowheads="1"/>
            </p:cNvSpPr>
            <p:nvPr/>
          </p:nvSpPr>
          <p:spPr bwMode="auto">
            <a:xfrm>
              <a:off x="3857" y="2320"/>
              <a:ext cx="15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m2</a:t>
              </a:r>
              <a:endParaRPr lang="en-US" altLang="en-US" sz="1600" dirty="0"/>
            </a:p>
          </p:txBody>
        </p:sp>
        <p:sp>
          <p:nvSpPr>
            <p:cNvPr id="42" name="Rectangle 479"/>
            <p:cNvSpPr>
              <a:spLocks noChangeArrowheads="1"/>
            </p:cNvSpPr>
            <p:nvPr/>
          </p:nvSpPr>
          <p:spPr bwMode="auto">
            <a:xfrm>
              <a:off x="3857" y="2421"/>
              <a:ext cx="15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m3</a:t>
              </a:r>
              <a:endParaRPr lang="en-US" altLang="en-US" sz="1600" dirty="0"/>
            </a:p>
          </p:txBody>
        </p:sp>
        <p:sp>
          <p:nvSpPr>
            <p:cNvPr id="43" name="Rectangle 494"/>
            <p:cNvSpPr>
              <a:spLocks noChangeArrowheads="1"/>
            </p:cNvSpPr>
            <p:nvPr/>
          </p:nvSpPr>
          <p:spPr bwMode="auto">
            <a:xfrm>
              <a:off x="4320" y="1859"/>
              <a:ext cx="524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b="1" dirty="0">
                  <a:solidFill>
                    <a:srgbClr val="00B050"/>
                  </a:solidFill>
                  <a:latin typeface="Helvetica" pitchFamily="34" charset="0"/>
                </a:rPr>
                <a:t>2-bit </a:t>
              </a:r>
              <a:r>
                <a:rPr lang="en-US" altLang="en-US" sz="1600" b="1" dirty="0" err="1">
                  <a:solidFill>
                    <a:srgbClr val="00B050"/>
                  </a:solidFill>
                  <a:latin typeface="Helvetica" pitchFamily="34" charset="0"/>
                </a:rPr>
                <a:t>mem</a:t>
              </a:r>
              <a:endParaRPr lang="en-US" altLang="en-US" sz="1600" b="1" dirty="0">
                <a:solidFill>
                  <a:srgbClr val="00B050"/>
                </a:solidFill>
              </a:endParaRPr>
            </a:p>
          </p:txBody>
        </p:sp>
        <p:sp>
          <p:nvSpPr>
            <p:cNvPr id="45" name="Line 496"/>
            <p:cNvSpPr>
              <a:spLocks noChangeShapeType="1"/>
            </p:cNvSpPr>
            <p:nvPr/>
          </p:nvSpPr>
          <p:spPr bwMode="auto">
            <a:xfrm>
              <a:off x="4442" y="2871"/>
              <a:ext cx="0" cy="5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46" name="Freeform 497"/>
            <p:cNvSpPr>
              <a:spLocks/>
            </p:cNvSpPr>
            <p:nvPr/>
          </p:nvSpPr>
          <p:spPr bwMode="auto">
            <a:xfrm>
              <a:off x="4419" y="2908"/>
              <a:ext cx="46" cy="91"/>
            </a:xfrm>
            <a:custGeom>
              <a:avLst/>
              <a:gdLst>
                <a:gd name="T0" fmla="*/ 23 w 46"/>
                <a:gd name="T1" fmla="*/ 91 h 91"/>
                <a:gd name="T2" fmla="*/ 46 w 46"/>
                <a:gd name="T3" fmla="*/ 0 h 91"/>
                <a:gd name="T4" fmla="*/ 0 w 46"/>
                <a:gd name="T5" fmla="*/ 0 h 91"/>
                <a:gd name="T6" fmla="*/ 23 w 46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"/>
                <a:gd name="T13" fmla="*/ 0 h 91"/>
                <a:gd name="T14" fmla="*/ 46 w 46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" h="91">
                  <a:moveTo>
                    <a:pt x="23" y="91"/>
                  </a:moveTo>
                  <a:lnTo>
                    <a:pt x="46" y="0"/>
                  </a:lnTo>
                  <a:lnTo>
                    <a:pt x="0" y="0"/>
                  </a:lnTo>
                  <a:lnTo>
                    <a:pt x="23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47" name="Line 498"/>
            <p:cNvSpPr>
              <a:spLocks noChangeShapeType="1"/>
            </p:cNvSpPr>
            <p:nvPr/>
          </p:nvSpPr>
          <p:spPr bwMode="auto">
            <a:xfrm>
              <a:off x="4608" y="2871"/>
              <a:ext cx="0" cy="54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48" name="Freeform 499"/>
            <p:cNvSpPr>
              <a:spLocks/>
            </p:cNvSpPr>
            <p:nvPr/>
          </p:nvSpPr>
          <p:spPr bwMode="auto">
            <a:xfrm>
              <a:off x="4585" y="2908"/>
              <a:ext cx="46" cy="91"/>
            </a:xfrm>
            <a:custGeom>
              <a:avLst/>
              <a:gdLst>
                <a:gd name="T0" fmla="*/ 23 w 46"/>
                <a:gd name="T1" fmla="*/ 91 h 91"/>
                <a:gd name="T2" fmla="*/ 46 w 46"/>
                <a:gd name="T3" fmla="*/ 0 h 91"/>
                <a:gd name="T4" fmla="*/ 0 w 46"/>
                <a:gd name="T5" fmla="*/ 0 h 91"/>
                <a:gd name="T6" fmla="*/ 23 w 46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"/>
                <a:gd name="T13" fmla="*/ 0 h 91"/>
                <a:gd name="T14" fmla="*/ 46 w 46"/>
                <a:gd name="T15" fmla="*/ 91 h 9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" h="91">
                  <a:moveTo>
                    <a:pt x="23" y="91"/>
                  </a:moveTo>
                  <a:lnTo>
                    <a:pt x="46" y="0"/>
                  </a:lnTo>
                  <a:lnTo>
                    <a:pt x="0" y="0"/>
                  </a:lnTo>
                  <a:lnTo>
                    <a:pt x="23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53" name="Rectangle 504"/>
            <p:cNvSpPr>
              <a:spLocks noChangeArrowheads="1"/>
            </p:cNvSpPr>
            <p:nvPr/>
          </p:nvSpPr>
          <p:spPr bwMode="auto">
            <a:xfrm>
              <a:off x="4468" y="2291"/>
              <a:ext cx="209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4x1</a:t>
              </a:r>
            </a:p>
            <a:p>
              <a:pPr algn="ctr"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mux</a:t>
              </a:r>
              <a:endParaRPr lang="en-US" altLang="en-US" sz="1600" dirty="0"/>
            </a:p>
          </p:txBody>
        </p:sp>
        <p:sp>
          <p:nvSpPr>
            <p:cNvPr id="56" name="Freeform 509"/>
            <p:cNvSpPr>
              <a:spLocks/>
            </p:cNvSpPr>
            <p:nvPr/>
          </p:nvSpPr>
          <p:spPr bwMode="auto">
            <a:xfrm>
              <a:off x="4165" y="2243"/>
              <a:ext cx="54" cy="874"/>
            </a:xfrm>
            <a:custGeom>
              <a:avLst/>
              <a:gdLst>
                <a:gd name="T0" fmla="*/ 54 w 54"/>
                <a:gd name="T1" fmla="*/ 874 h 874"/>
                <a:gd name="T2" fmla="*/ 0 w 54"/>
                <a:gd name="T3" fmla="*/ 874 h 874"/>
                <a:gd name="T4" fmla="*/ 0 w 54"/>
                <a:gd name="T5" fmla="*/ 0 h 874"/>
                <a:gd name="T6" fmla="*/ 0 60000 65536"/>
                <a:gd name="T7" fmla="*/ 0 60000 65536"/>
                <a:gd name="T8" fmla="*/ 0 60000 65536"/>
                <a:gd name="T9" fmla="*/ 0 w 54"/>
                <a:gd name="T10" fmla="*/ 0 h 874"/>
                <a:gd name="T11" fmla="*/ 54 w 54"/>
                <a:gd name="T12" fmla="*/ 874 h 8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" h="874">
                  <a:moveTo>
                    <a:pt x="54" y="874"/>
                  </a:moveTo>
                  <a:lnTo>
                    <a:pt x="0" y="874"/>
                  </a:ln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57" name="Freeform 510"/>
            <p:cNvSpPr>
              <a:spLocks/>
            </p:cNvSpPr>
            <p:nvPr/>
          </p:nvSpPr>
          <p:spPr bwMode="auto">
            <a:xfrm>
              <a:off x="4202" y="3097"/>
              <a:ext cx="91" cy="42"/>
            </a:xfrm>
            <a:custGeom>
              <a:avLst/>
              <a:gdLst>
                <a:gd name="T0" fmla="*/ 91 w 91"/>
                <a:gd name="T1" fmla="*/ 20 h 42"/>
                <a:gd name="T2" fmla="*/ 0 w 91"/>
                <a:gd name="T3" fmla="*/ 0 h 42"/>
                <a:gd name="T4" fmla="*/ 0 w 91"/>
                <a:gd name="T5" fmla="*/ 42 h 42"/>
                <a:gd name="T6" fmla="*/ 91 w 91"/>
                <a:gd name="T7" fmla="*/ 20 h 4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42"/>
                <a:gd name="T14" fmla="*/ 91 w 91"/>
                <a:gd name="T15" fmla="*/ 42 h 4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42">
                  <a:moveTo>
                    <a:pt x="91" y="2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91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58" name="Freeform 511"/>
            <p:cNvSpPr>
              <a:spLocks/>
            </p:cNvSpPr>
            <p:nvPr/>
          </p:nvSpPr>
          <p:spPr bwMode="auto">
            <a:xfrm>
              <a:off x="4108" y="2331"/>
              <a:ext cx="111" cy="877"/>
            </a:xfrm>
            <a:custGeom>
              <a:avLst/>
              <a:gdLst>
                <a:gd name="T0" fmla="*/ 111 w 111"/>
                <a:gd name="T1" fmla="*/ 877 h 877"/>
                <a:gd name="T2" fmla="*/ 0 w 111"/>
                <a:gd name="T3" fmla="*/ 877 h 877"/>
                <a:gd name="T4" fmla="*/ 0 w 111"/>
                <a:gd name="T5" fmla="*/ 0 h 877"/>
                <a:gd name="T6" fmla="*/ 0 60000 65536"/>
                <a:gd name="T7" fmla="*/ 0 60000 65536"/>
                <a:gd name="T8" fmla="*/ 0 60000 65536"/>
                <a:gd name="T9" fmla="*/ 0 w 111"/>
                <a:gd name="T10" fmla="*/ 0 h 877"/>
                <a:gd name="T11" fmla="*/ 111 w 111"/>
                <a:gd name="T12" fmla="*/ 877 h 8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" h="877">
                  <a:moveTo>
                    <a:pt x="111" y="877"/>
                  </a:moveTo>
                  <a:lnTo>
                    <a:pt x="0" y="877"/>
                  </a:ln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59" name="Freeform 512"/>
            <p:cNvSpPr>
              <a:spLocks/>
            </p:cNvSpPr>
            <p:nvPr/>
          </p:nvSpPr>
          <p:spPr bwMode="auto">
            <a:xfrm>
              <a:off x="4202" y="3188"/>
              <a:ext cx="91" cy="43"/>
            </a:xfrm>
            <a:custGeom>
              <a:avLst/>
              <a:gdLst>
                <a:gd name="T0" fmla="*/ 91 w 91"/>
                <a:gd name="T1" fmla="*/ 20 h 43"/>
                <a:gd name="T2" fmla="*/ 0 w 91"/>
                <a:gd name="T3" fmla="*/ 0 h 43"/>
                <a:gd name="T4" fmla="*/ 0 w 91"/>
                <a:gd name="T5" fmla="*/ 43 h 43"/>
                <a:gd name="T6" fmla="*/ 91 w 91"/>
                <a:gd name="T7" fmla="*/ 20 h 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43"/>
                <a:gd name="T14" fmla="*/ 91 w 91"/>
                <a:gd name="T15" fmla="*/ 43 h 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43">
                  <a:moveTo>
                    <a:pt x="91" y="2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91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60" name="Freeform 513"/>
            <p:cNvSpPr>
              <a:spLocks/>
            </p:cNvSpPr>
            <p:nvPr/>
          </p:nvSpPr>
          <p:spPr bwMode="auto">
            <a:xfrm>
              <a:off x="4059" y="2422"/>
              <a:ext cx="160" cy="877"/>
            </a:xfrm>
            <a:custGeom>
              <a:avLst/>
              <a:gdLst>
                <a:gd name="T0" fmla="*/ 160 w 160"/>
                <a:gd name="T1" fmla="*/ 877 h 877"/>
                <a:gd name="T2" fmla="*/ 0 w 160"/>
                <a:gd name="T3" fmla="*/ 877 h 877"/>
                <a:gd name="T4" fmla="*/ 0 w 160"/>
                <a:gd name="T5" fmla="*/ 0 h 877"/>
                <a:gd name="T6" fmla="*/ 0 60000 65536"/>
                <a:gd name="T7" fmla="*/ 0 60000 65536"/>
                <a:gd name="T8" fmla="*/ 0 60000 65536"/>
                <a:gd name="T9" fmla="*/ 0 w 160"/>
                <a:gd name="T10" fmla="*/ 0 h 877"/>
                <a:gd name="T11" fmla="*/ 160 w 160"/>
                <a:gd name="T12" fmla="*/ 877 h 8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0" h="877">
                  <a:moveTo>
                    <a:pt x="160" y="877"/>
                  </a:moveTo>
                  <a:lnTo>
                    <a:pt x="0" y="877"/>
                  </a:ln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61" name="Freeform 514"/>
            <p:cNvSpPr>
              <a:spLocks/>
            </p:cNvSpPr>
            <p:nvPr/>
          </p:nvSpPr>
          <p:spPr bwMode="auto">
            <a:xfrm>
              <a:off x="4202" y="3279"/>
              <a:ext cx="91" cy="43"/>
            </a:xfrm>
            <a:custGeom>
              <a:avLst/>
              <a:gdLst>
                <a:gd name="T0" fmla="*/ 91 w 91"/>
                <a:gd name="T1" fmla="*/ 20 h 43"/>
                <a:gd name="T2" fmla="*/ 0 w 91"/>
                <a:gd name="T3" fmla="*/ 0 h 43"/>
                <a:gd name="T4" fmla="*/ 0 w 91"/>
                <a:gd name="T5" fmla="*/ 43 h 43"/>
                <a:gd name="T6" fmla="*/ 91 w 91"/>
                <a:gd name="T7" fmla="*/ 20 h 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43"/>
                <a:gd name="T14" fmla="*/ 91 w 91"/>
                <a:gd name="T15" fmla="*/ 43 h 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43">
                  <a:moveTo>
                    <a:pt x="91" y="2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91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62" name="Freeform 515"/>
            <p:cNvSpPr>
              <a:spLocks/>
            </p:cNvSpPr>
            <p:nvPr/>
          </p:nvSpPr>
          <p:spPr bwMode="auto">
            <a:xfrm>
              <a:off x="4013" y="2514"/>
              <a:ext cx="206" cy="877"/>
            </a:xfrm>
            <a:custGeom>
              <a:avLst/>
              <a:gdLst>
                <a:gd name="T0" fmla="*/ 206 w 206"/>
                <a:gd name="T1" fmla="*/ 877 h 877"/>
                <a:gd name="T2" fmla="*/ 0 w 206"/>
                <a:gd name="T3" fmla="*/ 877 h 877"/>
                <a:gd name="T4" fmla="*/ 0 w 206"/>
                <a:gd name="T5" fmla="*/ 0 h 877"/>
                <a:gd name="T6" fmla="*/ 0 60000 65536"/>
                <a:gd name="T7" fmla="*/ 0 60000 65536"/>
                <a:gd name="T8" fmla="*/ 0 60000 65536"/>
                <a:gd name="T9" fmla="*/ 0 w 206"/>
                <a:gd name="T10" fmla="*/ 0 h 877"/>
                <a:gd name="T11" fmla="*/ 206 w 206"/>
                <a:gd name="T12" fmla="*/ 877 h 8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" h="877">
                  <a:moveTo>
                    <a:pt x="206" y="877"/>
                  </a:moveTo>
                  <a:lnTo>
                    <a:pt x="0" y="877"/>
                  </a:ln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63" name="Freeform 516"/>
            <p:cNvSpPr>
              <a:spLocks/>
            </p:cNvSpPr>
            <p:nvPr/>
          </p:nvSpPr>
          <p:spPr bwMode="auto">
            <a:xfrm>
              <a:off x="4202" y="3371"/>
              <a:ext cx="91" cy="43"/>
            </a:xfrm>
            <a:custGeom>
              <a:avLst/>
              <a:gdLst>
                <a:gd name="T0" fmla="*/ 91 w 91"/>
                <a:gd name="T1" fmla="*/ 20 h 43"/>
                <a:gd name="T2" fmla="*/ 0 w 91"/>
                <a:gd name="T3" fmla="*/ 0 h 43"/>
                <a:gd name="T4" fmla="*/ 0 w 91"/>
                <a:gd name="T5" fmla="*/ 43 h 43"/>
                <a:gd name="T6" fmla="*/ 91 w 91"/>
                <a:gd name="T7" fmla="*/ 20 h 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43"/>
                <a:gd name="T14" fmla="*/ 91 w 91"/>
                <a:gd name="T15" fmla="*/ 43 h 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43">
                  <a:moveTo>
                    <a:pt x="91" y="2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91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64" name="Rectangle 517"/>
            <p:cNvSpPr>
              <a:spLocks noChangeArrowheads="1"/>
            </p:cNvSpPr>
            <p:nvPr/>
          </p:nvSpPr>
          <p:spPr bwMode="auto">
            <a:xfrm>
              <a:off x="4320" y="3063"/>
              <a:ext cx="86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i0</a:t>
              </a:r>
              <a:endParaRPr lang="en-US" altLang="en-US" sz="1600" dirty="0"/>
            </a:p>
          </p:txBody>
        </p:sp>
        <p:sp>
          <p:nvSpPr>
            <p:cNvPr id="65" name="Rectangle 518"/>
            <p:cNvSpPr>
              <a:spLocks noChangeArrowheads="1"/>
            </p:cNvSpPr>
            <p:nvPr/>
          </p:nvSpPr>
          <p:spPr bwMode="auto">
            <a:xfrm>
              <a:off x="4560" y="2993"/>
              <a:ext cx="11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s0</a:t>
              </a:r>
              <a:endParaRPr lang="en-US" altLang="en-US" sz="1600"/>
            </a:p>
          </p:txBody>
        </p:sp>
        <p:sp>
          <p:nvSpPr>
            <p:cNvPr id="66" name="Rectangle 519"/>
            <p:cNvSpPr>
              <a:spLocks noChangeArrowheads="1"/>
            </p:cNvSpPr>
            <p:nvPr/>
          </p:nvSpPr>
          <p:spPr bwMode="auto">
            <a:xfrm>
              <a:off x="4700" y="3212"/>
              <a:ext cx="61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d</a:t>
              </a:r>
              <a:endParaRPr lang="en-US" altLang="en-US" sz="1600"/>
            </a:p>
          </p:txBody>
        </p:sp>
        <p:sp>
          <p:nvSpPr>
            <p:cNvPr id="67" name="Rectangle 520"/>
            <p:cNvSpPr>
              <a:spLocks noChangeArrowheads="1"/>
            </p:cNvSpPr>
            <p:nvPr/>
          </p:nvSpPr>
          <p:spPr bwMode="auto">
            <a:xfrm>
              <a:off x="4395" y="2993"/>
              <a:ext cx="11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s1</a:t>
              </a:r>
              <a:endParaRPr lang="en-US" altLang="en-US" sz="1600"/>
            </a:p>
          </p:txBody>
        </p:sp>
        <p:sp>
          <p:nvSpPr>
            <p:cNvPr id="68" name="Rectangle 521"/>
            <p:cNvSpPr>
              <a:spLocks noChangeArrowheads="1"/>
            </p:cNvSpPr>
            <p:nvPr/>
          </p:nvSpPr>
          <p:spPr bwMode="auto">
            <a:xfrm>
              <a:off x="4320" y="3160"/>
              <a:ext cx="86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i1</a:t>
              </a:r>
              <a:endParaRPr lang="en-US" altLang="en-US" sz="1600" dirty="0"/>
            </a:p>
          </p:txBody>
        </p:sp>
        <p:sp>
          <p:nvSpPr>
            <p:cNvPr id="69" name="Rectangle 522"/>
            <p:cNvSpPr>
              <a:spLocks noChangeArrowheads="1"/>
            </p:cNvSpPr>
            <p:nvPr/>
          </p:nvSpPr>
          <p:spPr bwMode="auto">
            <a:xfrm>
              <a:off x="4320" y="3250"/>
              <a:ext cx="86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i2</a:t>
              </a:r>
              <a:endParaRPr lang="en-US" altLang="en-US" sz="1600"/>
            </a:p>
          </p:txBody>
        </p:sp>
        <p:sp>
          <p:nvSpPr>
            <p:cNvPr id="70" name="Rectangle 523"/>
            <p:cNvSpPr>
              <a:spLocks noChangeArrowheads="1"/>
            </p:cNvSpPr>
            <p:nvPr/>
          </p:nvSpPr>
          <p:spPr bwMode="auto">
            <a:xfrm>
              <a:off x="4320" y="3347"/>
              <a:ext cx="86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i3</a:t>
              </a:r>
              <a:endParaRPr lang="en-US" altLang="en-US" sz="1600"/>
            </a:p>
          </p:txBody>
        </p:sp>
        <p:sp>
          <p:nvSpPr>
            <p:cNvPr id="71" name="Rectangle 524"/>
            <p:cNvSpPr>
              <a:spLocks noChangeArrowheads="1"/>
            </p:cNvSpPr>
            <p:nvPr/>
          </p:nvSpPr>
          <p:spPr bwMode="auto">
            <a:xfrm>
              <a:off x="4468" y="3169"/>
              <a:ext cx="209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4x1</a:t>
              </a:r>
            </a:p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mux</a:t>
              </a:r>
              <a:endParaRPr lang="en-US" altLang="en-US" sz="1600" dirty="0"/>
            </a:p>
          </p:txBody>
        </p:sp>
        <p:sp>
          <p:nvSpPr>
            <p:cNvPr id="74" name="Rectangle 529"/>
            <p:cNvSpPr>
              <a:spLocks noChangeArrowheads="1"/>
            </p:cNvSpPr>
            <p:nvPr/>
          </p:nvSpPr>
          <p:spPr bwMode="auto">
            <a:xfrm>
              <a:off x="4296" y="2120"/>
              <a:ext cx="469" cy="511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75" name="Rectangle 530"/>
            <p:cNvSpPr>
              <a:spLocks noChangeArrowheads="1"/>
            </p:cNvSpPr>
            <p:nvPr/>
          </p:nvSpPr>
          <p:spPr bwMode="auto">
            <a:xfrm>
              <a:off x="4296" y="1861"/>
              <a:ext cx="560" cy="119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76" name="Rectangle 531"/>
            <p:cNvSpPr>
              <a:spLocks noChangeArrowheads="1"/>
            </p:cNvSpPr>
            <p:nvPr/>
          </p:nvSpPr>
          <p:spPr bwMode="auto">
            <a:xfrm>
              <a:off x="4296" y="2997"/>
              <a:ext cx="469" cy="511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77" name="Rectangle 555"/>
            <p:cNvSpPr>
              <a:spLocks noChangeArrowheads="1"/>
            </p:cNvSpPr>
            <p:nvPr/>
          </p:nvSpPr>
          <p:spPr bwMode="auto">
            <a:xfrm>
              <a:off x="4320" y="2761"/>
              <a:ext cx="566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b="1" dirty="0">
                  <a:solidFill>
                    <a:srgbClr val="00B050"/>
                  </a:solidFill>
                  <a:latin typeface="Helvetica" pitchFamily="34" charset="0"/>
                </a:rPr>
                <a:t>2-bit </a:t>
              </a:r>
              <a:r>
                <a:rPr lang="en-US" altLang="en-US" sz="1600" b="1" dirty="0" err="1">
                  <a:solidFill>
                    <a:srgbClr val="00B050"/>
                  </a:solidFill>
                  <a:latin typeface="Helvetica" pitchFamily="34" charset="0"/>
                </a:rPr>
                <a:t>mem</a:t>
              </a:r>
              <a:endParaRPr lang="en-US" altLang="en-US" sz="1600" b="1" dirty="0">
                <a:solidFill>
                  <a:srgbClr val="00B050"/>
                </a:solidFill>
                <a:latin typeface="Helvetica" pitchFamily="34" charset="0"/>
              </a:endParaRPr>
            </a:p>
          </p:txBody>
        </p:sp>
        <p:sp>
          <p:nvSpPr>
            <p:cNvPr id="79" name="Rectangle 557"/>
            <p:cNvSpPr>
              <a:spLocks noChangeArrowheads="1"/>
            </p:cNvSpPr>
            <p:nvPr/>
          </p:nvSpPr>
          <p:spPr bwMode="auto">
            <a:xfrm>
              <a:off x="4296" y="2745"/>
              <a:ext cx="560" cy="126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80" name="Line 558"/>
            <p:cNvSpPr>
              <a:spLocks noChangeShapeType="1"/>
            </p:cNvSpPr>
            <p:nvPr/>
          </p:nvSpPr>
          <p:spPr bwMode="auto">
            <a:xfrm>
              <a:off x="4756" y="3895"/>
              <a:ext cx="243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  <p:sp>
          <p:nvSpPr>
            <p:cNvPr id="81" name="Freeform 560"/>
            <p:cNvSpPr>
              <a:spLocks/>
            </p:cNvSpPr>
            <p:nvPr/>
          </p:nvSpPr>
          <p:spPr bwMode="auto">
            <a:xfrm>
              <a:off x="4982" y="3872"/>
              <a:ext cx="92" cy="45"/>
            </a:xfrm>
            <a:custGeom>
              <a:avLst/>
              <a:gdLst>
                <a:gd name="T0" fmla="*/ 92 w 92"/>
                <a:gd name="T1" fmla="*/ 23 h 45"/>
                <a:gd name="T2" fmla="*/ 0 w 92"/>
                <a:gd name="T3" fmla="*/ 0 h 45"/>
                <a:gd name="T4" fmla="*/ 0 w 92"/>
                <a:gd name="T5" fmla="*/ 45 h 45"/>
                <a:gd name="T6" fmla="*/ 92 w 92"/>
                <a:gd name="T7" fmla="*/ 23 h 4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2"/>
                <a:gd name="T13" fmla="*/ 0 h 45"/>
                <a:gd name="T14" fmla="*/ 92 w 92"/>
                <a:gd name="T15" fmla="*/ 45 h 4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2" h="45">
                  <a:moveTo>
                    <a:pt x="92" y="23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92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82" name="Rectangle 561"/>
            <p:cNvSpPr>
              <a:spLocks noChangeArrowheads="1"/>
            </p:cNvSpPr>
            <p:nvPr/>
          </p:nvSpPr>
          <p:spPr bwMode="auto">
            <a:xfrm>
              <a:off x="4798" y="3762"/>
              <a:ext cx="123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o2</a:t>
              </a:r>
              <a:endParaRPr lang="en-US" altLang="en-US" sz="1600" dirty="0"/>
            </a:p>
          </p:txBody>
        </p:sp>
        <p:sp>
          <p:nvSpPr>
            <p:cNvPr id="83" name="Rectangle 562"/>
            <p:cNvSpPr>
              <a:spLocks noChangeArrowheads="1"/>
            </p:cNvSpPr>
            <p:nvPr/>
          </p:nvSpPr>
          <p:spPr bwMode="auto">
            <a:xfrm>
              <a:off x="4320" y="3619"/>
              <a:ext cx="493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2-bit mem</a:t>
              </a:r>
              <a:endParaRPr lang="en-US" altLang="en-US" sz="1600"/>
            </a:p>
          </p:txBody>
        </p:sp>
        <p:sp>
          <p:nvSpPr>
            <p:cNvPr id="84" name="Rectangle 563"/>
            <p:cNvSpPr>
              <a:spLocks noChangeArrowheads="1"/>
            </p:cNvSpPr>
            <p:nvPr/>
          </p:nvSpPr>
          <p:spPr bwMode="auto">
            <a:xfrm>
              <a:off x="4727" y="3619"/>
              <a:ext cx="31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.</a:t>
              </a:r>
              <a:endParaRPr lang="en-US" altLang="en-US" sz="1600"/>
            </a:p>
          </p:txBody>
        </p:sp>
        <p:sp>
          <p:nvSpPr>
            <p:cNvPr id="85" name="Rectangle 564"/>
            <p:cNvSpPr>
              <a:spLocks noChangeArrowheads="1"/>
            </p:cNvSpPr>
            <p:nvPr/>
          </p:nvSpPr>
          <p:spPr bwMode="auto">
            <a:xfrm>
              <a:off x="4296" y="3597"/>
              <a:ext cx="517" cy="142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600"/>
            </a:p>
          </p:txBody>
        </p:sp>
        <p:sp>
          <p:nvSpPr>
            <p:cNvPr id="86" name="Rectangle 565"/>
            <p:cNvSpPr>
              <a:spLocks noChangeArrowheads="1"/>
            </p:cNvSpPr>
            <p:nvPr/>
          </p:nvSpPr>
          <p:spPr bwMode="auto">
            <a:xfrm>
              <a:off x="3977" y="3782"/>
              <a:ext cx="737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Likewise for o2</a:t>
              </a:r>
              <a:endParaRPr lang="en-US" altLang="en-US" sz="1600" dirty="0"/>
            </a:p>
          </p:txBody>
        </p:sp>
        <p:sp>
          <p:nvSpPr>
            <p:cNvPr id="91" name="Rectangle 570"/>
            <p:cNvSpPr>
              <a:spLocks noChangeArrowheads="1"/>
            </p:cNvSpPr>
            <p:nvPr/>
          </p:nvSpPr>
          <p:spPr bwMode="auto">
            <a:xfrm>
              <a:off x="4754" y="3782"/>
              <a:ext cx="31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Helvetica" pitchFamily="34" charset="0"/>
                </a:rPr>
                <a:t>.</a:t>
              </a:r>
              <a:endParaRPr lang="en-US" altLang="en-US" sz="1600"/>
            </a:p>
          </p:txBody>
        </p:sp>
        <p:sp>
          <p:nvSpPr>
            <p:cNvPr id="92" name="Rectangle 571"/>
            <p:cNvSpPr>
              <a:spLocks noChangeArrowheads="1"/>
            </p:cNvSpPr>
            <p:nvPr/>
          </p:nvSpPr>
          <p:spPr bwMode="auto">
            <a:xfrm>
              <a:off x="4076" y="3496"/>
              <a:ext cx="93" cy="1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>
                  <a:solidFill>
                    <a:srgbClr val="000000"/>
                  </a:solidFill>
                  <a:latin typeface="Myriad Pro" pitchFamily="34" charset="0"/>
                </a:rPr>
                <a:t>...</a:t>
              </a:r>
              <a:endParaRPr lang="en-US" altLang="en-US" sz="1600"/>
            </a:p>
          </p:txBody>
        </p:sp>
      </p:grpSp>
      <p:sp>
        <p:nvSpPr>
          <p:cNvPr id="205" name="Freeform 553"/>
          <p:cNvSpPr>
            <a:spLocks/>
          </p:cNvSpPr>
          <p:nvPr/>
        </p:nvSpPr>
        <p:spPr bwMode="auto">
          <a:xfrm>
            <a:off x="3020810" y="4897611"/>
            <a:ext cx="3483522" cy="508000"/>
          </a:xfrm>
          <a:custGeom>
            <a:avLst/>
            <a:gdLst>
              <a:gd name="T0" fmla="*/ 2378075 w 524"/>
              <a:gd name="T1" fmla="*/ 0 h 112"/>
              <a:gd name="T2" fmla="*/ 0 w 524"/>
              <a:gd name="T3" fmla="*/ 508000 h 112"/>
              <a:gd name="T4" fmla="*/ 0 60000 65536"/>
              <a:gd name="T5" fmla="*/ 0 60000 65536"/>
              <a:gd name="T6" fmla="*/ 0 w 524"/>
              <a:gd name="T7" fmla="*/ 0 h 112"/>
              <a:gd name="T8" fmla="*/ 524 w 524"/>
              <a:gd name="T9" fmla="*/ 112 h 11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24" h="112">
                <a:moveTo>
                  <a:pt x="524" y="0"/>
                </a:moveTo>
                <a:cubicBezTo>
                  <a:pt x="449" y="55"/>
                  <a:pt x="290" y="112"/>
                  <a:pt x="0" y="112"/>
                </a:cubicBezTo>
              </a:path>
            </a:pathLst>
          </a:custGeom>
          <a:noFill/>
          <a:ln w="17463">
            <a:solidFill>
              <a:srgbClr val="FF0000"/>
            </a:solidFill>
            <a:prstDash val="dash"/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3" name="Group 2"/>
          <p:cNvGrpSpPr/>
          <p:nvPr/>
        </p:nvGrpSpPr>
        <p:grpSpPr>
          <a:xfrm>
            <a:off x="644323" y="2313291"/>
            <a:ext cx="4232275" cy="3247895"/>
            <a:chOff x="1069123" y="2362907"/>
            <a:chExt cx="4232275" cy="3247895"/>
          </a:xfrm>
        </p:grpSpPr>
        <p:sp>
          <p:nvSpPr>
            <p:cNvPr id="95" name="Rectangle 360"/>
            <p:cNvSpPr>
              <a:spLocks noChangeArrowheads="1"/>
            </p:cNvSpPr>
            <p:nvPr/>
          </p:nvSpPr>
          <p:spPr bwMode="auto">
            <a:xfrm>
              <a:off x="1331061" y="2362907"/>
              <a:ext cx="3565525" cy="3247895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6" name="Rectangle 381"/>
            <p:cNvSpPr>
              <a:spLocks noChangeArrowheads="1"/>
            </p:cNvSpPr>
            <p:nvPr/>
          </p:nvSpPr>
          <p:spPr bwMode="auto">
            <a:xfrm>
              <a:off x="1550136" y="2599444"/>
              <a:ext cx="952500" cy="2068513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7" name="Rectangle 382"/>
            <p:cNvSpPr>
              <a:spLocks noChangeArrowheads="1"/>
            </p:cNvSpPr>
            <p:nvPr/>
          </p:nvSpPr>
          <p:spPr bwMode="auto">
            <a:xfrm>
              <a:off x="3790098" y="2599444"/>
              <a:ext cx="957263" cy="2068513"/>
            </a:xfrm>
            <a:prstGeom prst="rect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8" name="Line 383"/>
            <p:cNvSpPr>
              <a:spLocks noChangeShapeType="1"/>
            </p:cNvSpPr>
            <p:nvPr/>
          </p:nvSpPr>
          <p:spPr bwMode="auto">
            <a:xfrm>
              <a:off x="2188311" y="4667957"/>
              <a:ext cx="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99" name="Rectangle 384"/>
            <p:cNvSpPr>
              <a:spLocks noChangeArrowheads="1"/>
            </p:cNvSpPr>
            <p:nvPr/>
          </p:nvSpPr>
          <p:spPr bwMode="auto">
            <a:xfrm>
              <a:off x="1921611" y="2816932"/>
              <a:ext cx="530225" cy="1619250"/>
            </a:xfrm>
            <a:prstGeom prst="rect">
              <a:avLst/>
            </a:prstGeom>
            <a:solidFill>
              <a:srgbClr val="D4E0F3"/>
            </a:solidFill>
            <a:ln w="12700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0" name="Line 385"/>
            <p:cNvSpPr>
              <a:spLocks noChangeShapeType="1"/>
            </p:cNvSpPr>
            <p:nvPr/>
          </p:nvSpPr>
          <p:spPr bwMode="auto">
            <a:xfrm>
              <a:off x="1916848" y="3021719"/>
              <a:ext cx="534988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1" name="Line 386"/>
            <p:cNvSpPr>
              <a:spLocks noChangeShapeType="1"/>
            </p:cNvSpPr>
            <p:nvPr/>
          </p:nvSpPr>
          <p:spPr bwMode="auto">
            <a:xfrm>
              <a:off x="1916848" y="3220157"/>
              <a:ext cx="534988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" name="Line 387"/>
            <p:cNvSpPr>
              <a:spLocks noChangeShapeType="1"/>
            </p:cNvSpPr>
            <p:nvPr/>
          </p:nvSpPr>
          <p:spPr bwMode="auto">
            <a:xfrm>
              <a:off x="1916848" y="3424944"/>
              <a:ext cx="534988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" name="Line 388"/>
            <p:cNvSpPr>
              <a:spLocks noChangeShapeType="1"/>
            </p:cNvSpPr>
            <p:nvPr/>
          </p:nvSpPr>
          <p:spPr bwMode="auto">
            <a:xfrm>
              <a:off x="1916848" y="3628144"/>
              <a:ext cx="534988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" name="Line 389"/>
            <p:cNvSpPr>
              <a:spLocks noChangeShapeType="1"/>
            </p:cNvSpPr>
            <p:nvPr/>
          </p:nvSpPr>
          <p:spPr bwMode="auto">
            <a:xfrm>
              <a:off x="1916848" y="3828169"/>
              <a:ext cx="534988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" name="Line 390"/>
            <p:cNvSpPr>
              <a:spLocks noChangeShapeType="1"/>
            </p:cNvSpPr>
            <p:nvPr/>
          </p:nvSpPr>
          <p:spPr bwMode="auto">
            <a:xfrm>
              <a:off x="1916848" y="4032957"/>
              <a:ext cx="534988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6" name="Line 391"/>
            <p:cNvSpPr>
              <a:spLocks noChangeShapeType="1"/>
            </p:cNvSpPr>
            <p:nvPr/>
          </p:nvSpPr>
          <p:spPr bwMode="auto">
            <a:xfrm>
              <a:off x="1916848" y="4236157"/>
              <a:ext cx="534988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7" name="Rectangle 392"/>
            <p:cNvSpPr>
              <a:spLocks noChangeArrowheads="1"/>
            </p:cNvSpPr>
            <p:nvPr/>
          </p:nvSpPr>
          <p:spPr bwMode="auto">
            <a:xfrm>
              <a:off x="1619986" y="2620082"/>
              <a:ext cx="24447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8x2</a:t>
              </a:r>
              <a:endParaRPr lang="en-US" altLang="en-US"/>
            </a:p>
          </p:txBody>
        </p:sp>
        <p:sp>
          <p:nvSpPr>
            <p:cNvPr id="108" name="Rectangle 395"/>
            <p:cNvSpPr>
              <a:spLocks noChangeArrowheads="1"/>
            </p:cNvSpPr>
            <p:nvPr/>
          </p:nvSpPr>
          <p:spPr bwMode="auto">
            <a:xfrm>
              <a:off x="1902561" y="2620082"/>
              <a:ext cx="3381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Mem</a:t>
              </a:r>
              <a:endParaRPr lang="en-US" altLang="en-US"/>
            </a:p>
          </p:txBody>
        </p:sp>
        <p:sp>
          <p:nvSpPr>
            <p:cNvPr id="109" name="Rectangle 397"/>
            <p:cNvSpPr>
              <a:spLocks noChangeArrowheads="1"/>
            </p:cNvSpPr>
            <p:nvPr/>
          </p:nvSpPr>
          <p:spPr bwMode="auto">
            <a:xfrm>
              <a:off x="2105761" y="2840744"/>
              <a:ext cx="16827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10" name="Rectangle 398"/>
            <p:cNvSpPr>
              <a:spLocks noChangeArrowheads="1"/>
            </p:cNvSpPr>
            <p:nvPr/>
          </p:nvSpPr>
          <p:spPr bwMode="auto">
            <a:xfrm>
              <a:off x="2105761" y="3040769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11" name="Rectangle 399"/>
            <p:cNvSpPr>
              <a:spLocks noChangeArrowheads="1"/>
            </p:cNvSpPr>
            <p:nvPr/>
          </p:nvSpPr>
          <p:spPr bwMode="auto">
            <a:xfrm>
              <a:off x="2105761" y="3242382"/>
              <a:ext cx="16827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12" name="Rectangle 400"/>
            <p:cNvSpPr>
              <a:spLocks noChangeArrowheads="1"/>
            </p:cNvSpPr>
            <p:nvPr/>
          </p:nvSpPr>
          <p:spPr bwMode="auto">
            <a:xfrm>
              <a:off x="2105761" y="3442407"/>
              <a:ext cx="16827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13" name="Rectangle 401"/>
            <p:cNvSpPr>
              <a:spLocks noChangeArrowheads="1"/>
            </p:cNvSpPr>
            <p:nvPr/>
          </p:nvSpPr>
          <p:spPr bwMode="auto">
            <a:xfrm>
              <a:off x="2105761" y="3650369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14" name="Rectangle 402"/>
            <p:cNvSpPr>
              <a:spLocks noChangeArrowheads="1"/>
            </p:cNvSpPr>
            <p:nvPr/>
          </p:nvSpPr>
          <p:spPr bwMode="auto">
            <a:xfrm>
              <a:off x="2105761" y="3847219"/>
              <a:ext cx="16827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15" name="Rectangle 403"/>
            <p:cNvSpPr>
              <a:spLocks noChangeArrowheads="1"/>
            </p:cNvSpPr>
            <p:nvPr/>
          </p:nvSpPr>
          <p:spPr bwMode="auto">
            <a:xfrm>
              <a:off x="2105761" y="4055182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16" name="Rectangle 404"/>
            <p:cNvSpPr>
              <a:spLocks noChangeArrowheads="1"/>
            </p:cNvSpPr>
            <p:nvPr/>
          </p:nvSpPr>
          <p:spPr bwMode="auto">
            <a:xfrm>
              <a:off x="2105761" y="4252032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17" name="Rectangle 405"/>
            <p:cNvSpPr>
              <a:spLocks noChangeArrowheads="1"/>
            </p:cNvSpPr>
            <p:nvPr/>
          </p:nvSpPr>
          <p:spPr bwMode="auto">
            <a:xfrm>
              <a:off x="2223236" y="4485394"/>
              <a:ext cx="19367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D0</a:t>
              </a:r>
              <a:endParaRPr lang="en-US" altLang="en-US"/>
            </a:p>
          </p:txBody>
        </p:sp>
        <p:sp>
          <p:nvSpPr>
            <p:cNvPr id="118" name="Rectangle 406"/>
            <p:cNvSpPr>
              <a:spLocks noChangeArrowheads="1"/>
            </p:cNvSpPr>
            <p:nvPr/>
          </p:nvSpPr>
          <p:spPr bwMode="auto">
            <a:xfrm>
              <a:off x="2004161" y="4485394"/>
              <a:ext cx="19367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D1</a:t>
              </a:r>
              <a:endParaRPr lang="en-US" altLang="en-US"/>
            </a:p>
          </p:txBody>
        </p:sp>
        <p:sp>
          <p:nvSpPr>
            <p:cNvPr id="119" name="Rectangle 407"/>
            <p:cNvSpPr>
              <a:spLocks noChangeArrowheads="1"/>
            </p:cNvSpPr>
            <p:nvPr/>
          </p:nvSpPr>
          <p:spPr bwMode="auto">
            <a:xfrm>
              <a:off x="1810486" y="2840744"/>
              <a:ext cx="84137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20" name="Rectangle 408"/>
            <p:cNvSpPr>
              <a:spLocks noChangeArrowheads="1"/>
            </p:cNvSpPr>
            <p:nvPr/>
          </p:nvSpPr>
          <p:spPr bwMode="auto">
            <a:xfrm>
              <a:off x="1810486" y="3040769"/>
              <a:ext cx="77787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21" name="Rectangle 409"/>
            <p:cNvSpPr>
              <a:spLocks noChangeArrowheads="1"/>
            </p:cNvSpPr>
            <p:nvPr/>
          </p:nvSpPr>
          <p:spPr bwMode="auto">
            <a:xfrm>
              <a:off x="1810486" y="3242382"/>
              <a:ext cx="841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/>
            </a:p>
          </p:txBody>
        </p:sp>
        <p:sp>
          <p:nvSpPr>
            <p:cNvPr id="122" name="Rectangle 410"/>
            <p:cNvSpPr>
              <a:spLocks noChangeArrowheads="1"/>
            </p:cNvSpPr>
            <p:nvPr/>
          </p:nvSpPr>
          <p:spPr bwMode="auto">
            <a:xfrm>
              <a:off x="1810486" y="3442407"/>
              <a:ext cx="84137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/>
            </a:p>
          </p:txBody>
        </p:sp>
        <p:sp>
          <p:nvSpPr>
            <p:cNvPr id="123" name="Rectangle 411"/>
            <p:cNvSpPr>
              <a:spLocks noChangeArrowheads="1"/>
            </p:cNvSpPr>
            <p:nvPr/>
          </p:nvSpPr>
          <p:spPr bwMode="auto">
            <a:xfrm>
              <a:off x="1810486" y="3650369"/>
              <a:ext cx="77787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 altLang="en-US"/>
            </a:p>
          </p:txBody>
        </p:sp>
        <p:sp>
          <p:nvSpPr>
            <p:cNvPr id="124" name="Rectangle 412"/>
            <p:cNvSpPr>
              <a:spLocks noChangeArrowheads="1"/>
            </p:cNvSpPr>
            <p:nvPr/>
          </p:nvSpPr>
          <p:spPr bwMode="auto">
            <a:xfrm>
              <a:off x="1810486" y="3847219"/>
              <a:ext cx="84137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 altLang="en-US"/>
            </a:p>
          </p:txBody>
        </p:sp>
        <p:sp>
          <p:nvSpPr>
            <p:cNvPr id="125" name="Rectangle 413"/>
            <p:cNvSpPr>
              <a:spLocks noChangeArrowheads="1"/>
            </p:cNvSpPr>
            <p:nvPr/>
          </p:nvSpPr>
          <p:spPr bwMode="auto">
            <a:xfrm>
              <a:off x="1810486" y="4055182"/>
              <a:ext cx="77787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6</a:t>
              </a:r>
              <a:endParaRPr lang="en-US" altLang="en-US"/>
            </a:p>
          </p:txBody>
        </p:sp>
        <p:sp>
          <p:nvSpPr>
            <p:cNvPr id="126" name="Rectangle 414"/>
            <p:cNvSpPr>
              <a:spLocks noChangeArrowheads="1"/>
            </p:cNvSpPr>
            <p:nvPr/>
          </p:nvSpPr>
          <p:spPr bwMode="auto">
            <a:xfrm>
              <a:off x="1810486" y="4252032"/>
              <a:ext cx="77787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7</a:t>
              </a:r>
              <a:endParaRPr lang="en-US" altLang="en-US"/>
            </a:p>
          </p:txBody>
        </p:sp>
        <p:sp>
          <p:nvSpPr>
            <p:cNvPr id="127" name="Rectangle 415"/>
            <p:cNvSpPr>
              <a:spLocks noChangeArrowheads="1"/>
            </p:cNvSpPr>
            <p:nvPr/>
          </p:nvSpPr>
          <p:spPr bwMode="auto">
            <a:xfrm>
              <a:off x="1578711" y="3556707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a2</a:t>
              </a:r>
              <a:endParaRPr lang="en-US" altLang="en-US"/>
            </a:p>
          </p:txBody>
        </p:sp>
        <p:sp>
          <p:nvSpPr>
            <p:cNvPr id="128" name="Rectangle 416"/>
            <p:cNvSpPr>
              <a:spLocks noChangeArrowheads="1"/>
            </p:cNvSpPr>
            <p:nvPr/>
          </p:nvSpPr>
          <p:spPr bwMode="auto">
            <a:xfrm>
              <a:off x="1578711" y="3710694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a1</a:t>
              </a:r>
              <a:endParaRPr lang="en-US" altLang="en-US"/>
            </a:p>
          </p:txBody>
        </p:sp>
        <p:sp>
          <p:nvSpPr>
            <p:cNvPr id="129" name="Rectangle 417"/>
            <p:cNvSpPr>
              <a:spLocks noChangeArrowheads="1"/>
            </p:cNvSpPr>
            <p:nvPr/>
          </p:nvSpPr>
          <p:spPr bwMode="auto">
            <a:xfrm>
              <a:off x="1578711" y="3890082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a0</a:t>
              </a:r>
              <a:endParaRPr lang="en-US" altLang="en-US"/>
            </a:p>
          </p:txBody>
        </p:sp>
        <p:sp>
          <p:nvSpPr>
            <p:cNvPr id="130" name="Rectangle 418"/>
            <p:cNvSpPr>
              <a:spLocks noChangeArrowheads="1"/>
            </p:cNvSpPr>
            <p:nvPr/>
          </p:nvSpPr>
          <p:spPr bwMode="auto">
            <a:xfrm>
              <a:off x="1069123" y="3732919"/>
              <a:ext cx="17145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P1</a:t>
              </a:r>
              <a:endParaRPr lang="en-US" altLang="en-US"/>
            </a:p>
          </p:txBody>
        </p:sp>
        <p:sp>
          <p:nvSpPr>
            <p:cNvPr id="131" name="Rectangle 419"/>
            <p:cNvSpPr>
              <a:spLocks noChangeArrowheads="1"/>
            </p:cNvSpPr>
            <p:nvPr/>
          </p:nvSpPr>
          <p:spPr bwMode="auto">
            <a:xfrm>
              <a:off x="1069123" y="3553532"/>
              <a:ext cx="17145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P0</a:t>
              </a:r>
              <a:endParaRPr lang="en-US" altLang="en-US"/>
            </a:p>
          </p:txBody>
        </p:sp>
        <p:sp>
          <p:nvSpPr>
            <p:cNvPr id="132" name="Rectangle 420"/>
            <p:cNvSpPr>
              <a:spLocks noChangeArrowheads="1"/>
            </p:cNvSpPr>
            <p:nvPr/>
          </p:nvSpPr>
          <p:spPr bwMode="auto">
            <a:xfrm>
              <a:off x="5098198" y="4760032"/>
              <a:ext cx="203200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Q0</a:t>
              </a:r>
              <a:endParaRPr lang="en-US" altLang="en-US"/>
            </a:p>
          </p:txBody>
        </p:sp>
        <p:sp>
          <p:nvSpPr>
            <p:cNvPr id="133" name="Rectangle 421"/>
            <p:cNvSpPr>
              <a:spLocks noChangeArrowheads="1"/>
            </p:cNvSpPr>
            <p:nvPr/>
          </p:nvSpPr>
          <p:spPr bwMode="auto">
            <a:xfrm>
              <a:off x="5098198" y="5004507"/>
              <a:ext cx="185738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Q1</a:t>
              </a:r>
              <a:endParaRPr lang="en-US" altLang="en-US"/>
            </a:p>
          </p:txBody>
        </p:sp>
        <p:sp>
          <p:nvSpPr>
            <p:cNvPr id="134" name="Rectangle 422"/>
            <p:cNvSpPr>
              <a:spLocks noChangeArrowheads="1"/>
            </p:cNvSpPr>
            <p:nvPr/>
          </p:nvSpPr>
          <p:spPr bwMode="auto">
            <a:xfrm>
              <a:off x="1069123" y="3898019"/>
              <a:ext cx="17145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P2</a:t>
              </a:r>
              <a:endParaRPr lang="en-US" altLang="en-US"/>
            </a:p>
          </p:txBody>
        </p:sp>
        <p:sp>
          <p:nvSpPr>
            <p:cNvPr id="135" name="Rectangle 423"/>
            <p:cNvSpPr>
              <a:spLocks noChangeArrowheads="1"/>
            </p:cNvSpPr>
            <p:nvPr/>
          </p:nvSpPr>
          <p:spPr bwMode="auto">
            <a:xfrm>
              <a:off x="1069123" y="5136269"/>
              <a:ext cx="17145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P3</a:t>
              </a:r>
              <a:endParaRPr lang="en-US" altLang="en-US"/>
            </a:p>
          </p:txBody>
        </p:sp>
        <p:sp>
          <p:nvSpPr>
            <p:cNvPr id="136" name="Rectangle 424"/>
            <p:cNvSpPr>
              <a:spLocks noChangeArrowheads="1"/>
            </p:cNvSpPr>
            <p:nvPr/>
          </p:nvSpPr>
          <p:spPr bwMode="auto">
            <a:xfrm>
              <a:off x="1069123" y="5310894"/>
              <a:ext cx="171450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P4</a:t>
              </a:r>
              <a:endParaRPr lang="en-US" altLang="en-US"/>
            </a:p>
          </p:txBody>
        </p:sp>
        <p:sp>
          <p:nvSpPr>
            <p:cNvPr id="137" name="Line 431"/>
            <p:cNvSpPr>
              <a:spLocks noChangeShapeType="1"/>
            </p:cNvSpPr>
            <p:nvPr/>
          </p:nvSpPr>
          <p:spPr bwMode="auto">
            <a:xfrm>
              <a:off x="1267561" y="3651957"/>
              <a:ext cx="168275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8" name="Freeform 432"/>
            <p:cNvSpPr>
              <a:spLocks/>
            </p:cNvSpPr>
            <p:nvPr/>
          </p:nvSpPr>
          <p:spPr bwMode="auto">
            <a:xfrm>
              <a:off x="1408848" y="3610682"/>
              <a:ext cx="149225" cy="80962"/>
            </a:xfrm>
            <a:custGeom>
              <a:avLst/>
              <a:gdLst>
                <a:gd name="T0" fmla="*/ 0 w 94"/>
                <a:gd name="T1" fmla="*/ 80962 h 51"/>
                <a:gd name="T2" fmla="*/ 149225 w 94"/>
                <a:gd name="T3" fmla="*/ 41275 h 51"/>
                <a:gd name="T4" fmla="*/ 0 w 94"/>
                <a:gd name="T5" fmla="*/ 0 h 51"/>
                <a:gd name="T6" fmla="*/ 0 w 94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9" name="Rectangle 433"/>
            <p:cNvSpPr>
              <a:spLocks noChangeArrowheads="1"/>
            </p:cNvSpPr>
            <p:nvPr/>
          </p:nvSpPr>
          <p:spPr bwMode="auto">
            <a:xfrm>
              <a:off x="4156811" y="2816932"/>
              <a:ext cx="531812" cy="1619250"/>
            </a:xfrm>
            <a:prstGeom prst="rect">
              <a:avLst/>
            </a:prstGeom>
            <a:solidFill>
              <a:srgbClr val="D4E0F3"/>
            </a:solidFill>
            <a:ln w="12700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0" name="Line 434"/>
            <p:cNvSpPr>
              <a:spLocks noChangeShapeType="1"/>
            </p:cNvSpPr>
            <p:nvPr/>
          </p:nvSpPr>
          <p:spPr bwMode="auto">
            <a:xfrm>
              <a:off x="4153636" y="3021719"/>
              <a:ext cx="534987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1" name="Line 435"/>
            <p:cNvSpPr>
              <a:spLocks noChangeShapeType="1"/>
            </p:cNvSpPr>
            <p:nvPr/>
          </p:nvSpPr>
          <p:spPr bwMode="auto">
            <a:xfrm>
              <a:off x="4153636" y="3220157"/>
              <a:ext cx="534987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2" name="Line 436"/>
            <p:cNvSpPr>
              <a:spLocks noChangeShapeType="1"/>
            </p:cNvSpPr>
            <p:nvPr/>
          </p:nvSpPr>
          <p:spPr bwMode="auto">
            <a:xfrm>
              <a:off x="4153636" y="3424944"/>
              <a:ext cx="534987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" name="Line 437"/>
            <p:cNvSpPr>
              <a:spLocks noChangeShapeType="1"/>
            </p:cNvSpPr>
            <p:nvPr/>
          </p:nvSpPr>
          <p:spPr bwMode="auto">
            <a:xfrm>
              <a:off x="4153636" y="3628144"/>
              <a:ext cx="534987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4" name="Line 438"/>
            <p:cNvSpPr>
              <a:spLocks noChangeShapeType="1"/>
            </p:cNvSpPr>
            <p:nvPr/>
          </p:nvSpPr>
          <p:spPr bwMode="auto">
            <a:xfrm>
              <a:off x="4153636" y="3828169"/>
              <a:ext cx="534987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5" name="Line 439"/>
            <p:cNvSpPr>
              <a:spLocks noChangeShapeType="1"/>
            </p:cNvSpPr>
            <p:nvPr/>
          </p:nvSpPr>
          <p:spPr bwMode="auto">
            <a:xfrm>
              <a:off x="4153636" y="4032957"/>
              <a:ext cx="534987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6" name="Line 440"/>
            <p:cNvSpPr>
              <a:spLocks noChangeShapeType="1"/>
            </p:cNvSpPr>
            <p:nvPr/>
          </p:nvSpPr>
          <p:spPr bwMode="auto">
            <a:xfrm>
              <a:off x="4153636" y="4236157"/>
              <a:ext cx="534987" cy="0"/>
            </a:xfrm>
            <a:prstGeom prst="line">
              <a:avLst/>
            </a:prstGeom>
            <a:noFill/>
            <a:ln w="1270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7" name="Rectangle 441"/>
            <p:cNvSpPr>
              <a:spLocks noChangeArrowheads="1"/>
            </p:cNvSpPr>
            <p:nvPr/>
          </p:nvSpPr>
          <p:spPr bwMode="auto">
            <a:xfrm>
              <a:off x="3877411" y="2620082"/>
              <a:ext cx="24447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8x2</a:t>
              </a:r>
              <a:endParaRPr lang="en-US" altLang="en-US"/>
            </a:p>
          </p:txBody>
        </p:sp>
        <p:sp>
          <p:nvSpPr>
            <p:cNvPr id="148" name="Rectangle 444"/>
            <p:cNvSpPr>
              <a:spLocks noChangeArrowheads="1"/>
            </p:cNvSpPr>
            <p:nvPr/>
          </p:nvSpPr>
          <p:spPr bwMode="auto">
            <a:xfrm>
              <a:off x="4167923" y="2620082"/>
              <a:ext cx="338138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Mem</a:t>
              </a:r>
              <a:endParaRPr lang="en-US" altLang="en-US"/>
            </a:p>
          </p:txBody>
        </p:sp>
        <p:sp>
          <p:nvSpPr>
            <p:cNvPr id="149" name="Rectangle 446"/>
            <p:cNvSpPr>
              <a:spLocks noChangeArrowheads="1"/>
            </p:cNvSpPr>
            <p:nvPr/>
          </p:nvSpPr>
          <p:spPr bwMode="auto">
            <a:xfrm>
              <a:off x="4342548" y="2840744"/>
              <a:ext cx="16827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50" name="Rectangle 447"/>
            <p:cNvSpPr>
              <a:spLocks noChangeArrowheads="1"/>
            </p:cNvSpPr>
            <p:nvPr/>
          </p:nvSpPr>
          <p:spPr bwMode="auto">
            <a:xfrm>
              <a:off x="4342548" y="3040769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51" name="Rectangle 448"/>
            <p:cNvSpPr>
              <a:spLocks noChangeArrowheads="1"/>
            </p:cNvSpPr>
            <p:nvPr/>
          </p:nvSpPr>
          <p:spPr bwMode="auto">
            <a:xfrm>
              <a:off x="4342548" y="3242382"/>
              <a:ext cx="16827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52" name="Rectangle 449"/>
            <p:cNvSpPr>
              <a:spLocks noChangeArrowheads="1"/>
            </p:cNvSpPr>
            <p:nvPr/>
          </p:nvSpPr>
          <p:spPr bwMode="auto">
            <a:xfrm>
              <a:off x="4342548" y="3442407"/>
              <a:ext cx="168275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53" name="Rectangle 450"/>
            <p:cNvSpPr>
              <a:spLocks noChangeArrowheads="1"/>
            </p:cNvSpPr>
            <p:nvPr/>
          </p:nvSpPr>
          <p:spPr bwMode="auto">
            <a:xfrm>
              <a:off x="4342548" y="3650369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54" name="Rectangle 451"/>
            <p:cNvSpPr>
              <a:spLocks noChangeArrowheads="1"/>
            </p:cNvSpPr>
            <p:nvPr/>
          </p:nvSpPr>
          <p:spPr bwMode="auto">
            <a:xfrm>
              <a:off x="4342548" y="3847219"/>
              <a:ext cx="16827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55" name="Rectangle 452"/>
            <p:cNvSpPr>
              <a:spLocks noChangeArrowheads="1"/>
            </p:cNvSpPr>
            <p:nvPr/>
          </p:nvSpPr>
          <p:spPr bwMode="auto">
            <a:xfrm>
              <a:off x="4342548" y="4055182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56" name="Rectangle 453"/>
            <p:cNvSpPr>
              <a:spLocks noChangeArrowheads="1"/>
            </p:cNvSpPr>
            <p:nvPr/>
          </p:nvSpPr>
          <p:spPr bwMode="auto">
            <a:xfrm>
              <a:off x="4342548" y="4252032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157" name="Rectangle 454"/>
            <p:cNvSpPr>
              <a:spLocks noChangeArrowheads="1"/>
            </p:cNvSpPr>
            <p:nvPr/>
          </p:nvSpPr>
          <p:spPr bwMode="auto">
            <a:xfrm>
              <a:off x="4442561" y="4485394"/>
              <a:ext cx="19367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D0</a:t>
              </a:r>
              <a:endParaRPr lang="en-US" altLang="en-US"/>
            </a:p>
          </p:txBody>
        </p:sp>
        <p:sp>
          <p:nvSpPr>
            <p:cNvPr id="158" name="Rectangle 455"/>
            <p:cNvSpPr>
              <a:spLocks noChangeArrowheads="1"/>
            </p:cNvSpPr>
            <p:nvPr/>
          </p:nvSpPr>
          <p:spPr bwMode="auto">
            <a:xfrm>
              <a:off x="4213961" y="4485394"/>
              <a:ext cx="19367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D1</a:t>
              </a:r>
              <a:endParaRPr lang="en-US" altLang="en-US"/>
            </a:p>
          </p:txBody>
        </p:sp>
        <p:sp>
          <p:nvSpPr>
            <p:cNvPr id="159" name="Rectangle 456"/>
            <p:cNvSpPr>
              <a:spLocks noChangeArrowheads="1"/>
            </p:cNvSpPr>
            <p:nvPr/>
          </p:nvSpPr>
          <p:spPr bwMode="auto">
            <a:xfrm>
              <a:off x="4047273" y="2840744"/>
              <a:ext cx="84138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160" name="Rectangle 457"/>
            <p:cNvSpPr>
              <a:spLocks noChangeArrowheads="1"/>
            </p:cNvSpPr>
            <p:nvPr/>
          </p:nvSpPr>
          <p:spPr bwMode="auto">
            <a:xfrm>
              <a:off x="4047273" y="3040769"/>
              <a:ext cx="77788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161" name="Rectangle 458"/>
            <p:cNvSpPr>
              <a:spLocks noChangeArrowheads="1"/>
            </p:cNvSpPr>
            <p:nvPr/>
          </p:nvSpPr>
          <p:spPr bwMode="auto">
            <a:xfrm>
              <a:off x="4047273" y="3242382"/>
              <a:ext cx="84138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/>
            </a:p>
          </p:txBody>
        </p:sp>
        <p:sp>
          <p:nvSpPr>
            <p:cNvPr id="162" name="Rectangle 459"/>
            <p:cNvSpPr>
              <a:spLocks noChangeArrowheads="1"/>
            </p:cNvSpPr>
            <p:nvPr/>
          </p:nvSpPr>
          <p:spPr bwMode="auto">
            <a:xfrm>
              <a:off x="4047273" y="3442407"/>
              <a:ext cx="84138" cy="18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/>
            </a:p>
          </p:txBody>
        </p:sp>
        <p:sp>
          <p:nvSpPr>
            <p:cNvPr id="163" name="Rectangle 460"/>
            <p:cNvSpPr>
              <a:spLocks noChangeArrowheads="1"/>
            </p:cNvSpPr>
            <p:nvPr/>
          </p:nvSpPr>
          <p:spPr bwMode="auto">
            <a:xfrm>
              <a:off x="4047273" y="3650369"/>
              <a:ext cx="77788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 altLang="en-US"/>
            </a:p>
          </p:txBody>
        </p:sp>
        <p:sp>
          <p:nvSpPr>
            <p:cNvPr id="164" name="Rectangle 461"/>
            <p:cNvSpPr>
              <a:spLocks noChangeArrowheads="1"/>
            </p:cNvSpPr>
            <p:nvPr/>
          </p:nvSpPr>
          <p:spPr bwMode="auto">
            <a:xfrm>
              <a:off x="4047273" y="3847219"/>
              <a:ext cx="84138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 altLang="en-US"/>
            </a:p>
          </p:txBody>
        </p:sp>
        <p:sp>
          <p:nvSpPr>
            <p:cNvPr id="165" name="Rectangle 462"/>
            <p:cNvSpPr>
              <a:spLocks noChangeArrowheads="1"/>
            </p:cNvSpPr>
            <p:nvPr/>
          </p:nvSpPr>
          <p:spPr bwMode="auto">
            <a:xfrm>
              <a:off x="4047273" y="4055182"/>
              <a:ext cx="77788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6</a:t>
              </a:r>
              <a:endParaRPr lang="en-US" altLang="en-US"/>
            </a:p>
          </p:txBody>
        </p:sp>
        <p:sp>
          <p:nvSpPr>
            <p:cNvPr id="166" name="Rectangle 463"/>
            <p:cNvSpPr>
              <a:spLocks noChangeArrowheads="1"/>
            </p:cNvSpPr>
            <p:nvPr/>
          </p:nvSpPr>
          <p:spPr bwMode="auto">
            <a:xfrm>
              <a:off x="4047273" y="4252032"/>
              <a:ext cx="77788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7</a:t>
              </a:r>
              <a:endParaRPr lang="en-US" altLang="en-US"/>
            </a:p>
          </p:txBody>
        </p:sp>
        <p:sp>
          <p:nvSpPr>
            <p:cNvPr id="167" name="Rectangle 464"/>
            <p:cNvSpPr>
              <a:spLocks noChangeArrowheads="1"/>
            </p:cNvSpPr>
            <p:nvPr/>
          </p:nvSpPr>
          <p:spPr bwMode="auto">
            <a:xfrm>
              <a:off x="3815498" y="3556707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a2</a:t>
              </a:r>
              <a:endParaRPr lang="en-US" altLang="en-US"/>
            </a:p>
          </p:txBody>
        </p:sp>
        <p:sp>
          <p:nvSpPr>
            <p:cNvPr id="168" name="Rectangle 465"/>
            <p:cNvSpPr>
              <a:spLocks noChangeArrowheads="1"/>
            </p:cNvSpPr>
            <p:nvPr/>
          </p:nvSpPr>
          <p:spPr bwMode="auto">
            <a:xfrm>
              <a:off x="3815498" y="3710694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a1</a:t>
              </a:r>
              <a:endParaRPr lang="en-US" altLang="en-US"/>
            </a:p>
          </p:txBody>
        </p:sp>
        <p:sp>
          <p:nvSpPr>
            <p:cNvPr id="169" name="Rectangle 466"/>
            <p:cNvSpPr>
              <a:spLocks noChangeArrowheads="1"/>
            </p:cNvSpPr>
            <p:nvPr/>
          </p:nvSpPr>
          <p:spPr bwMode="auto">
            <a:xfrm>
              <a:off x="3815498" y="3890082"/>
              <a:ext cx="155575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100">
                  <a:solidFill>
                    <a:srgbClr val="000000"/>
                  </a:solidFill>
                  <a:latin typeface="Helvetica" pitchFamily="34" charset="0"/>
                </a:rPr>
                <a:t>a0</a:t>
              </a:r>
              <a:endParaRPr lang="en-US" altLang="en-US"/>
            </a:p>
          </p:txBody>
        </p:sp>
        <p:sp>
          <p:nvSpPr>
            <p:cNvPr id="170" name="Rectangle 493"/>
            <p:cNvSpPr>
              <a:spLocks noChangeArrowheads="1"/>
            </p:cNvSpPr>
            <p:nvPr/>
          </p:nvSpPr>
          <p:spPr bwMode="auto">
            <a:xfrm>
              <a:off x="2943961" y="2389894"/>
              <a:ext cx="415925" cy="1825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200">
                  <a:solidFill>
                    <a:srgbClr val="000000"/>
                  </a:solidFill>
                  <a:latin typeface="Helvetica" pitchFamily="34" charset="0"/>
                </a:rPr>
                <a:t>FPGA</a:t>
              </a:r>
              <a:endParaRPr lang="en-US" altLang="en-US"/>
            </a:p>
          </p:txBody>
        </p:sp>
        <p:sp>
          <p:nvSpPr>
            <p:cNvPr id="171" name="Freeform 532"/>
            <p:cNvSpPr>
              <a:spLocks/>
            </p:cNvSpPr>
            <p:nvPr/>
          </p:nvSpPr>
          <p:spPr bwMode="auto">
            <a:xfrm>
              <a:off x="2275623" y="4667957"/>
              <a:ext cx="212725" cy="207962"/>
            </a:xfrm>
            <a:custGeom>
              <a:avLst/>
              <a:gdLst>
                <a:gd name="T0" fmla="*/ 0 w 134"/>
                <a:gd name="T1" fmla="*/ 0 h 131"/>
                <a:gd name="T2" fmla="*/ 0 w 134"/>
                <a:gd name="T3" fmla="*/ 207962 h 131"/>
                <a:gd name="T4" fmla="*/ 212725 w 134"/>
                <a:gd name="T5" fmla="*/ 207962 h 131"/>
                <a:gd name="T6" fmla="*/ 0 60000 65536"/>
                <a:gd name="T7" fmla="*/ 0 60000 65536"/>
                <a:gd name="T8" fmla="*/ 0 60000 65536"/>
                <a:gd name="T9" fmla="*/ 0 w 134"/>
                <a:gd name="T10" fmla="*/ 0 h 131"/>
                <a:gd name="T11" fmla="*/ 134 w 134"/>
                <a:gd name="T12" fmla="*/ 131 h 1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" h="131">
                  <a:moveTo>
                    <a:pt x="0" y="0"/>
                  </a:moveTo>
                  <a:lnTo>
                    <a:pt x="0" y="131"/>
                  </a:lnTo>
                  <a:lnTo>
                    <a:pt x="134" y="131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2" name="Freeform 533"/>
            <p:cNvSpPr>
              <a:spLocks/>
            </p:cNvSpPr>
            <p:nvPr/>
          </p:nvSpPr>
          <p:spPr bwMode="auto">
            <a:xfrm>
              <a:off x="2461361" y="4834644"/>
              <a:ext cx="149225" cy="82550"/>
            </a:xfrm>
            <a:custGeom>
              <a:avLst/>
              <a:gdLst>
                <a:gd name="T0" fmla="*/ 0 w 94"/>
                <a:gd name="T1" fmla="*/ 82550 h 52"/>
                <a:gd name="T2" fmla="*/ 149225 w 94"/>
                <a:gd name="T3" fmla="*/ 41275 h 52"/>
                <a:gd name="T4" fmla="*/ 0 w 94"/>
                <a:gd name="T5" fmla="*/ 0 h 52"/>
                <a:gd name="T6" fmla="*/ 0 w 94"/>
                <a:gd name="T7" fmla="*/ 8255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2"/>
                <a:gd name="T14" fmla="*/ 94 w 94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2">
                  <a:moveTo>
                    <a:pt x="0" y="52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3" name="Freeform 534"/>
            <p:cNvSpPr>
              <a:spLocks/>
            </p:cNvSpPr>
            <p:nvPr/>
          </p:nvSpPr>
          <p:spPr bwMode="auto">
            <a:xfrm>
              <a:off x="2124811" y="4675894"/>
              <a:ext cx="363537" cy="373063"/>
            </a:xfrm>
            <a:custGeom>
              <a:avLst/>
              <a:gdLst>
                <a:gd name="T0" fmla="*/ 0 w 229"/>
                <a:gd name="T1" fmla="*/ 0 h 235"/>
                <a:gd name="T2" fmla="*/ 0 w 229"/>
                <a:gd name="T3" fmla="*/ 373063 h 235"/>
                <a:gd name="T4" fmla="*/ 363537 w 229"/>
                <a:gd name="T5" fmla="*/ 373063 h 235"/>
                <a:gd name="T6" fmla="*/ 0 60000 65536"/>
                <a:gd name="T7" fmla="*/ 0 60000 65536"/>
                <a:gd name="T8" fmla="*/ 0 60000 65536"/>
                <a:gd name="T9" fmla="*/ 0 w 229"/>
                <a:gd name="T10" fmla="*/ 0 h 235"/>
                <a:gd name="T11" fmla="*/ 229 w 229"/>
                <a:gd name="T12" fmla="*/ 235 h 2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35">
                  <a:moveTo>
                    <a:pt x="0" y="0"/>
                  </a:moveTo>
                  <a:lnTo>
                    <a:pt x="0" y="235"/>
                  </a:lnTo>
                  <a:lnTo>
                    <a:pt x="229" y="235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4" name="Freeform 535"/>
            <p:cNvSpPr>
              <a:spLocks/>
            </p:cNvSpPr>
            <p:nvPr/>
          </p:nvSpPr>
          <p:spPr bwMode="auto">
            <a:xfrm>
              <a:off x="2461361" y="5007682"/>
              <a:ext cx="149225" cy="80962"/>
            </a:xfrm>
            <a:custGeom>
              <a:avLst/>
              <a:gdLst>
                <a:gd name="T0" fmla="*/ 0 w 94"/>
                <a:gd name="T1" fmla="*/ 80962 h 51"/>
                <a:gd name="T2" fmla="*/ 149225 w 94"/>
                <a:gd name="T3" fmla="*/ 41275 h 51"/>
                <a:gd name="T4" fmla="*/ 0 w 94"/>
                <a:gd name="T5" fmla="*/ 0 h 51"/>
                <a:gd name="T6" fmla="*/ 0 w 94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5" name="Line 536"/>
            <p:cNvSpPr>
              <a:spLocks noChangeShapeType="1"/>
            </p:cNvSpPr>
            <p:nvPr/>
          </p:nvSpPr>
          <p:spPr bwMode="auto">
            <a:xfrm>
              <a:off x="1281848" y="5229932"/>
              <a:ext cx="12065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6" name="Freeform 537"/>
            <p:cNvSpPr>
              <a:spLocks/>
            </p:cNvSpPr>
            <p:nvPr/>
          </p:nvSpPr>
          <p:spPr bwMode="auto">
            <a:xfrm>
              <a:off x="2461361" y="5188657"/>
              <a:ext cx="149225" cy="82550"/>
            </a:xfrm>
            <a:custGeom>
              <a:avLst/>
              <a:gdLst>
                <a:gd name="T0" fmla="*/ 0 w 94"/>
                <a:gd name="T1" fmla="*/ 82550 h 52"/>
                <a:gd name="T2" fmla="*/ 149225 w 94"/>
                <a:gd name="T3" fmla="*/ 41275 h 52"/>
                <a:gd name="T4" fmla="*/ 0 w 94"/>
                <a:gd name="T5" fmla="*/ 0 h 52"/>
                <a:gd name="T6" fmla="*/ 0 w 94"/>
                <a:gd name="T7" fmla="*/ 8255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2"/>
                <a:gd name="T14" fmla="*/ 94 w 94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2">
                  <a:moveTo>
                    <a:pt x="0" y="52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7" name="Line 539"/>
            <p:cNvSpPr>
              <a:spLocks noChangeShapeType="1"/>
            </p:cNvSpPr>
            <p:nvPr/>
          </p:nvSpPr>
          <p:spPr bwMode="auto">
            <a:xfrm>
              <a:off x="1272323" y="5393444"/>
              <a:ext cx="12065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8" name="Freeform 540"/>
            <p:cNvSpPr>
              <a:spLocks/>
            </p:cNvSpPr>
            <p:nvPr/>
          </p:nvSpPr>
          <p:spPr bwMode="auto">
            <a:xfrm>
              <a:off x="2451836" y="5352169"/>
              <a:ext cx="149225" cy="80963"/>
            </a:xfrm>
            <a:custGeom>
              <a:avLst/>
              <a:gdLst>
                <a:gd name="T0" fmla="*/ 0 w 94"/>
                <a:gd name="T1" fmla="*/ 80963 h 51"/>
                <a:gd name="T2" fmla="*/ 149225 w 94"/>
                <a:gd name="T3" fmla="*/ 41275 h 51"/>
                <a:gd name="T4" fmla="*/ 0 w 94"/>
                <a:gd name="T5" fmla="*/ 0 h 51"/>
                <a:gd name="T6" fmla="*/ 0 w 94"/>
                <a:gd name="T7" fmla="*/ 80963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79" name="Group 576"/>
            <p:cNvGrpSpPr>
              <a:grpSpLocks/>
            </p:cNvGrpSpPr>
            <p:nvPr/>
          </p:nvGrpSpPr>
          <p:grpSpPr bwMode="auto">
            <a:xfrm>
              <a:off x="2593123" y="4440944"/>
              <a:ext cx="798513" cy="1079500"/>
              <a:chOff x="1788" y="3054"/>
              <a:chExt cx="503" cy="680"/>
            </a:xfrm>
          </p:grpSpPr>
          <p:sp>
            <p:nvSpPr>
              <p:cNvPr id="180" name="Rectangle 480"/>
              <p:cNvSpPr>
                <a:spLocks noChangeArrowheads="1"/>
              </p:cNvSpPr>
              <p:nvPr/>
            </p:nvSpPr>
            <p:spPr bwMode="auto">
              <a:xfrm>
                <a:off x="1816" y="3279"/>
                <a:ext cx="133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200">
                    <a:solidFill>
                      <a:srgbClr val="000000"/>
                    </a:solidFill>
                    <a:latin typeface="Helvetica" pitchFamily="34" charset="0"/>
                  </a:rPr>
                  <a:t>m0</a:t>
                </a:r>
                <a:endParaRPr lang="en-US" altLang="en-US"/>
              </a:p>
            </p:txBody>
          </p:sp>
          <p:sp>
            <p:nvSpPr>
              <p:cNvPr id="181" name="Rectangle 481"/>
              <p:cNvSpPr>
                <a:spLocks noChangeArrowheads="1"/>
              </p:cNvSpPr>
              <p:nvPr/>
            </p:nvSpPr>
            <p:spPr bwMode="auto">
              <a:xfrm>
                <a:off x="1816" y="3382"/>
                <a:ext cx="122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100">
                    <a:solidFill>
                      <a:srgbClr val="000000"/>
                    </a:solidFill>
                    <a:latin typeface="Helvetica" pitchFamily="34" charset="0"/>
                  </a:rPr>
                  <a:t>m1</a:t>
                </a:r>
                <a:endParaRPr lang="en-US" altLang="en-US"/>
              </a:p>
            </p:txBody>
          </p:sp>
          <p:sp>
            <p:nvSpPr>
              <p:cNvPr id="182" name="Rectangle 482"/>
              <p:cNvSpPr>
                <a:spLocks noChangeArrowheads="1"/>
              </p:cNvSpPr>
              <p:nvPr/>
            </p:nvSpPr>
            <p:spPr bwMode="auto">
              <a:xfrm>
                <a:off x="2172" y="3293"/>
                <a:ext cx="106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200">
                    <a:solidFill>
                      <a:srgbClr val="000000"/>
                    </a:solidFill>
                    <a:latin typeface="Helvetica" pitchFamily="34" charset="0"/>
                  </a:rPr>
                  <a:t>o0</a:t>
                </a:r>
                <a:endParaRPr lang="en-US" altLang="en-US"/>
              </a:p>
            </p:txBody>
          </p:sp>
          <p:sp>
            <p:nvSpPr>
              <p:cNvPr id="183" name="Rectangle 483"/>
              <p:cNvSpPr>
                <a:spLocks noChangeArrowheads="1"/>
              </p:cNvSpPr>
              <p:nvPr/>
            </p:nvSpPr>
            <p:spPr bwMode="auto">
              <a:xfrm>
                <a:off x="2172" y="3440"/>
                <a:ext cx="98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100">
                    <a:solidFill>
                      <a:srgbClr val="000000"/>
                    </a:solidFill>
                    <a:latin typeface="Helvetica" pitchFamily="34" charset="0"/>
                  </a:rPr>
                  <a:t>o1</a:t>
                </a:r>
                <a:endParaRPr lang="en-US" altLang="en-US"/>
              </a:p>
            </p:txBody>
          </p:sp>
          <p:sp>
            <p:nvSpPr>
              <p:cNvPr id="184" name="Rectangle 484"/>
              <p:cNvSpPr>
                <a:spLocks noChangeArrowheads="1"/>
              </p:cNvSpPr>
              <p:nvPr/>
            </p:nvSpPr>
            <p:spPr bwMode="auto">
              <a:xfrm>
                <a:off x="1816" y="3482"/>
                <a:ext cx="122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100">
                    <a:solidFill>
                      <a:srgbClr val="000000"/>
                    </a:solidFill>
                    <a:latin typeface="Helvetica" pitchFamily="34" charset="0"/>
                  </a:rPr>
                  <a:t>m2</a:t>
                </a:r>
                <a:endParaRPr lang="en-US" altLang="en-US"/>
              </a:p>
            </p:txBody>
          </p:sp>
          <p:sp>
            <p:nvSpPr>
              <p:cNvPr id="185" name="Rectangle 485"/>
              <p:cNvSpPr>
                <a:spLocks noChangeArrowheads="1"/>
              </p:cNvSpPr>
              <p:nvPr/>
            </p:nvSpPr>
            <p:spPr bwMode="auto">
              <a:xfrm>
                <a:off x="1816" y="3589"/>
                <a:ext cx="122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100">
                    <a:solidFill>
                      <a:srgbClr val="000000"/>
                    </a:solidFill>
                    <a:latin typeface="Helvetica" pitchFamily="34" charset="0"/>
                  </a:rPr>
                  <a:t>m3</a:t>
                </a:r>
                <a:endParaRPr lang="en-US" altLang="en-US"/>
              </a:p>
            </p:txBody>
          </p:sp>
          <p:sp>
            <p:nvSpPr>
              <p:cNvPr id="186" name="Rectangle 486"/>
              <p:cNvSpPr>
                <a:spLocks noChangeArrowheads="1"/>
              </p:cNvSpPr>
              <p:nvPr/>
            </p:nvSpPr>
            <p:spPr bwMode="auto">
              <a:xfrm>
                <a:off x="1788" y="3054"/>
                <a:ext cx="503" cy="680"/>
              </a:xfrm>
              <a:prstGeom prst="rect">
                <a:avLst/>
              </a:prstGeom>
              <a:noFill/>
              <a:ln w="12700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87" name="Rectangle 487"/>
              <p:cNvSpPr>
                <a:spLocks noChangeArrowheads="1"/>
              </p:cNvSpPr>
              <p:nvPr/>
            </p:nvSpPr>
            <p:spPr bwMode="auto">
              <a:xfrm>
                <a:off x="1909" y="3069"/>
                <a:ext cx="282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200" dirty="0">
                    <a:solidFill>
                      <a:srgbClr val="FF0000"/>
                    </a:solidFill>
                    <a:latin typeface="Helvetica" pitchFamily="34" charset="0"/>
                  </a:rPr>
                  <a:t>Switch</a:t>
                </a:r>
                <a:endParaRPr lang="en-US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8" name="Rectangle 488"/>
              <p:cNvSpPr>
                <a:spLocks noChangeArrowheads="1"/>
              </p:cNvSpPr>
              <p:nvPr/>
            </p:nvSpPr>
            <p:spPr bwMode="auto">
              <a:xfrm>
                <a:off x="1918" y="3172"/>
                <a:ext cx="146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100">
                    <a:solidFill>
                      <a:srgbClr val="FF0000"/>
                    </a:solidFill>
                    <a:latin typeface="Helvetica" pitchFamily="34" charset="0"/>
                  </a:rPr>
                  <a:t>mat</a:t>
                </a:r>
                <a:endParaRPr lang="en-US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89" name="Rectangle 489"/>
              <p:cNvSpPr>
                <a:spLocks noChangeArrowheads="1"/>
              </p:cNvSpPr>
              <p:nvPr/>
            </p:nvSpPr>
            <p:spPr bwMode="auto">
              <a:xfrm>
                <a:off x="2071" y="3172"/>
                <a:ext cx="2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100">
                    <a:solidFill>
                      <a:srgbClr val="FF0000"/>
                    </a:solidFill>
                    <a:latin typeface="Helvetica" pitchFamily="34" charset="0"/>
                  </a:rPr>
                  <a:t>r</a:t>
                </a:r>
                <a:endParaRPr lang="en-US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90" name="Rectangle 490"/>
              <p:cNvSpPr>
                <a:spLocks noChangeArrowheads="1"/>
              </p:cNvSpPr>
              <p:nvPr/>
            </p:nvSpPr>
            <p:spPr bwMode="auto">
              <a:xfrm>
                <a:off x="2103" y="3172"/>
                <a:ext cx="6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100">
                    <a:solidFill>
                      <a:srgbClr val="FF0000"/>
                    </a:solidFill>
                    <a:latin typeface="Helvetica" pitchFamily="34" charset="0"/>
                  </a:rPr>
                  <a:t>ix</a:t>
                </a:r>
                <a:endParaRPr lang="en-US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91" name="Rectangle 491"/>
              <p:cNvSpPr>
                <a:spLocks noChangeArrowheads="1"/>
              </p:cNvSpPr>
              <p:nvPr/>
            </p:nvSpPr>
            <p:spPr bwMode="auto">
              <a:xfrm>
                <a:off x="2005" y="3305"/>
                <a:ext cx="143" cy="97"/>
              </a:xfrm>
              <a:prstGeom prst="rect">
                <a:avLst/>
              </a:prstGeom>
              <a:noFill/>
              <a:ln w="12700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92" name="Rectangle 492"/>
              <p:cNvSpPr>
                <a:spLocks noChangeArrowheads="1"/>
              </p:cNvSpPr>
              <p:nvPr/>
            </p:nvSpPr>
            <p:spPr bwMode="auto">
              <a:xfrm>
                <a:off x="2005" y="3445"/>
                <a:ext cx="143" cy="100"/>
              </a:xfrm>
              <a:prstGeom prst="rect">
                <a:avLst/>
              </a:prstGeom>
              <a:noFill/>
              <a:ln w="12700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93" name="Rectangle 541"/>
              <p:cNvSpPr>
                <a:spLocks noChangeArrowheads="1"/>
              </p:cNvSpPr>
              <p:nvPr/>
            </p:nvSpPr>
            <p:spPr bwMode="auto">
              <a:xfrm>
                <a:off x="2172" y="3582"/>
                <a:ext cx="98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100">
                    <a:solidFill>
                      <a:srgbClr val="000000"/>
                    </a:solidFill>
                    <a:latin typeface="Helvetica" pitchFamily="34" charset="0"/>
                  </a:rPr>
                  <a:t>o2</a:t>
                </a:r>
                <a:endParaRPr lang="en-US" altLang="en-US"/>
              </a:p>
            </p:txBody>
          </p:sp>
          <p:sp>
            <p:nvSpPr>
              <p:cNvPr id="194" name="Rectangle 542"/>
              <p:cNvSpPr>
                <a:spLocks noChangeArrowheads="1"/>
              </p:cNvSpPr>
              <p:nvPr/>
            </p:nvSpPr>
            <p:spPr bwMode="auto">
              <a:xfrm>
                <a:off x="2005" y="3585"/>
                <a:ext cx="143" cy="100"/>
              </a:xfrm>
              <a:prstGeom prst="rect">
                <a:avLst/>
              </a:prstGeom>
              <a:noFill/>
              <a:ln w="12700">
                <a:solidFill>
                  <a:srgbClr val="0079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sp>
          <p:nvSpPr>
            <p:cNvPr id="195" name="Line 543"/>
            <p:cNvSpPr>
              <a:spLocks noChangeShapeType="1"/>
            </p:cNvSpPr>
            <p:nvPr/>
          </p:nvSpPr>
          <p:spPr bwMode="auto">
            <a:xfrm>
              <a:off x="1267561" y="3805944"/>
              <a:ext cx="168275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6" name="Freeform 544"/>
            <p:cNvSpPr>
              <a:spLocks/>
            </p:cNvSpPr>
            <p:nvPr/>
          </p:nvSpPr>
          <p:spPr bwMode="auto">
            <a:xfrm>
              <a:off x="1408848" y="3764669"/>
              <a:ext cx="149225" cy="82550"/>
            </a:xfrm>
            <a:custGeom>
              <a:avLst/>
              <a:gdLst>
                <a:gd name="T0" fmla="*/ 0 w 94"/>
                <a:gd name="T1" fmla="*/ 82550 h 52"/>
                <a:gd name="T2" fmla="*/ 149225 w 94"/>
                <a:gd name="T3" fmla="*/ 41275 h 52"/>
                <a:gd name="T4" fmla="*/ 0 w 94"/>
                <a:gd name="T5" fmla="*/ 0 h 52"/>
                <a:gd name="T6" fmla="*/ 0 w 94"/>
                <a:gd name="T7" fmla="*/ 8255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2"/>
                <a:gd name="T14" fmla="*/ 94 w 94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2">
                  <a:moveTo>
                    <a:pt x="0" y="52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7" name="Line 545"/>
            <p:cNvSpPr>
              <a:spLocks noChangeShapeType="1"/>
            </p:cNvSpPr>
            <p:nvPr/>
          </p:nvSpPr>
          <p:spPr bwMode="auto">
            <a:xfrm>
              <a:off x="1267561" y="3969457"/>
              <a:ext cx="168275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8" name="Freeform 546"/>
            <p:cNvSpPr>
              <a:spLocks/>
            </p:cNvSpPr>
            <p:nvPr/>
          </p:nvSpPr>
          <p:spPr bwMode="auto">
            <a:xfrm>
              <a:off x="1408848" y="3928182"/>
              <a:ext cx="149225" cy="80962"/>
            </a:xfrm>
            <a:custGeom>
              <a:avLst/>
              <a:gdLst>
                <a:gd name="T0" fmla="*/ 0 w 94"/>
                <a:gd name="T1" fmla="*/ 80962 h 51"/>
                <a:gd name="T2" fmla="*/ 149225 w 94"/>
                <a:gd name="T3" fmla="*/ 41275 h 51"/>
                <a:gd name="T4" fmla="*/ 0 w 94"/>
                <a:gd name="T5" fmla="*/ 0 h 51"/>
                <a:gd name="T6" fmla="*/ 0 w 94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9" name="Freeform 547"/>
            <p:cNvSpPr>
              <a:spLocks/>
            </p:cNvSpPr>
            <p:nvPr/>
          </p:nvSpPr>
          <p:spPr bwMode="auto">
            <a:xfrm>
              <a:off x="3394811" y="3651957"/>
              <a:ext cx="282575" cy="1250950"/>
            </a:xfrm>
            <a:custGeom>
              <a:avLst/>
              <a:gdLst>
                <a:gd name="T0" fmla="*/ 282575 w 178"/>
                <a:gd name="T1" fmla="*/ 0 h 788"/>
                <a:gd name="T2" fmla="*/ 95250 w 178"/>
                <a:gd name="T3" fmla="*/ 0 h 788"/>
                <a:gd name="T4" fmla="*/ 95250 w 178"/>
                <a:gd name="T5" fmla="*/ 1250950 h 788"/>
                <a:gd name="T6" fmla="*/ 0 w 178"/>
                <a:gd name="T7" fmla="*/ 1250950 h 7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8"/>
                <a:gd name="T13" fmla="*/ 0 h 788"/>
                <a:gd name="T14" fmla="*/ 178 w 178"/>
                <a:gd name="T15" fmla="*/ 788 h 7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8" h="788">
                  <a:moveTo>
                    <a:pt x="178" y="0"/>
                  </a:moveTo>
                  <a:lnTo>
                    <a:pt x="60" y="0"/>
                  </a:lnTo>
                  <a:lnTo>
                    <a:pt x="60" y="788"/>
                  </a:lnTo>
                  <a:lnTo>
                    <a:pt x="0" y="788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0" name="Freeform 548"/>
            <p:cNvSpPr>
              <a:spLocks/>
            </p:cNvSpPr>
            <p:nvPr/>
          </p:nvSpPr>
          <p:spPr bwMode="auto">
            <a:xfrm>
              <a:off x="3648811" y="3610682"/>
              <a:ext cx="150812" cy="80962"/>
            </a:xfrm>
            <a:custGeom>
              <a:avLst/>
              <a:gdLst>
                <a:gd name="T0" fmla="*/ 0 w 95"/>
                <a:gd name="T1" fmla="*/ 80962 h 51"/>
                <a:gd name="T2" fmla="*/ 150812 w 95"/>
                <a:gd name="T3" fmla="*/ 41275 h 51"/>
                <a:gd name="T4" fmla="*/ 0 w 95"/>
                <a:gd name="T5" fmla="*/ 0 h 51"/>
                <a:gd name="T6" fmla="*/ 0 w 95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51"/>
                <a:gd name="T14" fmla="*/ 95 w 95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51">
                  <a:moveTo>
                    <a:pt x="0" y="51"/>
                  </a:moveTo>
                  <a:lnTo>
                    <a:pt x="95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1" name="Freeform 549"/>
            <p:cNvSpPr>
              <a:spLocks/>
            </p:cNvSpPr>
            <p:nvPr/>
          </p:nvSpPr>
          <p:spPr bwMode="auto">
            <a:xfrm>
              <a:off x="3394811" y="3815469"/>
              <a:ext cx="282575" cy="1331913"/>
            </a:xfrm>
            <a:custGeom>
              <a:avLst/>
              <a:gdLst>
                <a:gd name="T0" fmla="*/ 282575 w 178"/>
                <a:gd name="T1" fmla="*/ 0 h 839"/>
                <a:gd name="T2" fmla="*/ 155575 w 178"/>
                <a:gd name="T3" fmla="*/ 0 h 839"/>
                <a:gd name="T4" fmla="*/ 155575 w 178"/>
                <a:gd name="T5" fmla="*/ 1331913 h 839"/>
                <a:gd name="T6" fmla="*/ 0 w 178"/>
                <a:gd name="T7" fmla="*/ 1331913 h 8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8"/>
                <a:gd name="T13" fmla="*/ 0 h 839"/>
                <a:gd name="T14" fmla="*/ 178 w 178"/>
                <a:gd name="T15" fmla="*/ 839 h 8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8" h="839">
                  <a:moveTo>
                    <a:pt x="178" y="0"/>
                  </a:moveTo>
                  <a:lnTo>
                    <a:pt x="98" y="0"/>
                  </a:lnTo>
                  <a:lnTo>
                    <a:pt x="98" y="839"/>
                  </a:lnTo>
                  <a:lnTo>
                    <a:pt x="0" y="839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2" name="Freeform 550"/>
            <p:cNvSpPr>
              <a:spLocks/>
            </p:cNvSpPr>
            <p:nvPr/>
          </p:nvSpPr>
          <p:spPr bwMode="auto">
            <a:xfrm>
              <a:off x="3648811" y="3774194"/>
              <a:ext cx="150812" cy="80963"/>
            </a:xfrm>
            <a:custGeom>
              <a:avLst/>
              <a:gdLst>
                <a:gd name="T0" fmla="*/ 0 w 95"/>
                <a:gd name="T1" fmla="*/ 80963 h 51"/>
                <a:gd name="T2" fmla="*/ 150812 w 95"/>
                <a:gd name="T3" fmla="*/ 41275 h 51"/>
                <a:gd name="T4" fmla="*/ 0 w 95"/>
                <a:gd name="T5" fmla="*/ 0 h 51"/>
                <a:gd name="T6" fmla="*/ 0 w 95"/>
                <a:gd name="T7" fmla="*/ 80963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51"/>
                <a:gd name="T14" fmla="*/ 95 w 95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51">
                  <a:moveTo>
                    <a:pt x="0" y="51"/>
                  </a:moveTo>
                  <a:lnTo>
                    <a:pt x="95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3" name="Freeform 551"/>
            <p:cNvSpPr>
              <a:spLocks/>
            </p:cNvSpPr>
            <p:nvPr/>
          </p:nvSpPr>
          <p:spPr bwMode="auto">
            <a:xfrm>
              <a:off x="3404336" y="3977394"/>
              <a:ext cx="280987" cy="1397000"/>
            </a:xfrm>
            <a:custGeom>
              <a:avLst/>
              <a:gdLst>
                <a:gd name="T0" fmla="*/ 280987 w 177"/>
                <a:gd name="T1" fmla="*/ 0 h 880"/>
                <a:gd name="T2" fmla="*/ 204787 w 177"/>
                <a:gd name="T3" fmla="*/ 0 h 880"/>
                <a:gd name="T4" fmla="*/ 204787 w 177"/>
                <a:gd name="T5" fmla="*/ 1397000 h 880"/>
                <a:gd name="T6" fmla="*/ 0 w 177"/>
                <a:gd name="T7" fmla="*/ 1397000 h 8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"/>
                <a:gd name="T13" fmla="*/ 0 h 880"/>
                <a:gd name="T14" fmla="*/ 177 w 177"/>
                <a:gd name="T15" fmla="*/ 880 h 8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" h="880">
                  <a:moveTo>
                    <a:pt x="177" y="0"/>
                  </a:moveTo>
                  <a:lnTo>
                    <a:pt x="129" y="0"/>
                  </a:lnTo>
                  <a:lnTo>
                    <a:pt x="129" y="880"/>
                  </a:lnTo>
                  <a:lnTo>
                    <a:pt x="0" y="88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" name="Freeform 552"/>
            <p:cNvSpPr>
              <a:spLocks/>
            </p:cNvSpPr>
            <p:nvPr/>
          </p:nvSpPr>
          <p:spPr bwMode="auto">
            <a:xfrm>
              <a:off x="3658336" y="3937707"/>
              <a:ext cx="149225" cy="80962"/>
            </a:xfrm>
            <a:custGeom>
              <a:avLst/>
              <a:gdLst>
                <a:gd name="T0" fmla="*/ 0 w 94"/>
                <a:gd name="T1" fmla="*/ 80962 h 51"/>
                <a:gd name="T2" fmla="*/ 149225 w 94"/>
                <a:gd name="T3" fmla="*/ 39687 h 51"/>
                <a:gd name="T4" fmla="*/ 0 w 94"/>
                <a:gd name="T5" fmla="*/ 0 h 51"/>
                <a:gd name="T6" fmla="*/ 0 w 94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5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6" name="Freeform 572"/>
            <p:cNvSpPr>
              <a:spLocks/>
            </p:cNvSpPr>
            <p:nvPr/>
          </p:nvSpPr>
          <p:spPr bwMode="auto">
            <a:xfrm>
              <a:off x="4488598" y="4667957"/>
              <a:ext cx="476250" cy="207962"/>
            </a:xfrm>
            <a:custGeom>
              <a:avLst/>
              <a:gdLst>
                <a:gd name="T0" fmla="*/ 0 w 300"/>
                <a:gd name="T1" fmla="*/ 0 h 131"/>
                <a:gd name="T2" fmla="*/ 0 w 300"/>
                <a:gd name="T3" fmla="*/ 207962 h 131"/>
                <a:gd name="T4" fmla="*/ 476250 w 300"/>
                <a:gd name="T5" fmla="*/ 207962 h 131"/>
                <a:gd name="T6" fmla="*/ 0 60000 65536"/>
                <a:gd name="T7" fmla="*/ 0 60000 65536"/>
                <a:gd name="T8" fmla="*/ 0 60000 65536"/>
                <a:gd name="T9" fmla="*/ 0 w 300"/>
                <a:gd name="T10" fmla="*/ 0 h 131"/>
                <a:gd name="T11" fmla="*/ 300 w 300"/>
                <a:gd name="T12" fmla="*/ 131 h 1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0" h="131">
                  <a:moveTo>
                    <a:pt x="0" y="0"/>
                  </a:moveTo>
                  <a:lnTo>
                    <a:pt x="0" y="131"/>
                  </a:lnTo>
                  <a:lnTo>
                    <a:pt x="300" y="131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7" name="Freeform 573"/>
            <p:cNvSpPr>
              <a:spLocks/>
            </p:cNvSpPr>
            <p:nvPr/>
          </p:nvSpPr>
          <p:spPr bwMode="auto">
            <a:xfrm>
              <a:off x="4937861" y="4834644"/>
              <a:ext cx="149225" cy="82550"/>
            </a:xfrm>
            <a:custGeom>
              <a:avLst/>
              <a:gdLst>
                <a:gd name="T0" fmla="*/ 0 w 94"/>
                <a:gd name="T1" fmla="*/ 82550 h 52"/>
                <a:gd name="T2" fmla="*/ 149225 w 94"/>
                <a:gd name="T3" fmla="*/ 41275 h 52"/>
                <a:gd name="T4" fmla="*/ 0 w 94"/>
                <a:gd name="T5" fmla="*/ 0 h 52"/>
                <a:gd name="T6" fmla="*/ 0 w 94"/>
                <a:gd name="T7" fmla="*/ 82550 h 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2"/>
                <a:gd name="T14" fmla="*/ 94 w 94"/>
                <a:gd name="T15" fmla="*/ 52 h 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2">
                  <a:moveTo>
                    <a:pt x="0" y="52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8" name="Freeform 574"/>
            <p:cNvSpPr>
              <a:spLocks/>
            </p:cNvSpPr>
            <p:nvPr/>
          </p:nvSpPr>
          <p:spPr bwMode="auto">
            <a:xfrm>
              <a:off x="4339373" y="4675894"/>
              <a:ext cx="625475" cy="373063"/>
            </a:xfrm>
            <a:custGeom>
              <a:avLst/>
              <a:gdLst>
                <a:gd name="T0" fmla="*/ 0 w 394"/>
                <a:gd name="T1" fmla="*/ 0 h 235"/>
                <a:gd name="T2" fmla="*/ 0 w 394"/>
                <a:gd name="T3" fmla="*/ 373063 h 235"/>
                <a:gd name="T4" fmla="*/ 625475 w 394"/>
                <a:gd name="T5" fmla="*/ 373063 h 235"/>
                <a:gd name="T6" fmla="*/ 0 60000 65536"/>
                <a:gd name="T7" fmla="*/ 0 60000 65536"/>
                <a:gd name="T8" fmla="*/ 0 60000 65536"/>
                <a:gd name="T9" fmla="*/ 0 w 394"/>
                <a:gd name="T10" fmla="*/ 0 h 235"/>
                <a:gd name="T11" fmla="*/ 394 w 394"/>
                <a:gd name="T12" fmla="*/ 235 h 2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4" h="235">
                  <a:moveTo>
                    <a:pt x="0" y="0"/>
                  </a:moveTo>
                  <a:lnTo>
                    <a:pt x="0" y="235"/>
                  </a:lnTo>
                  <a:lnTo>
                    <a:pt x="394" y="235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9" name="Freeform 575"/>
            <p:cNvSpPr>
              <a:spLocks/>
            </p:cNvSpPr>
            <p:nvPr/>
          </p:nvSpPr>
          <p:spPr bwMode="auto">
            <a:xfrm>
              <a:off x="4937861" y="5007682"/>
              <a:ext cx="149225" cy="80962"/>
            </a:xfrm>
            <a:custGeom>
              <a:avLst/>
              <a:gdLst>
                <a:gd name="T0" fmla="*/ 0 w 94"/>
                <a:gd name="T1" fmla="*/ 80962 h 51"/>
                <a:gd name="T2" fmla="*/ 149225 w 94"/>
                <a:gd name="T3" fmla="*/ 41275 h 51"/>
                <a:gd name="T4" fmla="*/ 0 w 94"/>
                <a:gd name="T5" fmla="*/ 0 h 51"/>
                <a:gd name="T6" fmla="*/ 0 w 94"/>
                <a:gd name="T7" fmla="*/ 80962 h 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51"/>
                <a:gd name="T14" fmla="*/ 94 w 94"/>
                <a:gd name="T15" fmla="*/ 51 h 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51">
                  <a:moveTo>
                    <a:pt x="0" y="51"/>
                  </a:moveTo>
                  <a:lnTo>
                    <a:pt x="94" y="26"/>
                  </a:lnTo>
                  <a:lnTo>
                    <a:pt x="0" y="0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10" name="Rectangle 3"/>
          <p:cNvSpPr txBox="1">
            <a:spLocks noChangeArrowheads="1"/>
          </p:cNvSpPr>
          <p:nvPr/>
        </p:nvSpPr>
        <p:spPr bwMode="auto">
          <a:xfrm>
            <a:off x="460800" y="1753200"/>
            <a:ext cx="6319942" cy="45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kern="0" dirty="0"/>
              <a:t>A 2-bit memory is required to program each 4-1 multiplexer </a:t>
            </a:r>
          </a:p>
        </p:txBody>
      </p:sp>
      <p:sp>
        <p:nvSpPr>
          <p:cNvPr id="211" name="Rectangle 500"/>
          <p:cNvSpPr>
            <a:spLocks noChangeArrowheads="1"/>
          </p:cNvSpPr>
          <p:nvPr/>
        </p:nvSpPr>
        <p:spPr bwMode="auto">
          <a:xfrm>
            <a:off x="6145571" y="2101669"/>
            <a:ext cx="112921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 sz="1700" dirty="0">
                <a:solidFill>
                  <a:srgbClr val="FF0000"/>
                </a:solidFill>
                <a:latin typeface="Helvetica" pitchFamily="34" charset="0"/>
              </a:rPr>
              <a:t>Switching matrix</a:t>
            </a:r>
            <a:endParaRPr lang="en-US" altLang="en-US" sz="17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74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39"/>
    </mc:Choice>
    <mc:Fallback xmlns="">
      <p:transition spd="slow" advTm="7663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3.2. Mapping Sequential Circuits 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801" y="1753201"/>
            <a:ext cx="5836558" cy="147492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Include flip-flops at the output of each LUT.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Multiplexers are programmed to output the registered or non-registered LUT output.</a:t>
            </a:r>
          </a:p>
        </p:txBody>
      </p:sp>
      <p:sp>
        <p:nvSpPr>
          <p:cNvPr id="27756" name="Rectangle 116"/>
          <p:cNvSpPr>
            <a:spLocks noChangeArrowheads="1"/>
          </p:cNvSpPr>
          <p:nvPr/>
        </p:nvSpPr>
        <p:spPr bwMode="auto">
          <a:xfrm>
            <a:off x="4331048" y="4471876"/>
            <a:ext cx="187372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LE output flip-flop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27759" name="Rectangle 119"/>
          <p:cNvSpPr>
            <a:spLocks noChangeArrowheads="1"/>
          </p:cNvSpPr>
          <p:nvPr/>
        </p:nvSpPr>
        <p:spPr bwMode="auto">
          <a:xfrm>
            <a:off x="2417504" y="5030184"/>
            <a:ext cx="41270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1-bit memory to configure the LE output 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20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23</a:t>
            </a:fld>
            <a:endParaRPr lang="de-DE" dirty="0"/>
          </a:p>
        </p:txBody>
      </p:sp>
      <p:sp>
        <p:nvSpPr>
          <p:cNvPr id="201" name="Line 213"/>
          <p:cNvSpPr>
            <a:spLocks noChangeShapeType="1"/>
          </p:cNvSpPr>
          <p:nvPr/>
        </p:nvSpPr>
        <p:spPr bwMode="auto">
          <a:xfrm rot="19680665">
            <a:off x="5114775" y="4389348"/>
            <a:ext cx="1509196" cy="943633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4" name="Line 213"/>
          <p:cNvSpPr>
            <a:spLocks noChangeShapeType="1"/>
          </p:cNvSpPr>
          <p:nvPr/>
        </p:nvSpPr>
        <p:spPr bwMode="auto">
          <a:xfrm rot="19680665">
            <a:off x="4987808" y="4898641"/>
            <a:ext cx="1509196" cy="943633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6170239" y="1699268"/>
            <a:ext cx="2268561" cy="4304993"/>
            <a:chOff x="6170514" y="1851826"/>
            <a:chExt cx="1887525" cy="3581914"/>
          </a:xfrm>
        </p:grpSpPr>
        <p:sp>
          <p:nvSpPr>
            <p:cNvPr id="27739" name="Freeform 95"/>
            <p:cNvSpPr>
              <a:spLocks/>
            </p:cNvSpPr>
            <p:nvPr/>
          </p:nvSpPr>
          <p:spPr bwMode="auto">
            <a:xfrm>
              <a:off x="7512843" y="4242686"/>
              <a:ext cx="239626" cy="113030"/>
            </a:xfrm>
            <a:custGeom>
              <a:avLst/>
              <a:gdLst>
                <a:gd name="T0" fmla="*/ 0 w 134"/>
                <a:gd name="T1" fmla="*/ 127000 h 80"/>
                <a:gd name="T2" fmla="*/ 0 w 134"/>
                <a:gd name="T3" fmla="*/ 0 h 80"/>
                <a:gd name="T4" fmla="*/ 212725 w 134"/>
                <a:gd name="T5" fmla="*/ 0 h 80"/>
                <a:gd name="T6" fmla="*/ 0 60000 65536"/>
                <a:gd name="T7" fmla="*/ 0 60000 65536"/>
                <a:gd name="T8" fmla="*/ 0 60000 65536"/>
                <a:gd name="T9" fmla="*/ 0 w 134"/>
                <a:gd name="T10" fmla="*/ 0 h 80"/>
                <a:gd name="T11" fmla="*/ 134 w 134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" h="80">
                  <a:moveTo>
                    <a:pt x="0" y="80"/>
                  </a:moveTo>
                  <a:lnTo>
                    <a:pt x="0" y="0"/>
                  </a:lnTo>
                  <a:lnTo>
                    <a:pt x="134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654" name="Rectangle 8"/>
            <p:cNvSpPr>
              <a:spLocks noChangeArrowheads="1"/>
            </p:cNvSpPr>
            <p:nvPr/>
          </p:nvSpPr>
          <p:spPr bwMode="auto">
            <a:xfrm>
              <a:off x="6844555" y="2069684"/>
              <a:ext cx="946625" cy="2055734"/>
            </a:xfrm>
            <a:prstGeom prst="rect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655" name="Line 9"/>
            <p:cNvSpPr>
              <a:spLocks noChangeShapeType="1"/>
            </p:cNvSpPr>
            <p:nvPr/>
          </p:nvSpPr>
          <p:spPr bwMode="auto">
            <a:xfrm>
              <a:off x="7480349" y="4107050"/>
              <a:ext cx="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56" name="Rectangle 10"/>
            <p:cNvSpPr>
              <a:spLocks noChangeArrowheads="1"/>
            </p:cNvSpPr>
            <p:nvPr/>
          </p:nvSpPr>
          <p:spPr bwMode="auto">
            <a:xfrm>
              <a:off x="7214728" y="2285854"/>
              <a:ext cx="527002" cy="1609264"/>
            </a:xfrm>
            <a:prstGeom prst="rect">
              <a:avLst/>
            </a:prstGeom>
            <a:solidFill>
              <a:srgbClr val="D4E0F3"/>
            </a:solidFill>
            <a:ln w="15875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657" name="Line 11"/>
            <p:cNvSpPr>
              <a:spLocks noChangeShapeType="1"/>
            </p:cNvSpPr>
            <p:nvPr/>
          </p:nvSpPr>
          <p:spPr bwMode="auto">
            <a:xfrm>
              <a:off x="7210490" y="2487895"/>
              <a:ext cx="531241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58" name="Line 12"/>
            <p:cNvSpPr>
              <a:spLocks noChangeShapeType="1"/>
            </p:cNvSpPr>
            <p:nvPr/>
          </p:nvSpPr>
          <p:spPr bwMode="auto">
            <a:xfrm>
              <a:off x="7210490" y="2687111"/>
              <a:ext cx="531241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59" name="Line 13"/>
            <p:cNvSpPr>
              <a:spLocks noChangeShapeType="1"/>
            </p:cNvSpPr>
            <p:nvPr/>
          </p:nvSpPr>
          <p:spPr bwMode="auto">
            <a:xfrm>
              <a:off x="7210490" y="2890565"/>
              <a:ext cx="531241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0" name="Line 14"/>
            <p:cNvSpPr>
              <a:spLocks noChangeShapeType="1"/>
            </p:cNvSpPr>
            <p:nvPr/>
          </p:nvSpPr>
          <p:spPr bwMode="auto">
            <a:xfrm>
              <a:off x="7210490" y="3092606"/>
              <a:ext cx="531241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1" name="Line 15"/>
            <p:cNvSpPr>
              <a:spLocks noChangeShapeType="1"/>
            </p:cNvSpPr>
            <p:nvPr/>
          </p:nvSpPr>
          <p:spPr bwMode="auto">
            <a:xfrm>
              <a:off x="7210490" y="3291822"/>
              <a:ext cx="531241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2" name="Line 16"/>
            <p:cNvSpPr>
              <a:spLocks noChangeShapeType="1"/>
            </p:cNvSpPr>
            <p:nvPr/>
          </p:nvSpPr>
          <p:spPr bwMode="auto">
            <a:xfrm>
              <a:off x="7210490" y="3493862"/>
              <a:ext cx="531241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3" name="Line 17"/>
            <p:cNvSpPr>
              <a:spLocks noChangeShapeType="1"/>
            </p:cNvSpPr>
            <p:nvPr/>
          </p:nvSpPr>
          <p:spPr bwMode="auto">
            <a:xfrm>
              <a:off x="7210490" y="3697316"/>
              <a:ext cx="531241" cy="0"/>
            </a:xfrm>
            <a:prstGeom prst="line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64" name="Rectangle 18"/>
            <p:cNvSpPr>
              <a:spLocks noChangeArrowheads="1"/>
            </p:cNvSpPr>
            <p:nvPr/>
          </p:nvSpPr>
          <p:spPr bwMode="auto">
            <a:xfrm>
              <a:off x="6915198" y="2089464"/>
              <a:ext cx="94897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8x2 </a:t>
              </a:r>
              <a:r>
                <a:rPr lang="en-US" altLang="en-US" sz="1800" dirty="0" err="1">
                  <a:solidFill>
                    <a:srgbClr val="000000"/>
                  </a:solidFill>
                  <a:latin typeface="Helvetica" pitchFamily="34" charset="0"/>
                </a:rPr>
                <a:t>Mem</a:t>
              </a:r>
              <a:endParaRPr lang="en-US" altLang="en-US" sz="1800" dirty="0"/>
            </a:p>
          </p:txBody>
        </p:sp>
        <p:sp>
          <p:nvSpPr>
            <p:cNvPr id="27666" name="Rectangle 22"/>
            <p:cNvSpPr>
              <a:spLocks noChangeArrowheads="1"/>
            </p:cNvSpPr>
            <p:nvPr/>
          </p:nvSpPr>
          <p:spPr bwMode="auto">
            <a:xfrm>
              <a:off x="7469046" y="2089464"/>
              <a:ext cx="64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.</a:t>
              </a:r>
              <a:endParaRPr lang="en-US" altLang="en-US" sz="1800"/>
            </a:p>
          </p:txBody>
        </p:sp>
        <p:sp>
          <p:nvSpPr>
            <p:cNvPr id="27667" name="Rectangle 23"/>
            <p:cNvSpPr>
              <a:spLocks noChangeArrowheads="1"/>
            </p:cNvSpPr>
            <p:nvPr/>
          </p:nvSpPr>
          <p:spPr bwMode="auto">
            <a:xfrm>
              <a:off x="7348952" y="2277203"/>
              <a:ext cx="266752" cy="230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  <a:endParaRPr lang="en-US" altLang="en-US" sz="1800" dirty="0"/>
            </a:p>
          </p:txBody>
        </p:sp>
        <p:sp>
          <p:nvSpPr>
            <p:cNvPr id="27668" name="Rectangle 24"/>
            <p:cNvSpPr>
              <a:spLocks noChangeArrowheads="1"/>
            </p:cNvSpPr>
            <p:nvPr/>
          </p:nvSpPr>
          <p:spPr bwMode="auto">
            <a:xfrm>
              <a:off x="7342968" y="2483091"/>
              <a:ext cx="266752" cy="230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  <a:endParaRPr lang="en-US" altLang="en-US" sz="1800" dirty="0"/>
            </a:p>
          </p:txBody>
        </p:sp>
        <p:sp>
          <p:nvSpPr>
            <p:cNvPr id="27669" name="Rectangle 25"/>
            <p:cNvSpPr>
              <a:spLocks noChangeArrowheads="1"/>
            </p:cNvSpPr>
            <p:nvPr/>
          </p:nvSpPr>
          <p:spPr bwMode="auto">
            <a:xfrm>
              <a:off x="7348952" y="2687450"/>
              <a:ext cx="266752" cy="230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  <a:endParaRPr lang="en-US" altLang="en-US" sz="1800" dirty="0"/>
            </a:p>
          </p:txBody>
        </p:sp>
        <p:sp>
          <p:nvSpPr>
            <p:cNvPr id="27670" name="Rectangle 26"/>
            <p:cNvSpPr>
              <a:spLocks noChangeArrowheads="1"/>
            </p:cNvSpPr>
            <p:nvPr/>
          </p:nvSpPr>
          <p:spPr bwMode="auto">
            <a:xfrm>
              <a:off x="7348952" y="2882448"/>
              <a:ext cx="266752" cy="230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  <a:endParaRPr lang="en-US" altLang="en-US" sz="1800" dirty="0"/>
            </a:p>
          </p:txBody>
        </p:sp>
        <p:sp>
          <p:nvSpPr>
            <p:cNvPr id="27671" name="Rectangle 27"/>
            <p:cNvSpPr>
              <a:spLocks noChangeArrowheads="1"/>
            </p:cNvSpPr>
            <p:nvPr/>
          </p:nvSpPr>
          <p:spPr bwMode="auto">
            <a:xfrm>
              <a:off x="7334342" y="3096410"/>
              <a:ext cx="266752" cy="230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  <a:endParaRPr lang="en-US" altLang="en-US" sz="1800" dirty="0"/>
            </a:p>
          </p:txBody>
        </p:sp>
        <p:sp>
          <p:nvSpPr>
            <p:cNvPr id="27672" name="Rectangle 28"/>
            <p:cNvSpPr>
              <a:spLocks noChangeArrowheads="1"/>
            </p:cNvSpPr>
            <p:nvPr/>
          </p:nvSpPr>
          <p:spPr bwMode="auto">
            <a:xfrm>
              <a:off x="7348907" y="3310188"/>
              <a:ext cx="266752" cy="230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  <a:endParaRPr lang="en-US" altLang="en-US" sz="1800" dirty="0"/>
            </a:p>
          </p:txBody>
        </p:sp>
        <p:sp>
          <p:nvSpPr>
            <p:cNvPr id="27673" name="Rectangle 29"/>
            <p:cNvSpPr>
              <a:spLocks noChangeArrowheads="1"/>
            </p:cNvSpPr>
            <p:nvPr/>
          </p:nvSpPr>
          <p:spPr bwMode="auto">
            <a:xfrm>
              <a:off x="7348907" y="3496951"/>
              <a:ext cx="266752" cy="230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  <a:endParaRPr lang="en-US" altLang="en-US" sz="1800" dirty="0"/>
            </a:p>
          </p:txBody>
        </p:sp>
        <p:sp>
          <p:nvSpPr>
            <p:cNvPr id="27674" name="Rectangle 30"/>
            <p:cNvSpPr>
              <a:spLocks noChangeArrowheads="1"/>
            </p:cNvSpPr>
            <p:nvPr/>
          </p:nvSpPr>
          <p:spPr bwMode="auto">
            <a:xfrm>
              <a:off x="7350672" y="3693417"/>
              <a:ext cx="266752" cy="230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0 0</a:t>
              </a:r>
              <a:endParaRPr lang="en-US" altLang="en-US" sz="1800" dirty="0"/>
            </a:p>
          </p:txBody>
        </p:sp>
        <p:sp>
          <p:nvSpPr>
            <p:cNvPr id="27675" name="Rectangle 31"/>
            <p:cNvSpPr>
              <a:spLocks noChangeArrowheads="1"/>
            </p:cNvSpPr>
            <p:nvPr/>
          </p:nvSpPr>
          <p:spPr bwMode="auto">
            <a:xfrm>
              <a:off x="7103112" y="2311286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800"/>
            </a:p>
          </p:txBody>
        </p:sp>
        <p:sp>
          <p:nvSpPr>
            <p:cNvPr id="27676" name="Rectangle 32"/>
            <p:cNvSpPr>
              <a:spLocks noChangeArrowheads="1"/>
            </p:cNvSpPr>
            <p:nvPr/>
          </p:nvSpPr>
          <p:spPr bwMode="auto">
            <a:xfrm>
              <a:off x="7103112" y="2507675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800"/>
            </a:p>
          </p:txBody>
        </p:sp>
        <p:sp>
          <p:nvSpPr>
            <p:cNvPr id="27677" name="Rectangle 33"/>
            <p:cNvSpPr>
              <a:spLocks noChangeArrowheads="1"/>
            </p:cNvSpPr>
            <p:nvPr/>
          </p:nvSpPr>
          <p:spPr bwMode="auto">
            <a:xfrm>
              <a:off x="7103112" y="2711129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2</a:t>
              </a:r>
              <a:endParaRPr lang="en-US" altLang="en-US" sz="1800"/>
            </a:p>
          </p:txBody>
        </p:sp>
        <p:sp>
          <p:nvSpPr>
            <p:cNvPr id="27678" name="Rectangle 34"/>
            <p:cNvSpPr>
              <a:spLocks noChangeArrowheads="1"/>
            </p:cNvSpPr>
            <p:nvPr/>
          </p:nvSpPr>
          <p:spPr bwMode="auto">
            <a:xfrm>
              <a:off x="7103112" y="2907519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3</a:t>
              </a:r>
              <a:endParaRPr lang="en-US" altLang="en-US" sz="1800"/>
            </a:p>
          </p:txBody>
        </p:sp>
        <p:sp>
          <p:nvSpPr>
            <p:cNvPr id="27679" name="Rectangle 35"/>
            <p:cNvSpPr>
              <a:spLocks noChangeArrowheads="1"/>
            </p:cNvSpPr>
            <p:nvPr/>
          </p:nvSpPr>
          <p:spPr bwMode="auto">
            <a:xfrm>
              <a:off x="7103112" y="3112386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4</a:t>
              </a:r>
              <a:endParaRPr lang="en-US" altLang="en-US" sz="1800"/>
            </a:p>
          </p:txBody>
        </p:sp>
        <p:sp>
          <p:nvSpPr>
            <p:cNvPr id="27680" name="Rectangle 36"/>
            <p:cNvSpPr>
              <a:spLocks noChangeArrowheads="1"/>
            </p:cNvSpPr>
            <p:nvPr/>
          </p:nvSpPr>
          <p:spPr bwMode="auto">
            <a:xfrm>
              <a:off x="7103112" y="3310188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5</a:t>
              </a:r>
              <a:endParaRPr lang="en-US" altLang="en-US" sz="1800"/>
            </a:p>
          </p:txBody>
        </p:sp>
        <p:sp>
          <p:nvSpPr>
            <p:cNvPr id="27681" name="Rectangle 37"/>
            <p:cNvSpPr>
              <a:spLocks noChangeArrowheads="1"/>
            </p:cNvSpPr>
            <p:nvPr/>
          </p:nvSpPr>
          <p:spPr bwMode="auto">
            <a:xfrm>
              <a:off x="7103112" y="3515056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6</a:t>
              </a:r>
              <a:endParaRPr lang="en-US" altLang="en-US" sz="1800"/>
            </a:p>
          </p:txBody>
        </p:sp>
        <p:sp>
          <p:nvSpPr>
            <p:cNvPr id="27682" name="Rectangle 38"/>
            <p:cNvSpPr>
              <a:spLocks noChangeArrowheads="1"/>
            </p:cNvSpPr>
            <p:nvPr/>
          </p:nvSpPr>
          <p:spPr bwMode="auto">
            <a:xfrm>
              <a:off x="7103112" y="3710033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7</a:t>
              </a:r>
              <a:endParaRPr lang="en-US" altLang="en-US" sz="1800"/>
            </a:p>
          </p:txBody>
        </p:sp>
        <p:sp>
          <p:nvSpPr>
            <p:cNvPr id="27683" name="Rectangle 39"/>
            <p:cNvSpPr>
              <a:spLocks noChangeArrowheads="1"/>
            </p:cNvSpPr>
            <p:nvPr/>
          </p:nvSpPr>
          <p:spPr bwMode="auto">
            <a:xfrm>
              <a:off x="6874226" y="3019136"/>
              <a:ext cx="25648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a2</a:t>
              </a:r>
              <a:endParaRPr lang="en-US" altLang="en-US" sz="1800"/>
            </a:p>
          </p:txBody>
        </p:sp>
        <p:sp>
          <p:nvSpPr>
            <p:cNvPr id="27684" name="Rectangle 40"/>
            <p:cNvSpPr>
              <a:spLocks noChangeArrowheads="1"/>
            </p:cNvSpPr>
            <p:nvPr/>
          </p:nvSpPr>
          <p:spPr bwMode="auto">
            <a:xfrm>
              <a:off x="6874226" y="3171727"/>
              <a:ext cx="25648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a1</a:t>
              </a:r>
              <a:endParaRPr lang="en-US" altLang="en-US" sz="1800"/>
            </a:p>
          </p:txBody>
        </p:sp>
        <p:sp>
          <p:nvSpPr>
            <p:cNvPr id="27685" name="Rectangle 41"/>
            <p:cNvSpPr>
              <a:spLocks noChangeArrowheads="1"/>
            </p:cNvSpPr>
            <p:nvPr/>
          </p:nvSpPr>
          <p:spPr bwMode="auto">
            <a:xfrm>
              <a:off x="6874226" y="3352575"/>
              <a:ext cx="25648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rgbClr val="000000"/>
                  </a:solidFill>
                  <a:latin typeface="Helvetica" pitchFamily="34" charset="0"/>
                </a:rPr>
                <a:t>a0</a:t>
              </a:r>
              <a:endParaRPr lang="en-US" altLang="en-US" sz="1800"/>
            </a:p>
          </p:txBody>
        </p:sp>
        <p:sp>
          <p:nvSpPr>
            <p:cNvPr id="27686" name="Rectangle 42"/>
            <p:cNvSpPr>
              <a:spLocks noChangeArrowheads="1"/>
            </p:cNvSpPr>
            <p:nvPr/>
          </p:nvSpPr>
          <p:spPr bwMode="auto">
            <a:xfrm>
              <a:off x="6170514" y="3123891"/>
              <a:ext cx="28212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P1</a:t>
              </a:r>
              <a:endParaRPr lang="en-US" altLang="en-US" sz="1800" dirty="0"/>
            </a:p>
          </p:txBody>
        </p:sp>
        <p:sp>
          <p:nvSpPr>
            <p:cNvPr id="27687" name="Rectangle 43"/>
            <p:cNvSpPr>
              <a:spLocks noChangeArrowheads="1"/>
            </p:cNvSpPr>
            <p:nvPr/>
          </p:nvSpPr>
          <p:spPr bwMode="auto">
            <a:xfrm>
              <a:off x="6170514" y="2877670"/>
              <a:ext cx="28212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P0</a:t>
              </a:r>
              <a:endParaRPr lang="en-US" altLang="en-US" sz="1800" dirty="0"/>
            </a:p>
          </p:txBody>
        </p:sp>
        <p:sp>
          <p:nvSpPr>
            <p:cNvPr id="27690" name="Rectangle 46"/>
            <p:cNvSpPr>
              <a:spLocks noChangeArrowheads="1"/>
            </p:cNvSpPr>
            <p:nvPr/>
          </p:nvSpPr>
          <p:spPr bwMode="auto">
            <a:xfrm>
              <a:off x="6170514" y="3358226"/>
              <a:ext cx="28212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P2</a:t>
              </a:r>
              <a:endParaRPr lang="en-US" altLang="en-US" sz="1800" dirty="0"/>
            </a:p>
          </p:txBody>
        </p:sp>
        <p:sp>
          <p:nvSpPr>
            <p:cNvPr id="27693" name="Line 49"/>
            <p:cNvSpPr>
              <a:spLocks noChangeShapeType="1"/>
            </p:cNvSpPr>
            <p:nvPr/>
          </p:nvSpPr>
          <p:spPr bwMode="auto">
            <a:xfrm>
              <a:off x="6470144" y="3115212"/>
              <a:ext cx="252904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694" name="Freeform 50"/>
            <p:cNvSpPr>
              <a:spLocks/>
            </p:cNvSpPr>
            <p:nvPr/>
          </p:nvSpPr>
          <p:spPr bwMode="auto">
            <a:xfrm>
              <a:off x="6696204" y="3074239"/>
              <a:ext cx="144113" cy="81947"/>
            </a:xfrm>
            <a:custGeom>
              <a:avLst/>
              <a:gdLst>
                <a:gd name="T0" fmla="*/ 0 w 102"/>
                <a:gd name="T1" fmla="*/ 92075 h 58"/>
                <a:gd name="T2" fmla="*/ 161925 w 102"/>
                <a:gd name="T3" fmla="*/ 46038 h 58"/>
                <a:gd name="T4" fmla="*/ 0 w 102"/>
                <a:gd name="T5" fmla="*/ 0 h 58"/>
                <a:gd name="T6" fmla="*/ 0 w 102"/>
                <a:gd name="T7" fmla="*/ 92075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58"/>
                <a:gd name="T14" fmla="*/ 102 w 10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58">
                  <a:moveTo>
                    <a:pt x="0" y="58"/>
                  </a:moveTo>
                  <a:lnTo>
                    <a:pt x="102" y="29"/>
                  </a:lnTo>
                  <a:lnTo>
                    <a:pt x="0" y="0"/>
                  </a:lnTo>
                  <a:lnTo>
                    <a:pt x="0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13" name="Line 69"/>
            <p:cNvSpPr>
              <a:spLocks noChangeShapeType="1"/>
            </p:cNvSpPr>
            <p:nvPr/>
          </p:nvSpPr>
          <p:spPr bwMode="auto">
            <a:xfrm>
              <a:off x="7435137" y="5433740"/>
              <a:ext cx="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18" name="Line 74"/>
            <p:cNvSpPr>
              <a:spLocks noChangeShapeType="1"/>
            </p:cNvSpPr>
            <p:nvPr/>
          </p:nvSpPr>
          <p:spPr bwMode="auto">
            <a:xfrm>
              <a:off x="6470144" y="3269216"/>
              <a:ext cx="252904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19" name="Freeform 75"/>
            <p:cNvSpPr>
              <a:spLocks/>
            </p:cNvSpPr>
            <p:nvPr/>
          </p:nvSpPr>
          <p:spPr bwMode="auto">
            <a:xfrm>
              <a:off x="6696204" y="3228242"/>
              <a:ext cx="144113" cy="80534"/>
            </a:xfrm>
            <a:custGeom>
              <a:avLst/>
              <a:gdLst>
                <a:gd name="T0" fmla="*/ 0 w 102"/>
                <a:gd name="T1" fmla="*/ 90488 h 57"/>
                <a:gd name="T2" fmla="*/ 161925 w 102"/>
                <a:gd name="T3" fmla="*/ 46038 h 57"/>
                <a:gd name="T4" fmla="*/ 0 w 102"/>
                <a:gd name="T5" fmla="*/ 0 h 57"/>
                <a:gd name="T6" fmla="*/ 0 w 102"/>
                <a:gd name="T7" fmla="*/ 90488 h 5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57"/>
                <a:gd name="T14" fmla="*/ 102 w 102"/>
                <a:gd name="T15" fmla="*/ 57 h 5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57">
                  <a:moveTo>
                    <a:pt x="0" y="57"/>
                  </a:moveTo>
                  <a:lnTo>
                    <a:pt x="102" y="29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20" name="Line 76"/>
            <p:cNvSpPr>
              <a:spLocks noChangeShapeType="1"/>
            </p:cNvSpPr>
            <p:nvPr/>
          </p:nvSpPr>
          <p:spPr bwMode="auto">
            <a:xfrm>
              <a:off x="6470144" y="3431696"/>
              <a:ext cx="252904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21" name="Freeform 77"/>
            <p:cNvSpPr>
              <a:spLocks/>
            </p:cNvSpPr>
            <p:nvPr/>
          </p:nvSpPr>
          <p:spPr bwMode="auto">
            <a:xfrm>
              <a:off x="6696204" y="3390723"/>
              <a:ext cx="144113" cy="80533"/>
            </a:xfrm>
            <a:custGeom>
              <a:avLst/>
              <a:gdLst>
                <a:gd name="T0" fmla="*/ 0 w 102"/>
                <a:gd name="T1" fmla="*/ 90487 h 57"/>
                <a:gd name="T2" fmla="*/ 161925 w 102"/>
                <a:gd name="T3" fmla="*/ 46037 h 57"/>
                <a:gd name="T4" fmla="*/ 0 w 102"/>
                <a:gd name="T5" fmla="*/ 0 h 57"/>
                <a:gd name="T6" fmla="*/ 0 w 102"/>
                <a:gd name="T7" fmla="*/ 90487 h 5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57"/>
                <a:gd name="T14" fmla="*/ 102 w 102"/>
                <a:gd name="T15" fmla="*/ 57 h 5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57">
                  <a:moveTo>
                    <a:pt x="0" y="57"/>
                  </a:moveTo>
                  <a:lnTo>
                    <a:pt x="102" y="29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28" name="Rectangle 84"/>
            <p:cNvSpPr>
              <a:spLocks noChangeArrowheads="1"/>
            </p:cNvSpPr>
            <p:nvPr/>
          </p:nvSpPr>
          <p:spPr bwMode="auto">
            <a:xfrm>
              <a:off x="6601541" y="1866230"/>
              <a:ext cx="1456498" cy="3452292"/>
            </a:xfrm>
            <a:prstGeom prst="rect">
              <a:avLst/>
            </a:prstGeom>
            <a:noFill/>
            <a:ln w="20638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29" name="Oval 85"/>
            <p:cNvSpPr>
              <a:spLocks noChangeArrowheads="1"/>
            </p:cNvSpPr>
            <p:nvPr/>
          </p:nvSpPr>
          <p:spPr bwMode="auto">
            <a:xfrm>
              <a:off x="7056486" y="4207365"/>
              <a:ext cx="67818" cy="66405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30" name="Oval 86"/>
            <p:cNvSpPr>
              <a:spLocks noChangeArrowheads="1"/>
            </p:cNvSpPr>
            <p:nvPr/>
          </p:nvSpPr>
          <p:spPr bwMode="auto">
            <a:xfrm>
              <a:off x="7675325" y="4207365"/>
              <a:ext cx="66406" cy="66405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31" name="Line 87"/>
            <p:cNvSpPr>
              <a:spLocks noChangeShapeType="1"/>
            </p:cNvSpPr>
            <p:nvPr/>
          </p:nvSpPr>
          <p:spPr bwMode="auto">
            <a:xfrm>
              <a:off x="7121650" y="4135308"/>
              <a:ext cx="0" cy="62590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32" name="Line 88"/>
            <p:cNvSpPr>
              <a:spLocks noChangeShapeType="1"/>
            </p:cNvSpPr>
            <p:nvPr/>
          </p:nvSpPr>
          <p:spPr bwMode="auto">
            <a:xfrm>
              <a:off x="7741730" y="4135308"/>
              <a:ext cx="0" cy="62590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33" name="Line 89"/>
            <p:cNvSpPr>
              <a:spLocks noChangeShapeType="1"/>
            </p:cNvSpPr>
            <p:nvPr/>
          </p:nvSpPr>
          <p:spPr bwMode="auto">
            <a:xfrm>
              <a:off x="7463394" y="4129656"/>
              <a:ext cx="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34" name="Rectangle 90"/>
            <p:cNvSpPr>
              <a:spLocks noChangeArrowheads="1"/>
            </p:cNvSpPr>
            <p:nvPr/>
          </p:nvSpPr>
          <p:spPr bwMode="auto">
            <a:xfrm>
              <a:off x="7536527" y="3924790"/>
              <a:ext cx="2949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D0</a:t>
              </a:r>
              <a:endParaRPr lang="en-US" altLang="en-US" sz="1800" dirty="0"/>
            </a:p>
          </p:txBody>
        </p:sp>
        <p:sp>
          <p:nvSpPr>
            <p:cNvPr id="27735" name="Rectangle 91"/>
            <p:cNvSpPr>
              <a:spLocks noChangeArrowheads="1"/>
            </p:cNvSpPr>
            <p:nvPr/>
          </p:nvSpPr>
          <p:spPr bwMode="auto">
            <a:xfrm>
              <a:off x="7005533" y="3918432"/>
              <a:ext cx="2949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D1</a:t>
              </a:r>
              <a:endParaRPr lang="en-US" altLang="en-US" sz="1800" dirty="0"/>
            </a:p>
          </p:txBody>
        </p:sp>
        <p:sp>
          <p:nvSpPr>
            <p:cNvPr id="27736" name="Freeform 92"/>
            <p:cNvSpPr>
              <a:spLocks/>
            </p:cNvSpPr>
            <p:nvPr/>
          </p:nvSpPr>
          <p:spPr bwMode="auto">
            <a:xfrm>
              <a:off x="7449265" y="4874242"/>
              <a:ext cx="108792" cy="53689"/>
            </a:xfrm>
            <a:custGeom>
              <a:avLst/>
              <a:gdLst>
                <a:gd name="T0" fmla="*/ 122238 w 77"/>
                <a:gd name="T1" fmla="*/ 30163 h 38"/>
                <a:gd name="T2" fmla="*/ 0 w 77"/>
                <a:gd name="T3" fmla="*/ 0 h 38"/>
                <a:gd name="T4" fmla="*/ 0 w 77"/>
                <a:gd name="T5" fmla="*/ 60325 h 38"/>
                <a:gd name="T6" fmla="*/ 122238 w 77"/>
                <a:gd name="T7" fmla="*/ 30163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"/>
                <a:gd name="T13" fmla="*/ 0 h 38"/>
                <a:gd name="T14" fmla="*/ 77 w 77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" h="38">
                  <a:moveTo>
                    <a:pt x="77" y="19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77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37" name="Line 93"/>
            <p:cNvSpPr>
              <a:spLocks noChangeShapeType="1"/>
            </p:cNvSpPr>
            <p:nvPr/>
          </p:nvSpPr>
          <p:spPr bwMode="auto">
            <a:xfrm>
              <a:off x="7418182" y="4901086"/>
              <a:ext cx="89011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38" name="Freeform 94"/>
            <p:cNvSpPr>
              <a:spLocks/>
            </p:cNvSpPr>
            <p:nvPr/>
          </p:nvSpPr>
          <p:spPr bwMode="auto">
            <a:xfrm>
              <a:off x="6903896" y="4242686"/>
              <a:ext cx="209673" cy="113030"/>
            </a:xfrm>
            <a:custGeom>
              <a:avLst/>
              <a:gdLst>
                <a:gd name="T0" fmla="*/ 0 w 134"/>
                <a:gd name="T1" fmla="*/ 127000 h 80"/>
                <a:gd name="T2" fmla="*/ 0 w 134"/>
                <a:gd name="T3" fmla="*/ 0 h 80"/>
                <a:gd name="T4" fmla="*/ 212725 w 134"/>
                <a:gd name="T5" fmla="*/ 0 h 80"/>
                <a:gd name="T6" fmla="*/ 0 60000 65536"/>
                <a:gd name="T7" fmla="*/ 0 60000 65536"/>
                <a:gd name="T8" fmla="*/ 0 60000 65536"/>
                <a:gd name="T9" fmla="*/ 0 w 134"/>
                <a:gd name="T10" fmla="*/ 0 h 80"/>
                <a:gd name="T11" fmla="*/ 134 w 134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" h="80">
                  <a:moveTo>
                    <a:pt x="0" y="80"/>
                  </a:moveTo>
                  <a:lnTo>
                    <a:pt x="0" y="0"/>
                  </a:lnTo>
                  <a:lnTo>
                    <a:pt x="134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40" name="Line 96"/>
            <p:cNvSpPr>
              <a:spLocks noChangeShapeType="1"/>
            </p:cNvSpPr>
            <p:nvPr/>
          </p:nvSpPr>
          <p:spPr bwMode="auto">
            <a:xfrm>
              <a:off x="6994320" y="4648182"/>
              <a:ext cx="0" cy="11303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41" name="Line 97"/>
            <p:cNvSpPr>
              <a:spLocks noChangeShapeType="1"/>
            </p:cNvSpPr>
            <p:nvPr/>
          </p:nvSpPr>
          <p:spPr bwMode="auto">
            <a:xfrm>
              <a:off x="7611746" y="4648182"/>
              <a:ext cx="0" cy="11303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42" name="Rectangle 98"/>
            <p:cNvSpPr>
              <a:spLocks noChangeArrowheads="1"/>
            </p:cNvSpPr>
            <p:nvPr/>
          </p:nvSpPr>
          <p:spPr bwMode="auto">
            <a:xfrm>
              <a:off x="7305448" y="4804608"/>
              <a:ext cx="106700" cy="230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27743" name="Freeform 99"/>
            <p:cNvSpPr>
              <a:spLocks/>
            </p:cNvSpPr>
            <p:nvPr/>
          </p:nvSpPr>
          <p:spPr bwMode="auto">
            <a:xfrm>
              <a:off x="6831840" y="4874242"/>
              <a:ext cx="107378" cy="53689"/>
            </a:xfrm>
            <a:custGeom>
              <a:avLst/>
              <a:gdLst>
                <a:gd name="T0" fmla="*/ 120650 w 76"/>
                <a:gd name="T1" fmla="*/ 30163 h 38"/>
                <a:gd name="T2" fmla="*/ 0 w 76"/>
                <a:gd name="T3" fmla="*/ 0 h 38"/>
                <a:gd name="T4" fmla="*/ 0 w 76"/>
                <a:gd name="T5" fmla="*/ 60325 h 38"/>
                <a:gd name="T6" fmla="*/ 120650 w 76"/>
                <a:gd name="T7" fmla="*/ 30163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38"/>
                <a:gd name="T14" fmla="*/ 76 w 76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38">
                  <a:moveTo>
                    <a:pt x="76" y="19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76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44" name="Line 100"/>
            <p:cNvSpPr>
              <a:spLocks noChangeShapeType="1"/>
            </p:cNvSpPr>
            <p:nvPr/>
          </p:nvSpPr>
          <p:spPr bwMode="auto">
            <a:xfrm>
              <a:off x="6799343" y="4901086"/>
              <a:ext cx="90424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45" name="Rectangle 101"/>
            <p:cNvSpPr>
              <a:spLocks noChangeArrowheads="1"/>
            </p:cNvSpPr>
            <p:nvPr/>
          </p:nvSpPr>
          <p:spPr bwMode="auto">
            <a:xfrm>
              <a:off x="6688562" y="4804346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b="1" dirty="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 sz="1800" dirty="0">
                <a:solidFill>
                  <a:srgbClr val="FF0000"/>
                </a:solidFill>
              </a:endParaRPr>
            </a:p>
          </p:txBody>
        </p:sp>
        <p:sp>
          <p:nvSpPr>
            <p:cNvPr id="27746" name="Rectangle 102"/>
            <p:cNvSpPr>
              <a:spLocks noChangeArrowheads="1"/>
            </p:cNvSpPr>
            <p:nvPr/>
          </p:nvSpPr>
          <p:spPr bwMode="auto">
            <a:xfrm>
              <a:off x="7741294" y="5076066"/>
              <a:ext cx="274754" cy="204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2x1</a:t>
              </a:r>
              <a:endParaRPr lang="en-US" altLang="en-US" sz="1600" dirty="0"/>
            </a:p>
          </p:txBody>
        </p:sp>
        <p:sp>
          <p:nvSpPr>
            <p:cNvPr id="27747" name="Rectangle 105"/>
            <p:cNvSpPr>
              <a:spLocks noChangeArrowheads="1"/>
            </p:cNvSpPr>
            <p:nvPr/>
          </p:nvSpPr>
          <p:spPr bwMode="auto">
            <a:xfrm>
              <a:off x="6794168" y="5055731"/>
              <a:ext cx="274754" cy="204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2x1</a:t>
              </a:r>
              <a:endParaRPr lang="en-US" altLang="en-US" sz="1600" dirty="0"/>
            </a:p>
          </p:txBody>
        </p:sp>
        <p:sp>
          <p:nvSpPr>
            <p:cNvPr id="27748" name="Freeform 108"/>
            <p:cNvSpPr>
              <a:spLocks/>
            </p:cNvSpPr>
            <p:nvPr/>
          </p:nvSpPr>
          <p:spPr bwMode="auto">
            <a:xfrm>
              <a:off x="6768260" y="4530913"/>
              <a:ext cx="94663" cy="100315"/>
            </a:xfrm>
            <a:custGeom>
              <a:avLst/>
              <a:gdLst>
                <a:gd name="T0" fmla="*/ 0 w 67"/>
                <a:gd name="T1" fmla="*/ 112713 h 71"/>
                <a:gd name="T2" fmla="*/ 106363 w 67"/>
                <a:gd name="T3" fmla="*/ 57150 h 71"/>
                <a:gd name="T4" fmla="*/ 0 w 67"/>
                <a:gd name="T5" fmla="*/ 0 h 71"/>
                <a:gd name="T6" fmla="*/ 0 60000 65536"/>
                <a:gd name="T7" fmla="*/ 0 60000 65536"/>
                <a:gd name="T8" fmla="*/ 0 60000 65536"/>
                <a:gd name="T9" fmla="*/ 0 w 67"/>
                <a:gd name="T10" fmla="*/ 0 h 71"/>
                <a:gd name="T11" fmla="*/ 67 w 67"/>
                <a:gd name="T12" fmla="*/ 71 h 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" h="71">
                  <a:moveTo>
                    <a:pt x="0" y="71"/>
                  </a:moveTo>
                  <a:lnTo>
                    <a:pt x="67" y="3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49" name="Freeform 109"/>
            <p:cNvSpPr>
              <a:spLocks/>
            </p:cNvSpPr>
            <p:nvPr/>
          </p:nvSpPr>
          <p:spPr bwMode="auto">
            <a:xfrm>
              <a:off x="7372970" y="4530913"/>
              <a:ext cx="98901" cy="100315"/>
            </a:xfrm>
            <a:custGeom>
              <a:avLst/>
              <a:gdLst>
                <a:gd name="T0" fmla="*/ 0 w 70"/>
                <a:gd name="T1" fmla="*/ 112713 h 71"/>
                <a:gd name="T2" fmla="*/ 111125 w 70"/>
                <a:gd name="T3" fmla="*/ 57150 h 71"/>
                <a:gd name="T4" fmla="*/ 0 w 70"/>
                <a:gd name="T5" fmla="*/ 0 h 71"/>
                <a:gd name="T6" fmla="*/ 0 60000 65536"/>
                <a:gd name="T7" fmla="*/ 0 60000 65536"/>
                <a:gd name="T8" fmla="*/ 0 60000 65536"/>
                <a:gd name="T9" fmla="*/ 0 w 70"/>
                <a:gd name="T10" fmla="*/ 0 h 71"/>
                <a:gd name="T11" fmla="*/ 70 w 70"/>
                <a:gd name="T12" fmla="*/ 71 h 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0" h="71">
                  <a:moveTo>
                    <a:pt x="0" y="71"/>
                  </a:moveTo>
                  <a:lnTo>
                    <a:pt x="70" y="36"/>
                  </a:lnTo>
                  <a:lnTo>
                    <a:pt x="0" y="0"/>
                  </a:lnTo>
                </a:path>
              </a:pathLst>
            </a:custGeom>
            <a:noFill/>
            <a:ln w="11113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50" name="Rectangle 110"/>
            <p:cNvSpPr>
              <a:spLocks noChangeArrowheads="1"/>
            </p:cNvSpPr>
            <p:nvPr/>
          </p:nvSpPr>
          <p:spPr bwMode="auto">
            <a:xfrm>
              <a:off x="6764022" y="4359955"/>
              <a:ext cx="283987" cy="283987"/>
            </a:xfrm>
            <a:prstGeom prst="rect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51" name="Rectangle 111"/>
            <p:cNvSpPr>
              <a:spLocks noChangeArrowheads="1"/>
            </p:cNvSpPr>
            <p:nvPr/>
          </p:nvSpPr>
          <p:spPr bwMode="auto">
            <a:xfrm>
              <a:off x="6944870" y="4761212"/>
              <a:ext cx="283987" cy="283987"/>
            </a:xfrm>
            <a:prstGeom prst="rect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52" name="Rectangle 112"/>
            <p:cNvSpPr>
              <a:spLocks noChangeArrowheads="1"/>
            </p:cNvSpPr>
            <p:nvPr/>
          </p:nvSpPr>
          <p:spPr bwMode="auto">
            <a:xfrm>
              <a:off x="7372970" y="4359955"/>
              <a:ext cx="283988" cy="283987"/>
            </a:xfrm>
            <a:prstGeom prst="rect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53" name="Freeform 113"/>
            <p:cNvSpPr>
              <a:spLocks/>
            </p:cNvSpPr>
            <p:nvPr/>
          </p:nvSpPr>
          <p:spPr bwMode="auto">
            <a:xfrm>
              <a:off x="7562295" y="4761212"/>
              <a:ext cx="283988" cy="283987"/>
            </a:xfrm>
            <a:custGeom>
              <a:avLst/>
              <a:gdLst>
                <a:gd name="T0" fmla="*/ 161925 w 201"/>
                <a:gd name="T1" fmla="*/ 319087 h 201"/>
                <a:gd name="T2" fmla="*/ 0 w 201"/>
                <a:gd name="T3" fmla="*/ 319087 h 201"/>
                <a:gd name="T4" fmla="*/ 0 w 201"/>
                <a:gd name="T5" fmla="*/ 0 h 201"/>
                <a:gd name="T6" fmla="*/ 319088 w 201"/>
                <a:gd name="T7" fmla="*/ 0 h 201"/>
                <a:gd name="T8" fmla="*/ 319088 w 201"/>
                <a:gd name="T9" fmla="*/ 319087 h 201"/>
                <a:gd name="T10" fmla="*/ 161925 w 201"/>
                <a:gd name="T11" fmla="*/ 319087 h 2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1"/>
                <a:gd name="T19" fmla="*/ 0 h 201"/>
                <a:gd name="T20" fmla="*/ 201 w 201"/>
                <a:gd name="T21" fmla="*/ 201 h 2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1" h="201">
                  <a:moveTo>
                    <a:pt x="102" y="201"/>
                  </a:moveTo>
                  <a:lnTo>
                    <a:pt x="0" y="201"/>
                  </a:lnTo>
                  <a:lnTo>
                    <a:pt x="0" y="0"/>
                  </a:lnTo>
                  <a:lnTo>
                    <a:pt x="201" y="0"/>
                  </a:lnTo>
                  <a:lnTo>
                    <a:pt x="201" y="201"/>
                  </a:lnTo>
                  <a:lnTo>
                    <a:pt x="102" y="201"/>
                  </a:lnTo>
                </a:path>
              </a:pathLst>
            </a:cu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54" name="Rectangle 114"/>
            <p:cNvSpPr>
              <a:spLocks noChangeArrowheads="1"/>
            </p:cNvSpPr>
            <p:nvPr/>
          </p:nvSpPr>
          <p:spPr bwMode="auto">
            <a:xfrm>
              <a:off x="7282546" y="4761212"/>
              <a:ext cx="135636" cy="283987"/>
            </a:xfrm>
            <a:prstGeom prst="rect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55" name="Rectangle 115"/>
            <p:cNvSpPr>
              <a:spLocks noChangeArrowheads="1"/>
            </p:cNvSpPr>
            <p:nvPr/>
          </p:nvSpPr>
          <p:spPr bwMode="auto">
            <a:xfrm>
              <a:off x="6665121" y="4761212"/>
              <a:ext cx="134223" cy="283987"/>
            </a:xfrm>
            <a:prstGeom prst="rect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766" name="Rectangle 126"/>
            <p:cNvSpPr>
              <a:spLocks noChangeArrowheads="1"/>
            </p:cNvSpPr>
            <p:nvPr/>
          </p:nvSpPr>
          <p:spPr bwMode="auto">
            <a:xfrm>
              <a:off x="6963237" y="4751321"/>
              <a:ext cx="94697" cy="204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</a:p>
          </p:txBody>
        </p:sp>
        <p:sp>
          <p:nvSpPr>
            <p:cNvPr id="27767" name="Rectangle 127"/>
            <p:cNvSpPr>
              <a:spLocks noChangeArrowheads="1"/>
            </p:cNvSpPr>
            <p:nvPr/>
          </p:nvSpPr>
          <p:spPr bwMode="auto">
            <a:xfrm>
              <a:off x="7079610" y="4751321"/>
              <a:ext cx="94697" cy="204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</a:p>
          </p:txBody>
        </p:sp>
        <p:sp>
          <p:nvSpPr>
            <p:cNvPr id="27768" name="Rectangle 128"/>
            <p:cNvSpPr>
              <a:spLocks noChangeArrowheads="1"/>
            </p:cNvSpPr>
            <p:nvPr/>
          </p:nvSpPr>
          <p:spPr bwMode="auto">
            <a:xfrm>
              <a:off x="7580663" y="4751321"/>
              <a:ext cx="94697" cy="204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 sz="1600" dirty="0"/>
            </a:p>
          </p:txBody>
        </p:sp>
        <p:sp>
          <p:nvSpPr>
            <p:cNvPr id="27769" name="Rectangle 129"/>
            <p:cNvSpPr>
              <a:spLocks noChangeArrowheads="1"/>
            </p:cNvSpPr>
            <p:nvPr/>
          </p:nvSpPr>
          <p:spPr bwMode="auto">
            <a:xfrm>
              <a:off x="7710279" y="4751321"/>
              <a:ext cx="94697" cy="204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 sz="1600" dirty="0"/>
            </a:p>
          </p:txBody>
        </p:sp>
        <p:sp>
          <p:nvSpPr>
            <p:cNvPr id="27772" name="Rectangle 132"/>
            <p:cNvSpPr>
              <a:spLocks noChangeArrowheads="1"/>
            </p:cNvSpPr>
            <p:nvPr/>
          </p:nvSpPr>
          <p:spPr bwMode="auto">
            <a:xfrm>
              <a:off x="7138227" y="1851826"/>
              <a:ext cx="28212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LE</a:t>
              </a:r>
              <a:endParaRPr lang="en-US" altLang="en-US" sz="1800" dirty="0"/>
            </a:p>
          </p:txBody>
        </p:sp>
        <p:sp>
          <p:nvSpPr>
            <p:cNvPr id="27785" name="Rectangle 147"/>
            <p:cNvSpPr>
              <a:spLocks noChangeArrowheads="1"/>
            </p:cNvSpPr>
            <p:nvPr/>
          </p:nvSpPr>
          <p:spPr bwMode="auto">
            <a:xfrm>
              <a:off x="7995562" y="2089464"/>
              <a:ext cx="40973" cy="176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.</a:t>
              </a:r>
              <a:endParaRPr lang="en-US" altLang="en-US"/>
            </a:p>
          </p:txBody>
        </p:sp>
        <p:sp>
          <p:nvSpPr>
            <p:cNvPr id="27798" name="Rectangle 160"/>
            <p:cNvSpPr>
              <a:spLocks noChangeArrowheads="1"/>
            </p:cNvSpPr>
            <p:nvPr/>
          </p:nvSpPr>
          <p:spPr bwMode="auto">
            <a:xfrm>
              <a:off x="7631040" y="3113799"/>
              <a:ext cx="6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dirty="0"/>
            </a:p>
          </p:txBody>
        </p:sp>
        <p:sp>
          <p:nvSpPr>
            <p:cNvPr id="27809" name="Line 171"/>
            <p:cNvSpPr>
              <a:spLocks noChangeShapeType="1"/>
            </p:cNvSpPr>
            <p:nvPr/>
          </p:nvSpPr>
          <p:spPr bwMode="auto">
            <a:xfrm>
              <a:off x="7963065" y="5433740"/>
              <a:ext cx="0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843" name="Freeform 210"/>
            <p:cNvSpPr>
              <a:spLocks/>
            </p:cNvSpPr>
            <p:nvPr/>
          </p:nvSpPr>
          <p:spPr bwMode="auto">
            <a:xfrm>
              <a:off x="6352875" y="4152262"/>
              <a:ext cx="334852" cy="244428"/>
            </a:xfrm>
            <a:custGeom>
              <a:avLst/>
              <a:gdLst>
                <a:gd name="T0" fmla="*/ 0 w 237"/>
                <a:gd name="T1" fmla="*/ 0 h 173"/>
                <a:gd name="T2" fmla="*/ 376238 w 237"/>
                <a:gd name="T3" fmla="*/ 274638 h 173"/>
                <a:gd name="T4" fmla="*/ 0 w 237"/>
                <a:gd name="T5" fmla="*/ 0 h 173"/>
                <a:gd name="T6" fmla="*/ 0 60000 65536"/>
                <a:gd name="T7" fmla="*/ 0 60000 65536"/>
                <a:gd name="T8" fmla="*/ 0 60000 65536"/>
                <a:gd name="T9" fmla="*/ 0 w 237"/>
                <a:gd name="T10" fmla="*/ 0 h 173"/>
                <a:gd name="T11" fmla="*/ 237 w 237"/>
                <a:gd name="T12" fmla="*/ 173 h 1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7" h="173">
                  <a:moveTo>
                    <a:pt x="0" y="0"/>
                  </a:moveTo>
                  <a:lnTo>
                    <a:pt x="237" y="1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844" name="Line 211"/>
            <p:cNvSpPr>
              <a:spLocks noChangeShapeType="1"/>
            </p:cNvSpPr>
            <p:nvPr/>
          </p:nvSpPr>
          <p:spPr bwMode="auto">
            <a:xfrm>
              <a:off x="6352875" y="4152262"/>
              <a:ext cx="334852" cy="24442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848" name="Freeform 215"/>
            <p:cNvSpPr>
              <a:spLocks/>
            </p:cNvSpPr>
            <p:nvPr/>
          </p:nvSpPr>
          <p:spPr bwMode="auto">
            <a:xfrm>
              <a:off x="6335921" y="4901086"/>
              <a:ext cx="261382" cy="216170"/>
            </a:xfrm>
            <a:custGeom>
              <a:avLst/>
              <a:gdLst>
                <a:gd name="T0" fmla="*/ 0 w 185"/>
                <a:gd name="T1" fmla="*/ 242888 h 153"/>
                <a:gd name="T2" fmla="*/ 293688 w 185"/>
                <a:gd name="T3" fmla="*/ 0 h 153"/>
                <a:gd name="T4" fmla="*/ 0 w 185"/>
                <a:gd name="T5" fmla="*/ 242888 h 153"/>
                <a:gd name="T6" fmla="*/ 0 60000 65536"/>
                <a:gd name="T7" fmla="*/ 0 60000 65536"/>
                <a:gd name="T8" fmla="*/ 0 60000 65536"/>
                <a:gd name="T9" fmla="*/ 0 w 185"/>
                <a:gd name="T10" fmla="*/ 0 h 153"/>
                <a:gd name="T11" fmla="*/ 185 w 185"/>
                <a:gd name="T12" fmla="*/ 153 h 1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5" h="153">
                  <a:moveTo>
                    <a:pt x="0" y="153"/>
                  </a:moveTo>
                  <a:lnTo>
                    <a:pt x="185" y="0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7849" name="Line 216"/>
            <p:cNvSpPr>
              <a:spLocks noChangeShapeType="1"/>
            </p:cNvSpPr>
            <p:nvPr/>
          </p:nvSpPr>
          <p:spPr bwMode="auto">
            <a:xfrm flipV="1">
              <a:off x="6335921" y="4901086"/>
              <a:ext cx="261382" cy="21617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2" name="Freeform 214"/>
            <p:cNvSpPr>
              <a:spLocks/>
            </p:cNvSpPr>
            <p:nvPr/>
          </p:nvSpPr>
          <p:spPr bwMode="auto">
            <a:xfrm rot="19680665">
              <a:off x="6571259" y="4411415"/>
              <a:ext cx="144113" cy="121507"/>
            </a:xfrm>
            <a:custGeom>
              <a:avLst/>
              <a:gdLst>
                <a:gd name="T0" fmla="*/ 0 w 102"/>
                <a:gd name="T1" fmla="*/ 69850 h 86"/>
                <a:gd name="T2" fmla="*/ 161925 w 102"/>
                <a:gd name="T3" fmla="*/ 136525 h 86"/>
                <a:gd name="T4" fmla="*/ 50800 w 102"/>
                <a:gd name="T5" fmla="*/ 0 h 86"/>
                <a:gd name="T6" fmla="*/ 0 w 102"/>
                <a:gd name="T7" fmla="*/ 69850 h 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86"/>
                <a:gd name="T14" fmla="*/ 102 w 102"/>
                <a:gd name="T15" fmla="*/ 86 h 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86">
                  <a:moveTo>
                    <a:pt x="0" y="44"/>
                  </a:moveTo>
                  <a:lnTo>
                    <a:pt x="102" y="86"/>
                  </a:lnTo>
                  <a:lnTo>
                    <a:pt x="32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  <p:sp>
          <p:nvSpPr>
            <p:cNvPr id="205" name="Freeform 214"/>
            <p:cNvSpPr>
              <a:spLocks/>
            </p:cNvSpPr>
            <p:nvPr/>
          </p:nvSpPr>
          <p:spPr bwMode="auto">
            <a:xfrm rot="19680665">
              <a:off x="6513038" y="4837356"/>
              <a:ext cx="144113" cy="121507"/>
            </a:xfrm>
            <a:custGeom>
              <a:avLst/>
              <a:gdLst>
                <a:gd name="T0" fmla="*/ 0 w 102"/>
                <a:gd name="T1" fmla="*/ 69850 h 86"/>
                <a:gd name="T2" fmla="*/ 161925 w 102"/>
                <a:gd name="T3" fmla="*/ 136525 h 86"/>
                <a:gd name="T4" fmla="*/ 50800 w 102"/>
                <a:gd name="T5" fmla="*/ 0 h 86"/>
                <a:gd name="T6" fmla="*/ 0 w 102"/>
                <a:gd name="T7" fmla="*/ 69850 h 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86"/>
                <a:gd name="T14" fmla="*/ 102 w 102"/>
                <a:gd name="T15" fmla="*/ 86 h 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86">
                  <a:moveTo>
                    <a:pt x="0" y="44"/>
                  </a:moveTo>
                  <a:lnTo>
                    <a:pt x="102" y="86"/>
                  </a:lnTo>
                  <a:lnTo>
                    <a:pt x="32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 sz="180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7223059" y="5580729"/>
            <a:ext cx="216121" cy="463189"/>
            <a:chOff x="4131493" y="5437209"/>
            <a:chExt cx="216121" cy="463189"/>
          </a:xfrm>
        </p:grpSpPr>
        <p:sp>
          <p:nvSpPr>
            <p:cNvPr id="206" name="Line 213"/>
            <p:cNvSpPr>
              <a:spLocks noChangeAspect="1" noChangeShapeType="1"/>
            </p:cNvSpPr>
            <p:nvPr/>
          </p:nvSpPr>
          <p:spPr bwMode="auto">
            <a:xfrm rot="3480665">
              <a:off x="4066731" y="5501971"/>
              <a:ext cx="345645" cy="21612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8" name="Freeform 214"/>
            <p:cNvSpPr>
              <a:spLocks/>
            </p:cNvSpPr>
            <p:nvPr/>
          </p:nvSpPr>
          <p:spPr bwMode="auto">
            <a:xfrm rot="3480665">
              <a:off x="4167495" y="5767588"/>
              <a:ext cx="144113" cy="121507"/>
            </a:xfrm>
            <a:custGeom>
              <a:avLst/>
              <a:gdLst>
                <a:gd name="T0" fmla="*/ 0 w 102"/>
                <a:gd name="T1" fmla="*/ 69850 h 86"/>
                <a:gd name="T2" fmla="*/ 161925 w 102"/>
                <a:gd name="T3" fmla="*/ 136525 h 86"/>
                <a:gd name="T4" fmla="*/ 50800 w 102"/>
                <a:gd name="T5" fmla="*/ 0 h 86"/>
                <a:gd name="T6" fmla="*/ 0 w 102"/>
                <a:gd name="T7" fmla="*/ 69850 h 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86"/>
                <a:gd name="T14" fmla="*/ 102 w 102"/>
                <a:gd name="T15" fmla="*/ 86 h 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86">
                  <a:moveTo>
                    <a:pt x="0" y="44"/>
                  </a:moveTo>
                  <a:lnTo>
                    <a:pt x="102" y="86"/>
                  </a:lnTo>
                  <a:lnTo>
                    <a:pt x="32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11" name="Group 210"/>
          <p:cNvGrpSpPr/>
          <p:nvPr/>
        </p:nvGrpSpPr>
        <p:grpSpPr>
          <a:xfrm>
            <a:off x="7889611" y="5561449"/>
            <a:ext cx="216121" cy="463189"/>
            <a:chOff x="4131493" y="5437209"/>
            <a:chExt cx="216121" cy="463189"/>
          </a:xfrm>
        </p:grpSpPr>
        <p:sp>
          <p:nvSpPr>
            <p:cNvPr id="212" name="Line 213"/>
            <p:cNvSpPr>
              <a:spLocks noChangeAspect="1" noChangeShapeType="1"/>
            </p:cNvSpPr>
            <p:nvPr/>
          </p:nvSpPr>
          <p:spPr bwMode="auto">
            <a:xfrm rot="3480665">
              <a:off x="4066731" y="5501971"/>
              <a:ext cx="345645" cy="21612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3" name="Freeform 214"/>
            <p:cNvSpPr>
              <a:spLocks/>
            </p:cNvSpPr>
            <p:nvPr/>
          </p:nvSpPr>
          <p:spPr bwMode="auto">
            <a:xfrm rot="3480665">
              <a:off x="4167495" y="5767588"/>
              <a:ext cx="144113" cy="121507"/>
            </a:xfrm>
            <a:custGeom>
              <a:avLst/>
              <a:gdLst>
                <a:gd name="T0" fmla="*/ 0 w 102"/>
                <a:gd name="T1" fmla="*/ 69850 h 86"/>
                <a:gd name="T2" fmla="*/ 161925 w 102"/>
                <a:gd name="T3" fmla="*/ 136525 h 86"/>
                <a:gd name="T4" fmla="*/ 50800 w 102"/>
                <a:gd name="T5" fmla="*/ 0 h 86"/>
                <a:gd name="T6" fmla="*/ 0 w 102"/>
                <a:gd name="T7" fmla="*/ 69850 h 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86"/>
                <a:gd name="T14" fmla="*/ 102 w 102"/>
                <a:gd name="T15" fmla="*/ 86 h 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86">
                  <a:moveTo>
                    <a:pt x="0" y="44"/>
                  </a:moveTo>
                  <a:lnTo>
                    <a:pt x="102" y="86"/>
                  </a:lnTo>
                  <a:lnTo>
                    <a:pt x="32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925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442"/>
    </mc:Choice>
    <mc:Fallback xmlns="">
      <p:transition spd="slow" advTm="59442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799" y="1720799"/>
            <a:ext cx="8375573" cy="130439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Consider the circuit shown in Example 2 with a flip-flop at the output of AND gate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Partition the circuit and map it into two 3-input LUTs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Program the switching matrices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  <a:p>
            <a:pPr lvl="1" eaLnBrk="1" hangingPunct="1">
              <a:lnSpc>
                <a:spcPct val="90000"/>
              </a:lnSpc>
            </a:pPr>
            <a:endParaRPr lang="en-US" alt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662862" y="3444317"/>
            <a:ext cx="4278586" cy="2082884"/>
            <a:chOff x="666273" y="3598621"/>
            <a:chExt cx="3185988" cy="1550987"/>
          </a:xfrm>
        </p:grpSpPr>
        <p:sp>
          <p:nvSpPr>
            <p:cNvPr id="20487" name="Rectangle 336"/>
            <p:cNvSpPr>
              <a:spLocks noChangeArrowheads="1"/>
            </p:cNvSpPr>
            <p:nvPr/>
          </p:nvSpPr>
          <p:spPr bwMode="auto">
            <a:xfrm>
              <a:off x="1136173" y="3598621"/>
              <a:ext cx="2384140" cy="1550987"/>
            </a:xfrm>
            <a:prstGeom prst="rect">
              <a:avLst/>
            </a:pr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88" name="Freeform 340"/>
            <p:cNvSpPr>
              <a:spLocks/>
            </p:cNvSpPr>
            <p:nvPr/>
          </p:nvSpPr>
          <p:spPr bwMode="auto">
            <a:xfrm>
              <a:off x="863123" y="3908183"/>
              <a:ext cx="812800" cy="188913"/>
            </a:xfrm>
            <a:custGeom>
              <a:avLst/>
              <a:gdLst>
                <a:gd name="T0" fmla="*/ 812800 w 512"/>
                <a:gd name="T1" fmla="*/ 188913 h 119"/>
                <a:gd name="T2" fmla="*/ 427037 w 512"/>
                <a:gd name="T3" fmla="*/ 188913 h 119"/>
                <a:gd name="T4" fmla="*/ 427037 w 512"/>
                <a:gd name="T5" fmla="*/ 0 h 119"/>
                <a:gd name="T6" fmla="*/ 0 w 512"/>
                <a:gd name="T7" fmla="*/ 0 h 1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2"/>
                <a:gd name="T13" fmla="*/ 0 h 119"/>
                <a:gd name="T14" fmla="*/ 512 w 512"/>
                <a:gd name="T15" fmla="*/ 119 h 1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2" h="119">
                  <a:moveTo>
                    <a:pt x="512" y="119"/>
                  </a:moveTo>
                  <a:lnTo>
                    <a:pt x="269" y="119"/>
                  </a:lnTo>
                  <a:lnTo>
                    <a:pt x="269" y="0"/>
                  </a:lnTo>
                  <a:lnTo>
                    <a:pt x="0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89" name="Line 341"/>
            <p:cNvSpPr>
              <a:spLocks noChangeShapeType="1"/>
            </p:cNvSpPr>
            <p:nvPr/>
          </p:nvSpPr>
          <p:spPr bwMode="auto">
            <a:xfrm>
              <a:off x="863123" y="4190758"/>
              <a:ext cx="812800" cy="1588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0" name="Freeform 342"/>
            <p:cNvSpPr>
              <a:spLocks/>
            </p:cNvSpPr>
            <p:nvPr/>
          </p:nvSpPr>
          <p:spPr bwMode="auto">
            <a:xfrm>
              <a:off x="1539398" y="4284421"/>
              <a:ext cx="136525" cy="193675"/>
            </a:xfrm>
            <a:custGeom>
              <a:avLst/>
              <a:gdLst>
                <a:gd name="T0" fmla="*/ 0 w 86"/>
                <a:gd name="T1" fmla="*/ 193675 h 122"/>
                <a:gd name="T2" fmla="*/ 65088 w 86"/>
                <a:gd name="T3" fmla="*/ 193675 h 122"/>
                <a:gd name="T4" fmla="*/ 65088 w 86"/>
                <a:gd name="T5" fmla="*/ 0 h 122"/>
                <a:gd name="T6" fmla="*/ 136525 w 86"/>
                <a:gd name="T7" fmla="*/ 0 h 1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6"/>
                <a:gd name="T13" fmla="*/ 0 h 122"/>
                <a:gd name="T14" fmla="*/ 86 w 86"/>
                <a:gd name="T15" fmla="*/ 122 h 1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6" h="122">
                  <a:moveTo>
                    <a:pt x="0" y="122"/>
                  </a:moveTo>
                  <a:lnTo>
                    <a:pt x="41" y="122"/>
                  </a:lnTo>
                  <a:lnTo>
                    <a:pt x="41" y="0"/>
                  </a:lnTo>
                  <a:lnTo>
                    <a:pt x="86" y="0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1" name="Line 343"/>
            <p:cNvSpPr>
              <a:spLocks noChangeShapeType="1"/>
            </p:cNvSpPr>
            <p:nvPr/>
          </p:nvSpPr>
          <p:spPr bwMode="auto">
            <a:xfrm>
              <a:off x="863123" y="4478096"/>
              <a:ext cx="361950" cy="1587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493" name="Freeform 345"/>
            <p:cNvSpPr>
              <a:spLocks/>
            </p:cNvSpPr>
            <p:nvPr/>
          </p:nvSpPr>
          <p:spPr bwMode="auto">
            <a:xfrm>
              <a:off x="980598" y="3866908"/>
              <a:ext cx="150813" cy="74613"/>
            </a:xfrm>
            <a:custGeom>
              <a:avLst/>
              <a:gdLst>
                <a:gd name="T0" fmla="*/ 150813 w 95"/>
                <a:gd name="T1" fmla="*/ 36513 h 47"/>
                <a:gd name="T2" fmla="*/ 0 w 95"/>
                <a:gd name="T3" fmla="*/ 0 h 47"/>
                <a:gd name="T4" fmla="*/ 0 w 95"/>
                <a:gd name="T5" fmla="*/ 74613 h 47"/>
                <a:gd name="T6" fmla="*/ 150813 w 95"/>
                <a:gd name="T7" fmla="*/ 36513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4" name="Freeform 346"/>
            <p:cNvSpPr>
              <a:spLocks/>
            </p:cNvSpPr>
            <p:nvPr/>
          </p:nvSpPr>
          <p:spPr bwMode="auto">
            <a:xfrm>
              <a:off x="980598" y="4152658"/>
              <a:ext cx="150813" cy="76200"/>
            </a:xfrm>
            <a:custGeom>
              <a:avLst/>
              <a:gdLst>
                <a:gd name="T0" fmla="*/ 150813 w 95"/>
                <a:gd name="T1" fmla="*/ 38100 h 48"/>
                <a:gd name="T2" fmla="*/ 0 w 95"/>
                <a:gd name="T3" fmla="*/ 0 h 48"/>
                <a:gd name="T4" fmla="*/ 0 w 95"/>
                <a:gd name="T5" fmla="*/ 76200 h 48"/>
                <a:gd name="T6" fmla="*/ 150813 w 95"/>
                <a:gd name="T7" fmla="*/ 3810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8"/>
                <a:gd name="T14" fmla="*/ 95 w 9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8">
                  <a:moveTo>
                    <a:pt x="95" y="24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5" name="Freeform 347"/>
            <p:cNvSpPr>
              <a:spLocks/>
            </p:cNvSpPr>
            <p:nvPr/>
          </p:nvSpPr>
          <p:spPr bwMode="auto">
            <a:xfrm>
              <a:off x="980598" y="4439996"/>
              <a:ext cx="150813" cy="74612"/>
            </a:xfrm>
            <a:custGeom>
              <a:avLst/>
              <a:gdLst>
                <a:gd name="T0" fmla="*/ 150813 w 95"/>
                <a:gd name="T1" fmla="*/ 38100 h 47"/>
                <a:gd name="T2" fmla="*/ 0 w 95"/>
                <a:gd name="T3" fmla="*/ 0 h 47"/>
                <a:gd name="T4" fmla="*/ 0 w 95"/>
                <a:gd name="T5" fmla="*/ 74612 h 47"/>
                <a:gd name="T6" fmla="*/ 150813 w 95"/>
                <a:gd name="T7" fmla="*/ 38100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4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6" name="Freeform 348"/>
            <p:cNvSpPr>
              <a:spLocks/>
            </p:cNvSpPr>
            <p:nvPr/>
          </p:nvSpPr>
          <p:spPr bwMode="auto">
            <a:xfrm>
              <a:off x="980598" y="4713046"/>
              <a:ext cx="150813" cy="74612"/>
            </a:xfrm>
            <a:custGeom>
              <a:avLst/>
              <a:gdLst>
                <a:gd name="T0" fmla="*/ 150813 w 95"/>
                <a:gd name="T1" fmla="*/ 36512 h 47"/>
                <a:gd name="T2" fmla="*/ 0 w 95"/>
                <a:gd name="T3" fmla="*/ 0 h 47"/>
                <a:gd name="T4" fmla="*/ 0 w 95"/>
                <a:gd name="T5" fmla="*/ 74612 h 47"/>
                <a:gd name="T6" fmla="*/ 150813 w 95"/>
                <a:gd name="T7" fmla="*/ 36512 h 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7"/>
                <a:gd name="T14" fmla="*/ 95 w 95"/>
                <a:gd name="T15" fmla="*/ 47 h 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7">
                  <a:moveTo>
                    <a:pt x="95" y="23"/>
                  </a:moveTo>
                  <a:lnTo>
                    <a:pt x="0" y="0"/>
                  </a:lnTo>
                  <a:lnTo>
                    <a:pt x="0" y="47"/>
                  </a:lnTo>
                  <a:lnTo>
                    <a:pt x="95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7" name="Freeform 349"/>
            <p:cNvSpPr>
              <a:spLocks/>
            </p:cNvSpPr>
            <p:nvPr/>
          </p:nvSpPr>
          <p:spPr bwMode="auto">
            <a:xfrm>
              <a:off x="980598" y="4989271"/>
              <a:ext cx="150813" cy="76200"/>
            </a:xfrm>
            <a:custGeom>
              <a:avLst/>
              <a:gdLst>
                <a:gd name="T0" fmla="*/ 150813 w 95"/>
                <a:gd name="T1" fmla="*/ 38100 h 48"/>
                <a:gd name="T2" fmla="*/ 0 w 95"/>
                <a:gd name="T3" fmla="*/ 0 h 48"/>
                <a:gd name="T4" fmla="*/ 0 w 95"/>
                <a:gd name="T5" fmla="*/ 76200 h 48"/>
                <a:gd name="T6" fmla="*/ 150813 w 95"/>
                <a:gd name="T7" fmla="*/ 38100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48"/>
                <a:gd name="T14" fmla="*/ 95 w 95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48">
                  <a:moveTo>
                    <a:pt x="95" y="24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95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498" name="Rectangle 350"/>
            <p:cNvSpPr>
              <a:spLocks noChangeArrowheads="1"/>
            </p:cNvSpPr>
            <p:nvPr/>
          </p:nvSpPr>
          <p:spPr bwMode="auto">
            <a:xfrm>
              <a:off x="852844" y="3712027"/>
              <a:ext cx="85943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k</a:t>
              </a:r>
              <a:endParaRPr lang="en-US" altLang="en-US" sz="1800" dirty="0"/>
            </a:p>
          </p:txBody>
        </p:sp>
        <p:sp>
          <p:nvSpPr>
            <p:cNvPr id="20499" name="Rectangle 351"/>
            <p:cNvSpPr>
              <a:spLocks noChangeArrowheads="1"/>
            </p:cNvSpPr>
            <p:nvPr/>
          </p:nvSpPr>
          <p:spPr bwMode="auto">
            <a:xfrm>
              <a:off x="871061" y="3968508"/>
              <a:ext cx="95492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p</a:t>
              </a:r>
            </a:p>
          </p:txBody>
        </p:sp>
        <p:sp>
          <p:nvSpPr>
            <p:cNvPr id="20500" name="Rectangle 352"/>
            <p:cNvSpPr>
              <a:spLocks noChangeArrowheads="1"/>
            </p:cNvSpPr>
            <p:nvPr/>
          </p:nvSpPr>
          <p:spPr bwMode="auto">
            <a:xfrm>
              <a:off x="871061" y="4300296"/>
              <a:ext cx="85943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s</a:t>
              </a:r>
            </a:p>
          </p:txBody>
        </p:sp>
        <p:sp>
          <p:nvSpPr>
            <p:cNvPr id="20502" name="Rectangle 354"/>
            <p:cNvSpPr>
              <a:spLocks noChangeArrowheads="1"/>
            </p:cNvSpPr>
            <p:nvPr/>
          </p:nvSpPr>
          <p:spPr bwMode="auto">
            <a:xfrm>
              <a:off x="871061" y="4847983"/>
              <a:ext cx="95492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d</a:t>
              </a:r>
            </a:p>
          </p:txBody>
        </p:sp>
        <p:sp>
          <p:nvSpPr>
            <p:cNvPr id="20503" name="Rectangle 355"/>
            <p:cNvSpPr>
              <a:spLocks noChangeArrowheads="1"/>
            </p:cNvSpPr>
            <p:nvPr/>
          </p:nvSpPr>
          <p:spPr bwMode="auto">
            <a:xfrm>
              <a:off x="3690564" y="4174802"/>
              <a:ext cx="105041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0000"/>
                  </a:solidFill>
                  <a:latin typeface="Helvetica" pitchFamily="34" charset="0"/>
                </a:rPr>
                <a:t>F</a:t>
              </a:r>
              <a:endParaRPr lang="en-US" altLang="en-US" sz="1800" dirty="0"/>
            </a:p>
          </p:txBody>
        </p:sp>
        <p:sp>
          <p:nvSpPr>
            <p:cNvPr id="20504" name="Rectangle 356"/>
            <p:cNvSpPr>
              <a:spLocks noChangeArrowheads="1"/>
            </p:cNvSpPr>
            <p:nvPr/>
          </p:nvSpPr>
          <p:spPr bwMode="auto">
            <a:xfrm>
              <a:off x="2083062" y="3635133"/>
              <a:ext cx="700244" cy="206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 err="1">
                  <a:solidFill>
                    <a:srgbClr val="000000"/>
                  </a:solidFill>
                  <a:latin typeface="Helvetica" pitchFamily="34" charset="0"/>
                </a:rPr>
                <a:t>BeltWarn</a:t>
              </a:r>
              <a:endParaRPr lang="en-US" altLang="en-US" sz="1800" dirty="0"/>
            </a:p>
          </p:txBody>
        </p:sp>
        <p:sp>
          <p:nvSpPr>
            <p:cNvPr id="20505" name="Freeform 357"/>
            <p:cNvSpPr>
              <a:spLocks/>
            </p:cNvSpPr>
            <p:nvPr/>
          </p:nvSpPr>
          <p:spPr bwMode="auto">
            <a:xfrm>
              <a:off x="1675923" y="4003433"/>
              <a:ext cx="388938" cy="374650"/>
            </a:xfrm>
            <a:custGeom>
              <a:avLst/>
              <a:gdLst>
                <a:gd name="T0" fmla="*/ 0 w 83"/>
                <a:gd name="T1" fmla="*/ 374650 h 80"/>
                <a:gd name="T2" fmla="*/ 201498 w 83"/>
                <a:gd name="T3" fmla="*/ 374650 h 80"/>
                <a:gd name="T4" fmla="*/ 388938 w 83"/>
                <a:gd name="T5" fmla="*/ 187325 h 80"/>
                <a:gd name="T6" fmla="*/ 201498 w 83"/>
                <a:gd name="T7" fmla="*/ 0 h 80"/>
                <a:gd name="T8" fmla="*/ 0 w 83"/>
                <a:gd name="T9" fmla="*/ 0 h 80"/>
                <a:gd name="T10" fmla="*/ 0 w 83"/>
                <a:gd name="T11" fmla="*/ 374650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3"/>
                <a:gd name="T19" fmla="*/ 0 h 80"/>
                <a:gd name="T20" fmla="*/ 83 w 83"/>
                <a:gd name="T21" fmla="*/ 80 h 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3" h="80">
                  <a:moveTo>
                    <a:pt x="0" y="80"/>
                  </a:moveTo>
                  <a:cubicBezTo>
                    <a:pt x="43" y="80"/>
                    <a:pt x="43" y="80"/>
                    <a:pt x="43" y="80"/>
                  </a:cubicBezTo>
                  <a:cubicBezTo>
                    <a:pt x="65" y="80"/>
                    <a:pt x="83" y="62"/>
                    <a:pt x="83" y="40"/>
                  </a:cubicBezTo>
                  <a:cubicBezTo>
                    <a:pt x="83" y="18"/>
                    <a:pt x="65" y="0"/>
                    <a:pt x="4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8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06" name="Freeform 358"/>
            <p:cNvSpPr>
              <a:spLocks/>
            </p:cNvSpPr>
            <p:nvPr/>
          </p:nvSpPr>
          <p:spPr bwMode="auto">
            <a:xfrm>
              <a:off x="1229836" y="4332046"/>
              <a:ext cx="230187" cy="290512"/>
            </a:xfrm>
            <a:custGeom>
              <a:avLst/>
              <a:gdLst>
                <a:gd name="T0" fmla="*/ 0 w 145"/>
                <a:gd name="T1" fmla="*/ 290512 h 183"/>
                <a:gd name="T2" fmla="*/ 230187 w 145"/>
                <a:gd name="T3" fmla="*/ 146050 h 183"/>
                <a:gd name="T4" fmla="*/ 0 w 145"/>
                <a:gd name="T5" fmla="*/ 0 h 183"/>
                <a:gd name="T6" fmla="*/ 0 w 145"/>
                <a:gd name="T7" fmla="*/ 290512 h 1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"/>
                <a:gd name="T13" fmla="*/ 0 h 183"/>
                <a:gd name="T14" fmla="*/ 145 w 145"/>
                <a:gd name="T15" fmla="*/ 183 h 1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" h="183">
                  <a:moveTo>
                    <a:pt x="0" y="183"/>
                  </a:moveTo>
                  <a:lnTo>
                    <a:pt x="145" y="92"/>
                  </a:lnTo>
                  <a:lnTo>
                    <a:pt x="0" y="0"/>
                  </a:lnTo>
                  <a:lnTo>
                    <a:pt x="0" y="183"/>
                  </a:lnTo>
                  <a:close/>
                </a:path>
              </a:pathLst>
            </a:custGeom>
            <a:solidFill>
              <a:srgbClr val="FFFFFF"/>
            </a:solidFill>
            <a:ln w="7938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07" name="Oval 359"/>
            <p:cNvSpPr>
              <a:spLocks noChangeArrowheads="1"/>
            </p:cNvSpPr>
            <p:nvPr/>
          </p:nvSpPr>
          <p:spPr bwMode="auto">
            <a:xfrm>
              <a:off x="1464786" y="4439996"/>
              <a:ext cx="69850" cy="69850"/>
            </a:xfrm>
            <a:prstGeom prst="ellipse">
              <a:avLst/>
            </a:prstGeom>
            <a:solidFill>
              <a:srgbClr val="FFFFFF"/>
            </a:solidFill>
            <a:ln w="7938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11" name="Freeform 363"/>
            <p:cNvSpPr>
              <a:spLocks noChangeAspect="1"/>
            </p:cNvSpPr>
            <p:nvPr/>
          </p:nvSpPr>
          <p:spPr bwMode="auto">
            <a:xfrm>
              <a:off x="2969339" y="4154251"/>
              <a:ext cx="400053" cy="395049"/>
            </a:xfrm>
            <a:custGeom>
              <a:avLst/>
              <a:gdLst>
                <a:gd name="T0" fmla="*/ 381000 w 81"/>
                <a:gd name="T1" fmla="*/ 188119 h 80"/>
                <a:gd name="T2" fmla="*/ 0 w 81"/>
                <a:gd name="T3" fmla="*/ 376238 h 80"/>
                <a:gd name="T4" fmla="*/ 56444 w 81"/>
                <a:gd name="T5" fmla="*/ 192822 h 80"/>
                <a:gd name="T6" fmla="*/ 56444 w 81"/>
                <a:gd name="T7" fmla="*/ 188119 h 80"/>
                <a:gd name="T8" fmla="*/ 0 w 81"/>
                <a:gd name="T9" fmla="*/ 0 h 80"/>
                <a:gd name="T10" fmla="*/ 381000 w 81"/>
                <a:gd name="T11" fmla="*/ 188119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1"/>
                <a:gd name="T19" fmla="*/ 0 h 80"/>
                <a:gd name="T20" fmla="*/ 81 w 81"/>
                <a:gd name="T21" fmla="*/ 80 h 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1" h="80">
                  <a:moveTo>
                    <a:pt x="81" y="40"/>
                  </a:moveTo>
                  <a:cubicBezTo>
                    <a:pt x="81" y="40"/>
                    <a:pt x="62" y="80"/>
                    <a:pt x="0" y="80"/>
                  </a:cubicBezTo>
                  <a:cubicBezTo>
                    <a:pt x="0" y="80"/>
                    <a:pt x="12" y="76"/>
                    <a:pt x="12" y="41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"/>
                    <a:pt x="0" y="0"/>
                    <a:pt x="0" y="0"/>
                  </a:cubicBezTo>
                  <a:cubicBezTo>
                    <a:pt x="62" y="0"/>
                    <a:pt x="81" y="40"/>
                    <a:pt x="81" y="40"/>
                  </a:cubicBezTo>
                  <a:close/>
                </a:path>
              </a:pathLst>
            </a:custGeom>
            <a:noFill/>
            <a:ln w="1270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12" name="Line 364"/>
            <p:cNvSpPr>
              <a:spLocks noChangeShapeType="1"/>
            </p:cNvSpPr>
            <p:nvPr/>
          </p:nvSpPr>
          <p:spPr bwMode="auto">
            <a:xfrm>
              <a:off x="2069622" y="4185996"/>
              <a:ext cx="268069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3" name="Freeform 365"/>
            <p:cNvSpPr>
              <a:spLocks/>
            </p:cNvSpPr>
            <p:nvPr/>
          </p:nvSpPr>
          <p:spPr bwMode="auto">
            <a:xfrm>
              <a:off x="877411" y="4473334"/>
              <a:ext cx="2142859" cy="558798"/>
            </a:xfrm>
            <a:custGeom>
              <a:avLst/>
              <a:gdLst>
                <a:gd name="T0" fmla="*/ 1385887 w 873"/>
                <a:gd name="T1" fmla="*/ 0 h 415"/>
                <a:gd name="T2" fmla="*/ 1282700 w 873"/>
                <a:gd name="T3" fmla="*/ 0 h 415"/>
                <a:gd name="T4" fmla="*/ 1282700 w 873"/>
                <a:gd name="T5" fmla="*/ 658812 h 415"/>
                <a:gd name="T6" fmla="*/ 0 w 873"/>
                <a:gd name="T7" fmla="*/ 658812 h 4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3"/>
                <a:gd name="T13" fmla="*/ 0 h 415"/>
                <a:gd name="T14" fmla="*/ 873 w 873"/>
                <a:gd name="T15" fmla="*/ 415 h 4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3" h="415">
                  <a:moveTo>
                    <a:pt x="873" y="0"/>
                  </a:moveTo>
                  <a:lnTo>
                    <a:pt x="808" y="0"/>
                  </a:lnTo>
                  <a:lnTo>
                    <a:pt x="808" y="415"/>
                  </a:lnTo>
                  <a:lnTo>
                    <a:pt x="0" y="415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14" name="Line 366"/>
            <p:cNvSpPr>
              <a:spLocks noChangeShapeType="1"/>
            </p:cNvSpPr>
            <p:nvPr/>
          </p:nvSpPr>
          <p:spPr bwMode="auto">
            <a:xfrm>
              <a:off x="3369737" y="4365030"/>
              <a:ext cx="482524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515" name="Freeform 375"/>
            <p:cNvSpPr>
              <a:spLocks/>
            </p:cNvSpPr>
            <p:nvPr/>
          </p:nvSpPr>
          <p:spPr bwMode="auto">
            <a:xfrm>
              <a:off x="872647" y="4378083"/>
              <a:ext cx="2147622" cy="371474"/>
            </a:xfrm>
            <a:custGeom>
              <a:avLst/>
              <a:gdLst>
                <a:gd name="T0" fmla="*/ 1390650 w 876"/>
                <a:gd name="T1" fmla="*/ 0 h 296"/>
                <a:gd name="T2" fmla="*/ 1211263 w 876"/>
                <a:gd name="T3" fmla="*/ 0 h 296"/>
                <a:gd name="T4" fmla="*/ 1211263 w 876"/>
                <a:gd name="T5" fmla="*/ 469900 h 296"/>
                <a:gd name="T6" fmla="*/ 0 w 876"/>
                <a:gd name="T7" fmla="*/ 469900 h 2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6"/>
                <a:gd name="T13" fmla="*/ 0 h 296"/>
                <a:gd name="T14" fmla="*/ 876 w 876"/>
                <a:gd name="T15" fmla="*/ 296 h 2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6" h="296">
                  <a:moveTo>
                    <a:pt x="876" y="0"/>
                  </a:moveTo>
                  <a:lnTo>
                    <a:pt x="763" y="0"/>
                  </a:lnTo>
                  <a:lnTo>
                    <a:pt x="763" y="296"/>
                  </a:lnTo>
                  <a:lnTo>
                    <a:pt x="0" y="296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0516" name="Line 486"/>
            <p:cNvSpPr>
              <a:spLocks noChangeShapeType="1"/>
            </p:cNvSpPr>
            <p:nvPr/>
          </p:nvSpPr>
          <p:spPr bwMode="auto">
            <a:xfrm>
              <a:off x="666273" y="3598621"/>
              <a:ext cx="1588" cy="1587"/>
            </a:xfrm>
            <a:prstGeom prst="line">
              <a:avLst/>
            </a:prstGeom>
            <a:noFill/>
            <a:ln w="3175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3.3. Example 3: Mapping into 3-input LUTs </a:t>
            </a:r>
            <a:endParaRPr lang="en-GB" dirty="0"/>
          </a:p>
        </p:txBody>
      </p:sp>
      <p:sp>
        <p:nvSpPr>
          <p:cNvPr id="18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24</a:t>
            </a:fld>
            <a:endParaRPr lang="de-DE" dirty="0"/>
          </a:p>
        </p:txBody>
      </p:sp>
      <p:sp>
        <p:nvSpPr>
          <p:cNvPr id="176" name="Rectangle 352"/>
          <p:cNvSpPr>
            <a:spLocks noChangeArrowheads="1"/>
          </p:cNvSpPr>
          <p:nvPr/>
        </p:nvSpPr>
        <p:spPr bwMode="auto">
          <a:xfrm>
            <a:off x="925771" y="4746918"/>
            <a:ext cx="641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/>
              <p:cNvSpPr txBox="1"/>
              <p:nvPr/>
            </p:nvSpPr>
            <p:spPr>
              <a:xfrm>
                <a:off x="1830618" y="5561186"/>
                <a:ext cx="194527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𝑘𝑝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53" name="TextBox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618" y="5561186"/>
                <a:ext cx="1945276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2194" r="-1881" b="-37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Freeform 95"/>
          <p:cNvSpPr>
            <a:spLocks/>
          </p:cNvSpPr>
          <p:nvPr/>
        </p:nvSpPr>
        <p:spPr bwMode="auto">
          <a:xfrm>
            <a:off x="7590169" y="4891190"/>
            <a:ext cx="287999" cy="135847"/>
          </a:xfrm>
          <a:custGeom>
            <a:avLst/>
            <a:gdLst>
              <a:gd name="T0" fmla="*/ 0 w 134"/>
              <a:gd name="T1" fmla="*/ 127000 h 80"/>
              <a:gd name="T2" fmla="*/ 0 w 134"/>
              <a:gd name="T3" fmla="*/ 0 h 80"/>
              <a:gd name="T4" fmla="*/ 212725 w 134"/>
              <a:gd name="T5" fmla="*/ 0 h 80"/>
              <a:gd name="T6" fmla="*/ 0 60000 65536"/>
              <a:gd name="T7" fmla="*/ 0 60000 65536"/>
              <a:gd name="T8" fmla="*/ 0 60000 65536"/>
              <a:gd name="T9" fmla="*/ 0 w 134"/>
              <a:gd name="T10" fmla="*/ 0 h 80"/>
              <a:gd name="T11" fmla="*/ 134 w 134"/>
              <a:gd name="T12" fmla="*/ 80 h 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" h="80">
                <a:moveTo>
                  <a:pt x="0" y="80"/>
                </a:moveTo>
                <a:lnTo>
                  <a:pt x="0" y="0"/>
                </a:lnTo>
                <a:lnTo>
                  <a:pt x="134" y="0"/>
                </a:lnTo>
              </a:path>
            </a:pathLst>
          </a:cu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04" name="Rectangle 8"/>
          <p:cNvSpPr>
            <a:spLocks noChangeArrowheads="1"/>
          </p:cNvSpPr>
          <p:nvPr/>
        </p:nvSpPr>
        <p:spPr bwMode="auto">
          <a:xfrm>
            <a:off x="7149907" y="2279525"/>
            <a:ext cx="1137720" cy="2470724"/>
          </a:xfrm>
          <a:prstGeom prst="rect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05" name="Line 9"/>
          <p:cNvSpPr>
            <a:spLocks noChangeShapeType="1"/>
          </p:cNvSpPr>
          <p:nvPr/>
        </p:nvSpPr>
        <p:spPr bwMode="auto">
          <a:xfrm>
            <a:off x="7914049" y="4728173"/>
            <a:ext cx="0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6" name="Rectangle 10"/>
          <p:cNvSpPr>
            <a:spLocks noChangeArrowheads="1"/>
          </p:cNvSpPr>
          <p:nvPr/>
        </p:nvSpPr>
        <p:spPr bwMode="auto">
          <a:xfrm>
            <a:off x="7594807" y="2539333"/>
            <a:ext cx="633388" cy="1934125"/>
          </a:xfrm>
          <a:prstGeom prst="rect">
            <a:avLst/>
          </a:prstGeom>
          <a:solidFill>
            <a:srgbClr val="D4E0F3"/>
          </a:solidFill>
          <a:ln w="15875">
            <a:solidFill>
              <a:srgbClr val="0079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07" name="Line 11"/>
          <p:cNvSpPr>
            <a:spLocks noChangeShapeType="1"/>
          </p:cNvSpPr>
          <p:nvPr/>
        </p:nvSpPr>
        <p:spPr bwMode="auto">
          <a:xfrm>
            <a:off x="7589714" y="2782160"/>
            <a:ext cx="638483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8" name="Line 12"/>
          <p:cNvSpPr>
            <a:spLocks noChangeShapeType="1"/>
          </p:cNvSpPr>
          <p:nvPr/>
        </p:nvSpPr>
        <p:spPr bwMode="auto">
          <a:xfrm>
            <a:off x="7589714" y="3021592"/>
            <a:ext cx="638483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9" name="Line 13"/>
          <p:cNvSpPr>
            <a:spLocks noChangeShapeType="1"/>
          </p:cNvSpPr>
          <p:nvPr/>
        </p:nvSpPr>
        <p:spPr bwMode="auto">
          <a:xfrm>
            <a:off x="7589714" y="3266117"/>
            <a:ext cx="638483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0" name="Line 14"/>
          <p:cNvSpPr>
            <a:spLocks noChangeShapeType="1"/>
          </p:cNvSpPr>
          <p:nvPr/>
        </p:nvSpPr>
        <p:spPr bwMode="auto">
          <a:xfrm>
            <a:off x="7589714" y="3508944"/>
            <a:ext cx="638483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1" name="Line 15"/>
          <p:cNvSpPr>
            <a:spLocks noChangeShapeType="1"/>
          </p:cNvSpPr>
          <p:nvPr/>
        </p:nvSpPr>
        <p:spPr bwMode="auto">
          <a:xfrm>
            <a:off x="7589714" y="3748375"/>
            <a:ext cx="638483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2" name="Line 16"/>
          <p:cNvSpPr>
            <a:spLocks noChangeShapeType="1"/>
          </p:cNvSpPr>
          <p:nvPr/>
        </p:nvSpPr>
        <p:spPr bwMode="auto">
          <a:xfrm>
            <a:off x="7589714" y="3991201"/>
            <a:ext cx="638483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3" name="Line 17"/>
          <p:cNvSpPr>
            <a:spLocks noChangeShapeType="1"/>
          </p:cNvSpPr>
          <p:nvPr/>
        </p:nvSpPr>
        <p:spPr bwMode="auto">
          <a:xfrm>
            <a:off x="7589714" y="4235726"/>
            <a:ext cx="638483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4" name="Rectangle 18"/>
          <p:cNvSpPr>
            <a:spLocks noChangeArrowheads="1"/>
          </p:cNvSpPr>
          <p:nvPr/>
        </p:nvSpPr>
        <p:spPr bwMode="auto">
          <a:xfrm>
            <a:off x="7234811" y="2303298"/>
            <a:ext cx="948979" cy="27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8x1 </a:t>
            </a:r>
            <a:r>
              <a:rPr lang="en-US" altLang="en-US" sz="1800" dirty="0" err="1">
                <a:solidFill>
                  <a:srgbClr val="000000"/>
                </a:solidFill>
                <a:latin typeface="Helvetica" pitchFamily="34" charset="0"/>
              </a:rPr>
              <a:t>Mem</a:t>
            </a:r>
            <a:endParaRPr lang="en-US" altLang="en-US" sz="1800" dirty="0"/>
          </a:p>
        </p:txBody>
      </p:sp>
      <p:sp>
        <p:nvSpPr>
          <p:cNvPr id="215" name="Rectangle 22"/>
          <p:cNvSpPr>
            <a:spLocks noChangeArrowheads="1"/>
          </p:cNvSpPr>
          <p:nvPr/>
        </p:nvSpPr>
        <p:spPr bwMode="auto">
          <a:xfrm>
            <a:off x="7900464" y="2303298"/>
            <a:ext cx="77064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.</a:t>
            </a:r>
            <a:endParaRPr lang="en-US" altLang="en-US" sz="1800"/>
          </a:p>
        </p:txBody>
      </p:sp>
      <p:sp>
        <p:nvSpPr>
          <p:cNvPr id="224" name="Rectangle 31"/>
          <p:cNvSpPr>
            <a:spLocks noChangeArrowheads="1"/>
          </p:cNvSpPr>
          <p:nvPr/>
        </p:nvSpPr>
        <p:spPr bwMode="auto">
          <a:xfrm>
            <a:off x="7389969" y="2569899"/>
            <a:ext cx="154128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800" dirty="0"/>
          </a:p>
        </p:txBody>
      </p:sp>
      <p:sp>
        <p:nvSpPr>
          <p:cNvPr id="225" name="Rectangle 32"/>
          <p:cNvSpPr>
            <a:spLocks noChangeArrowheads="1"/>
          </p:cNvSpPr>
          <p:nvPr/>
        </p:nvSpPr>
        <p:spPr bwMode="auto">
          <a:xfrm>
            <a:off x="7389969" y="2805933"/>
            <a:ext cx="154128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 sz="1800" dirty="0"/>
          </a:p>
        </p:txBody>
      </p:sp>
      <p:sp>
        <p:nvSpPr>
          <p:cNvPr id="226" name="Rectangle 33"/>
          <p:cNvSpPr>
            <a:spLocks noChangeArrowheads="1"/>
          </p:cNvSpPr>
          <p:nvPr/>
        </p:nvSpPr>
        <p:spPr bwMode="auto">
          <a:xfrm>
            <a:off x="7389969" y="3050458"/>
            <a:ext cx="154128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2</a:t>
            </a:r>
            <a:endParaRPr lang="en-US" altLang="en-US" sz="1800" dirty="0"/>
          </a:p>
        </p:txBody>
      </p:sp>
      <p:sp>
        <p:nvSpPr>
          <p:cNvPr id="227" name="Rectangle 34"/>
          <p:cNvSpPr>
            <a:spLocks noChangeArrowheads="1"/>
          </p:cNvSpPr>
          <p:nvPr/>
        </p:nvSpPr>
        <p:spPr bwMode="auto">
          <a:xfrm>
            <a:off x="7389969" y="3286493"/>
            <a:ext cx="154128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3</a:t>
            </a:r>
            <a:endParaRPr lang="en-US" altLang="en-US" sz="1800" dirty="0"/>
          </a:p>
        </p:txBody>
      </p:sp>
      <p:sp>
        <p:nvSpPr>
          <p:cNvPr id="228" name="Rectangle 35"/>
          <p:cNvSpPr>
            <a:spLocks noChangeArrowheads="1"/>
          </p:cNvSpPr>
          <p:nvPr/>
        </p:nvSpPr>
        <p:spPr bwMode="auto">
          <a:xfrm>
            <a:off x="7389969" y="3532717"/>
            <a:ext cx="154128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4</a:t>
            </a:r>
            <a:endParaRPr lang="en-US" altLang="en-US" sz="1800" dirty="0"/>
          </a:p>
        </p:txBody>
      </p:sp>
      <p:sp>
        <p:nvSpPr>
          <p:cNvPr id="229" name="Rectangle 36"/>
          <p:cNvSpPr>
            <a:spLocks noChangeArrowheads="1"/>
          </p:cNvSpPr>
          <p:nvPr/>
        </p:nvSpPr>
        <p:spPr bwMode="auto">
          <a:xfrm>
            <a:off x="7389969" y="3770449"/>
            <a:ext cx="154128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5</a:t>
            </a:r>
            <a:endParaRPr lang="en-US" altLang="en-US" sz="1800" dirty="0"/>
          </a:p>
        </p:txBody>
      </p:sp>
      <p:sp>
        <p:nvSpPr>
          <p:cNvPr id="230" name="Rectangle 37"/>
          <p:cNvSpPr>
            <a:spLocks noChangeArrowheads="1"/>
          </p:cNvSpPr>
          <p:nvPr/>
        </p:nvSpPr>
        <p:spPr bwMode="auto">
          <a:xfrm>
            <a:off x="7389969" y="4016673"/>
            <a:ext cx="154128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6</a:t>
            </a:r>
            <a:endParaRPr lang="en-US" altLang="en-US" sz="1800" dirty="0"/>
          </a:p>
        </p:txBody>
      </p:sp>
      <p:sp>
        <p:nvSpPr>
          <p:cNvPr id="231" name="Rectangle 38"/>
          <p:cNvSpPr>
            <a:spLocks noChangeArrowheads="1"/>
          </p:cNvSpPr>
          <p:nvPr/>
        </p:nvSpPr>
        <p:spPr bwMode="auto">
          <a:xfrm>
            <a:off x="7389969" y="4251010"/>
            <a:ext cx="154128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7</a:t>
            </a:r>
            <a:endParaRPr lang="en-US" altLang="en-US" sz="1800" dirty="0"/>
          </a:p>
        </p:txBody>
      </p:sp>
      <p:sp>
        <p:nvSpPr>
          <p:cNvPr id="232" name="Rectangle 39"/>
          <p:cNvSpPr>
            <a:spLocks noChangeArrowheads="1"/>
          </p:cNvSpPr>
          <p:nvPr/>
        </p:nvSpPr>
        <p:spPr bwMode="auto">
          <a:xfrm>
            <a:off x="6430369" y="3277857"/>
            <a:ext cx="308256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 sz="1800" dirty="0"/>
          </a:p>
        </p:txBody>
      </p:sp>
      <p:sp>
        <p:nvSpPr>
          <p:cNvPr id="233" name="Rectangle 40"/>
          <p:cNvSpPr>
            <a:spLocks noChangeArrowheads="1"/>
          </p:cNvSpPr>
          <p:nvPr/>
        </p:nvSpPr>
        <p:spPr bwMode="auto">
          <a:xfrm>
            <a:off x="6428706" y="3603673"/>
            <a:ext cx="308256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 sz="1800" dirty="0"/>
          </a:p>
        </p:txBody>
      </p:sp>
      <p:sp>
        <p:nvSpPr>
          <p:cNvPr id="234" name="Rectangle 41"/>
          <p:cNvSpPr>
            <a:spLocks noChangeArrowheads="1"/>
          </p:cNvSpPr>
          <p:nvPr/>
        </p:nvSpPr>
        <p:spPr bwMode="auto">
          <a:xfrm>
            <a:off x="6413113" y="3869598"/>
            <a:ext cx="308256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 sz="1800" dirty="0"/>
          </a:p>
        </p:txBody>
      </p:sp>
      <p:sp>
        <p:nvSpPr>
          <p:cNvPr id="238" name="Line 49"/>
          <p:cNvSpPr>
            <a:spLocks noChangeShapeType="1"/>
          </p:cNvSpPr>
          <p:nvPr/>
        </p:nvSpPr>
        <p:spPr bwMode="auto">
          <a:xfrm>
            <a:off x="6699914" y="3536113"/>
            <a:ext cx="303958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9" name="Freeform 50"/>
          <p:cNvSpPr>
            <a:spLocks/>
          </p:cNvSpPr>
          <p:nvPr/>
        </p:nvSpPr>
        <p:spPr bwMode="auto">
          <a:xfrm>
            <a:off x="6971609" y="3486869"/>
            <a:ext cx="173205" cy="98490"/>
          </a:xfrm>
          <a:custGeom>
            <a:avLst/>
            <a:gdLst>
              <a:gd name="T0" fmla="*/ 0 w 102"/>
              <a:gd name="T1" fmla="*/ 92075 h 58"/>
              <a:gd name="T2" fmla="*/ 161925 w 102"/>
              <a:gd name="T3" fmla="*/ 46038 h 58"/>
              <a:gd name="T4" fmla="*/ 0 w 102"/>
              <a:gd name="T5" fmla="*/ 0 h 58"/>
              <a:gd name="T6" fmla="*/ 0 w 102"/>
              <a:gd name="T7" fmla="*/ 92075 h 58"/>
              <a:gd name="T8" fmla="*/ 0 60000 65536"/>
              <a:gd name="T9" fmla="*/ 0 60000 65536"/>
              <a:gd name="T10" fmla="*/ 0 60000 65536"/>
              <a:gd name="T11" fmla="*/ 0 60000 65536"/>
              <a:gd name="T12" fmla="*/ 0 w 102"/>
              <a:gd name="T13" fmla="*/ 0 h 58"/>
              <a:gd name="T14" fmla="*/ 102 w 102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2" h="58">
                <a:moveTo>
                  <a:pt x="0" y="58"/>
                </a:moveTo>
                <a:lnTo>
                  <a:pt x="102" y="29"/>
                </a:lnTo>
                <a:lnTo>
                  <a:pt x="0" y="0"/>
                </a:lnTo>
                <a:lnTo>
                  <a:pt x="0" y="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40" name="Line 69"/>
          <p:cNvSpPr>
            <a:spLocks noChangeShapeType="1"/>
          </p:cNvSpPr>
          <p:nvPr/>
        </p:nvSpPr>
        <p:spPr bwMode="auto">
          <a:xfrm>
            <a:off x="7859710" y="6322681"/>
            <a:ext cx="0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1" name="Line 74"/>
          <p:cNvSpPr>
            <a:spLocks noChangeShapeType="1"/>
          </p:cNvSpPr>
          <p:nvPr/>
        </p:nvSpPr>
        <p:spPr bwMode="auto">
          <a:xfrm>
            <a:off x="6699914" y="3721206"/>
            <a:ext cx="303958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2" name="Freeform 75"/>
          <p:cNvSpPr>
            <a:spLocks/>
          </p:cNvSpPr>
          <p:nvPr/>
        </p:nvSpPr>
        <p:spPr bwMode="auto">
          <a:xfrm>
            <a:off x="6971609" y="3671960"/>
            <a:ext cx="173205" cy="96791"/>
          </a:xfrm>
          <a:custGeom>
            <a:avLst/>
            <a:gdLst>
              <a:gd name="T0" fmla="*/ 0 w 102"/>
              <a:gd name="T1" fmla="*/ 90488 h 57"/>
              <a:gd name="T2" fmla="*/ 161925 w 102"/>
              <a:gd name="T3" fmla="*/ 46038 h 57"/>
              <a:gd name="T4" fmla="*/ 0 w 102"/>
              <a:gd name="T5" fmla="*/ 0 h 57"/>
              <a:gd name="T6" fmla="*/ 0 w 102"/>
              <a:gd name="T7" fmla="*/ 90488 h 57"/>
              <a:gd name="T8" fmla="*/ 0 60000 65536"/>
              <a:gd name="T9" fmla="*/ 0 60000 65536"/>
              <a:gd name="T10" fmla="*/ 0 60000 65536"/>
              <a:gd name="T11" fmla="*/ 0 60000 65536"/>
              <a:gd name="T12" fmla="*/ 0 w 102"/>
              <a:gd name="T13" fmla="*/ 0 h 57"/>
              <a:gd name="T14" fmla="*/ 102 w 102"/>
              <a:gd name="T15" fmla="*/ 57 h 5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2" h="57">
                <a:moveTo>
                  <a:pt x="0" y="57"/>
                </a:moveTo>
                <a:lnTo>
                  <a:pt x="102" y="29"/>
                </a:lnTo>
                <a:lnTo>
                  <a:pt x="0" y="0"/>
                </a:lnTo>
                <a:lnTo>
                  <a:pt x="0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43" name="Line 76"/>
          <p:cNvSpPr>
            <a:spLocks noChangeShapeType="1"/>
          </p:cNvSpPr>
          <p:nvPr/>
        </p:nvSpPr>
        <p:spPr bwMode="auto">
          <a:xfrm>
            <a:off x="6699914" y="3916486"/>
            <a:ext cx="303958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44" name="Freeform 77"/>
          <p:cNvSpPr>
            <a:spLocks/>
          </p:cNvSpPr>
          <p:nvPr/>
        </p:nvSpPr>
        <p:spPr bwMode="auto">
          <a:xfrm>
            <a:off x="6971609" y="3867241"/>
            <a:ext cx="173205" cy="96790"/>
          </a:xfrm>
          <a:custGeom>
            <a:avLst/>
            <a:gdLst>
              <a:gd name="T0" fmla="*/ 0 w 102"/>
              <a:gd name="T1" fmla="*/ 90487 h 57"/>
              <a:gd name="T2" fmla="*/ 161925 w 102"/>
              <a:gd name="T3" fmla="*/ 46037 h 57"/>
              <a:gd name="T4" fmla="*/ 0 w 102"/>
              <a:gd name="T5" fmla="*/ 0 h 57"/>
              <a:gd name="T6" fmla="*/ 0 w 102"/>
              <a:gd name="T7" fmla="*/ 90487 h 57"/>
              <a:gd name="T8" fmla="*/ 0 60000 65536"/>
              <a:gd name="T9" fmla="*/ 0 60000 65536"/>
              <a:gd name="T10" fmla="*/ 0 60000 65536"/>
              <a:gd name="T11" fmla="*/ 0 60000 65536"/>
              <a:gd name="T12" fmla="*/ 0 w 102"/>
              <a:gd name="T13" fmla="*/ 0 h 57"/>
              <a:gd name="T14" fmla="*/ 102 w 102"/>
              <a:gd name="T15" fmla="*/ 57 h 5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2" h="57">
                <a:moveTo>
                  <a:pt x="0" y="57"/>
                </a:moveTo>
                <a:lnTo>
                  <a:pt x="102" y="29"/>
                </a:lnTo>
                <a:lnTo>
                  <a:pt x="0" y="0"/>
                </a:lnTo>
                <a:lnTo>
                  <a:pt x="0" y="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47" name="Oval 86"/>
          <p:cNvSpPr>
            <a:spLocks noChangeArrowheads="1"/>
          </p:cNvSpPr>
          <p:nvPr/>
        </p:nvSpPr>
        <p:spPr bwMode="auto">
          <a:xfrm>
            <a:off x="7842767" y="4848738"/>
            <a:ext cx="79811" cy="79810"/>
          </a:xfrm>
          <a:prstGeom prst="ellipse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49" name="Line 88"/>
          <p:cNvSpPr>
            <a:spLocks noChangeShapeType="1"/>
          </p:cNvSpPr>
          <p:nvPr/>
        </p:nvSpPr>
        <p:spPr bwMode="auto">
          <a:xfrm>
            <a:off x="7865261" y="4762135"/>
            <a:ext cx="0" cy="752255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0" name="Line 89"/>
          <p:cNvSpPr>
            <a:spLocks noChangeShapeType="1"/>
          </p:cNvSpPr>
          <p:nvPr/>
        </p:nvSpPr>
        <p:spPr bwMode="auto">
          <a:xfrm>
            <a:off x="7893672" y="4755342"/>
            <a:ext cx="0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1" name="Rectangle 90"/>
          <p:cNvSpPr>
            <a:spLocks noChangeArrowheads="1"/>
          </p:cNvSpPr>
          <p:nvPr/>
        </p:nvSpPr>
        <p:spPr bwMode="auto">
          <a:xfrm>
            <a:off x="7770279" y="4509120"/>
            <a:ext cx="354495" cy="33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D0</a:t>
            </a:r>
            <a:endParaRPr lang="en-US" altLang="en-US" sz="1800" dirty="0"/>
          </a:p>
        </p:txBody>
      </p:sp>
      <p:sp>
        <p:nvSpPr>
          <p:cNvPr id="254" name="Freeform 92"/>
          <p:cNvSpPr>
            <a:spLocks/>
          </p:cNvSpPr>
          <p:nvPr/>
        </p:nvSpPr>
        <p:spPr bwMode="auto">
          <a:xfrm>
            <a:off x="7334927" y="5650236"/>
            <a:ext cx="130754" cy="64527"/>
          </a:xfrm>
          <a:custGeom>
            <a:avLst/>
            <a:gdLst>
              <a:gd name="T0" fmla="*/ 122238 w 77"/>
              <a:gd name="T1" fmla="*/ 30163 h 38"/>
              <a:gd name="T2" fmla="*/ 0 w 77"/>
              <a:gd name="T3" fmla="*/ 0 h 38"/>
              <a:gd name="T4" fmla="*/ 0 w 77"/>
              <a:gd name="T5" fmla="*/ 60325 h 38"/>
              <a:gd name="T6" fmla="*/ 122238 w 77"/>
              <a:gd name="T7" fmla="*/ 30163 h 38"/>
              <a:gd name="T8" fmla="*/ 0 60000 65536"/>
              <a:gd name="T9" fmla="*/ 0 60000 65536"/>
              <a:gd name="T10" fmla="*/ 0 60000 65536"/>
              <a:gd name="T11" fmla="*/ 0 60000 65536"/>
              <a:gd name="T12" fmla="*/ 0 w 77"/>
              <a:gd name="T13" fmla="*/ 0 h 38"/>
              <a:gd name="T14" fmla="*/ 77 w 77"/>
              <a:gd name="T15" fmla="*/ 38 h 3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7" h="38">
                <a:moveTo>
                  <a:pt x="77" y="19"/>
                </a:moveTo>
                <a:lnTo>
                  <a:pt x="0" y="0"/>
                </a:lnTo>
                <a:lnTo>
                  <a:pt x="0" y="38"/>
                </a:lnTo>
                <a:lnTo>
                  <a:pt x="77" y="1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55" name="Line 93"/>
          <p:cNvSpPr>
            <a:spLocks noChangeShapeType="1"/>
          </p:cNvSpPr>
          <p:nvPr/>
        </p:nvSpPr>
        <p:spPr bwMode="auto">
          <a:xfrm>
            <a:off x="7209969" y="5673600"/>
            <a:ext cx="180000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8" name="Line 97"/>
          <p:cNvSpPr>
            <a:spLocks noChangeShapeType="1"/>
          </p:cNvSpPr>
          <p:nvPr/>
        </p:nvSpPr>
        <p:spPr bwMode="auto">
          <a:xfrm>
            <a:off x="7617980" y="5378543"/>
            <a:ext cx="0" cy="135847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9" name="Rectangle 102"/>
          <p:cNvSpPr>
            <a:spLocks noChangeArrowheads="1"/>
          </p:cNvSpPr>
          <p:nvPr/>
        </p:nvSpPr>
        <p:spPr bwMode="auto">
          <a:xfrm>
            <a:off x="7592836" y="5664568"/>
            <a:ext cx="2468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200" dirty="0">
                <a:solidFill>
                  <a:srgbClr val="000000"/>
                </a:solidFill>
                <a:latin typeface="Helvetica" pitchFamily="34" charset="0"/>
              </a:rPr>
              <a:t>2x1</a:t>
            </a:r>
            <a:endParaRPr lang="en-US" altLang="en-US" sz="1200" dirty="0"/>
          </a:p>
        </p:txBody>
      </p:sp>
      <p:sp>
        <p:nvSpPr>
          <p:cNvPr id="272" name="Freeform 109"/>
          <p:cNvSpPr>
            <a:spLocks/>
          </p:cNvSpPr>
          <p:nvPr/>
        </p:nvSpPr>
        <p:spPr bwMode="auto">
          <a:xfrm>
            <a:off x="7422060" y="5237601"/>
            <a:ext cx="118866" cy="120566"/>
          </a:xfrm>
          <a:custGeom>
            <a:avLst/>
            <a:gdLst>
              <a:gd name="T0" fmla="*/ 0 w 70"/>
              <a:gd name="T1" fmla="*/ 112713 h 71"/>
              <a:gd name="T2" fmla="*/ 111125 w 70"/>
              <a:gd name="T3" fmla="*/ 57150 h 71"/>
              <a:gd name="T4" fmla="*/ 0 w 70"/>
              <a:gd name="T5" fmla="*/ 0 h 71"/>
              <a:gd name="T6" fmla="*/ 0 60000 65536"/>
              <a:gd name="T7" fmla="*/ 0 60000 65536"/>
              <a:gd name="T8" fmla="*/ 0 60000 65536"/>
              <a:gd name="T9" fmla="*/ 0 w 70"/>
              <a:gd name="T10" fmla="*/ 0 h 71"/>
              <a:gd name="T11" fmla="*/ 70 w 70"/>
              <a:gd name="T12" fmla="*/ 71 h 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0" h="71">
                <a:moveTo>
                  <a:pt x="0" y="71"/>
                </a:moveTo>
                <a:lnTo>
                  <a:pt x="70" y="36"/>
                </a:lnTo>
                <a:lnTo>
                  <a:pt x="0" y="0"/>
                </a:lnTo>
              </a:path>
            </a:pathLst>
          </a:custGeom>
          <a:noFill/>
          <a:ln w="11113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75" name="Rectangle 112"/>
          <p:cNvSpPr>
            <a:spLocks noChangeArrowheads="1"/>
          </p:cNvSpPr>
          <p:nvPr/>
        </p:nvSpPr>
        <p:spPr bwMode="auto">
          <a:xfrm>
            <a:off x="7422060" y="5032132"/>
            <a:ext cx="341317" cy="341315"/>
          </a:xfrm>
          <a:prstGeom prst="rect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76" name="Freeform 113"/>
          <p:cNvSpPr>
            <a:spLocks/>
          </p:cNvSpPr>
          <p:nvPr/>
        </p:nvSpPr>
        <p:spPr bwMode="auto">
          <a:xfrm>
            <a:off x="7465681" y="5514390"/>
            <a:ext cx="434783" cy="382067"/>
          </a:xfrm>
          <a:custGeom>
            <a:avLst/>
            <a:gdLst>
              <a:gd name="T0" fmla="*/ 161925 w 201"/>
              <a:gd name="T1" fmla="*/ 319087 h 201"/>
              <a:gd name="T2" fmla="*/ 0 w 201"/>
              <a:gd name="T3" fmla="*/ 319087 h 201"/>
              <a:gd name="T4" fmla="*/ 0 w 201"/>
              <a:gd name="T5" fmla="*/ 0 h 201"/>
              <a:gd name="T6" fmla="*/ 319088 w 201"/>
              <a:gd name="T7" fmla="*/ 0 h 201"/>
              <a:gd name="T8" fmla="*/ 319088 w 201"/>
              <a:gd name="T9" fmla="*/ 319087 h 201"/>
              <a:gd name="T10" fmla="*/ 161925 w 201"/>
              <a:gd name="T11" fmla="*/ 319087 h 20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01"/>
              <a:gd name="T19" fmla="*/ 0 h 201"/>
              <a:gd name="T20" fmla="*/ 201 w 201"/>
              <a:gd name="T21" fmla="*/ 201 h 20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01" h="201">
                <a:moveTo>
                  <a:pt x="102" y="201"/>
                </a:moveTo>
                <a:lnTo>
                  <a:pt x="0" y="201"/>
                </a:lnTo>
                <a:lnTo>
                  <a:pt x="0" y="0"/>
                </a:lnTo>
                <a:lnTo>
                  <a:pt x="201" y="0"/>
                </a:lnTo>
                <a:lnTo>
                  <a:pt x="201" y="201"/>
                </a:lnTo>
                <a:lnTo>
                  <a:pt x="102" y="201"/>
                </a:lnTo>
              </a:path>
            </a:pathLst>
          </a:cu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77" name="Rectangle 114"/>
          <p:cNvSpPr>
            <a:spLocks noChangeArrowheads="1"/>
          </p:cNvSpPr>
          <p:nvPr/>
        </p:nvSpPr>
        <p:spPr bwMode="auto">
          <a:xfrm>
            <a:off x="7008784" y="5514389"/>
            <a:ext cx="233393" cy="351395"/>
          </a:xfrm>
          <a:prstGeom prst="rect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 sz="1600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281" name="Rectangle 128"/>
          <p:cNvSpPr>
            <a:spLocks noChangeArrowheads="1"/>
          </p:cNvSpPr>
          <p:nvPr/>
        </p:nvSpPr>
        <p:spPr bwMode="auto">
          <a:xfrm>
            <a:off x="7770279" y="5499110"/>
            <a:ext cx="1138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 sz="1600" dirty="0"/>
          </a:p>
        </p:txBody>
      </p:sp>
      <p:sp>
        <p:nvSpPr>
          <p:cNvPr id="282" name="Rectangle 129"/>
          <p:cNvSpPr>
            <a:spLocks noChangeArrowheads="1"/>
          </p:cNvSpPr>
          <p:nvPr/>
        </p:nvSpPr>
        <p:spPr bwMode="auto">
          <a:xfrm>
            <a:off x="7518731" y="5499110"/>
            <a:ext cx="11381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 sz="1600" dirty="0"/>
          </a:p>
        </p:txBody>
      </p:sp>
      <p:sp>
        <p:nvSpPr>
          <p:cNvPr id="285" name="Rectangle 160"/>
          <p:cNvSpPr>
            <a:spLocks noChangeArrowheads="1"/>
          </p:cNvSpPr>
          <p:nvPr/>
        </p:nvSpPr>
        <p:spPr bwMode="auto">
          <a:xfrm>
            <a:off x="8095160" y="3534415"/>
            <a:ext cx="78" cy="443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286" name="Line 171"/>
          <p:cNvSpPr>
            <a:spLocks noChangeShapeType="1"/>
          </p:cNvSpPr>
          <p:nvPr/>
        </p:nvSpPr>
        <p:spPr bwMode="auto">
          <a:xfrm>
            <a:off x="8494211" y="6322681"/>
            <a:ext cx="0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7" name="Freeform 210"/>
          <p:cNvSpPr>
            <a:spLocks/>
          </p:cNvSpPr>
          <p:nvPr/>
        </p:nvSpPr>
        <p:spPr bwMode="auto">
          <a:xfrm>
            <a:off x="6558972" y="4782512"/>
            <a:ext cx="402449" cy="293771"/>
          </a:xfrm>
          <a:custGeom>
            <a:avLst/>
            <a:gdLst>
              <a:gd name="T0" fmla="*/ 0 w 237"/>
              <a:gd name="T1" fmla="*/ 0 h 173"/>
              <a:gd name="T2" fmla="*/ 376238 w 237"/>
              <a:gd name="T3" fmla="*/ 274638 h 173"/>
              <a:gd name="T4" fmla="*/ 0 w 237"/>
              <a:gd name="T5" fmla="*/ 0 h 173"/>
              <a:gd name="T6" fmla="*/ 0 60000 65536"/>
              <a:gd name="T7" fmla="*/ 0 60000 65536"/>
              <a:gd name="T8" fmla="*/ 0 60000 65536"/>
              <a:gd name="T9" fmla="*/ 0 w 237"/>
              <a:gd name="T10" fmla="*/ 0 h 173"/>
              <a:gd name="T11" fmla="*/ 237 w 237"/>
              <a:gd name="T12" fmla="*/ 173 h 1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7" h="173">
                <a:moveTo>
                  <a:pt x="0" y="0"/>
                </a:moveTo>
                <a:lnTo>
                  <a:pt x="237" y="1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88" name="Line 211"/>
          <p:cNvSpPr>
            <a:spLocks noChangeShapeType="1"/>
          </p:cNvSpPr>
          <p:nvPr/>
        </p:nvSpPr>
        <p:spPr bwMode="auto">
          <a:xfrm>
            <a:off x="6558972" y="4782512"/>
            <a:ext cx="402449" cy="293771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9" name="Freeform 212"/>
          <p:cNvSpPr>
            <a:spLocks/>
          </p:cNvSpPr>
          <p:nvPr/>
        </p:nvSpPr>
        <p:spPr bwMode="auto">
          <a:xfrm>
            <a:off x="6907082" y="5016849"/>
            <a:ext cx="173205" cy="146036"/>
          </a:xfrm>
          <a:custGeom>
            <a:avLst/>
            <a:gdLst>
              <a:gd name="T0" fmla="*/ 0 w 102"/>
              <a:gd name="T1" fmla="*/ 69850 h 86"/>
              <a:gd name="T2" fmla="*/ 161925 w 102"/>
              <a:gd name="T3" fmla="*/ 136525 h 86"/>
              <a:gd name="T4" fmla="*/ 50800 w 102"/>
              <a:gd name="T5" fmla="*/ 0 h 86"/>
              <a:gd name="T6" fmla="*/ 0 w 102"/>
              <a:gd name="T7" fmla="*/ 6985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102"/>
              <a:gd name="T13" fmla="*/ 0 h 86"/>
              <a:gd name="T14" fmla="*/ 102 w 102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2" h="86">
                <a:moveTo>
                  <a:pt x="0" y="44"/>
                </a:moveTo>
                <a:lnTo>
                  <a:pt x="102" y="86"/>
                </a:lnTo>
                <a:lnTo>
                  <a:pt x="32" y="0"/>
                </a:lnTo>
                <a:lnTo>
                  <a:pt x="0" y="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292" name="Freeform 217"/>
          <p:cNvSpPr>
            <a:spLocks/>
          </p:cNvSpPr>
          <p:nvPr/>
        </p:nvSpPr>
        <p:spPr bwMode="auto">
          <a:xfrm>
            <a:off x="6798404" y="5590804"/>
            <a:ext cx="163017" cy="146036"/>
          </a:xfrm>
          <a:custGeom>
            <a:avLst/>
            <a:gdLst>
              <a:gd name="T0" fmla="*/ 55563 w 96"/>
              <a:gd name="T1" fmla="*/ 136525 h 86"/>
              <a:gd name="T2" fmla="*/ 152400 w 96"/>
              <a:gd name="T3" fmla="*/ 0 h 86"/>
              <a:gd name="T4" fmla="*/ 0 w 96"/>
              <a:gd name="T5" fmla="*/ 71437 h 86"/>
              <a:gd name="T6" fmla="*/ 55563 w 96"/>
              <a:gd name="T7" fmla="*/ 136525 h 86"/>
              <a:gd name="T8" fmla="*/ 0 60000 65536"/>
              <a:gd name="T9" fmla="*/ 0 60000 65536"/>
              <a:gd name="T10" fmla="*/ 0 60000 65536"/>
              <a:gd name="T11" fmla="*/ 0 60000 65536"/>
              <a:gd name="T12" fmla="*/ 0 w 96"/>
              <a:gd name="T13" fmla="*/ 0 h 86"/>
              <a:gd name="T14" fmla="*/ 96 w 96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6" h="86">
                <a:moveTo>
                  <a:pt x="35" y="86"/>
                </a:moveTo>
                <a:lnTo>
                  <a:pt x="96" y="0"/>
                </a:lnTo>
                <a:lnTo>
                  <a:pt x="0" y="45"/>
                </a:lnTo>
                <a:lnTo>
                  <a:pt x="35" y="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grpSp>
        <p:nvGrpSpPr>
          <p:cNvPr id="298" name="Group 297"/>
          <p:cNvGrpSpPr/>
          <p:nvPr/>
        </p:nvGrpSpPr>
        <p:grpSpPr>
          <a:xfrm>
            <a:off x="7648772" y="5865784"/>
            <a:ext cx="121507" cy="211600"/>
            <a:chOff x="4178798" y="5416537"/>
            <a:chExt cx="121507" cy="211600"/>
          </a:xfrm>
        </p:grpSpPr>
        <p:sp>
          <p:nvSpPr>
            <p:cNvPr id="299" name="Line 213"/>
            <p:cNvSpPr>
              <a:spLocks noChangeAspect="1" noChangeShapeType="1"/>
            </p:cNvSpPr>
            <p:nvPr/>
          </p:nvSpPr>
          <p:spPr bwMode="auto">
            <a:xfrm rot="3480665">
              <a:off x="4182046" y="5438113"/>
              <a:ext cx="115151" cy="7200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00" name="Freeform 214"/>
            <p:cNvSpPr>
              <a:spLocks/>
            </p:cNvSpPr>
            <p:nvPr/>
          </p:nvSpPr>
          <p:spPr bwMode="auto">
            <a:xfrm rot="3480665">
              <a:off x="4167495" y="5495327"/>
              <a:ext cx="144113" cy="121507"/>
            </a:xfrm>
            <a:custGeom>
              <a:avLst/>
              <a:gdLst>
                <a:gd name="T0" fmla="*/ 0 w 102"/>
                <a:gd name="T1" fmla="*/ 69850 h 86"/>
                <a:gd name="T2" fmla="*/ 161925 w 102"/>
                <a:gd name="T3" fmla="*/ 136525 h 86"/>
                <a:gd name="T4" fmla="*/ 50800 w 102"/>
                <a:gd name="T5" fmla="*/ 0 h 86"/>
                <a:gd name="T6" fmla="*/ 0 w 102"/>
                <a:gd name="T7" fmla="*/ 69850 h 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2"/>
                <a:gd name="T13" fmla="*/ 0 h 86"/>
                <a:gd name="T14" fmla="*/ 102 w 102"/>
                <a:gd name="T15" fmla="*/ 86 h 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2" h="86">
                  <a:moveTo>
                    <a:pt x="0" y="44"/>
                  </a:moveTo>
                  <a:lnTo>
                    <a:pt x="102" y="86"/>
                  </a:lnTo>
                  <a:lnTo>
                    <a:pt x="32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01" name="Freeform 432"/>
          <p:cNvSpPr>
            <a:spLocks/>
          </p:cNvSpPr>
          <p:nvPr/>
        </p:nvSpPr>
        <p:spPr bwMode="auto">
          <a:xfrm>
            <a:off x="2911645" y="4269838"/>
            <a:ext cx="119063" cy="125016"/>
          </a:xfrm>
          <a:custGeom>
            <a:avLst/>
            <a:gdLst>
              <a:gd name="T0" fmla="*/ 0 w 60"/>
              <a:gd name="T1" fmla="*/ 63 h 63"/>
              <a:gd name="T2" fmla="*/ 60 w 60"/>
              <a:gd name="T3" fmla="*/ 31 h 63"/>
              <a:gd name="T4" fmla="*/ 0 w 60"/>
              <a:gd name="T5" fmla="*/ 0 h 63"/>
              <a:gd name="T6" fmla="*/ 0 60000 65536"/>
              <a:gd name="T7" fmla="*/ 0 60000 65536"/>
              <a:gd name="T8" fmla="*/ 0 60000 65536"/>
              <a:gd name="T9" fmla="*/ 0 w 60"/>
              <a:gd name="T10" fmla="*/ 0 h 63"/>
              <a:gd name="T11" fmla="*/ 60 w 60"/>
              <a:gd name="T12" fmla="*/ 63 h 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0" h="63">
                <a:moveTo>
                  <a:pt x="0" y="63"/>
                </a:moveTo>
                <a:lnTo>
                  <a:pt x="60" y="31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2" name="Rectangle 433"/>
          <p:cNvSpPr>
            <a:spLocks noChangeArrowheads="1"/>
          </p:cNvSpPr>
          <p:nvPr/>
        </p:nvSpPr>
        <p:spPr bwMode="auto">
          <a:xfrm>
            <a:off x="2905692" y="4053541"/>
            <a:ext cx="359172" cy="359172"/>
          </a:xfrm>
          <a:prstGeom prst="rect">
            <a:avLst/>
          </a:prstGeom>
          <a:noFill/>
          <a:ln w="19050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3" name="Line 364"/>
          <p:cNvSpPr>
            <a:spLocks noChangeShapeType="1"/>
          </p:cNvSpPr>
          <p:nvPr/>
        </p:nvSpPr>
        <p:spPr bwMode="auto">
          <a:xfrm>
            <a:off x="3264864" y="4320962"/>
            <a:ext cx="540000" cy="0"/>
          </a:xfrm>
          <a:prstGeom prst="line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4" name="Rectangle 480"/>
          <p:cNvSpPr>
            <a:spLocks noChangeArrowheads="1"/>
          </p:cNvSpPr>
          <p:nvPr/>
        </p:nvSpPr>
        <p:spPr bwMode="auto">
          <a:xfrm>
            <a:off x="5769985" y="4927880"/>
            <a:ext cx="381604" cy="32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m0</a:t>
            </a:r>
            <a:endParaRPr lang="en-US" altLang="en-US" sz="1800" dirty="0"/>
          </a:p>
        </p:txBody>
      </p:sp>
      <p:sp>
        <p:nvSpPr>
          <p:cNvPr id="305" name="Rectangle 482"/>
          <p:cNvSpPr>
            <a:spLocks noChangeArrowheads="1"/>
          </p:cNvSpPr>
          <p:nvPr/>
        </p:nvSpPr>
        <p:spPr bwMode="auto">
          <a:xfrm>
            <a:off x="6426681" y="5032132"/>
            <a:ext cx="306038" cy="32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o0</a:t>
            </a:r>
            <a:endParaRPr lang="en-US" altLang="en-US" sz="1800" dirty="0"/>
          </a:p>
        </p:txBody>
      </p:sp>
      <p:sp>
        <p:nvSpPr>
          <p:cNvPr id="306" name="Rectangle 483"/>
          <p:cNvSpPr>
            <a:spLocks noChangeArrowheads="1"/>
          </p:cNvSpPr>
          <p:nvPr/>
        </p:nvSpPr>
        <p:spPr bwMode="auto">
          <a:xfrm>
            <a:off x="6442514" y="5334097"/>
            <a:ext cx="306038" cy="32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o1</a:t>
            </a:r>
            <a:endParaRPr lang="en-US" altLang="en-US" sz="1800"/>
          </a:p>
        </p:txBody>
      </p:sp>
      <p:sp>
        <p:nvSpPr>
          <p:cNvPr id="308" name="Rectangle 484"/>
          <p:cNvSpPr>
            <a:spLocks noChangeArrowheads="1"/>
          </p:cNvSpPr>
          <p:nvPr/>
        </p:nvSpPr>
        <p:spPr bwMode="auto">
          <a:xfrm>
            <a:off x="5769985" y="5184300"/>
            <a:ext cx="3206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m1</a:t>
            </a:r>
            <a:endParaRPr lang="en-US" altLang="en-US" sz="1800" dirty="0"/>
          </a:p>
        </p:txBody>
      </p:sp>
      <p:sp>
        <p:nvSpPr>
          <p:cNvPr id="313" name="Rectangle 485"/>
          <p:cNvSpPr>
            <a:spLocks noChangeArrowheads="1"/>
          </p:cNvSpPr>
          <p:nvPr/>
        </p:nvSpPr>
        <p:spPr bwMode="auto">
          <a:xfrm>
            <a:off x="5769985" y="5463278"/>
            <a:ext cx="3206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m2</a:t>
            </a:r>
            <a:endParaRPr lang="en-US" altLang="en-US" sz="1800" dirty="0"/>
          </a:p>
        </p:txBody>
      </p:sp>
      <p:sp>
        <p:nvSpPr>
          <p:cNvPr id="314" name="Rectangle 486"/>
          <p:cNvSpPr>
            <a:spLocks noChangeArrowheads="1"/>
          </p:cNvSpPr>
          <p:nvPr/>
        </p:nvSpPr>
        <p:spPr bwMode="auto">
          <a:xfrm>
            <a:off x="5717089" y="4455178"/>
            <a:ext cx="997459" cy="1562905"/>
          </a:xfrm>
          <a:prstGeom prst="rect">
            <a:avLst/>
          </a:prstGeom>
          <a:noFill/>
          <a:ln w="12700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315" name="Rectangle 491"/>
          <p:cNvSpPr>
            <a:spLocks noChangeArrowheads="1"/>
          </p:cNvSpPr>
          <p:nvPr/>
        </p:nvSpPr>
        <p:spPr bwMode="auto">
          <a:xfrm>
            <a:off x="6127029" y="5079065"/>
            <a:ext cx="270145" cy="183245"/>
          </a:xfrm>
          <a:prstGeom prst="rect">
            <a:avLst/>
          </a:prstGeom>
          <a:noFill/>
          <a:ln w="12700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316" name="Rectangle 492"/>
          <p:cNvSpPr>
            <a:spLocks noChangeArrowheads="1"/>
          </p:cNvSpPr>
          <p:nvPr/>
        </p:nvSpPr>
        <p:spPr bwMode="auto">
          <a:xfrm>
            <a:off x="6127029" y="5334097"/>
            <a:ext cx="270145" cy="188913"/>
          </a:xfrm>
          <a:prstGeom prst="rect">
            <a:avLst/>
          </a:prstGeom>
          <a:noFill/>
          <a:ln w="12700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317" name="Rectangle 541"/>
          <p:cNvSpPr>
            <a:spLocks noChangeArrowheads="1"/>
          </p:cNvSpPr>
          <p:nvPr/>
        </p:nvSpPr>
        <p:spPr bwMode="auto">
          <a:xfrm>
            <a:off x="6442514" y="5602353"/>
            <a:ext cx="306038" cy="32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rgbClr val="000000"/>
                </a:solidFill>
                <a:latin typeface="Helvetica" pitchFamily="34" charset="0"/>
              </a:rPr>
              <a:t>o2</a:t>
            </a:r>
            <a:endParaRPr lang="en-US" altLang="en-US" sz="1800"/>
          </a:p>
        </p:txBody>
      </p:sp>
      <p:sp>
        <p:nvSpPr>
          <p:cNvPr id="318" name="Rectangle 542"/>
          <p:cNvSpPr>
            <a:spLocks noChangeArrowheads="1"/>
          </p:cNvSpPr>
          <p:nvPr/>
        </p:nvSpPr>
        <p:spPr bwMode="auto">
          <a:xfrm>
            <a:off x="6127029" y="5608021"/>
            <a:ext cx="270145" cy="188913"/>
          </a:xfrm>
          <a:prstGeom prst="rect">
            <a:avLst/>
          </a:prstGeom>
          <a:noFill/>
          <a:ln w="12700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800"/>
          </a:p>
        </p:txBody>
      </p:sp>
      <p:sp>
        <p:nvSpPr>
          <p:cNvPr id="319" name="Rectangle 487"/>
          <p:cNvSpPr>
            <a:spLocks noChangeArrowheads="1"/>
          </p:cNvSpPr>
          <p:nvPr/>
        </p:nvSpPr>
        <p:spPr bwMode="auto">
          <a:xfrm>
            <a:off x="6038657" y="4507328"/>
            <a:ext cx="4520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200" dirty="0">
                <a:solidFill>
                  <a:srgbClr val="FF0000"/>
                </a:solidFill>
                <a:latin typeface="Helvetica" pitchFamily="34" charset="0"/>
              </a:rPr>
              <a:t>Switch</a:t>
            </a:r>
          </a:p>
          <a:p>
            <a:pPr eaLnBrk="1" hangingPunct="1"/>
            <a:r>
              <a:rPr lang="en-US" altLang="en-US" sz="1200" dirty="0">
                <a:solidFill>
                  <a:srgbClr val="FF0000"/>
                </a:solidFill>
                <a:latin typeface="Helvetica" pitchFamily="34" charset="0"/>
              </a:rPr>
              <a:t>matrix</a:t>
            </a:r>
            <a:endParaRPr lang="en-US" altLang="en-US" sz="1200" dirty="0">
              <a:solidFill>
                <a:srgbClr val="FF0000"/>
              </a:solidFill>
            </a:endParaRPr>
          </a:p>
        </p:txBody>
      </p:sp>
      <p:sp>
        <p:nvSpPr>
          <p:cNvPr id="320" name="Rectangle 485"/>
          <p:cNvSpPr>
            <a:spLocks noChangeArrowheads="1"/>
          </p:cNvSpPr>
          <p:nvPr/>
        </p:nvSpPr>
        <p:spPr bwMode="auto">
          <a:xfrm>
            <a:off x="5790392" y="5741084"/>
            <a:ext cx="3206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m3</a:t>
            </a:r>
            <a:endParaRPr lang="en-US" altLang="en-US" sz="1800" dirty="0"/>
          </a:p>
        </p:txBody>
      </p:sp>
      <p:sp>
        <p:nvSpPr>
          <p:cNvPr id="322" name="Rectangle 351"/>
          <p:cNvSpPr>
            <a:spLocks noChangeArrowheads="1"/>
          </p:cNvSpPr>
          <p:nvPr/>
        </p:nvSpPr>
        <p:spPr bwMode="auto">
          <a:xfrm>
            <a:off x="3376142" y="4028309"/>
            <a:ext cx="11541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x</a:t>
            </a:r>
          </a:p>
        </p:txBody>
      </p:sp>
      <p:sp>
        <p:nvSpPr>
          <p:cNvPr id="323" name="Rectangle 351"/>
          <p:cNvSpPr>
            <a:spLocks noChangeArrowheads="1"/>
          </p:cNvSpPr>
          <p:nvPr/>
        </p:nvSpPr>
        <p:spPr bwMode="auto">
          <a:xfrm>
            <a:off x="2664639" y="3939135"/>
            <a:ext cx="1282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91351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670"/>
    </mc:Choice>
    <mc:Fallback xmlns="">
      <p:transition spd="slow" advTm="2667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Rectangle 306"/>
          <p:cNvSpPr>
            <a:spLocks noChangeArrowheads="1"/>
          </p:cNvSpPr>
          <p:nvPr/>
        </p:nvSpPr>
        <p:spPr bwMode="auto">
          <a:xfrm>
            <a:off x="6155137" y="5279991"/>
            <a:ext cx="21480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 b="1" dirty="0">
                <a:solidFill>
                  <a:srgbClr val="FF0000"/>
                </a:solidFill>
                <a:latin typeface="Helvetica" pitchFamily="34" charset="0"/>
              </a:rPr>
              <a:t>01</a:t>
            </a:r>
            <a:endParaRPr lang="en-US" altLang="en-US" sz="1500" b="1" dirty="0">
              <a:solidFill>
                <a:srgbClr val="FF0000"/>
              </a:solidFill>
            </a:endParaRPr>
          </a:p>
        </p:txBody>
      </p:sp>
      <p:sp>
        <p:nvSpPr>
          <p:cNvPr id="715" name="Rectangle 307"/>
          <p:cNvSpPr>
            <a:spLocks noChangeArrowheads="1"/>
          </p:cNvSpPr>
          <p:nvPr/>
        </p:nvSpPr>
        <p:spPr bwMode="auto">
          <a:xfrm>
            <a:off x="6142512" y="5765422"/>
            <a:ext cx="20415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 b="1" dirty="0">
                <a:solidFill>
                  <a:srgbClr val="FF0000"/>
                </a:solidFill>
                <a:latin typeface="Helvetica" pitchFamily="34" charset="0"/>
              </a:rPr>
              <a:t>11</a:t>
            </a:r>
            <a:endParaRPr lang="en-US" altLang="en-US" sz="1500" b="1" dirty="0">
              <a:solidFill>
                <a:srgbClr val="FF0000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293415" y="1449113"/>
            <a:ext cx="5729990" cy="4679624"/>
            <a:chOff x="3293415" y="1449113"/>
            <a:chExt cx="5729990" cy="4679624"/>
          </a:xfrm>
        </p:grpSpPr>
        <p:grpSp>
          <p:nvGrpSpPr>
            <p:cNvPr id="15" name="Group 14"/>
            <p:cNvGrpSpPr>
              <a:grpSpLocks noChangeAspect="1"/>
            </p:cNvGrpSpPr>
            <p:nvPr/>
          </p:nvGrpSpPr>
          <p:grpSpPr>
            <a:xfrm>
              <a:off x="3293415" y="1449113"/>
              <a:ext cx="5729990" cy="4679624"/>
              <a:chOff x="3568010" y="1753711"/>
              <a:chExt cx="5116063" cy="4178236"/>
            </a:xfrm>
          </p:grpSpPr>
          <p:sp>
            <p:nvSpPr>
              <p:cNvPr id="28677" name="Freeform 15"/>
              <p:cNvSpPr>
                <a:spLocks/>
              </p:cNvSpPr>
              <p:nvPr/>
            </p:nvSpPr>
            <p:spPr bwMode="auto">
              <a:xfrm>
                <a:off x="4074293" y="1927121"/>
                <a:ext cx="4301679" cy="3961298"/>
              </a:xfrm>
              <a:custGeom>
                <a:avLst/>
                <a:gdLst>
                  <a:gd name="T0" fmla="*/ 3973512 w 2509"/>
                  <a:gd name="T1" fmla="*/ 3860800 h 2437"/>
                  <a:gd name="T2" fmla="*/ 3973512 w 2509"/>
                  <a:gd name="T3" fmla="*/ 3857625 h 2437"/>
                  <a:gd name="T4" fmla="*/ 12700 w 2509"/>
                  <a:gd name="T5" fmla="*/ 3857625 h 2437"/>
                  <a:gd name="T6" fmla="*/ 12700 w 2509"/>
                  <a:gd name="T7" fmla="*/ 7937 h 2437"/>
                  <a:gd name="T8" fmla="*/ 3970337 w 2509"/>
                  <a:gd name="T9" fmla="*/ 7937 h 2437"/>
                  <a:gd name="T10" fmla="*/ 3970337 w 2509"/>
                  <a:gd name="T11" fmla="*/ 3860800 h 2437"/>
                  <a:gd name="T12" fmla="*/ 3973512 w 2509"/>
                  <a:gd name="T13" fmla="*/ 3860800 h 2437"/>
                  <a:gd name="T14" fmla="*/ 3973512 w 2509"/>
                  <a:gd name="T15" fmla="*/ 3857625 h 2437"/>
                  <a:gd name="T16" fmla="*/ 3973512 w 2509"/>
                  <a:gd name="T17" fmla="*/ 3860800 h 2437"/>
                  <a:gd name="T18" fmla="*/ 3983037 w 2509"/>
                  <a:gd name="T19" fmla="*/ 3860800 h 2437"/>
                  <a:gd name="T20" fmla="*/ 3983037 w 2509"/>
                  <a:gd name="T21" fmla="*/ 0 h 2437"/>
                  <a:gd name="T22" fmla="*/ 0 w 2509"/>
                  <a:gd name="T23" fmla="*/ 0 h 2437"/>
                  <a:gd name="T24" fmla="*/ 0 w 2509"/>
                  <a:gd name="T25" fmla="*/ 3868737 h 2437"/>
                  <a:gd name="T26" fmla="*/ 3983037 w 2509"/>
                  <a:gd name="T27" fmla="*/ 3868737 h 2437"/>
                  <a:gd name="T28" fmla="*/ 3983037 w 2509"/>
                  <a:gd name="T29" fmla="*/ 3860800 h 2437"/>
                  <a:gd name="T30" fmla="*/ 3973512 w 2509"/>
                  <a:gd name="T31" fmla="*/ 3860800 h 243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509"/>
                  <a:gd name="T49" fmla="*/ 0 h 2437"/>
                  <a:gd name="T50" fmla="*/ 2509 w 2509"/>
                  <a:gd name="T51" fmla="*/ 2437 h 243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509" h="2437">
                    <a:moveTo>
                      <a:pt x="2503" y="2432"/>
                    </a:moveTo>
                    <a:lnTo>
                      <a:pt x="2503" y="2430"/>
                    </a:lnTo>
                    <a:lnTo>
                      <a:pt x="8" y="2430"/>
                    </a:lnTo>
                    <a:lnTo>
                      <a:pt x="8" y="5"/>
                    </a:lnTo>
                    <a:lnTo>
                      <a:pt x="2501" y="5"/>
                    </a:lnTo>
                    <a:lnTo>
                      <a:pt x="2501" y="2432"/>
                    </a:lnTo>
                    <a:lnTo>
                      <a:pt x="2503" y="2432"/>
                    </a:lnTo>
                    <a:lnTo>
                      <a:pt x="2503" y="2430"/>
                    </a:lnTo>
                    <a:lnTo>
                      <a:pt x="2503" y="2432"/>
                    </a:lnTo>
                    <a:lnTo>
                      <a:pt x="2509" y="2432"/>
                    </a:lnTo>
                    <a:lnTo>
                      <a:pt x="2509" y="0"/>
                    </a:lnTo>
                    <a:lnTo>
                      <a:pt x="0" y="0"/>
                    </a:lnTo>
                    <a:lnTo>
                      <a:pt x="0" y="2437"/>
                    </a:lnTo>
                    <a:lnTo>
                      <a:pt x="2509" y="2437"/>
                    </a:lnTo>
                    <a:lnTo>
                      <a:pt x="2509" y="2432"/>
                    </a:lnTo>
                    <a:lnTo>
                      <a:pt x="2503" y="2432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678" name="Freeform 16"/>
              <p:cNvSpPr>
                <a:spLocks/>
              </p:cNvSpPr>
              <p:nvPr/>
            </p:nvSpPr>
            <p:spPr bwMode="auto">
              <a:xfrm>
                <a:off x="4074293" y="1753711"/>
                <a:ext cx="4301679" cy="4178236"/>
              </a:xfrm>
              <a:custGeom>
                <a:avLst/>
                <a:gdLst>
                  <a:gd name="T0" fmla="*/ 3973512 w 2509"/>
                  <a:gd name="T1" fmla="*/ 3860800 h 2437"/>
                  <a:gd name="T2" fmla="*/ 3973512 w 2509"/>
                  <a:gd name="T3" fmla="*/ 3857625 h 2437"/>
                  <a:gd name="T4" fmla="*/ 12700 w 2509"/>
                  <a:gd name="T5" fmla="*/ 3857625 h 2437"/>
                  <a:gd name="T6" fmla="*/ 12700 w 2509"/>
                  <a:gd name="T7" fmla="*/ 7937 h 2437"/>
                  <a:gd name="T8" fmla="*/ 3970337 w 2509"/>
                  <a:gd name="T9" fmla="*/ 7937 h 2437"/>
                  <a:gd name="T10" fmla="*/ 3970337 w 2509"/>
                  <a:gd name="T11" fmla="*/ 3860800 h 2437"/>
                  <a:gd name="T12" fmla="*/ 3973512 w 2509"/>
                  <a:gd name="T13" fmla="*/ 3860800 h 2437"/>
                  <a:gd name="T14" fmla="*/ 3973512 w 2509"/>
                  <a:gd name="T15" fmla="*/ 3857625 h 2437"/>
                  <a:gd name="T16" fmla="*/ 3973512 w 2509"/>
                  <a:gd name="T17" fmla="*/ 3860800 h 2437"/>
                  <a:gd name="T18" fmla="*/ 3983037 w 2509"/>
                  <a:gd name="T19" fmla="*/ 3860800 h 2437"/>
                  <a:gd name="T20" fmla="*/ 3983037 w 2509"/>
                  <a:gd name="T21" fmla="*/ 0 h 2437"/>
                  <a:gd name="T22" fmla="*/ 0 w 2509"/>
                  <a:gd name="T23" fmla="*/ 0 h 2437"/>
                  <a:gd name="T24" fmla="*/ 0 w 2509"/>
                  <a:gd name="T25" fmla="*/ 3868737 h 2437"/>
                  <a:gd name="T26" fmla="*/ 3983037 w 2509"/>
                  <a:gd name="T27" fmla="*/ 3868737 h 2437"/>
                  <a:gd name="T28" fmla="*/ 3983037 w 2509"/>
                  <a:gd name="T29" fmla="*/ 3860800 h 2437"/>
                  <a:gd name="T30" fmla="*/ 3973512 w 2509"/>
                  <a:gd name="T31" fmla="*/ 3860800 h 243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509"/>
                  <a:gd name="T49" fmla="*/ 0 h 2437"/>
                  <a:gd name="T50" fmla="*/ 2509 w 2509"/>
                  <a:gd name="T51" fmla="*/ 2437 h 243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509" h="2437">
                    <a:moveTo>
                      <a:pt x="2503" y="2432"/>
                    </a:moveTo>
                    <a:lnTo>
                      <a:pt x="2503" y="2430"/>
                    </a:lnTo>
                    <a:lnTo>
                      <a:pt x="8" y="2430"/>
                    </a:lnTo>
                    <a:lnTo>
                      <a:pt x="8" y="5"/>
                    </a:lnTo>
                    <a:lnTo>
                      <a:pt x="2501" y="5"/>
                    </a:lnTo>
                    <a:lnTo>
                      <a:pt x="2501" y="2432"/>
                    </a:lnTo>
                    <a:lnTo>
                      <a:pt x="2503" y="2432"/>
                    </a:lnTo>
                    <a:lnTo>
                      <a:pt x="2503" y="2430"/>
                    </a:lnTo>
                    <a:lnTo>
                      <a:pt x="2503" y="2432"/>
                    </a:lnTo>
                    <a:lnTo>
                      <a:pt x="2509" y="2432"/>
                    </a:lnTo>
                    <a:lnTo>
                      <a:pt x="2509" y="0"/>
                    </a:lnTo>
                    <a:lnTo>
                      <a:pt x="0" y="0"/>
                    </a:lnTo>
                    <a:lnTo>
                      <a:pt x="0" y="2437"/>
                    </a:lnTo>
                    <a:lnTo>
                      <a:pt x="2509" y="2437"/>
                    </a:lnTo>
                    <a:lnTo>
                      <a:pt x="2509" y="2432"/>
                    </a:lnTo>
                    <a:lnTo>
                      <a:pt x="2503" y="243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679" name="Freeform 17"/>
              <p:cNvSpPr>
                <a:spLocks/>
              </p:cNvSpPr>
              <p:nvPr/>
            </p:nvSpPr>
            <p:spPr bwMode="auto">
              <a:xfrm>
                <a:off x="4379474" y="2067464"/>
                <a:ext cx="953262" cy="2052257"/>
              </a:xfrm>
              <a:custGeom>
                <a:avLst/>
                <a:gdLst>
                  <a:gd name="T0" fmla="*/ 874713 w 556"/>
                  <a:gd name="T1" fmla="*/ 1892301 h 1197"/>
                  <a:gd name="T2" fmla="*/ 874713 w 556"/>
                  <a:gd name="T3" fmla="*/ 1889126 h 1197"/>
                  <a:gd name="T4" fmla="*/ 12700 w 556"/>
                  <a:gd name="T5" fmla="*/ 1889126 h 1197"/>
                  <a:gd name="T6" fmla="*/ 12700 w 556"/>
                  <a:gd name="T7" fmla="*/ 11113 h 1197"/>
                  <a:gd name="T8" fmla="*/ 865188 w 556"/>
                  <a:gd name="T9" fmla="*/ 11113 h 1197"/>
                  <a:gd name="T10" fmla="*/ 865188 w 556"/>
                  <a:gd name="T11" fmla="*/ 1892301 h 1197"/>
                  <a:gd name="T12" fmla="*/ 874713 w 556"/>
                  <a:gd name="T13" fmla="*/ 1892301 h 1197"/>
                  <a:gd name="T14" fmla="*/ 874713 w 556"/>
                  <a:gd name="T15" fmla="*/ 1889126 h 1197"/>
                  <a:gd name="T16" fmla="*/ 874713 w 556"/>
                  <a:gd name="T17" fmla="*/ 1892301 h 1197"/>
                  <a:gd name="T18" fmla="*/ 882650 w 556"/>
                  <a:gd name="T19" fmla="*/ 1892301 h 1197"/>
                  <a:gd name="T20" fmla="*/ 882650 w 556"/>
                  <a:gd name="T21" fmla="*/ 0 h 1197"/>
                  <a:gd name="T22" fmla="*/ 0 w 556"/>
                  <a:gd name="T23" fmla="*/ 0 h 1197"/>
                  <a:gd name="T24" fmla="*/ 0 w 556"/>
                  <a:gd name="T25" fmla="*/ 1900238 h 1197"/>
                  <a:gd name="T26" fmla="*/ 882650 w 556"/>
                  <a:gd name="T27" fmla="*/ 1900238 h 1197"/>
                  <a:gd name="T28" fmla="*/ 882650 w 556"/>
                  <a:gd name="T29" fmla="*/ 1892301 h 1197"/>
                  <a:gd name="T30" fmla="*/ 874713 w 556"/>
                  <a:gd name="T31" fmla="*/ 1892301 h 119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56"/>
                  <a:gd name="T49" fmla="*/ 0 h 1197"/>
                  <a:gd name="T50" fmla="*/ 556 w 556"/>
                  <a:gd name="T51" fmla="*/ 1197 h 119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56" h="1197">
                    <a:moveTo>
                      <a:pt x="551" y="1192"/>
                    </a:moveTo>
                    <a:lnTo>
                      <a:pt x="551" y="1190"/>
                    </a:lnTo>
                    <a:lnTo>
                      <a:pt x="8" y="1190"/>
                    </a:lnTo>
                    <a:lnTo>
                      <a:pt x="8" y="7"/>
                    </a:lnTo>
                    <a:lnTo>
                      <a:pt x="545" y="7"/>
                    </a:lnTo>
                    <a:lnTo>
                      <a:pt x="545" y="1192"/>
                    </a:lnTo>
                    <a:lnTo>
                      <a:pt x="551" y="1192"/>
                    </a:lnTo>
                    <a:lnTo>
                      <a:pt x="551" y="1190"/>
                    </a:lnTo>
                    <a:lnTo>
                      <a:pt x="551" y="1192"/>
                    </a:lnTo>
                    <a:lnTo>
                      <a:pt x="556" y="1192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1197"/>
                    </a:lnTo>
                    <a:lnTo>
                      <a:pt x="556" y="1197"/>
                    </a:lnTo>
                    <a:lnTo>
                      <a:pt x="556" y="1192"/>
                    </a:lnTo>
                    <a:lnTo>
                      <a:pt x="551" y="1192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680" name="Freeform 18"/>
              <p:cNvSpPr>
                <a:spLocks/>
              </p:cNvSpPr>
              <p:nvPr/>
            </p:nvSpPr>
            <p:spPr bwMode="auto">
              <a:xfrm>
                <a:off x="4379474" y="2067464"/>
                <a:ext cx="953262" cy="2052257"/>
              </a:xfrm>
              <a:custGeom>
                <a:avLst/>
                <a:gdLst>
                  <a:gd name="T0" fmla="*/ 874713 w 556"/>
                  <a:gd name="T1" fmla="*/ 1892301 h 1197"/>
                  <a:gd name="T2" fmla="*/ 874713 w 556"/>
                  <a:gd name="T3" fmla="*/ 1889126 h 1197"/>
                  <a:gd name="T4" fmla="*/ 12700 w 556"/>
                  <a:gd name="T5" fmla="*/ 1889126 h 1197"/>
                  <a:gd name="T6" fmla="*/ 12700 w 556"/>
                  <a:gd name="T7" fmla="*/ 11113 h 1197"/>
                  <a:gd name="T8" fmla="*/ 865188 w 556"/>
                  <a:gd name="T9" fmla="*/ 11113 h 1197"/>
                  <a:gd name="T10" fmla="*/ 865188 w 556"/>
                  <a:gd name="T11" fmla="*/ 1892301 h 1197"/>
                  <a:gd name="T12" fmla="*/ 874713 w 556"/>
                  <a:gd name="T13" fmla="*/ 1892301 h 1197"/>
                  <a:gd name="T14" fmla="*/ 874713 w 556"/>
                  <a:gd name="T15" fmla="*/ 1889126 h 1197"/>
                  <a:gd name="T16" fmla="*/ 874713 w 556"/>
                  <a:gd name="T17" fmla="*/ 1892301 h 1197"/>
                  <a:gd name="T18" fmla="*/ 882650 w 556"/>
                  <a:gd name="T19" fmla="*/ 1892301 h 1197"/>
                  <a:gd name="T20" fmla="*/ 882650 w 556"/>
                  <a:gd name="T21" fmla="*/ 0 h 1197"/>
                  <a:gd name="T22" fmla="*/ 0 w 556"/>
                  <a:gd name="T23" fmla="*/ 0 h 1197"/>
                  <a:gd name="T24" fmla="*/ 0 w 556"/>
                  <a:gd name="T25" fmla="*/ 1900238 h 1197"/>
                  <a:gd name="T26" fmla="*/ 882650 w 556"/>
                  <a:gd name="T27" fmla="*/ 1900238 h 1197"/>
                  <a:gd name="T28" fmla="*/ 882650 w 556"/>
                  <a:gd name="T29" fmla="*/ 1892301 h 1197"/>
                  <a:gd name="T30" fmla="*/ 874713 w 556"/>
                  <a:gd name="T31" fmla="*/ 1892301 h 119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56"/>
                  <a:gd name="T49" fmla="*/ 0 h 1197"/>
                  <a:gd name="T50" fmla="*/ 556 w 556"/>
                  <a:gd name="T51" fmla="*/ 1197 h 119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56" h="1197">
                    <a:moveTo>
                      <a:pt x="551" y="1192"/>
                    </a:moveTo>
                    <a:lnTo>
                      <a:pt x="551" y="1190"/>
                    </a:lnTo>
                    <a:lnTo>
                      <a:pt x="8" y="1190"/>
                    </a:lnTo>
                    <a:lnTo>
                      <a:pt x="8" y="7"/>
                    </a:lnTo>
                    <a:lnTo>
                      <a:pt x="545" y="7"/>
                    </a:lnTo>
                    <a:lnTo>
                      <a:pt x="545" y="1192"/>
                    </a:lnTo>
                    <a:lnTo>
                      <a:pt x="551" y="1192"/>
                    </a:lnTo>
                    <a:lnTo>
                      <a:pt x="551" y="1190"/>
                    </a:lnTo>
                    <a:lnTo>
                      <a:pt x="551" y="1192"/>
                    </a:lnTo>
                    <a:lnTo>
                      <a:pt x="556" y="1192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1197"/>
                    </a:lnTo>
                    <a:lnTo>
                      <a:pt x="556" y="1197"/>
                    </a:lnTo>
                    <a:lnTo>
                      <a:pt x="556" y="1192"/>
                    </a:lnTo>
                    <a:lnTo>
                      <a:pt x="551" y="119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681" name="Rectangle 19"/>
              <p:cNvSpPr>
                <a:spLocks noChangeArrowheads="1"/>
              </p:cNvSpPr>
              <p:nvPr/>
            </p:nvSpPr>
            <p:spPr bwMode="auto">
              <a:xfrm>
                <a:off x="4751520" y="2285206"/>
                <a:ext cx="522923" cy="1597914"/>
              </a:xfrm>
              <a:prstGeom prst="rect">
                <a:avLst/>
              </a:prstGeom>
              <a:solidFill>
                <a:srgbClr val="DFE6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682" name="Rectangle 20"/>
              <p:cNvSpPr>
                <a:spLocks noChangeArrowheads="1"/>
              </p:cNvSpPr>
              <p:nvPr/>
            </p:nvSpPr>
            <p:spPr bwMode="auto">
              <a:xfrm>
                <a:off x="4751520" y="2285206"/>
                <a:ext cx="522923" cy="15979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683" name="Freeform 21"/>
              <p:cNvSpPr>
                <a:spLocks/>
              </p:cNvSpPr>
              <p:nvPr/>
            </p:nvSpPr>
            <p:spPr bwMode="auto">
              <a:xfrm>
                <a:off x="4741233" y="2281777"/>
                <a:ext cx="541782" cy="1609915"/>
              </a:xfrm>
              <a:custGeom>
                <a:avLst/>
                <a:gdLst>
                  <a:gd name="T0" fmla="*/ 493713 w 316"/>
                  <a:gd name="T1" fmla="*/ 1482725 h 939"/>
                  <a:gd name="T2" fmla="*/ 493713 w 316"/>
                  <a:gd name="T3" fmla="*/ 1479550 h 939"/>
                  <a:gd name="T4" fmla="*/ 12700 w 316"/>
                  <a:gd name="T5" fmla="*/ 1479550 h 939"/>
                  <a:gd name="T6" fmla="*/ 12700 w 316"/>
                  <a:gd name="T7" fmla="*/ 12700 h 939"/>
                  <a:gd name="T8" fmla="*/ 488950 w 316"/>
                  <a:gd name="T9" fmla="*/ 12700 h 939"/>
                  <a:gd name="T10" fmla="*/ 488950 w 316"/>
                  <a:gd name="T11" fmla="*/ 1482725 h 939"/>
                  <a:gd name="T12" fmla="*/ 493713 w 316"/>
                  <a:gd name="T13" fmla="*/ 1482725 h 939"/>
                  <a:gd name="T14" fmla="*/ 493713 w 316"/>
                  <a:gd name="T15" fmla="*/ 1479550 h 939"/>
                  <a:gd name="T16" fmla="*/ 493713 w 316"/>
                  <a:gd name="T17" fmla="*/ 1482725 h 939"/>
                  <a:gd name="T18" fmla="*/ 501650 w 316"/>
                  <a:gd name="T19" fmla="*/ 1482725 h 939"/>
                  <a:gd name="T20" fmla="*/ 501650 w 316"/>
                  <a:gd name="T21" fmla="*/ 0 h 939"/>
                  <a:gd name="T22" fmla="*/ 0 w 316"/>
                  <a:gd name="T23" fmla="*/ 0 h 939"/>
                  <a:gd name="T24" fmla="*/ 0 w 316"/>
                  <a:gd name="T25" fmla="*/ 1490662 h 939"/>
                  <a:gd name="T26" fmla="*/ 501650 w 316"/>
                  <a:gd name="T27" fmla="*/ 1490662 h 939"/>
                  <a:gd name="T28" fmla="*/ 501650 w 316"/>
                  <a:gd name="T29" fmla="*/ 1482725 h 939"/>
                  <a:gd name="T30" fmla="*/ 493713 w 316"/>
                  <a:gd name="T31" fmla="*/ 1482725 h 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16"/>
                  <a:gd name="T49" fmla="*/ 0 h 939"/>
                  <a:gd name="T50" fmla="*/ 316 w 316"/>
                  <a:gd name="T51" fmla="*/ 939 h 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16" h="939">
                    <a:moveTo>
                      <a:pt x="311" y="934"/>
                    </a:moveTo>
                    <a:lnTo>
                      <a:pt x="311" y="932"/>
                    </a:lnTo>
                    <a:lnTo>
                      <a:pt x="8" y="932"/>
                    </a:lnTo>
                    <a:lnTo>
                      <a:pt x="8" y="8"/>
                    </a:lnTo>
                    <a:lnTo>
                      <a:pt x="308" y="8"/>
                    </a:lnTo>
                    <a:lnTo>
                      <a:pt x="308" y="934"/>
                    </a:lnTo>
                    <a:lnTo>
                      <a:pt x="311" y="934"/>
                    </a:lnTo>
                    <a:lnTo>
                      <a:pt x="311" y="932"/>
                    </a:lnTo>
                    <a:lnTo>
                      <a:pt x="311" y="934"/>
                    </a:lnTo>
                    <a:lnTo>
                      <a:pt x="316" y="934"/>
                    </a:lnTo>
                    <a:lnTo>
                      <a:pt x="316" y="0"/>
                    </a:lnTo>
                    <a:lnTo>
                      <a:pt x="0" y="0"/>
                    </a:lnTo>
                    <a:lnTo>
                      <a:pt x="0" y="939"/>
                    </a:lnTo>
                    <a:lnTo>
                      <a:pt x="316" y="939"/>
                    </a:lnTo>
                    <a:lnTo>
                      <a:pt x="316" y="934"/>
                    </a:lnTo>
                    <a:lnTo>
                      <a:pt x="311" y="934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684" name="Freeform 22"/>
              <p:cNvSpPr>
                <a:spLocks/>
              </p:cNvSpPr>
              <p:nvPr/>
            </p:nvSpPr>
            <p:spPr bwMode="auto">
              <a:xfrm>
                <a:off x="4741233" y="2281777"/>
                <a:ext cx="541782" cy="1609915"/>
              </a:xfrm>
              <a:custGeom>
                <a:avLst/>
                <a:gdLst>
                  <a:gd name="T0" fmla="*/ 493713 w 316"/>
                  <a:gd name="T1" fmla="*/ 1482725 h 939"/>
                  <a:gd name="T2" fmla="*/ 493713 w 316"/>
                  <a:gd name="T3" fmla="*/ 1479550 h 939"/>
                  <a:gd name="T4" fmla="*/ 12700 w 316"/>
                  <a:gd name="T5" fmla="*/ 1479550 h 939"/>
                  <a:gd name="T6" fmla="*/ 12700 w 316"/>
                  <a:gd name="T7" fmla="*/ 12700 h 939"/>
                  <a:gd name="T8" fmla="*/ 488950 w 316"/>
                  <a:gd name="T9" fmla="*/ 12700 h 939"/>
                  <a:gd name="T10" fmla="*/ 488950 w 316"/>
                  <a:gd name="T11" fmla="*/ 1482725 h 939"/>
                  <a:gd name="T12" fmla="*/ 493713 w 316"/>
                  <a:gd name="T13" fmla="*/ 1482725 h 939"/>
                  <a:gd name="T14" fmla="*/ 493713 w 316"/>
                  <a:gd name="T15" fmla="*/ 1479550 h 939"/>
                  <a:gd name="T16" fmla="*/ 493713 w 316"/>
                  <a:gd name="T17" fmla="*/ 1482725 h 939"/>
                  <a:gd name="T18" fmla="*/ 501650 w 316"/>
                  <a:gd name="T19" fmla="*/ 1482725 h 939"/>
                  <a:gd name="T20" fmla="*/ 501650 w 316"/>
                  <a:gd name="T21" fmla="*/ 0 h 939"/>
                  <a:gd name="T22" fmla="*/ 0 w 316"/>
                  <a:gd name="T23" fmla="*/ 0 h 939"/>
                  <a:gd name="T24" fmla="*/ 0 w 316"/>
                  <a:gd name="T25" fmla="*/ 1490662 h 939"/>
                  <a:gd name="T26" fmla="*/ 501650 w 316"/>
                  <a:gd name="T27" fmla="*/ 1490662 h 939"/>
                  <a:gd name="T28" fmla="*/ 501650 w 316"/>
                  <a:gd name="T29" fmla="*/ 1482725 h 939"/>
                  <a:gd name="T30" fmla="*/ 493713 w 316"/>
                  <a:gd name="T31" fmla="*/ 1482725 h 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16"/>
                  <a:gd name="T49" fmla="*/ 0 h 939"/>
                  <a:gd name="T50" fmla="*/ 316 w 316"/>
                  <a:gd name="T51" fmla="*/ 939 h 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16" h="939">
                    <a:moveTo>
                      <a:pt x="311" y="934"/>
                    </a:moveTo>
                    <a:lnTo>
                      <a:pt x="311" y="932"/>
                    </a:lnTo>
                    <a:lnTo>
                      <a:pt x="8" y="932"/>
                    </a:lnTo>
                    <a:lnTo>
                      <a:pt x="8" y="8"/>
                    </a:lnTo>
                    <a:lnTo>
                      <a:pt x="308" y="8"/>
                    </a:lnTo>
                    <a:lnTo>
                      <a:pt x="308" y="934"/>
                    </a:lnTo>
                    <a:lnTo>
                      <a:pt x="311" y="934"/>
                    </a:lnTo>
                    <a:lnTo>
                      <a:pt x="311" y="932"/>
                    </a:lnTo>
                    <a:lnTo>
                      <a:pt x="311" y="934"/>
                    </a:lnTo>
                    <a:lnTo>
                      <a:pt x="316" y="934"/>
                    </a:lnTo>
                    <a:lnTo>
                      <a:pt x="316" y="0"/>
                    </a:lnTo>
                    <a:lnTo>
                      <a:pt x="0" y="0"/>
                    </a:lnTo>
                    <a:lnTo>
                      <a:pt x="0" y="939"/>
                    </a:lnTo>
                    <a:lnTo>
                      <a:pt x="316" y="939"/>
                    </a:lnTo>
                    <a:lnTo>
                      <a:pt x="316" y="934"/>
                    </a:lnTo>
                    <a:lnTo>
                      <a:pt x="311" y="9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685" name="Line 23"/>
              <p:cNvSpPr>
                <a:spLocks noChangeShapeType="1"/>
              </p:cNvSpPr>
              <p:nvPr/>
            </p:nvSpPr>
            <p:spPr bwMode="auto">
              <a:xfrm>
                <a:off x="4746377" y="2487517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686" name="Line 24"/>
              <p:cNvSpPr>
                <a:spLocks noChangeShapeType="1"/>
              </p:cNvSpPr>
              <p:nvPr/>
            </p:nvSpPr>
            <p:spPr bwMode="auto">
              <a:xfrm>
                <a:off x="4746377" y="2684684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687" name="Line 25"/>
              <p:cNvSpPr>
                <a:spLocks noChangeShapeType="1"/>
              </p:cNvSpPr>
              <p:nvPr/>
            </p:nvSpPr>
            <p:spPr bwMode="auto">
              <a:xfrm>
                <a:off x="4746377" y="2885281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688" name="Line 26"/>
              <p:cNvSpPr>
                <a:spLocks noChangeShapeType="1"/>
              </p:cNvSpPr>
              <p:nvPr/>
            </p:nvSpPr>
            <p:spPr bwMode="auto">
              <a:xfrm>
                <a:off x="4746377" y="3087592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689" name="Line 27"/>
              <p:cNvSpPr>
                <a:spLocks noChangeShapeType="1"/>
              </p:cNvSpPr>
              <p:nvPr/>
            </p:nvSpPr>
            <p:spPr bwMode="auto">
              <a:xfrm>
                <a:off x="4746377" y="3283045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690" name="Line 28"/>
              <p:cNvSpPr>
                <a:spLocks noChangeShapeType="1"/>
              </p:cNvSpPr>
              <p:nvPr/>
            </p:nvSpPr>
            <p:spPr bwMode="auto">
              <a:xfrm>
                <a:off x="4746377" y="3485356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691" name="Line 29"/>
              <p:cNvSpPr>
                <a:spLocks noChangeShapeType="1"/>
              </p:cNvSpPr>
              <p:nvPr/>
            </p:nvSpPr>
            <p:spPr bwMode="auto">
              <a:xfrm>
                <a:off x="4746377" y="3685952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692" name="Rectangle 30"/>
              <p:cNvSpPr>
                <a:spLocks noChangeArrowheads="1"/>
              </p:cNvSpPr>
              <p:nvPr/>
            </p:nvSpPr>
            <p:spPr bwMode="auto">
              <a:xfrm>
                <a:off x="4418632" y="2082282"/>
                <a:ext cx="754271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8x1 </a:t>
                </a:r>
                <a:r>
                  <a:rPr lang="en-US" altLang="en-US" sz="1600" dirty="0" err="1">
                    <a:solidFill>
                      <a:srgbClr val="000000"/>
                    </a:solidFill>
                    <a:latin typeface="Helvetica" pitchFamily="34" charset="0"/>
                  </a:rPr>
                  <a:t>Mem</a:t>
                </a:r>
                <a:endParaRPr lang="en-US" altLang="en-US" sz="1600" dirty="0"/>
              </a:p>
            </p:txBody>
          </p:sp>
          <p:grpSp>
            <p:nvGrpSpPr>
              <p:cNvPr id="2" name="Group 441"/>
              <p:cNvGrpSpPr>
                <a:grpSpLocks/>
              </p:cNvGrpSpPr>
              <p:nvPr/>
            </p:nvGrpSpPr>
            <p:grpSpPr bwMode="auto">
              <a:xfrm>
                <a:off x="4938380" y="2343498"/>
                <a:ext cx="147447" cy="1495044"/>
                <a:chOff x="3281" y="1519"/>
                <a:chExt cx="86" cy="872"/>
              </a:xfrm>
            </p:grpSpPr>
            <p:sp>
              <p:nvSpPr>
                <p:cNvPr id="29039" name="Rectangle 34"/>
                <p:cNvSpPr>
                  <a:spLocks noChangeArrowheads="1"/>
                </p:cNvSpPr>
                <p:nvPr/>
              </p:nvSpPr>
              <p:spPr bwMode="auto">
                <a:xfrm>
                  <a:off x="3281" y="1519"/>
                  <a:ext cx="86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41" name="Rectangle 36"/>
                <p:cNvSpPr>
                  <a:spLocks noChangeArrowheads="1"/>
                </p:cNvSpPr>
                <p:nvPr/>
              </p:nvSpPr>
              <p:spPr bwMode="auto">
                <a:xfrm>
                  <a:off x="3281" y="1634"/>
                  <a:ext cx="73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43" name="Rectangle 38"/>
                <p:cNvSpPr>
                  <a:spLocks noChangeArrowheads="1"/>
                </p:cNvSpPr>
                <p:nvPr/>
              </p:nvSpPr>
              <p:spPr bwMode="auto">
                <a:xfrm>
                  <a:off x="3281" y="1752"/>
                  <a:ext cx="86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45" name="Rectangle 40"/>
                <p:cNvSpPr>
                  <a:spLocks noChangeArrowheads="1"/>
                </p:cNvSpPr>
                <p:nvPr/>
              </p:nvSpPr>
              <p:spPr bwMode="auto">
                <a:xfrm>
                  <a:off x="3281" y="1867"/>
                  <a:ext cx="73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47" name="Rectangle 42"/>
                <p:cNvSpPr>
                  <a:spLocks noChangeArrowheads="1"/>
                </p:cNvSpPr>
                <p:nvPr/>
              </p:nvSpPr>
              <p:spPr bwMode="auto">
                <a:xfrm>
                  <a:off x="3281" y="1984"/>
                  <a:ext cx="86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49" name="Rectangle 44"/>
                <p:cNvSpPr>
                  <a:spLocks noChangeArrowheads="1"/>
                </p:cNvSpPr>
                <p:nvPr/>
              </p:nvSpPr>
              <p:spPr bwMode="auto">
                <a:xfrm>
                  <a:off x="3281" y="2099"/>
                  <a:ext cx="73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51" name="Rectangle 46"/>
                <p:cNvSpPr>
                  <a:spLocks noChangeArrowheads="1"/>
                </p:cNvSpPr>
                <p:nvPr/>
              </p:nvSpPr>
              <p:spPr bwMode="auto">
                <a:xfrm>
                  <a:off x="3286" y="2216"/>
                  <a:ext cx="81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53" name="Rectangle 48"/>
                <p:cNvSpPr>
                  <a:spLocks noChangeArrowheads="1"/>
                </p:cNvSpPr>
                <p:nvPr/>
              </p:nvSpPr>
              <p:spPr bwMode="auto">
                <a:xfrm>
                  <a:off x="3281" y="2331"/>
                  <a:ext cx="73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</p:grpSp>
          <p:sp>
            <p:nvSpPr>
              <p:cNvPr id="28695" name="Rectangle 50"/>
              <p:cNvSpPr>
                <a:spLocks noChangeArrowheads="1"/>
              </p:cNvSpPr>
              <p:nvPr/>
            </p:nvSpPr>
            <p:spPr bwMode="auto">
              <a:xfrm>
                <a:off x="4624969" y="231092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28696" name="Rectangle 51"/>
              <p:cNvSpPr>
                <a:spLocks noChangeArrowheads="1"/>
              </p:cNvSpPr>
              <p:nvPr/>
            </p:nvSpPr>
            <p:spPr bwMode="auto">
              <a:xfrm>
                <a:off x="4624969" y="2508091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28697" name="Rectangle 52"/>
              <p:cNvSpPr>
                <a:spLocks noChangeArrowheads="1"/>
              </p:cNvSpPr>
              <p:nvPr/>
            </p:nvSpPr>
            <p:spPr bwMode="auto">
              <a:xfrm>
                <a:off x="4624969" y="270697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 sz="1600" dirty="0"/>
              </a:p>
            </p:txBody>
          </p:sp>
          <p:sp>
            <p:nvSpPr>
              <p:cNvPr id="28698" name="Rectangle 53"/>
              <p:cNvSpPr>
                <a:spLocks noChangeArrowheads="1"/>
              </p:cNvSpPr>
              <p:nvPr/>
            </p:nvSpPr>
            <p:spPr bwMode="auto">
              <a:xfrm>
                <a:off x="4624969" y="2904140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 sz="1600" dirty="0"/>
              </a:p>
            </p:txBody>
          </p:sp>
          <p:sp>
            <p:nvSpPr>
              <p:cNvPr id="28699" name="Rectangle 54"/>
              <p:cNvSpPr>
                <a:spLocks noChangeArrowheads="1"/>
              </p:cNvSpPr>
              <p:nvPr/>
            </p:nvSpPr>
            <p:spPr bwMode="auto">
              <a:xfrm>
                <a:off x="4624969" y="3104737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 sz="1600" dirty="0"/>
              </a:p>
            </p:txBody>
          </p:sp>
          <p:sp>
            <p:nvSpPr>
              <p:cNvPr id="28700" name="Rectangle 55"/>
              <p:cNvSpPr>
                <a:spLocks noChangeArrowheads="1"/>
              </p:cNvSpPr>
              <p:nvPr/>
            </p:nvSpPr>
            <p:spPr bwMode="auto">
              <a:xfrm>
                <a:off x="4624969" y="3303619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 sz="1600" dirty="0"/>
              </a:p>
            </p:txBody>
          </p:sp>
          <p:sp>
            <p:nvSpPr>
              <p:cNvPr id="28701" name="Rectangle 56"/>
              <p:cNvSpPr>
                <a:spLocks noChangeArrowheads="1"/>
              </p:cNvSpPr>
              <p:nvPr/>
            </p:nvSpPr>
            <p:spPr bwMode="auto">
              <a:xfrm>
                <a:off x="4624969" y="3504215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 sz="1600" dirty="0"/>
              </a:p>
            </p:txBody>
          </p:sp>
          <p:sp>
            <p:nvSpPr>
              <p:cNvPr id="28702" name="Rectangle 57"/>
              <p:cNvSpPr>
                <a:spLocks noChangeArrowheads="1"/>
              </p:cNvSpPr>
              <p:nvPr/>
            </p:nvSpPr>
            <p:spPr bwMode="auto">
              <a:xfrm>
                <a:off x="4624969" y="370138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7</a:t>
                </a:r>
                <a:endParaRPr lang="en-US" altLang="en-US" sz="1600" dirty="0"/>
              </a:p>
            </p:txBody>
          </p:sp>
          <p:sp>
            <p:nvSpPr>
              <p:cNvPr id="28703" name="Rectangle 58"/>
              <p:cNvSpPr>
                <a:spLocks noChangeArrowheads="1"/>
              </p:cNvSpPr>
              <p:nvPr/>
            </p:nvSpPr>
            <p:spPr bwMode="auto">
              <a:xfrm>
                <a:off x="4413764" y="3012154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a2</a:t>
                </a:r>
                <a:endParaRPr lang="en-US" altLang="en-US" sz="1600"/>
              </a:p>
            </p:txBody>
          </p:sp>
          <p:sp>
            <p:nvSpPr>
              <p:cNvPr id="28704" name="Rectangle 59"/>
              <p:cNvSpPr>
                <a:spLocks noChangeArrowheads="1"/>
              </p:cNvSpPr>
              <p:nvPr/>
            </p:nvSpPr>
            <p:spPr bwMode="auto">
              <a:xfrm>
                <a:off x="4413764" y="3166459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a1</a:t>
                </a:r>
                <a:endParaRPr lang="en-US" altLang="en-US" sz="1600"/>
              </a:p>
            </p:txBody>
          </p:sp>
          <p:sp>
            <p:nvSpPr>
              <p:cNvPr id="28705" name="Rectangle 60"/>
              <p:cNvSpPr>
                <a:spLocks noChangeArrowheads="1"/>
              </p:cNvSpPr>
              <p:nvPr/>
            </p:nvSpPr>
            <p:spPr bwMode="auto">
              <a:xfrm>
                <a:off x="4413764" y="3346481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a0</a:t>
                </a:r>
                <a:endParaRPr lang="en-US" altLang="en-US" sz="1600"/>
              </a:p>
            </p:txBody>
          </p:sp>
          <p:sp>
            <p:nvSpPr>
              <p:cNvPr id="28706" name="Rectangle 61"/>
              <p:cNvSpPr>
                <a:spLocks noChangeArrowheads="1"/>
              </p:cNvSpPr>
              <p:nvPr/>
            </p:nvSpPr>
            <p:spPr bwMode="auto">
              <a:xfrm>
                <a:off x="3736499" y="3173602"/>
                <a:ext cx="2500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939598"/>
                    </a:solidFill>
                    <a:latin typeface="Helvetica" pitchFamily="34" charset="0"/>
                  </a:rPr>
                  <a:t>P1</a:t>
                </a:r>
                <a:endParaRPr lang="en-US" altLang="en-US" sz="1600" dirty="0"/>
              </a:p>
            </p:txBody>
          </p:sp>
          <p:sp>
            <p:nvSpPr>
              <p:cNvPr id="28707" name="Rectangle 62"/>
              <p:cNvSpPr>
                <a:spLocks noChangeArrowheads="1"/>
              </p:cNvSpPr>
              <p:nvPr/>
            </p:nvSpPr>
            <p:spPr bwMode="auto">
              <a:xfrm>
                <a:off x="3713465" y="2980479"/>
                <a:ext cx="2500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939598"/>
                    </a:solidFill>
                    <a:latin typeface="Helvetica" pitchFamily="34" charset="0"/>
                  </a:rPr>
                  <a:t>P0</a:t>
                </a:r>
                <a:endParaRPr lang="en-US" altLang="en-US" sz="1600" dirty="0"/>
              </a:p>
            </p:txBody>
          </p:sp>
          <p:sp>
            <p:nvSpPr>
              <p:cNvPr id="28710" name="Rectangle 65"/>
              <p:cNvSpPr>
                <a:spLocks noChangeArrowheads="1"/>
              </p:cNvSpPr>
              <p:nvPr/>
            </p:nvSpPr>
            <p:spPr bwMode="auto">
              <a:xfrm>
                <a:off x="3724967" y="3360806"/>
                <a:ext cx="2500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939598"/>
                    </a:solidFill>
                    <a:latin typeface="Helvetica" pitchFamily="34" charset="0"/>
                  </a:rPr>
                  <a:t>P2</a:t>
                </a:r>
                <a:endParaRPr lang="en-US" altLang="en-US" sz="1600" dirty="0"/>
              </a:p>
            </p:txBody>
          </p:sp>
          <p:sp>
            <p:nvSpPr>
              <p:cNvPr id="28711" name="Rectangle 66"/>
              <p:cNvSpPr>
                <a:spLocks noChangeArrowheads="1"/>
              </p:cNvSpPr>
              <p:nvPr/>
            </p:nvSpPr>
            <p:spPr bwMode="auto">
              <a:xfrm>
                <a:off x="3803402" y="5465603"/>
                <a:ext cx="2500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939598"/>
                    </a:solidFill>
                    <a:latin typeface="Helvetica" pitchFamily="34" charset="0"/>
                  </a:rPr>
                  <a:t>P3</a:t>
                </a:r>
                <a:endParaRPr lang="en-US" altLang="en-US" sz="1600"/>
              </a:p>
            </p:txBody>
          </p:sp>
          <p:sp>
            <p:nvSpPr>
              <p:cNvPr id="28712" name="Rectangle 67"/>
              <p:cNvSpPr>
                <a:spLocks noChangeArrowheads="1"/>
              </p:cNvSpPr>
              <p:nvPr/>
            </p:nvSpPr>
            <p:spPr bwMode="auto">
              <a:xfrm>
                <a:off x="3803402" y="5642197"/>
                <a:ext cx="2500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939598"/>
                    </a:solidFill>
                    <a:latin typeface="Helvetica" pitchFamily="34" charset="0"/>
                  </a:rPr>
                  <a:t>P4</a:t>
                </a:r>
                <a:endParaRPr lang="en-US" altLang="en-US" sz="1600"/>
              </a:p>
            </p:txBody>
          </p:sp>
          <p:sp>
            <p:nvSpPr>
              <p:cNvPr id="28714" name="Freeform 69"/>
              <p:cNvSpPr>
                <a:spLocks noEditPoints="1"/>
              </p:cNvSpPr>
              <p:nvPr/>
            </p:nvSpPr>
            <p:spPr bwMode="auto">
              <a:xfrm>
                <a:off x="4012571" y="3099593"/>
                <a:ext cx="250317" cy="18860"/>
              </a:xfrm>
              <a:custGeom>
                <a:avLst/>
                <a:gdLst>
                  <a:gd name="T0" fmla="*/ 57150 w 146"/>
                  <a:gd name="T1" fmla="*/ 0 h 11"/>
                  <a:gd name="T2" fmla="*/ 0 w 146"/>
                  <a:gd name="T3" fmla="*/ 0 h 11"/>
                  <a:gd name="T4" fmla="*/ 0 w 146"/>
                  <a:gd name="T5" fmla="*/ 17463 h 11"/>
                  <a:gd name="T6" fmla="*/ 57150 w 146"/>
                  <a:gd name="T7" fmla="*/ 17463 h 11"/>
                  <a:gd name="T8" fmla="*/ 57150 w 146"/>
                  <a:gd name="T9" fmla="*/ 0 h 11"/>
                  <a:gd name="T10" fmla="*/ 111125 w 146"/>
                  <a:gd name="T11" fmla="*/ 0 h 11"/>
                  <a:gd name="T12" fmla="*/ 69850 w 146"/>
                  <a:gd name="T13" fmla="*/ 0 h 11"/>
                  <a:gd name="T14" fmla="*/ 69850 w 146"/>
                  <a:gd name="T15" fmla="*/ 17463 h 11"/>
                  <a:gd name="T16" fmla="*/ 111125 w 146"/>
                  <a:gd name="T17" fmla="*/ 17463 h 11"/>
                  <a:gd name="T18" fmla="*/ 111125 w 146"/>
                  <a:gd name="T19" fmla="*/ 0 h 11"/>
                  <a:gd name="T20" fmla="*/ 231775 w 146"/>
                  <a:gd name="T21" fmla="*/ 0 h 11"/>
                  <a:gd name="T22" fmla="*/ 128587 w 146"/>
                  <a:gd name="T23" fmla="*/ 0 h 11"/>
                  <a:gd name="T24" fmla="*/ 128587 w 146"/>
                  <a:gd name="T25" fmla="*/ 17463 h 11"/>
                  <a:gd name="T26" fmla="*/ 231775 w 146"/>
                  <a:gd name="T27" fmla="*/ 17463 h 11"/>
                  <a:gd name="T28" fmla="*/ 231775 w 146"/>
                  <a:gd name="T29" fmla="*/ 0 h 1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6"/>
                  <a:gd name="T46" fmla="*/ 0 h 11"/>
                  <a:gd name="T47" fmla="*/ 146 w 146"/>
                  <a:gd name="T48" fmla="*/ 11 h 1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6" h="11">
                    <a:moveTo>
                      <a:pt x="36" y="0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6" y="11"/>
                    </a:lnTo>
                    <a:lnTo>
                      <a:pt x="36" y="0"/>
                    </a:lnTo>
                    <a:moveTo>
                      <a:pt x="70" y="0"/>
                    </a:moveTo>
                    <a:lnTo>
                      <a:pt x="44" y="0"/>
                    </a:lnTo>
                    <a:lnTo>
                      <a:pt x="44" y="11"/>
                    </a:lnTo>
                    <a:lnTo>
                      <a:pt x="70" y="11"/>
                    </a:lnTo>
                    <a:lnTo>
                      <a:pt x="70" y="0"/>
                    </a:lnTo>
                    <a:moveTo>
                      <a:pt x="146" y="0"/>
                    </a:moveTo>
                    <a:lnTo>
                      <a:pt x="81" y="0"/>
                    </a:lnTo>
                    <a:lnTo>
                      <a:pt x="81" y="11"/>
                    </a:lnTo>
                    <a:lnTo>
                      <a:pt x="146" y="11"/>
                    </a:lnTo>
                    <a:lnTo>
                      <a:pt x="1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15" name="Rectangle 70"/>
              <p:cNvSpPr>
                <a:spLocks noChangeArrowheads="1"/>
              </p:cNvSpPr>
              <p:nvPr/>
            </p:nvSpPr>
            <p:spPr bwMode="auto">
              <a:xfrm>
                <a:off x="4074293" y="3099593"/>
                <a:ext cx="13716" cy="18860"/>
              </a:xfrm>
              <a:prstGeom prst="rect">
                <a:avLst/>
              </a:pr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16" name="Rectangle 71"/>
              <p:cNvSpPr>
                <a:spLocks noChangeArrowheads="1"/>
              </p:cNvSpPr>
              <p:nvPr/>
            </p:nvSpPr>
            <p:spPr bwMode="auto">
              <a:xfrm>
                <a:off x="4074293" y="3099593"/>
                <a:ext cx="13716" cy="18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17" name="Freeform 72"/>
              <p:cNvSpPr>
                <a:spLocks/>
              </p:cNvSpPr>
              <p:nvPr/>
            </p:nvSpPr>
            <p:spPr bwMode="auto">
              <a:xfrm>
                <a:off x="4235456" y="3068732"/>
                <a:ext cx="144018" cy="80582"/>
              </a:xfrm>
              <a:custGeom>
                <a:avLst/>
                <a:gdLst>
                  <a:gd name="T0" fmla="*/ 0 w 84"/>
                  <a:gd name="T1" fmla="*/ 74613 h 47"/>
                  <a:gd name="T2" fmla="*/ 133350 w 84"/>
                  <a:gd name="T3" fmla="*/ 38100 h 47"/>
                  <a:gd name="T4" fmla="*/ 0 w 84"/>
                  <a:gd name="T5" fmla="*/ 0 h 47"/>
                  <a:gd name="T6" fmla="*/ 0 w 84"/>
                  <a:gd name="T7" fmla="*/ 746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"/>
                  <a:gd name="T13" fmla="*/ 0 h 47"/>
                  <a:gd name="T14" fmla="*/ 84 w 8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" h="47">
                    <a:moveTo>
                      <a:pt x="0" y="47"/>
                    </a:moveTo>
                    <a:lnTo>
                      <a:pt x="84" y="24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18" name="Rectangle 73"/>
              <p:cNvSpPr>
                <a:spLocks noChangeArrowheads="1"/>
              </p:cNvSpPr>
              <p:nvPr/>
            </p:nvSpPr>
            <p:spPr bwMode="auto">
              <a:xfrm>
                <a:off x="5797365" y="5136419"/>
                <a:ext cx="28533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m0</a:t>
                </a:r>
                <a:endParaRPr lang="en-US" altLang="en-US" sz="1600" dirty="0"/>
              </a:p>
            </p:txBody>
          </p:sp>
          <p:sp>
            <p:nvSpPr>
              <p:cNvPr id="28719" name="Rectangle 74"/>
              <p:cNvSpPr>
                <a:spLocks noChangeArrowheads="1"/>
              </p:cNvSpPr>
              <p:nvPr/>
            </p:nvSpPr>
            <p:spPr bwMode="auto">
              <a:xfrm>
                <a:off x="5797365" y="5297582"/>
                <a:ext cx="28533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m1</a:t>
                </a:r>
                <a:endParaRPr lang="en-US" altLang="en-US" sz="1600" dirty="0"/>
              </a:p>
            </p:txBody>
          </p:sp>
          <p:sp>
            <p:nvSpPr>
              <p:cNvPr id="28720" name="Rectangle 75"/>
              <p:cNvSpPr>
                <a:spLocks noChangeArrowheads="1"/>
              </p:cNvSpPr>
              <p:nvPr/>
            </p:nvSpPr>
            <p:spPr bwMode="auto">
              <a:xfrm>
                <a:off x="6354577" y="5156993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o0</a:t>
                </a:r>
                <a:endParaRPr lang="en-US" altLang="en-US" sz="1600"/>
              </a:p>
            </p:txBody>
          </p:sp>
          <p:sp>
            <p:nvSpPr>
              <p:cNvPr id="28721" name="Rectangle 76"/>
              <p:cNvSpPr>
                <a:spLocks noChangeArrowheads="1"/>
              </p:cNvSpPr>
              <p:nvPr/>
            </p:nvSpPr>
            <p:spPr bwMode="auto">
              <a:xfrm>
                <a:off x="6354577" y="5386736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o1</a:t>
                </a:r>
                <a:endParaRPr lang="en-US" altLang="en-US" sz="1600"/>
              </a:p>
            </p:txBody>
          </p:sp>
          <p:sp>
            <p:nvSpPr>
              <p:cNvPr id="28722" name="Rectangle 77"/>
              <p:cNvSpPr>
                <a:spLocks noChangeArrowheads="1"/>
              </p:cNvSpPr>
              <p:nvPr/>
            </p:nvSpPr>
            <p:spPr bwMode="auto">
              <a:xfrm>
                <a:off x="5797365" y="5455316"/>
                <a:ext cx="28533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m2</a:t>
                </a:r>
                <a:endParaRPr lang="en-US" altLang="en-US" sz="1600"/>
              </a:p>
            </p:txBody>
          </p:sp>
          <p:sp>
            <p:nvSpPr>
              <p:cNvPr id="28723" name="Rectangle 78"/>
              <p:cNvSpPr>
                <a:spLocks noChangeArrowheads="1"/>
              </p:cNvSpPr>
              <p:nvPr/>
            </p:nvSpPr>
            <p:spPr bwMode="auto">
              <a:xfrm>
                <a:off x="5797365" y="5619908"/>
                <a:ext cx="28533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m3</a:t>
                </a:r>
                <a:endParaRPr lang="en-US" altLang="en-US" sz="1600"/>
              </a:p>
            </p:txBody>
          </p:sp>
          <p:sp>
            <p:nvSpPr>
              <p:cNvPr id="28724" name="Freeform 79"/>
              <p:cNvSpPr>
                <a:spLocks/>
              </p:cNvSpPr>
              <p:nvPr/>
            </p:nvSpPr>
            <p:spPr bwMode="auto">
              <a:xfrm>
                <a:off x="5749359" y="4778089"/>
                <a:ext cx="795528" cy="1078420"/>
              </a:xfrm>
              <a:custGeom>
                <a:avLst/>
                <a:gdLst>
                  <a:gd name="T0" fmla="*/ 733425 w 464"/>
                  <a:gd name="T1" fmla="*/ 990600 h 629"/>
                  <a:gd name="T2" fmla="*/ 733425 w 464"/>
                  <a:gd name="T3" fmla="*/ 985837 h 629"/>
                  <a:gd name="T4" fmla="*/ 7938 w 464"/>
                  <a:gd name="T5" fmla="*/ 985837 h 629"/>
                  <a:gd name="T6" fmla="*/ 7938 w 464"/>
                  <a:gd name="T7" fmla="*/ 12700 h 629"/>
                  <a:gd name="T8" fmla="*/ 728663 w 464"/>
                  <a:gd name="T9" fmla="*/ 12700 h 629"/>
                  <a:gd name="T10" fmla="*/ 728663 w 464"/>
                  <a:gd name="T11" fmla="*/ 990600 h 629"/>
                  <a:gd name="T12" fmla="*/ 733425 w 464"/>
                  <a:gd name="T13" fmla="*/ 990600 h 629"/>
                  <a:gd name="T14" fmla="*/ 733425 w 464"/>
                  <a:gd name="T15" fmla="*/ 985837 h 629"/>
                  <a:gd name="T16" fmla="*/ 733425 w 464"/>
                  <a:gd name="T17" fmla="*/ 990600 h 629"/>
                  <a:gd name="T18" fmla="*/ 736600 w 464"/>
                  <a:gd name="T19" fmla="*/ 990600 h 629"/>
                  <a:gd name="T20" fmla="*/ 736600 w 464"/>
                  <a:gd name="T21" fmla="*/ 0 h 629"/>
                  <a:gd name="T22" fmla="*/ 0 w 464"/>
                  <a:gd name="T23" fmla="*/ 0 h 629"/>
                  <a:gd name="T24" fmla="*/ 0 w 464"/>
                  <a:gd name="T25" fmla="*/ 998537 h 629"/>
                  <a:gd name="T26" fmla="*/ 736600 w 464"/>
                  <a:gd name="T27" fmla="*/ 998537 h 629"/>
                  <a:gd name="T28" fmla="*/ 736600 w 464"/>
                  <a:gd name="T29" fmla="*/ 990600 h 629"/>
                  <a:gd name="T30" fmla="*/ 733425 w 464"/>
                  <a:gd name="T31" fmla="*/ 990600 h 6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64"/>
                  <a:gd name="T49" fmla="*/ 0 h 629"/>
                  <a:gd name="T50" fmla="*/ 464 w 464"/>
                  <a:gd name="T51" fmla="*/ 629 h 62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64" h="629">
                    <a:moveTo>
                      <a:pt x="462" y="624"/>
                    </a:moveTo>
                    <a:lnTo>
                      <a:pt x="462" y="621"/>
                    </a:lnTo>
                    <a:lnTo>
                      <a:pt x="5" y="621"/>
                    </a:lnTo>
                    <a:lnTo>
                      <a:pt x="5" y="8"/>
                    </a:lnTo>
                    <a:lnTo>
                      <a:pt x="459" y="8"/>
                    </a:lnTo>
                    <a:lnTo>
                      <a:pt x="459" y="624"/>
                    </a:lnTo>
                    <a:lnTo>
                      <a:pt x="462" y="624"/>
                    </a:lnTo>
                    <a:lnTo>
                      <a:pt x="462" y="621"/>
                    </a:lnTo>
                    <a:lnTo>
                      <a:pt x="462" y="624"/>
                    </a:lnTo>
                    <a:lnTo>
                      <a:pt x="464" y="624"/>
                    </a:lnTo>
                    <a:lnTo>
                      <a:pt x="464" y="0"/>
                    </a:lnTo>
                    <a:lnTo>
                      <a:pt x="0" y="0"/>
                    </a:lnTo>
                    <a:lnTo>
                      <a:pt x="0" y="629"/>
                    </a:lnTo>
                    <a:lnTo>
                      <a:pt x="464" y="629"/>
                    </a:lnTo>
                    <a:lnTo>
                      <a:pt x="464" y="624"/>
                    </a:lnTo>
                    <a:lnTo>
                      <a:pt x="462" y="624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25" name="Freeform 80"/>
              <p:cNvSpPr>
                <a:spLocks/>
              </p:cNvSpPr>
              <p:nvPr/>
            </p:nvSpPr>
            <p:spPr bwMode="auto">
              <a:xfrm>
                <a:off x="5749359" y="4778089"/>
                <a:ext cx="795528" cy="1078420"/>
              </a:xfrm>
              <a:custGeom>
                <a:avLst/>
                <a:gdLst>
                  <a:gd name="T0" fmla="*/ 733425 w 464"/>
                  <a:gd name="T1" fmla="*/ 990600 h 629"/>
                  <a:gd name="T2" fmla="*/ 733425 w 464"/>
                  <a:gd name="T3" fmla="*/ 985837 h 629"/>
                  <a:gd name="T4" fmla="*/ 7938 w 464"/>
                  <a:gd name="T5" fmla="*/ 985837 h 629"/>
                  <a:gd name="T6" fmla="*/ 7938 w 464"/>
                  <a:gd name="T7" fmla="*/ 12700 h 629"/>
                  <a:gd name="T8" fmla="*/ 728663 w 464"/>
                  <a:gd name="T9" fmla="*/ 12700 h 629"/>
                  <a:gd name="T10" fmla="*/ 728663 w 464"/>
                  <a:gd name="T11" fmla="*/ 990600 h 629"/>
                  <a:gd name="T12" fmla="*/ 733425 w 464"/>
                  <a:gd name="T13" fmla="*/ 990600 h 629"/>
                  <a:gd name="T14" fmla="*/ 733425 w 464"/>
                  <a:gd name="T15" fmla="*/ 985837 h 629"/>
                  <a:gd name="T16" fmla="*/ 733425 w 464"/>
                  <a:gd name="T17" fmla="*/ 990600 h 629"/>
                  <a:gd name="T18" fmla="*/ 736600 w 464"/>
                  <a:gd name="T19" fmla="*/ 990600 h 629"/>
                  <a:gd name="T20" fmla="*/ 736600 w 464"/>
                  <a:gd name="T21" fmla="*/ 0 h 629"/>
                  <a:gd name="T22" fmla="*/ 0 w 464"/>
                  <a:gd name="T23" fmla="*/ 0 h 629"/>
                  <a:gd name="T24" fmla="*/ 0 w 464"/>
                  <a:gd name="T25" fmla="*/ 998537 h 629"/>
                  <a:gd name="T26" fmla="*/ 736600 w 464"/>
                  <a:gd name="T27" fmla="*/ 998537 h 629"/>
                  <a:gd name="T28" fmla="*/ 736600 w 464"/>
                  <a:gd name="T29" fmla="*/ 990600 h 629"/>
                  <a:gd name="T30" fmla="*/ 733425 w 464"/>
                  <a:gd name="T31" fmla="*/ 990600 h 6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64"/>
                  <a:gd name="T49" fmla="*/ 0 h 629"/>
                  <a:gd name="T50" fmla="*/ 464 w 464"/>
                  <a:gd name="T51" fmla="*/ 629 h 62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64" h="629">
                    <a:moveTo>
                      <a:pt x="462" y="624"/>
                    </a:moveTo>
                    <a:lnTo>
                      <a:pt x="462" y="621"/>
                    </a:lnTo>
                    <a:lnTo>
                      <a:pt x="5" y="621"/>
                    </a:lnTo>
                    <a:lnTo>
                      <a:pt x="5" y="8"/>
                    </a:lnTo>
                    <a:lnTo>
                      <a:pt x="459" y="8"/>
                    </a:lnTo>
                    <a:lnTo>
                      <a:pt x="459" y="624"/>
                    </a:lnTo>
                    <a:lnTo>
                      <a:pt x="462" y="624"/>
                    </a:lnTo>
                    <a:lnTo>
                      <a:pt x="462" y="621"/>
                    </a:lnTo>
                    <a:lnTo>
                      <a:pt x="462" y="624"/>
                    </a:lnTo>
                    <a:lnTo>
                      <a:pt x="464" y="624"/>
                    </a:lnTo>
                    <a:lnTo>
                      <a:pt x="464" y="0"/>
                    </a:lnTo>
                    <a:lnTo>
                      <a:pt x="0" y="0"/>
                    </a:lnTo>
                    <a:lnTo>
                      <a:pt x="0" y="629"/>
                    </a:lnTo>
                    <a:lnTo>
                      <a:pt x="464" y="629"/>
                    </a:lnTo>
                    <a:lnTo>
                      <a:pt x="464" y="624"/>
                    </a:lnTo>
                    <a:lnTo>
                      <a:pt x="462" y="62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26" name="Rectangle 81"/>
              <p:cNvSpPr>
                <a:spLocks noChangeArrowheads="1"/>
              </p:cNvSpPr>
              <p:nvPr/>
            </p:nvSpPr>
            <p:spPr bwMode="auto">
              <a:xfrm>
                <a:off x="5921982" y="4741742"/>
                <a:ext cx="538151" cy="4396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Switch</a:t>
                </a:r>
              </a:p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matrix</a:t>
                </a:r>
                <a:endParaRPr lang="en-US" altLang="en-US" sz="1600" dirty="0"/>
              </a:p>
            </p:txBody>
          </p:sp>
          <p:sp>
            <p:nvSpPr>
              <p:cNvPr id="28730" name="Freeform 85"/>
              <p:cNvSpPr>
                <a:spLocks/>
              </p:cNvSpPr>
              <p:nvPr/>
            </p:nvSpPr>
            <p:spPr bwMode="auto">
              <a:xfrm>
                <a:off x="6083686" y="5167279"/>
                <a:ext cx="241744" cy="185797"/>
              </a:xfrm>
              <a:custGeom>
                <a:avLst/>
                <a:gdLst>
                  <a:gd name="T0" fmla="*/ 215900 w 141"/>
                  <a:gd name="T1" fmla="*/ 149225 h 99"/>
                  <a:gd name="T2" fmla="*/ 215900 w 141"/>
                  <a:gd name="T3" fmla="*/ 146050 h 99"/>
                  <a:gd name="T4" fmla="*/ 12700 w 141"/>
                  <a:gd name="T5" fmla="*/ 146050 h 99"/>
                  <a:gd name="T6" fmla="*/ 12700 w 141"/>
                  <a:gd name="T7" fmla="*/ 12700 h 99"/>
                  <a:gd name="T8" fmla="*/ 211137 w 141"/>
                  <a:gd name="T9" fmla="*/ 12700 h 99"/>
                  <a:gd name="T10" fmla="*/ 211137 w 141"/>
                  <a:gd name="T11" fmla="*/ 149225 h 99"/>
                  <a:gd name="T12" fmla="*/ 215900 w 141"/>
                  <a:gd name="T13" fmla="*/ 149225 h 99"/>
                  <a:gd name="T14" fmla="*/ 215900 w 141"/>
                  <a:gd name="T15" fmla="*/ 146050 h 99"/>
                  <a:gd name="T16" fmla="*/ 215900 w 141"/>
                  <a:gd name="T17" fmla="*/ 149225 h 99"/>
                  <a:gd name="T18" fmla="*/ 223837 w 141"/>
                  <a:gd name="T19" fmla="*/ 149225 h 99"/>
                  <a:gd name="T20" fmla="*/ 223837 w 141"/>
                  <a:gd name="T21" fmla="*/ 0 h 99"/>
                  <a:gd name="T22" fmla="*/ 0 w 141"/>
                  <a:gd name="T23" fmla="*/ 0 h 99"/>
                  <a:gd name="T24" fmla="*/ 0 w 141"/>
                  <a:gd name="T25" fmla="*/ 157163 h 99"/>
                  <a:gd name="T26" fmla="*/ 223837 w 141"/>
                  <a:gd name="T27" fmla="*/ 157163 h 99"/>
                  <a:gd name="T28" fmla="*/ 223837 w 141"/>
                  <a:gd name="T29" fmla="*/ 149225 h 99"/>
                  <a:gd name="T30" fmla="*/ 215900 w 141"/>
                  <a:gd name="T31" fmla="*/ 149225 h 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9"/>
                  <a:gd name="T50" fmla="*/ 141 w 141"/>
                  <a:gd name="T51" fmla="*/ 99 h 9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9">
                    <a:moveTo>
                      <a:pt x="136" y="94"/>
                    </a:moveTo>
                    <a:lnTo>
                      <a:pt x="136" y="92"/>
                    </a:lnTo>
                    <a:lnTo>
                      <a:pt x="8" y="92"/>
                    </a:lnTo>
                    <a:lnTo>
                      <a:pt x="8" y="8"/>
                    </a:lnTo>
                    <a:lnTo>
                      <a:pt x="133" y="8"/>
                    </a:lnTo>
                    <a:lnTo>
                      <a:pt x="133" y="94"/>
                    </a:lnTo>
                    <a:lnTo>
                      <a:pt x="136" y="94"/>
                    </a:lnTo>
                    <a:lnTo>
                      <a:pt x="136" y="92"/>
                    </a:lnTo>
                    <a:lnTo>
                      <a:pt x="136" y="94"/>
                    </a:lnTo>
                    <a:lnTo>
                      <a:pt x="141" y="94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9"/>
                    </a:lnTo>
                    <a:lnTo>
                      <a:pt x="141" y="99"/>
                    </a:lnTo>
                    <a:lnTo>
                      <a:pt x="141" y="94"/>
                    </a:lnTo>
                    <a:lnTo>
                      <a:pt x="136" y="94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31" name="Freeform 86"/>
              <p:cNvSpPr>
                <a:spLocks/>
              </p:cNvSpPr>
              <p:nvPr/>
            </p:nvSpPr>
            <p:spPr bwMode="auto">
              <a:xfrm>
                <a:off x="6083686" y="5167280"/>
                <a:ext cx="241744" cy="169736"/>
              </a:xfrm>
              <a:custGeom>
                <a:avLst/>
                <a:gdLst>
                  <a:gd name="T0" fmla="*/ 215900 w 141"/>
                  <a:gd name="T1" fmla="*/ 149225 h 99"/>
                  <a:gd name="T2" fmla="*/ 215900 w 141"/>
                  <a:gd name="T3" fmla="*/ 146050 h 99"/>
                  <a:gd name="T4" fmla="*/ 12700 w 141"/>
                  <a:gd name="T5" fmla="*/ 146050 h 99"/>
                  <a:gd name="T6" fmla="*/ 12700 w 141"/>
                  <a:gd name="T7" fmla="*/ 12700 h 99"/>
                  <a:gd name="T8" fmla="*/ 211137 w 141"/>
                  <a:gd name="T9" fmla="*/ 12700 h 99"/>
                  <a:gd name="T10" fmla="*/ 211137 w 141"/>
                  <a:gd name="T11" fmla="*/ 149225 h 99"/>
                  <a:gd name="T12" fmla="*/ 215900 w 141"/>
                  <a:gd name="T13" fmla="*/ 149225 h 99"/>
                  <a:gd name="T14" fmla="*/ 215900 w 141"/>
                  <a:gd name="T15" fmla="*/ 146050 h 99"/>
                  <a:gd name="T16" fmla="*/ 215900 w 141"/>
                  <a:gd name="T17" fmla="*/ 149225 h 99"/>
                  <a:gd name="T18" fmla="*/ 223837 w 141"/>
                  <a:gd name="T19" fmla="*/ 149225 h 99"/>
                  <a:gd name="T20" fmla="*/ 223837 w 141"/>
                  <a:gd name="T21" fmla="*/ 0 h 99"/>
                  <a:gd name="T22" fmla="*/ 0 w 141"/>
                  <a:gd name="T23" fmla="*/ 0 h 99"/>
                  <a:gd name="T24" fmla="*/ 0 w 141"/>
                  <a:gd name="T25" fmla="*/ 157163 h 99"/>
                  <a:gd name="T26" fmla="*/ 223837 w 141"/>
                  <a:gd name="T27" fmla="*/ 157163 h 99"/>
                  <a:gd name="T28" fmla="*/ 223837 w 141"/>
                  <a:gd name="T29" fmla="*/ 149225 h 99"/>
                  <a:gd name="T30" fmla="*/ 215900 w 141"/>
                  <a:gd name="T31" fmla="*/ 149225 h 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9"/>
                  <a:gd name="T50" fmla="*/ 141 w 141"/>
                  <a:gd name="T51" fmla="*/ 99 h 9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9">
                    <a:moveTo>
                      <a:pt x="136" y="94"/>
                    </a:moveTo>
                    <a:lnTo>
                      <a:pt x="136" y="92"/>
                    </a:lnTo>
                    <a:lnTo>
                      <a:pt x="8" y="92"/>
                    </a:lnTo>
                    <a:lnTo>
                      <a:pt x="8" y="8"/>
                    </a:lnTo>
                    <a:lnTo>
                      <a:pt x="133" y="8"/>
                    </a:lnTo>
                    <a:lnTo>
                      <a:pt x="133" y="94"/>
                    </a:lnTo>
                    <a:lnTo>
                      <a:pt x="136" y="94"/>
                    </a:lnTo>
                    <a:lnTo>
                      <a:pt x="136" y="92"/>
                    </a:lnTo>
                    <a:lnTo>
                      <a:pt x="136" y="94"/>
                    </a:lnTo>
                    <a:lnTo>
                      <a:pt x="141" y="94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9"/>
                    </a:lnTo>
                    <a:lnTo>
                      <a:pt x="141" y="99"/>
                    </a:lnTo>
                    <a:lnTo>
                      <a:pt x="141" y="94"/>
                    </a:lnTo>
                    <a:lnTo>
                      <a:pt x="136" y="9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32" name="Freeform 87"/>
              <p:cNvSpPr>
                <a:spLocks/>
              </p:cNvSpPr>
              <p:nvPr/>
            </p:nvSpPr>
            <p:spPr bwMode="auto">
              <a:xfrm>
                <a:off x="6083686" y="5391880"/>
                <a:ext cx="241744" cy="172829"/>
              </a:xfrm>
              <a:custGeom>
                <a:avLst/>
                <a:gdLst>
                  <a:gd name="T0" fmla="*/ 215900 w 141"/>
                  <a:gd name="T1" fmla="*/ 149225 h 96"/>
                  <a:gd name="T2" fmla="*/ 215900 w 141"/>
                  <a:gd name="T3" fmla="*/ 139700 h 96"/>
                  <a:gd name="T4" fmla="*/ 12700 w 141"/>
                  <a:gd name="T5" fmla="*/ 139700 h 96"/>
                  <a:gd name="T6" fmla="*/ 12700 w 141"/>
                  <a:gd name="T7" fmla="*/ 11112 h 96"/>
                  <a:gd name="T8" fmla="*/ 211137 w 141"/>
                  <a:gd name="T9" fmla="*/ 11112 h 96"/>
                  <a:gd name="T10" fmla="*/ 211137 w 141"/>
                  <a:gd name="T11" fmla="*/ 149225 h 96"/>
                  <a:gd name="T12" fmla="*/ 215900 w 141"/>
                  <a:gd name="T13" fmla="*/ 149225 h 96"/>
                  <a:gd name="T14" fmla="*/ 215900 w 141"/>
                  <a:gd name="T15" fmla="*/ 139700 h 96"/>
                  <a:gd name="T16" fmla="*/ 215900 w 141"/>
                  <a:gd name="T17" fmla="*/ 149225 h 96"/>
                  <a:gd name="T18" fmla="*/ 223837 w 141"/>
                  <a:gd name="T19" fmla="*/ 149225 h 96"/>
                  <a:gd name="T20" fmla="*/ 223837 w 141"/>
                  <a:gd name="T21" fmla="*/ 0 h 96"/>
                  <a:gd name="T22" fmla="*/ 0 w 141"/>
                  <a:gd name="T23" fmla="*/ 0 h 96"/>
                  <a:gd name="T24" fmla="*/ 0 w 141"/>
                  <a:gd name="T25" fmla="*/ 152400 h 96"/>
                  <a:gd name="T26" fmla="*/ 223837 w 141"/>
                  <a:gd name="T27" fmla="*/ 152400 h 96"/>
                  <a:gd name="T28" fmla="*/ 223837 w 141"/>
                  <a:gd name="T29" fmla="*/ 149225 h 96"/>
                  <a:gd name="T30" fmla="*/ 215900 w 141"/>
                  <a:gd name="T31" fmla="*/ 149225 h 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6"/>
                  <a:gd name="T50" fmla="*/ 141 w 141"/>
                  <a:gd name="T51" fmla="*/ 96 h 9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6">
                    <a:moveTo>
                      <a:pt x="136" y="94"/>
                    </a:moveTo>
                    <a:lnTo>
                      <a:pt x="136" y="88"/>
                    </a:lnTo>
                    <a:lnTo>
                      <a:pt x="8" y="88"/>
                    </a:lnTo>
                    <a:lnTo>
                      <a:pt x="8" y="7"/>
                    </a:lnTo>
                    <a:lnTo>
                      <a:pt x="133" y="7"/>
                    </a:lnTo>
                    <a:lnTo>
                      <a:pt x="133" y="94"/>
                    </a:lnTo>
                    <a:lnTo>
                      <a:pt x="136" y="94"/>
                    </a:lnTo>
                    <a:lnTo>
                      <a:pt x="136" y="88"/>
                    </a:lnTo>
                    <a:lnTo>
                      <a:pt x="136" y="94"/>
                    </a:lnTo>
                    <a:lnTo>
                      <a:pt x="141" y="94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141" y="96"/>
                    </a:lnTo>
                    <a:lnTo>
                      <a:pt x="141" y="94"/>
                    </a:lnTo>
                    <a:lnTo>
                      <a:pt x="136" y="94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33" name="Freeform 88"/>
              <p:cNvSpPr>
                <a:spLocks/>
              </p:cNvSpPr>
              <p:nvPr/>
            </p:nvSpPr>
            <p:spPr bwMode="auto">
              <a:xfrm>
                <a:off x="6083686" y="5391880"/>
                <a:ext cx="241744" cy="164592"/>
              </a:xfrm>
              <a:custGeom>
                <a:avLst/>
                <a:gdLst>
                  <a:gd name="T0" fmla="*/ 215900 w 141"/>
                  <a:gd name="T1" fmla="*/ 149225 h 96"/>
                  <a:gd name="T2" fmla="*/ 215900 w 141"/>
                  <a:gd name="T3" fmla="*/ 139700 h 96"/>
                  <a:gd name="T4" fmla="*/ 12700 w 141"/>
                  <a:gd name="T5" fmla="*/ 139700 h 96"/>
                  <a:gd name="T6" fmla="*/ 12700 w 141"/>
                  <a:gd name="T7" fmla="*/ 11112 h 96"/>
                  <a:gd name="T8" fmla="*/ 211137 w 141"/>
                  <a:gd name="T9" fmla="*/ 11112 h 96"/>
                  <a:gd name="T10" fmla="*/ 211137 w 141"/>
                  <a:gd name="T11" fmla="*/ 149225 h 96"/>
                  <a:gd name="T12" fmla="*/ 215900 w 141"/>
                  <a:gd name="T13" fmla="*/ 149225 h 96"/>
                  <a:gd name="T14" fmla="*/ 215900 w 141"/>
                  <a:gd name="T15" fmla="*/ 139700 h 96"/>
                  <a:gd name="T16" fmla="*/ 215900 w 141"/>
                  <a:gd name="T17" fmla="*/ 149225 h 96"/>
                  <a:gd name="T18" fmla="*/ 223837 w 141"/>
                  <a:gd name="T19" fmla="*/ 149225 h 96"/>
                  <a:gd name="T20" fmla="*/ 223837 w 141"/>
                  <a:gd name="T21" fmla="*/ 0 h 96"/>
                  <a:gd name="T22" fmla="*/ 0 w 141"/>
                  <a:gd name="T23" fmla="*/ 0 h 96"/>
                  <a:gd name="T24" fmla="*/ 0 w 141"/>
                  <a:gd name="T25" fmla="*/ 152400 h 96"/>
                  <a:gd name="T26" fmla="*/ 223837 w 141"/>
                  <a:gd name="T27" fmla="*/ 152400 h 96"/>
                  <a:gd name="T28" fmla="*/ 223837 w 141"/>
                  <a:gd name="T29" fmla="*/ 149225 h 96"/>
                  <a:gd name="T30" fmla="*/ 215900 w 141"/>
                  <a:gd name="T31" fmla="*/ 149225 h 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6"/>
                  <a:gd name="T50" fmla="*/ 141 w 141"/>
                  <a:gd name="T51" fmla="*/ 96 h 9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6">
                    <a:moveTo>
                      <a:pt x="136" y="94"/>
                    </a:moveTo>
                    <a:lnTo>
                      <a:pt x="136" y="88"/>
                    </a:lnTo>
                    <a:lnTo>
                      <a:pt x="8" y="88"/>
                    </a:lnTo>
                    <a:lnTo>
                      <a:pt x="8" y="7"/>
                    </a:lnTo>
                    <a:lnTo>
                      <a:pt x="133" y="7"/>
                    </a:lnTo>
                    <a:lnTo>
                      <a:pt x="133" y="94"/>
                    </a:lnTo>
                    <a:lnTo>
                      <a:pt x="136" y="94"/>
                    </a:lnTo>
                    <a:lnTo>
                      <a:pt x="136" y="88"/>
                    </a:lnTo>
                    <a:lnTo>
                      <a:pt x="136" y="94"/>
                    </a:lnTo>
                    <a:lnTo>
                      <a:pt x="141" y="94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141" y="96"/>
                    </a:lnTo>
                    <a:lnTo>
                      <a:pt x="141" y="94"/>
                    </a:lnTo>
                    <a:lnTo>
                      <a:pt x="136" y="9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34" name="Rectangle 89"/>
              <p:cNvSpPr>
                <a:spLocks noChangeArrowheads="1"/>
              </p:cNvSpPr>
              <p:nvPr/>
            </p:nvSpPr>
            <p:spPr bwMode="auto">
              <a:xfrm>
                <a:off x="5888688" y="2051415"/>
                <a:ext cx="55784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FPGA</a:t>
                </a:r>
                <a:endParaRPr lang="en-US" altLang="en-US" sz="1800" dirty="0"/>
              </a:p>
            </p:txBody>
          </p:sp>
          <p:sp>
            <p:nvSpPr>
              <p:cNvPr id="28737" name="Freeform 92"/>
              <p:cNvSpPr>
                <a:spLocks/>
              </p:cNvSpPr>
              <p:nvPr/>
            </p:nvSpPr>
            <p:spPr bwMode="auto">
              <a:xfrm>
                <a:off x="4778333" y="5024977"/>
                <a:ext cx="854440" cy="366903"/>
              </a:xfrm>
              <a:custGeom>
                <a:avLst/>
                <a:gdLst>
                  <a:gd name="T0" fmla="*/ 0 w 590"/>
                  <a:gd name="T1" fmla="*/ 0 h 214"/>
                  <a:gd name="T2" fmla="*/ 0 w 590"/>
                  <a:gd name="T3" fmla="*/ 339725 h 214"/>
                  <a:gd name="T4" fmla="*/ 936625 w 590"/>
                  <a:gd name="T5" fmla="*/ 339725 h 214"/>
                  <a:gd name="T6" fmla="*/ 0 60000 65536"/>
                  <a:gd name="T7" fmla="*/ 0 60000 65536"/>
                  <a:gd name="T8" fmla="*/ 0 60000 65536"/>
                  <a:gd name="T9" fmla="*/ 0 w 590"/>
                  <a:gd name="T10" fmla="*/ 0 h 214"/>
                  <a:gd name="T11" fmla="*/ 590 w 590"/>
                  <a:gd name="T12" fmla="*/ 214 h 2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0" h="214">
                    <a:moveTo>
                      <a:pt x="0" y="0"/>
                    </a:moveTo>
                    <a:lnTo>
                      <a:pt x="0" y="214"/>
                    </a:lnTo>
                    <a:lnTo>
                      <a:pt x="590" y="214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38" name="Freeform 93"/>
              <p:cNvSpPr>
                <a:spLocks/>
              </p:cNvSpPr>
              <p:nvPr/>
            </p:nvSpPr>
            <p:spPr bwMode="auto">
              <a:xfrm>
                <a:off x="5605341" y="5350732"/>
                <a:ext cx="147447" cy="80581"/>
              </a:xfrm>
              <a:custGeom>
                <a:avLst/>
                <a:gdLst>
                  <a:gd name="T0" fmla="*/ 0 w 86"/>
                  <a:gd name="T1" fmla="*/ 74612 h 47"/>
                  <a:gd name="T2" fmla="*/ 136525 w 86"/>
                  <a:gd name="T3" fmla="*/ 38100 h 47"/>
                  <a:gd name="T4" fmla="*/ 0 w 86"/>
                  <a:gd name="T5" fmla="*/ 0 h 47"/>
                  <a:gd name="T6" fmla="*/ 0 w 86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4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39" name="Line 94"/>
              <p:cNvSpPr>
                <a:spLocks noChangeShapeType="1"/>
              </p:cNvSpPr>
              <p:nvPr/>
            </p:nvSpPr>
            <p:spPr bwMode="auto">
              <a:xfrm>
                <a:off x="4021143" y="5722778"/>
                <a:ext cx="160648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740" name="Freeform 95"/>
              <p:cNvSpPr>
                <a:spLocks/>
              </p:cNvSpPr>
              <p:nvPr/>
            </p:nvSpPr>
            <p:spPr bwMode="auto">
              <a:xfrm>
                <a:off x="5605341" y="5681630"/>
                <a:ext cx="144018" cy="80582"/>
              </a:xfrm>
              <a:custGeom>
                <a:avLst/>
                <a:gdLst>
                  <a:gd name="T0" fmla="*/ 0 w 84"/>
                  <a:gd name="T1" fmla="*/ 74613 h 47"/>
                  <a:gd name="T2" fmla="*/ 133350 w 84"/>
                  <a:gd name="T3" fmla="*/ 38100 h 47"/>
                  <a:gd name="T4" fmla="*/ 0 w 84"/>
                  <a:gd name="T5" fmla="*/ 0 h 47"/>
                  <a:gd name="T6" fmla="*/ 0 w 84"/>
                  <a:gd name="T7" fmla="*/ 746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"/>
                  <a:gd name="T13" fmla="*/ 0 h 47"/>
                  <a:gd name="T14" fmla="*/ 84 w 8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" h="47">
                    <a:moveTo>
                      <a:pt x="0" y="47"/>
                    </a:moveTo>
                    <a:lnTo>
                      <a:pt x="84" y="24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41" name="Rectangle 96"/>
              <p:cNvSpPr>
                <a:spLocks noChangeArrowheads="1"/>
              </p:cNvSpPr>
              <p:nvPr/>
            </p:nvSpPr>
            <p:spPr bwMode="auto">
              <a:xfrm>
                <a:off x="6354577" y="5609621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o2</a:t>
                </a:r>
                <a:endParaRPr lang="en-US" altLang="en-US" sz="1600"/>
              </a:p>
            </p:txBody>
          </p:sp>
          <p:sp>
            <p:nvSpPr>
              <p:cNvPr id="28742" name="Freeform 97"/>
              <p:cNvSpPr>
                <a:spLocks/>
              </p:cNvSpPr>
              <p:nvPr/>
            </p:nvSpPr>
            <p:spPr bwMode="auto">
              <a:xfrm>
                <a:off x="6083686" y="5611336"/>
                <a:ext cx="257176" cy="196499"/>
              </a:xfrm>
              <a:custGeom>
                <a:avLst/>
                <a:gdLst>
                  <a:gd name="T0" fmla="*/ 215900 w 141"/>
                  <a:gd name="T1" fmla="*/ 147637 h 99"/>
                  <a:gd name="T2" fmla="*/ 215900 w 141"/>
                  <a:gd name="T3" fmla="*/ 144462 h 99"/>
                  <a:gd name="T4" fmla="*/ 12700 w 141"/>
                  <a:gd name="T5" fmla="*/ 144462 h 99"/>
                  <a:gd name="T6" fmla="*/ 12700 w 141"/>
                  <a:gd name="T7" fmla="*/ 11112 h 99"/>
                  <a:gd name="T8" fmla="*/ 211137 w 141"/>
                  <a:gd name="T9" fmla="*/ 11112 h 99"/>
                  <a:gd name="T10" fmla="*/ 211137 w 141"/>
                  <a:gd name="T11" fmla="*/ 147637 h 99"/>
                  <a:gd name="T12" fmla="*/ 215900 w 141"/>
                  <a:gd name="T13" fmla="*/ 147637 h 99"/>
                  <a:gd name="T14" fmla="*/ 215900 w 141"/>
                  <a:gd name="T15" fmla="*/ 144462 h 99"/>
                  <a:gd name="T16" fmla="*/ 215900 w 141"/>
                  <a:gd name="T17" fmla="*/ 147637 h 99"/>
                  <a:gd name="T18" fmla="*/ 223837 w 141"/>
                  <a:gd name="T19" fmla="*/ 147637 h 99"/>
                  <a:gd name="T20" fmla="*/ 223837 w 141"/>
                  <a:gd name="T21" fmla="*/ 0 h 99"/>
                  <a:gd name="T22" fmla="*/ 0 w 141"/>
                  <a:gd name="T23" fmla="*/ 0 h 99"/>
                  <a:gd name="T24" fmla="*/ 0 w 141"/>
                  <a:gd name="T25" fmla="*/ 157162 h 99"/>
                  <a:gd name="T26" fmla="*/ 223837 w 141"/>
                  <a:gd name="T27" fmla="*/ 157162 h 99"/>
                  <a:gd name="T28" fmla="*/ 223837 w 141"/>
                  <a:gd name="T29" fmla="*/ 147637 h 99"/>
                  <a:gd name="T30" fmla="*/ 215900 w 141"/>
                  <a:gd name="T31" fmla="*/ 147637 h 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9"/>
                  <a:gd name="T50" fmla="*/ 141 w 141"/>
                  <a:gd name="T51" fmla="*/ 99 h 9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9">
                    <a:moveTo>
                      <a:pt x="136" y="93"/>
                    </a:moveTo>
                    <a:lnTo>
                      <a:pt x="136" y="91"/>
                    </a:lnTo>
                    <a:lnTo>
                      <a:pt x="8" y="91"/>
                    </a:lnTo>
                    <a:lnTo>
                      <a:pt x="8" y="7"/>
                    </a:lnTo>
                    <a:lnTo>
                      <a:pt x="133" y="7"/>
                    </a:lnTo>
                    <a:lnTo>
                      <a:pt x="133" y="93"/>
                    </a:lnTo>
                    <a:lnTo>
                      <a:pt x="136" y="93"/>
                    </a:lnTo>
                    <a:lnTo>
                      <a:pt x="136" y="91"/>
                    </a:lnTo>
                    <a:lnTo>
                      <a:pt x="136" y="93"/>
                    </a:lnTo>
                    <a:lnTo>
                      <a:pt x="141" y="93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9"/>
                    </a:lnTo>
                    <a:lnTo>
                      <a:pt x="141" y="99"/>
                    </a:lnTo>
                    <a:lnTo>
                      <a:pt x="141" y="93"/>
                    </a:lnTo>
                    <a:lnTo>
                      <a:pt x="136" y="93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43" name="Freeform 98"/>
              <p:cNvSpPr>
                <a:spLocks/>
              </p:cNvSpPr>
              <p:nvPr/>
            </p:nvSpPr>
            <p:spPr bwMode="auto">
              <a:xfrm>
                <a:off x="6083686" y="5611336"/>
                <a:ext cx="241744" cy="169735"/>
              </a:xfrm>
              <a:custGeom>
                <a:avLst/>
                <a:gdLst>
                  <a:gd name="T0" fmla="*/ 215900 w 141"/>
                  <a:gd name="T1" fmla="*/ 147637 h 99"/>
                  <a:gd name="T2" fmla="*/ 215900 w 141"/>
                  <a:gd name="T3" fmla="*/ 144462 h 99"/>
                  <a:gd name="T4" fmla="*/ 12700 w 141"/>
                  <a:gd name="T5" fmla="*/ 144462 h 99"/>
                  <a:gd name="T6" fmla="*/ 12700 w 141"/>
                  <a:gd name="T7" fmla="*/ 11112 h 99"/>
                  <a:gd name="T8" fmla="*/ 211137 w 141"/>
                  <a:gd name="T9" fmla="*/ 11112 h 99"/>
                  <a:gd name="T10" fmla="*/ 211137 w 141"/>
                  <a:gd name="T11" fmla="*/ 147637 h 99"/>
                  <a:gd name="T12" fmla="*/ 215900 w 141"/>
                  <a:gd name="T13" fmla="*/ 147637 h 99"/>
                  <a:gd name="T14" fmla="*/ 215900 w 141"/>
                  <a:gd name="T15" fmla="*/ 144462 h 99"/>
                  <a:gd name="T16" fmla="*/ 215900 w 141"/>
                  <a:gd name="T17" fmla="*/ 147637 h 99"/>
                  <a:gd name="T18" fmla="*/ 223837 w 141"/>
                  <a:gd name="T19" fmla="*/ 147637 h 99"/>
                  <a:gd name="T20" fmla="*/ 223837 w 141"/>
                  <a:gd name="T21" fmla="*/ 0 h 99"/>
                  <a:gd name="T22" fmla="*/ 0 w 141"/>
                  <a:gd name="T23" fmla="*/ 0 h 99"/>
                  <a:gd name="T24" fmla="*/ 0 w 141"/>
                  <a:gd name="T25" fmla="*/ 157162 h 99"/>
                  <a:gd name="T26" fmla="*/ 223837 w 141"/>
                  <a:gd name="T27" fmla="*/ 157162 h 99"/>
                  <a:gd name="T28" fmla="*/ 223837 w 141"/>
                  <a:gd name="T29" fmla="*/ 147637 h 99"/>
                  <a:gd name="T30" fmla="*/ 215900 w 141"/>
                  <a:gd name="T31" fmla="*/ 147637 h 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9"/>
                  <a:gd name="T50" fmla="*/ 141 w 141"/>
                  <a:gd name="T51" fmla="*/ 99 h 9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9">
                    <a:moveTo>
                      <a:pt x="136" y="93"/>
                    </a:moveTo>
                    <a:lnTo>
                      <a:pt x="136" y="91"/>
                    </a:lnTo>
                    <a:lnTo>
                      <a:pt x="8" y="91"/>
                    </a:lnTo>
                    <a:lnTo>
                      <a:pt x="8" y="7"/>
                    </a:lnTo>
                    <a:lnTo>
                      <a:pt x="133" y="7"/>
                    </a:lnTo>
                    <a:lnTo>
                      <a:pt x="133" y="93"/>
                    </a:lnTo>
                    <a:lnTo>
                      <a:pt x="136" y="93"/>
                    </a:lnTo>
                    <a:lnTo>
                      <a:pt x="136" y="91"/>
                    </a:lnTo>
                    <a:lnTo>
                      <a:pt x="136" y="93"/>
                    </a:lnTo>
                    <a:lnTo>
                      <a:pt x="141" y="93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9"/>
                    </a:lnTo>
                    <a:lnTo>
                      <a:pt x="141" y="99"/>
                    </a:lnTo>
                    <a:lnTo>
                      <a:pt x="141" y="93"/>
                    </a:lnTo>
                    <a:lnTo>
                      <a:pt x="136" y="9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45" name="Freeform 100"/>
              <p:cNvSpPr>
                <a:spLocks noEditPoints="1"/>
              </p:cNvSpPr>
              <p:nvPr/>
            </p:nvSpPr>
            <p:spPr bwMode="auto">
              <a:xfrm>
                <a:off x="4012571" y="3252184"/>
                <a:ext cx="250317" cy="18859"/>
              </a:xfrm>
              <a:custGeom>
                <a:avLst/>
                <a:gdLst>
                  <a:gd name="T0" fmla="*/ 57150 w 146"/>
                  <a:gd name="T1" fmla="*/ 0 h 11"/>
                  <a:gd name="T2" fmla="*/ 0 w 146"/>
                  <a:gd name="T3" fmla="*/ 0 h 11"/>
                  <a:gd name="T4" fmla="*/ 0 w 146"/>
                  <a:gd name="T5" fmla="*/ 17462 h 11"/>
                  <a:gd name="T6" fmla="*/ 57150 w 146"/>
                  <a:gd name="T7" fmla="*/ 17462 h 11"/>
                  <a:gd name="T8" fmla="*/ 57150 w 146"/>
                  <a:gd name="T9" fmla="*/ 0 h 11"/>
                  <a:gd name="T10" fmla="*/ 111125 w 146"/>
                  <a:gd name="T11" fmla="*/ 0 h 11"/>
                  <a:gd name="T12" fmla="*/ 69850 w 146"/>
                  <a:gd name="T13" fmla="*/ 0 h 11"/>
                  <a:gd name="T14" fmla="*/ 69850 w 146"/>
                  <a:gd name="T15" fmla="*/ 17462 h 11"/>
                  <a:gd name="T16" fmla="*/ 111125 w 146"/>
                  <a:gd name="T17" fmla="*/ 17462 h 11"/>
                  <a:gd name="T18" fmla="*/ 111125 w 146"/>
                  <a:gd name="T19" fmla="*/ 0 h 11"/>
                  <a:gd name="T20" fmla="*/ 231775 w 146"/>
                  <a:gd name="T21" fmla="*/ 0 h 11"/>
                  <a:gd name="T22" fmla="*/ 128587 w 146"/>
                  <a:gd name="T23" fmla="*/ 0 h 11"/>
                  <a:gd name="T24" fmla="*/ 128587 w 146"/>
                  <a:gd name="T25" fmla="*/ 17462 h 11"/>
                  <a:gd name="T26" fmla="*/ 231775 w 146"/>
                  <a:gd name="T27" fmla="*/ 17462 h 11"/>
                  <a:gd name="T28" fmla="*/ 231775 w 146"/>
                  <a:gd name="T29" fmla="*/ 0 h 1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6"/>
                  <a:gd name="T46" fmla="*/ 0 h 11"/>
                  <a:gd name="T47" fmla="*/ 146 w 146"/>
                  <a:gd name="T48" fmla="*/ 11 h 1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6" h="11">
                    <a:moveTo>
                      <a:pt x="36" y="0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6" y="11"/>
                    </a:lnTo>
                    <a:lnTo>
                      <a:pt x="36" y="0"/>
                    </a:lnTo>
                    <a:moveTo>
                      <a:pt x="70" y="0"/>
                    </a:moveTo>
                    <a:lnTo>
                      <a:pt x="44" y="0"/>
                    </a:lnTo>
                    <a:lnTo>
                      <a:pt x="44" y="11"/>
                    </a:lnTo>
                    <a:lnTo>
                      <a:pt x="70" y="11"/>
                    </a:lnTo>
                    <a:lnTo>
                      <a:pt x="70" y="0"/>
                    </a:lnTo>
                    <a:moveTo>
                      <a:pt x="146" y="0"/>
                    </a:moveTo>
                    <a:lnTo>
                      <a:pt x="81" y="0"/>
                    </a:lnTo>
                    <a:lnTo>
                      <a:pt x="81" y="11"/>
                    </a:lnTo>
                    <a:lnTo>
                      <a:pt x="146" y="11"/>
                    </a:lnTo>
                    <a:lnTo>
                      <a:pt x="1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46" name="Rectangle 101"/>
              <p:cNvSpPr>
                <a:spLocks noChangeArrowheads="1"/>
              </p:cNvSpPr>
              <p:nvPr/>
            </p:nvSpPr>
            <p:spPr bwMode="auto">
              <a:xfrm>
                <a:off x="4074293" y="3252184"/>
                <a:ext cx="13716" cy="18859"/>
              </a:xfrm>
              <a:prstGeom prst="rect">
                <a:avLst/>
              </a:pr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47" name="Rectangle 102"/>
              <p:cNvSpPr>
                <a:spLocks noChangeArrowheads="1"/>
              </p:cNvSpPr>
              <p:nvPr/>
            </p:nvSpPr>
            <p:spPr bwMode="auto">
              <a:xfrm>
                <a:off x="4074293" y="3252184"/>
                <a:ext cx="13716" cy="18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48" name="Freeform 103"/>
              <p:cNvSpPr>
                <a:spLocks/>
              </p:cNvSpPr>
              <p:nvPr/>
            </p:nvSpPr>
            <p:spPr bwMode="auto">
              <a:xfrm>
                <a:off x="4235456" y="3221323"/>
                <a:ext cx="144018" cy="80581"/>
              </a:xfrm>
              <a:custGeom>
                <a:avLst/>
                <a:gdLst>
                  <a:gd name="T0" fmla="*/ 0 w 84"/>
                  <a:gd name="T1" fmla="*/ 74612 h 47"/>
                  <a:gd name="T2" fmla="*/ 133350 w 84"/>
                  <a:gd name="T3" fmla="*/ 36512 h 47"/>
                  <a:gd name="T4" fmla="*/ 0 w 84"/>
                  <a:gd name="T5" fmla="*/ 0 h 47"/>
                  <a:gd name="T6" fmla="*/ 0 w 84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"/>
                  <a:gd name="T13" fmla="*/ 0 h 47"/>
                  <a:gd name="T14" fmla="*/ 84 w 8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" h="47">
                    <a:moveTo>
                      <a:pt x="0" y="47"/>
                    </a:moveTo>
                    <a:lnTo>
                      <a:pt x="84" y="23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49" name="Freeform 104"/>
              <p:cNvSpPr>
                <a:spLocks noEditPoints="1"/>
              </p:cNvSpPr>
              <p:nvPr/>
            </p:nvSpPr>
            <p:spPr bwMode="auto">
              <a:xfrm>
                <a:off x="4012571" y="3413347"/>
                <a:ext cx="250317" cy="0"/>
              </a:xfrm>
              <a:custGeom>
                <a:avLst/>
                <a:gdLst>
                  <a:gd name="T0" fmla="*/ 57150 w 146"/>
                  <a:gd name="T1" fmla="*/ 0 h 11"/>
                  <a:gd name="T2" fmla="*/ 0 w 146"/>
                  <a:gd name="T3" fmla="*/ 0 h 11"/>
                  <a:gd name="T4" fmla="*/ 0 w 146"/>
                  <a:gd name="T5" fmla="*/ 17462 h 11"/>
                  <a:gd name="T6" fmla="*/ 57150 w 146"/>
                  <a:gd name="T7" fmla="*/ 17462 h 11"/>
                  <a:gd name="T8" fmla="*/ 57150 w 146"/>
                  <a:gd name="T9" fmla="*/ 0 h 11"/>
                  <a:gd name="T10" fmla="*/ 111125 w 146"/>
                  <a:gd name="T11" fmla="*/ 0 h 11"/>
                  <a:gd name="T12" fmla="*/ 69850 w 146"/>
                  <a:gd name="T13" fmla="*/ 0 h 11"/>
                  <a:gd name="T14" fmla="*/ 69850 w 146"/>
                  <a:gd name="T15" fmla="*/ 17462 h 11"/>
                  <a:gd name="T16" fmla="*/ 111125 w 146"/>
                  <a:gd name="T17" fmla="*/ 17462 h 11"/>
                  <a:gd name="T18" fmla="*/ 111125 w 146"/>
                  <a:gd name="T19" fmla="*/ 0 h 11"/>
                  <a:gd name="T20" fmla="*/ 231775 w 146"/>
                  <a:gd name="T21" fmla="*/ 0 h 11"/>
                  <a:gd name="T22" fmla="*/ 128587 w 146"/>
                  <a:gd name="T23" fmla="*/ 0 h 11"/>
                  <a:gd name="T24" fmla="*/ 128587 w 146"/>
                  <a:gd name="T25" fmla="*/ 17462 h 11"/>
                  <a:gd name="T26" fmla="*/ 231775 w 146"/>
                  <a:gd name="T27" fmla="*/ 17462 h 11"/>
                  <a:gd name="T28" fmla="*/ 231775 w 146"/>
                  <a:gd name="T29" fmla="*/ 0 h 1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6"/>
                  <a:gd name="T46" fmla="*/ 0 h 11"/>
                  <a:gd name="T47" fmla="*/ 146 w 146"/>
                  <a:gd name="T48" fmla="*/ 11 h 1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6" h="11">
                    <a:moveTo>
                      <a:pt x="36" y="0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6" y="11"/>
                    </a:lnTo>
                    <a:lnTo>
                      <a:pt x="36" y="0"/>
                    </a:lnTo>
                    <a:close/>
                    <a:moveTo>
                      <a:pt x="70" y="0"/>
                    </a:moveTo>
                    <a:lnTo>
                      <a:pt x="44" y="0"/>
                    </a:lnTo>
                    <a:lnTo>
                      <a:pt x="44" y="11"/>
                    </a:lnTo>
                    <a:lnTo>
                      <a:pt x="70" y="11"/>
                    </a:lnTo>
                    <a:lnTo>
                      <a:pt x="70" y="0"/>
                    </a:lnTo>
                    <a:close/>
                    <a:moveTo>
                      <a:pt x="146" y="0"/>
                    </a:moveTo>
                    <a:lnTo>
                      <a:pt x="81" y="0"/>
                    </a:lnTo>
                    <a:lnTo>
                      <a:pt x="81" y="11"/>
                    </a:lnTo>
                    <a:lnTo>
                      <a:pt x="146" y="11"/>
                    </a:lnTo>
                    <a:lnTo>
                      <a:pt x="14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50" name="Freeform 105"/>
              <p:cNvSpPr>
                <a:spLocks noEditPoints="1"/>
              </p:cNvSpPr>
              <p:nvPr/>
            </p:nvSpPr>
            <p:spPr bwMode="auto">
              <a:xfrm>
                <a:off x="4012571" y="3413347"/>
                <a:ext cx="250317" cy="18859"/>
              </a:xfrm>
              <a:custGeom>
                <a:avLst/>
                <a:gdLst>
                  <a:gd name="T0" fmla="*/ 57150 w 146"/>
                  <a:gd name="T1" fmla="*/ 0 h 11"/>
                  <a:gd name="T2" fmla="*/ 0 w 146"/>
                  <a:gd name="T3" fmla="*/ 0 h 11"/>
                  <a:gd name="T4" fmla="*/ 0 w 146"/>
                  <a:gd name="T5" fmla="*/ 17462 h 11"/>
                  <a:gd name="T6" fmla="*/ 57150 w 146"/>
                  <a:gd name="T7" fmla="*/ 17462 h 11"/>
                  <a:gd name="T8" fmla="*/ 57150 w 146"/>
                  <a:gd name="T9" fmla="*/ 0 h 11"/>
                  <a:gd name="T10" fmla="*/ 111125 w 146"/>
                  <a:gd name="T11" fmla="*/ 0 h 11"/>
                  <a:gd name="T12" fmla="*/ 69850 w 146"/>
                  <a:gd name="T13" fmla="*/ 0 h 11"/>
                  <a:gd name="T14" fmla="*/ 69850 w 146"/>
                  <a:gd name="T15" fmla="*/ 17462 h 11"/>
                  <a:gd name="T16" fmla="*/ 111125 w 146"/>
                  <a:gd name="T17" fmla="*/ 17462 h 11"/>
                  <a:gd name="T18" fmla="*/ 111125 w 146"/>
                  <a:gd name="T19" fmla="*/ 0 h 11"/>
                  <a:gd name="T20" fmla="*/ 231775 w 146"/>
                  <a:gd name="T21" fmla="*/ 0 h 11"/>
                  <a:gd name="T22" fmla="*/ 128587 w 146"/>
                  <a:gd name="T23" fmla="*/ 0 h 11"/>
                  <a:gd name="T24" fmla="*/ 128587 w 146"/>
                  <a:gd name="T25" fmla="*/ 17462 h 11"/>
                  <a:gd name="T26" fmla="*/ 231775 w 146"/>
                  <a:gd name="T27" fmla="*/ 17462 h 11"/>
                  <a:gd name="T28" fmla="*/ 231775 w 146"/>
                  <a:gd name="T29" fmla="*/ 0 h 1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6"/>
                  <a:gd name="T46" fmla="*/ 0 h 11"/>
                  <a:gd name="T47" fmla="*/ 146 w 146"/>
                  <a:gd name="T48" fmla="*/ 11 h 1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6" h="11">
                    <a:moveTo>
                      <a:pt x="36" y="0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6" y="11"/>
                    </a:lnTo>
                    <a:lnTo>
                      <a:pt x="36" y="0"/>
                    </a:lnTo>
                    <a:moveTo>
                      <a:pt x="70" y="0"/>
                    </a:moveTo>
                    <a:lnTo>
                      <a:pt x="44" y="0"/>
                    </a:lnTo>
                    <a:lnTo>
                      <a:pt x="44" y="11"/>
                    </a:lnTo>
                    <a:lnTo>
                      <a:pt x="70" y="11"/>
                    </a:lnTo>
                    <a:lnTo>
                      <a:pt x="70" y="0"/>
                    </a:lnTo>
                    <a:moveTo>
                      <a:pt x="146" y="0"/>
                    </a:moveTo>
                    <a:lnTo>
                      <a:pt x="81" y="0"/>
                    </a:lnTo>
                    <a:lnTo>
                      <a:pt x="81" y="11"/>
                    </a:lnTo>
                    <a:lnTo>
                      <a:pt x="146" y="11"/>
                    </a:lnTo>
                    <a:lnTo>
                      <a:pt x="1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51" name="Rectangle 106"/>
              <p:cNvSpPr>
                <a:spLocks noChangeArrowheads="1"/>
              </p:cNvSpPr>
              <p:nvPr/>
            </p:nvSpPr>
            <p:spPr bwMode="auto">
              <a:xfrm>
                <a:off x="4074293" y="3413347"/>
                <a:ext cx="13716" cy="18859"/>
              </a:xfrm>
              <a:prstGeom prst="rect">
                <a:avLst/>
              </a:pr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52" name="Rectangle 107"/>
              <p:cNvSpPr>
                <a:spLocks noChangeArrowheads="1"/>
              </p:cNvSpPr>
              <p:nvPr/>
            </p:nvSpPr>
            <p:spPr bwMode="auto">
              <a:xfrm>
                <a:off x="4074293" y="3413347"/>
                <a:ext cx="13716" cy="18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53" name="Freeform 108"/>
              <p:cNvSpPr>
                <a:spLocks/>
              </p:cNvSpPr>
              <p:nvPr/>
            </p:nvSpPr>
            <p:spPr bwMode="auto">
              <a:xfrm>
                <a:off x="4235456" y="3382486"/>
                <a:ext cx="144018" cy="80581"/>
              </a:xfrm>
              <a:custGeom>
                <a:avLst/>
                <a:gdLst>
                  <a:gd name="T0" fmla="*/ 0 w 84"/>
                  <a:gd name="T1" fmla="*/ 74612 h 47"/>
                  <a:gd name="T2" fmla="*/ 133350 w 84"/>
                  <a:gd name="T3" fmla="*/ 36512 h 47"/>
                  <a:gd name="T4" fmla="*/ 0 w 84"/>
                  <a:gd name="T5" fmla="*/ 0 h 47"/>
                  <a:gd name="T6" fmla="*/ 0 w 84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"/>
                  <a:gd name="T13" fmla="*/ 0 h 47"/>
                  <a:gd name="T14" fmla="*/ 84 w 8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" h="47">
                    <a:moveTo>
                      <a:pt x="0" y="47"/>
                    </a:moveTo>
                    <a:lnTo>
                      <a:pt x="84" y="23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54" name="Freeform 109"/>
              <p:cNvSpPr>
                <a:spLocks noEditPoints="1"/>
              </p:cNvSpPr>
              <p:nvPr/>
            </p:nvSpPr>
            <p:spPr bwMode="auto">
              <a:xfrm>
                <a:off x="6544886" y="3091021"/>
                <a:ext cx="456057" cy="2156841"/>
              </a:xfrm>
              <a:custGeom>
                <a:avLst/>
                <a:gdLst>
                  <a:gd name="T0" fmla="*/ 95219 w 102"/>
                  <a:gd name="T1" fmla="*/ 799659 h 482"/>
                  <a:gd name="T2" fmla="*/ 78659 w 102"/>
                  <a:gd name="T3" fmla="*/ 799659 h 482"/>
                  <a:gd name="T4" fmla="*/ 78659 w 102"/>
                  <a:gd name="T5" fmla="*/ 1980502 h 482"/>
                  <a:gd name="T6" fmla="*/ 0 w 102"/>
                  <a:gd name="T7" fmla="*/ 1980502 h 482"/>
                  <a:gd name="T8" fmla="*/ 0 w 102"/>
                  <a:gd name="T9" fmla="*/ 1997075 h 482"/>
                  <a:gd name="T10" fmla="*/ 95219 w 102"/>
                  <a:gd name="T11" fmla="*/ 1997075 h 482"/>
                  <a:gd name="T12" fmla="*/ 95219 w 102"/>
                  <a:gd name="T13" fmla="*/ 799659 h 482"/>
                  <a:gd name="T14" fmla="*/ 289797 w 102"/>
                  <a:gd name="T15" fmla="*/ 0 h 482"/>
                  <a:gd name="T16" fmla="*/ 78659 w 102"/>
                  <a:gd name="T17" fmla="*/ 0 h 482"/>
                  <a:gd name="T18" fmla="*/ 78659 w 102"/>
                  <a:gd name="T19" fmla="*/ 791372 h 482"/>
                  <a:gd name="T20" fmla="*/ 95219 w 102"/>
                  <a:gd name="T21" fmla="*/ 791372 h 482"/>
                  <a:gd name="T22" fmla="*/ 95219 w 102"/>
                  <a:gd name="T23" fmla="*/ 16573 h 482"/>
                  <a:gd name="T24" fmla="*/ 289797 w 102"/>
                  <a:gd name="T25" fmla="*/ 16573 h 482"/>
                  <a:gd name="T26" fmla="*/ 289797 w 102"/>
                  <a:gd name="T27" fmla="*/ 0 h 482"/>
                  <a:gd name="T28" fmla="*/ 422275 w 102"/>
                  <a:gd name="T29" fmla="*/ 0 h 482"/>
                  <a:gd name="T30" fmla="*/ 306356 w 102"/>
                  <a:gd name="T31" fmla="*/ 0 h 482"/>
                  <a:gd name="T32" fmla="*/ 306356 w 102"/>
                  <a:gd name="T33" fmla="*/ 16573 h 482"/>
                  <a:gd name="T34" fmla="*/ 422275 w 102"/>
                  <a:gd name="T35" fmla="*/ 16573 h 482"/>
                  <a:gd name="T36" fmla="*/ 422275 w 102"/>
                  <a:gd name="T37" fmla="*/ 0 h 48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02"/>
                  <a:gd name="T58" fmla="*/ 0 h 482"/>
                  <a:gd name="T59" fmla="*/ 102 w 102"/>
                  <a:gd name="T60" fmla="*/ 482 h 48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02" h="482">
                    <a:moveTo>
                      <a:pt x="23" y="193"/>
                    </a:moveTo>
                    <a:cubicBezTo>
                      <a:pt x="21" y="193"/>
                      <a:pt x="20" y="193"/>
                      <a:pt x="19" y="193"/>
                    </a:cubicBezTo>
                    <a:cubicBezTo>
                      <a:pt x="19" y="478"/>
                      <a:pt x="19" y="478"/>
                      <a:pt x="19" y="478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0" y="482"/>
                      <a:pt x="0" y="482"/>
                      <a:pt x="0" y="482"/>
                    </a:cubicBezTo>
                    <a:cubicBezTo>
                      <a:pt x="23" y="482"/>
                      <a:pt x="23" y="482"/>
                      <a:pt x="23" y="482"/>
                    </a:cubicBezTo>
                    <a:cubicBezTo>
                      <a:pt x="23" y="193"/>
                      <a:pt x="23" y="193"/>
                      <a:pt x="23" y="193"/>
                    </a:cubicBezTo>
                    <a:moveTo>
                      <a:pt x="70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191"/>
                      <a:pt x="19" y="191"/>
                      <a:pt x="19" y="191"/>
                    </a:cubicBezTo>
                    <a:cubicBezTo>
                      <a:pt x="20" y="191"/>
                      <a:pt x="21" y="191"/>
                      <a:pt x="23" y="191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70" y="4"/>
                      <a:pt x="70" y="4"/>
                      <a:pt x="70" y="4"/>
                    </a:cubicBezTo>
                    <a:cubicBezTo>
                      <a:pt x="70" y="0"/>
                      <a:pt x="70" y="0"/>
                      <a:pt x="70" y="0"/>
                    </a:cubicBezTo>
                    <a:moveTo>
                      <a:pt x="102" y="0"/>
                    </a:moveTo>
                    <a:cubicBezTo>
                      <a:pt x="74" y="0"/>
                      <a:pt x="74" y="0"/>
                      <a:pt x="74" y="0"/>
                    </a:cubicBezTo>
                    <a:cubicBezTo>
                      <a:pt x="74" y="4"/>
                      <a:pt x="74" y="4"/>
                      <a:pt x="74" y="4"/>
                    </a:cubicBezTo>
                    <a:cubicBezTo>
                      <a:pt x="102" y="4"/>
                      <a:pt x="102" y="4"/>
                      <a:pt x="102" y="4"/>
                    </a:cubicBezTo>
                    <a:cubicBezTo>
                      <a:pt x="102" y="0"/>
                      <a:pt x="102" y="0"/>
                      <a:pt x="102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55" name="Rectangle 110"/>
              <p:cNvSpPr>
                <a:spLocks noChangeArrowheads="1"/>
              </p:cNvSpPr>
              <p:nvPr/>
            </p:nvSpPr>
            <p:spPr bwMode="auto">
              <a:xfrm>
                <a:off x="6544886" y="5230717"/>
                <a:ext cx="1715" cy="17145"/>
              </a:xfrm>
              <a:prstGeom prst="rect">
                <a:avLst/>
              </a:pr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56" name="Rectangle 111"/>
              <p:cNvSpPr>
                <a:spLocks noChangeArrowheads="1"/>
              </p:cNvSpPr>
              <p:nvPr/>
            </p:nvSpPr>
            <p:spPr bwMode="auto">
              <a:xfrm>
                <a:off x="6544886" y="5230717"/>
                <a:ext cx="1715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57" name="Freeform 112"/>
              <p:cNvSpPr>
                <a:spLocks/>
              </p:cNvSpPr>
              <p:nvPr/>
            </p:nvSpPr>
            <p:spPr bwMode="auto">
              <a:xfrm>
                <a:off x="6975226" y="3060160"/>
                <a:ext cx="147447" cy="80581"/>
              </a:xfrm>
              <a:custGeom>
                <a:avLst/>
                <a:gdLst>
                  <a:gd name="T0" fmla="*/ 0 w 86"/>
                  <a:gd name="T1" fmla="*/ 74612 h 47"/>
                  <a:gd name="T2" fmla="*/ 136525 w 86"/>
                  <a:gd name="T3" fmla="*/ 36512 h 47"/>
                  <a:gd name="T4" fmla="*/ 0 w 86"/>
                  <a:gd name="T5" fmla="*/ 0 h 47"/>
                  <a:gd name="T6" fmla="*/ 0 w 86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3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58" name="Freeform 113"/>
              <p:cNvSpPr>
                <a:spLocks noEditPoints="1"/>
              </p:cNvSpPr>
              <p:nvPr/>
            </p:nvSpPr>
            <p:spPr bwMode="auto">
              <a:xfrm>
                <a:off x="6544886" y="3252184"/>
                <a:ext cx="430340" cy="2237422"/>
              </a:xfrm>
              <a:custGeom>
                <a:avLst/>
                <a:gdLst>
                  <a:gd name="T0" fmla="*/ 149424 w 96"/>
                  <a:gd name="T1" fmla="*/ 642223 h 500"/>
                  <a:gd name="T2" fmla="*/ 132821 w 96"/>
                  <a:gd name="T3" fmla="*/ 646366 h 500"/>
                  <a:gd name="T4" fmla="*/ 132821 w 96"/>
                  <a:gd name="T5" fmla="*/ 2055114 h 500"/>
                  <a:gd name="T6" fmla="*/ 0 w 96"/>
                  <a:gd name="T7" fmla="*/ 2055114 h 500"/>
                  <a:gd name="T8" fmla="*/ 0 w 96"/>
                  <a:gd name="T9" fmla="*/ 2071687 h 500"/>
                  <a:gd name="T10" fmla="*/ 149424 w 96"/>
                  <a:gd name="T11" fmla="*/ 2071687 h 500"/>
                  <a:gd name="T12" fmla="*/ 149424 w 96"/>
                  <a:gd name="T13" fmla="*/ 642223 h 500"/>
                  <a:gd name="T14" fmla="*/ 290546 w 96"/>
                  <a:gd name="T15" fmla="*/ 0 h 500"/>
                  <a:gd name="T16" fmla="*/ 132821 w 96"/>
                  <a:gd name="T17" fmla="*/ 0 h 500"/>
                  <a:gd name="T18" fmla="*/ 132821 w 96"/>
                  <a:gd name="T19" fmla="*/ 638080 h 500"/>
                  <a:gd name="T20" fmla="*/ 149424 w 96"/>
                  <a:gd name="T21" fmla="*/ 633936 h 500"/>
                  <a:gd name="T22" fmla="*/ 149424 w 96"/>
                  <a:gd name="T23" fmla="*/ 16573 h 500"/>
                  <a:gd name="T24" fmla="*/ 290546 w 96"/>
                  <a:gd name="T25" fmla="*/ 16573 h 500"/>
                  <a:gd name="T26" fmla="*/ 290546 w 96"/>
                  <a:gd name="T27" fmla="*/ 0 h 500"/>
                  <a:gd name="T28" fmla="*/ 398463 w 96"/>
                  <a:gd name="T29" fmla="*/ 0 h 500"/>
                  <a:gd name="T30" fmla="*/ 307149 w 96"/>
                  <a:gd name="T31" fmla="*/ 0 h 500"/>
                  <a:gd name="T32" fmla="*/ 307149 w 96"/>
                  <a:gd name="T33" fmla="*/ 16573 h 500"/>
                  <a:gd name="T34" fmla="*/ 398463 w 96"/>
                  <a:gd name="T35" fmla="*/ 16573 h 500"/>
                  <a:gd name="T36" fmla="*/ 398463 w 96"/>
                  <a:gd name="T37" fmla="*/ 0 h 50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6"/>
                  <a:gd name="T58" fmla="*/ 0 h 500"/>
                  <a:gd name="T59" fmla="*/ 96 w 96"/>
                  <a:gd name="T60" fmla="*/ 500 h 50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6" h="500">
                    <a:moveTo>
                      <a:pt x="36" y="155"/>
                    </a:moveTo>
                    <a:cubicBezTo>
                      <a:pt x="34" y="155"/>
                      <a:pt x="33" y="155"/>
                      <a:pt x="32" y="156"/>
                    </a:cubicBezTo>
                    <a:cubicBezTo>
                      <a:pt x="32" y="496"/>
                      <a:pt x="32" y="496"/>
                      <a:pt x="32" y="496"/>
                    </a:cubicBezTo>
                    <a:cubicBezTo>
                      <a:pt x="0" y="496"/>
                      <a:pt x="0" y="496"/>
                      <a:pt x="0" y="496"/>
                    </a:cubicBezTo>
                    <a:cubicBezTo>
                      <a:pt x="0" y="500"/>
                      <a:pt x="0" y="500"/>
                      <a:pt x="0" y="500"/>
                    </a:cubicBezTo>
                    <a:cubicBezTo>
                      <a:pt x="36" y="500"/>
                      <a:pt x="36" y="500"/>
                      <a:pt x="36" y="500"/>
                    </a:cubicBezTo>
                    <a:cubicBezTo>
                      <a:pt x="36" y="155"/>
                      <a:pt x="36" y="155"/>
                      <a:pt x="36" y="155"/>
                    </a:cubicBezTo>
                    <a:moveTo>
                      <a:pt x="7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54"/>
                      <a:pt x="32" y="154"/>
                      <a:pt x="32" y="154"/>
                    </a:cubicBezTo>
                    <a:cubicBezTo>
                      <a:pt x="33" y="153"/>
                      <a:pt x="34" y="153"/>
                      <a:pt x="36" y="153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70" y="4"/>
                      <a:pt x="70" y="4"/>
                      <a:pt x="70" y="4"/>
                    </a:cubicBezTo>
                    <a:cubicBezTo>
                      <a:pt x="70" y="0"/>
                      <a:pt x="70" y="0"/>
                      <a:pt x="70" y="0"/>
                    </a:cubicBezTo>
                    <a:moveTo>
                      <a:pt x="96" y="0"/>
                    </a:moveTo>
                    <a:cubicBezTo>
                      <a:pt x="74" y="0"/>
                      <a:pt x="74" y="0"/>
                      <a:pt x="74" y="0"/>
                    </a:cubicBezTo>
                    <a:cubicBezTo>
                      <a:pt x="74" y="4"/>
                      <a:pt x="74" y="4"/>
                      <a:pt x="74" y="4"/>
                    </a:cubicBezTo>
                    <a:cubicBezTo>
                      <a:pt x="96" y="4"/>
                      <a:pt x="96" y="4"/>
                      <a:pt x="96" y="4"/>
                    </a:cubicBezTo>
                    <a:cubicBezTo>
                      <a:pt x="96" y="0"/>
                      <a:pt x="96" y="0"/>
                      <a:pt x="96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59" name="Rectangle 114"/>
              <p:cNvSpPr>
                <a:spLocks noChangeArrowheads="1"/>
              </p:cNvSpPr>
              <p:nvPr/>
            </p:nvSpPr>
            <p:spPr bwMode="auto">
              <a:xfrm>
                <a:off x="6544886" y="5472461"/>
                <a:ext cx="1715" cy="17145"/>
              </a:xfrm>
              <a:prstGeom prst="rect">
                <a:avLst/>
              </a:pr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60" name="Rectangle 115"/>
              <p:cNvSpPr>
                <a:spLocks noChangeArrowheads="1"/>
              </p:cNvSpPr>
              <p:nvPr/>
            </p:nvSpPr>
            <p:spPr bwMode="auto">
              <a:xfrm>
                <a:off x="6544886" y="5472461"/>
                <a:ext cx="1715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61" name="Freeform 116"/>
              <p:cNvSpPr>
                <a:spLocks/>
              </p:cNvSpPr>
              <p:nvPr/>
            </p:nvSpPr>
            <p:spPr bwMode="auto">
              <a:xfrm>
                <a:off x="6975226" y="3221323"/>
                <a:ext cx="147447" cy="80581"/>
              </a:xfrm>
              <a:custGeom>
                <a:avLst/>
                <a:gdLst>
                  <a:gd name="T0" fmla="*/ 0 w 86"/>
                  <a:gd name="T1" fmla="*/ 74612 h 47"/>
                  <a:gd name="T2" fmla="*/ 136525 w 86"/>
                  <a:gd name="T3" fmla="*/ 36512 h 47"/>
                  <a:gd name="T4" fmla="*/ 0 w 86"/>
                  <a:gd name="T5" fmla="*/ 0 h 47"/>
                  <a:gd name="T6" fmla="*/ 0 w 86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3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62" name="Freeform 117"/>
              <p:cNvSpPr>
                <a:spLocks/>
              </p:cNvSpPr>
              <p:nvPr/>
            </p:nvSpPr>
            <p:spPr bwMode="auto">
              <a:xfrm>
                <a:off x="6975226" y="3221323"/>
                <a:ext cx="147447" cy="80581"/>
              </a:xfrm>
              <a:custGeom>
                <a:avLst/>
                <a:gdLst>
                  <a:gd name="T0" fmla="*/ 0 w 86"/>
                  <a:gd name="T1" fmla="*/ 74612 h 47"/>
                  <a:gd name="T2" fmla="*/ 136525 w 86"/>
                  <a:gd name="T3" fmla="*/ 36512 h 47"/>
                  <a:gd name="T4" fmla="*/ 0 w 86"/>
                  <a:gd name="T5" fmla="*/ 0 h 47"/>
                  <a:gd name="T6" fmla="*/ 0 w 86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3"/>
                    </a:lnTo>
                    <a:lnTo>
                      <a:pt x="0" y="0"/>
                    </a:lnTo>
                    <a:lnTo>
                      <a:pt x="0" y="4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63" name="Freeform 118"/>
              <p:cNvSpPr>
                <a:spLocks noEditPoints="1"/>
              </p:cNvSpPr>
              <p:nvPr/>
            </p:nvSpPr>
            <p:spPr bwMode="auto">
              <a:xfrm>
                <a:off x="6553459" y="3404774"/>
                <a:ext cx="421767" cy="2309432"/>
              </a:xfrm>
              <a:custGeom>
                <a:avLst/>
                <a:gdLst>
                  <a:gd name="T0" fmla="*/ 195263 w 94"/>
                  <a:gd name="T1" fmla="*/ 497294 h 516"/>
                  <a:gd name="T2" fmla="*/ 178644 w 94"/>
                  <a:gd name="T3" fmla="*/ 497294 h 516"/>
                  <a:gd name="T4" fmla="*/ 178644 w 94"/>
                  <a:gd name="T5" fmla="*/ 2121787 h 516"/>
                  <a:gd name="T6" fmla="*/ 0 w 94"/>
                  <a:gd name="T7" fmla="*/ 2121787 h 516"/>
                  <a:gd name="T8" fmla="*/ 0 w 94"/>
                  <a:gd name="T9" fmla="*/ 2138363 h 516"/>
                  <a:gd name="T10" fmla="*/ 195263 w 94"/>
                  <a:gd name="T11" fmla="*/ 2138363 h 516"/>
                  <a:gd name="T12" fmla="*/ 195263 w 94"/>
                  <a:gd name="T13" fmla="*/ 497294 h 516"/>
                  <a:gd name="T14" fmla="*/ 282507 w 94"/>
                  <a:gd name="T15" fmla="*/ 0 h 516"/>
                  <a:gd name="T16" fmla="*/ 178644 w 94"/>
                  <a:gd name="T17" fmla="*/ 0 h 516"/>
                  <a:gd name="T18" fmla="*/ 178644 w 94"/>
                  <a:gd name="T19" fmla="*/ 489005 h 516"/>
                  <a:gd name="T20" fmla="*/ 195263 w 94"/>
                  <a:gd name="T21" fmla="*/ 489005 h 516"/>
                  <a:gd name="T22" fmla="*/ 195263 w 94"/>
                  <a:gd name="T23" fmla="*/ 16576 h 516"/>
                  <a:gd name="T24" fmla="*/ 282507 w 94"/>
                  <a:gd name="T25" fmla="*/ 16576 h 516"/>
                  <a:gd name="T26" fmla="*/ 282507 w 94"/>
                  <a:gd name="T27" fmla="*/ 0 h 516"/>
                  <a:gd name="T28" fmla="*/ 390525 w 94"/>
                  <a:gd name="T29" fmla="*/ 0 h 516"/>
                  <a:gd name="T30" fmla="*/ 299126 w 94"/>
                  <a:gd name="T31" fmla="*/ 0 h 516"/>
                  <a:gd name="T32" fmla="*/ 299126 w 94"/>
                  <a:gd name="T33" fmla="*/ 16576 h 516"/>
                  <a:gd name="T34" fmla="*/ 390525 w 94"/>
                  <a:gd name="T35" fmla="*/ 16576 h 516"/>
                  <a:gd name="T36" fmla="*/ 390525 w 94"/>
                  <a:gd name="T37" fmla="*/ 0 h 51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4"/>
                  <a:gd name="T58" fmla="*/ 0 h 516"/>
                  <a:gd name="T59" fmla="*/ 94 w 94"/>
                  <a:gd name="T60" fmla="*/ 516 h 51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4" h="516">
                    <a:moveTo>
                      <a:pt x="47" y="120"/>
                    </a:moveTo>
                    <a:cubicBezTo>
                      <a:pt x="46" y="120"/>
                      <a:pt x="44" y="120"/>
                      <a:pt x="43" y="120"/>
                    </a:cubicBezTo>
                    <a:cubicBezTo>
                      <a:pt x="43" y="512"/>
                      <a:pt x="43" y="512"/>
                      <a:pt x="43" y="512"/>
                    </a:cubicBezTo>
                    <a:cubicBezTo>
                      <a:pt x="0" y="512"/>
                      <a:pt x="0" y="512"/>
                      <a:pt x="0" y="512"/>
                    </a:cubicBezTo>
                    <a:cubicBezTo>
                      <a:pt x="0" y="516"/>
                      <a:pt x="0" y="516"/>
                      <a:pt x="0" y="516"/>
                    </a:cubicBezTo>
                    <a:cubicBezTo>
                      <a:pt x="47" y="516"/>
                      <a:pt x="47" y="516"/>
                      <a:pt x="47" y="516"/>
                    </a:cubicBezTo>
                    <a:cubicBezTo>
                      <a:pt x="47" y="120"/>
                      <a:pt x="47" y="120"/>
                      <a:pt x="47" y="120"/>
                    </a:cubicBezTo>
                    <a:moveTo>
                      <a:pt x="68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43" y="118"/>
                      <a:pt x="43" y="118"/>
                      <a:pt x="43" y="118"/>
                    </a:cubicBezTo>
                    <a:cubicBezTo>
                      <a:pt x="44" y="118"/>
                      <a:pt x="46" y="118"/>
                      <a:pt x="47" y="118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68" y="0"/>
                      <a:pt x="68" y="0"/>
                      <a:pt x="68" y="0"/>
                    </a:cubicBezTo>
                    <a:moveTo>
                      <a:pt x="94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0"/>
                      <a:pt x="94" y="0"/>
                      <a:pt x="94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64" name="Freeform 119"/>
              <p:cNvSpPr>
                <a:spLocks/>
              </p:cNvSpPr>
              <p:nvPr/>
            </p:nvSpPr>
            <p:spPr bwMode="auto">
              <a:xfrm>
                <a:off x="6975226" y="3373913"/>
                <a:ext cx="147447" cy="80582"/>
              </a:xfrm>
              <a:custGeom>
                <a:avLst/>
                <a:gdLst>
                  <a:gd name="T0" fmla="*/ 0 w 86"/>
                  <a:gd name="T1" fmla="*/ 74613 h 47"/>
                  <a:gd name="T2" fmla="*/ 136525 w 86"/>
                  <a:gd name="T3" fmla="*/ 36513 h 47"/>
                  <a:gd name="T4" fmla="*/ 0 w 86"/>
                  <a:gd name="T5" fmla="*/ 0 h 47"/>
                  <a:gd name="T6" fmla="*/ 0 w 86"/>
                  <a:gd name="T7" fmla="*/ 746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3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65" name="Freeform 120"/>
              <p:cNvSpPr>
                <a:spLocks/>
              </p:cNvSpPr>
              <p:nvPr/>
            </p:nvSpPr>
            <p:spPr bwMode="auto">
              <a:xfrm>
                <a:off x="6975226" y="3373913"/>
                <a:ext cx="147447" cy="80582"/>
              </a:xfrm>
              <a:custGeom>
                <a:avLst/>
                <a:gdLst>
                  <a:gd name="T0" fmla="*/ 0 w 86"/>
                  <a:gd name="T1" fmla="*/ 74613 h 47"/>
                  <a:gd name="T2" fmla="*/ 136525 w 86"/>
                  <a:gd name="T3" fmla="*/ 36513 h 47"/>
                  <a:gd name="T4" fmla="*/ 0 w 86"/>
                  <a:gd name="T5" fmla="*/ 0 h 47"/>
                  <a:gd name="T6" fmla="*/ 0 w 86"/>
                  <a:gd name="T7" fmla="*/ 746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3"/>
                    </a:lnTo>
                    <a:lnTo>
                      <a:pt x="0" y="0"/>
                    </a:lnTo>
                    <a:lnTo>
                      <a:pt x="0" y="4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66" name="Freeform 121"/>
              <p:cNvSpPr>
                <a:spLocks/>
              </p:cNvSpPr>
              <p:nvPr/>
            </p:nvSpPr>
            <p:spPr bwMode="auto">
              <a:xfrm>
                <a:off x="4132586" y="1961775"/>
                <a:ext cx="1330452" cy="3224366"/>
              </a:xfrm>
              <a:custGeom>
                <a:avLst/>
                <a:gdLst>
                  <a:gd name="T0" fmla="*/ 1222375 w 776"/>
                  <a:gd name="T1" fmla="*/ 3068638 h 1939"/>
                  <a:gd name="T2" fmla="*/ 1222375 w 776"/>
                  <a:gd name="T3" fmla="*/ 3060701 h 1939"/>
                  <a:gd name="T4" fmla="*/ 17463 w 776"/>
                  <a:gd name="T5" fmla="*/ 3060701 h 1939"/>
                  <a:gd name="T6" fmla="*/ 17463 w 776"/>
                  <a:gd name="T7" fmla="*/ 15875 h 1939"/>
                  <a:gd name="T8" fmla="*/ 1214438 w 776"/>
                  <a:gd name="T9" fmla="*/ 15875 h 1939"/>
                  <a:gd name="T10" fmla="*/ 1214438 w 776"/>
                  <a:gd name="T11" fmla="*/ 3068638 h 1939"/>
                  <a:gd name="T12" fmla="*/ 1222375 w 776"/>
                  <a:gd name="T13" fmla="*/ 3068638 h 1939"/>
                  <a:gd name="T14" fmla="*/ 1222375 w 776"/>
                  <a:gd name="T15" fmla="*/ 3060701 h 1939"/>
                  <a:gd name="T16" fmla="*/ 1222375 w 776"/>
                  <a:gd name="T17" fmla="*/ 3068638 h 1939"/>
                  <a:gd name="T18" fmla="*/ 1231900 w 776"/>
                  <a:gd name="T19" fmla="*/ 3068638 h 1939"/>
                  <a:gd name="T20" fmla="*/ 1231900 w 776"/>
                  <a:gd name="T21" fmla="*/ 0 h 1939"/>
                  <a:gd name="T22" fmla="*/ 0 w 776"/>
                  <a:gd name="T23" fmla="*/ 0 h 1939"/>
                  <a:gd name="T24" fmla="*/ 0 w 776"/>
                  <a:gd name="T25" fmla="*/ 3078163 h 1939"/>
                  <a:gd name="T26" fmla="*/ 1231900 w 776"/>
                  <a:gd name="T27" fmla="*/ 3078163 h 1939"/>
                  <a:gd name="T28" fmla="*/ 1231900 w 776"/>
                  <a:gd name="T29" fmla="*/ 3068638 h 1939"/>
                  <a:gd name="T30" fmla="*/ 1222375 w 776"/>
                  <a:gd name="T31" fmla="*/ 3068638 h 1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76"/>
                  <a:gd name="T49" fmla="*/ 0 h 1939"/>
                  <a:gd name="T50" fmla="*/ 776 w 776"/>
                  <a:gd name="T51" fmla="*/ 1939 h 1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76" h="1939">
                    <a:moveTo>
                      <a:pt x="770" y="1933"/>
                    </a:moveTo>
                    <a:lnTo>
                      <a:pt x="770" y="1928"/>
                    </a:lnTo>
                    <a:lnTo>
                      <a:pt x="11" y="1928"/>
                    </a:lnTo>
                    <a:lnTo>
                      <a:pt x="11" y="10"/>
                    </a:lnTo>
                    <a:lnTo>
                      <a:pt x="765" y="10"/>
                    </a:lnTo>
                    <a:lnTo>
                      <a:pt x="765" y="1933"/>
                    </a:lnTo>
                    <a:lnTo>
                      <a:pt x="770" y="1933"/>
                    </a:lnTo>
                    <a:lnTo>
                      <a:pt x="770" y="1928"/>
                    </a:lnTo>
                    <a:lnTo>
                      <a:pt x="770" y="1933"/>
                    </a:lnTo>
                    <a:lnTo>
                      <a:pt x="776" y="1933"/>
                    </a:lnTo>
                    <a:lnTo>
                      <a:pt x="776" y="0"/>
                    </a:lnTo>
                    <a:lnTo>
                      <a:pt x="0" y="0"/>
                    </a:lnTo>
                    <a:lnTo>
                      <a:pt x="0" y="1939"/>
                    </a:lnTo>
                    <a:lnTo>
                      <a:pt x="776" y="1939"/>
                    </a:lnTo>
                    <a:lnTo>
                      <a:pt x="776" y="1933"/>
                    </a:lnTo>
                    <a:lnTo>
                      <a:pt x="770" y="1933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67" name="Freeform 122"/>
              <p:cNvSpPr>
                <a:spLocks/>
              </p:cNvSpPr>
              <p:nvPr/>
            </p:nvSpPr>
            <p:spPr bwMode="auto">
              <a:xfrm>
                <a:off x="4132586" y="1861724"/>
                <a:ext cx="1330452" cy="3324416"/>
              </a:xfrm>
              <a:custGeom>
                <a:avLst/>
                <a:gdLst>
                  <a:gd name="T0" fmla="*/ 1222375 w 776"/>
                  <a:gd name="T1" fmla="*/ 3068638 h 1939"/>
                  <a:gd name="T2" fmla="*/ 1222375 w 776"/>
                  <a:gd name="T3" fmla="*/ 3060701 h 1939"/>
                  <a:gd name="T4" fmla="*/ 17463 w 776"/>
                  <a:gd name="T5" fmla="*/ 3060701 h 1939"/>
                  <a:gd name="T6" fmla="*/ 17463 w 776"/>
                  <a:gd name="T7" fmla="*/ 15875 h 1939"/>
                  <a:gd name="T8" fmla="*/ 1214438 w 776"/>
                  <a:gd name="T9" fmla="*/ 15875 h 1939"/>
                  <a:gd name="T10" fmla="*/ 1214438 w 776"/>
                  <a:gd name="T11" fmla="*/ 3068638 h 1939"/>
                  <a:gd name="T12" fmla="*/ 1222375 w 776"/>
                  <a:gd name="T13" fmla="*/ 3068638 h 1939"/>
                  <a:gd name="T14" fmla="*/ 1222375 w 776"/>
                  <a:gd name="T15" fmla="*/ 3060701 h 1939"/>
                  <a:gd name="T16" fmla="*/ 1222375 w 776"/>
                  <a:gd name="T17" fmla="*/ 3068638 h 1939"/>
                  <a:gd name="T18" fmla="*/ 1231900 w 776"/>
                  <a:gd name="T19" fmla="*/ 3068638 h 1939"/>
                  <a:gd name="T20" fmla="*/ 1231900 w 776"/>
                  <a:gd name="T21" fmla="*/ 0 h 1939"/>
                  <a:gd name="T22" fmla="*/ 0 w 776"/>
                  <a:gd name="T23" fmla="*/ 0 h 1939"/>
                  <a:gd name="T24" fmla="*/ 0 w 776"/>
                  <a:gd name="T25" fmla="*/ 3078163 h 1939"/>
                  <a:gd name="T26" fmla="*/ 1231900 w 776"/>
                  <a:gd name="T27" fmla="*/ 3078163 h 1939"/>
                  <a:gd name="T28" fmla="*/ 1231900 w 776"/>
                  <a:gd name="T29" fmla="*/ 3068638 h 1939"/>
                  <a:gd name="T30" fmla="*/ 1222375 w 776"/>
                  <a:gd name="T31" fmla="*/ 3068638 h 1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76"/>
                  <a:gd name="T49" fmla="*/ 0 h 1939"/>
                  <a:gd name="T50" fmla="*/ 776 w 776"/>
                  <a:gd name="T51" fmla="*/ 1939 h 1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76" h="1939">
                    <a:moveTo>
                      <a:pt x="770" y="1933"/>
                    </a:moveTo>
                    <a:lnTo>
                      <a:pt x="770" y="1928"/>
                    </a:lnTo>
                    <a:lnTo>
                      <a:pt x="11" y="1928"/>
                    </a:lnTo>
                    <a:lnTo>
                      <a:pt x="11" y="10"/>
                    </a:lnTo>
                    <a:lnTo>
                      <a:pt x="765" y="10"/>
                    </a:lnTo>
                    <a:lnTo>
                      <a:pt x="765" y="1933"/>
                    </a:lnTo>
                    <a:lnTo>
                      <a:pt x="770" y="1933"/>
                    </a:lnTo>
                    <a:lnTo>
                      <a:pt x="770" y="1928"/>
                    </a:lnTo>
                    <a:lnTo>
                      <a:pt x="770" y="1933"/>
                    </a:lnTo>
                    <a:lnTo>
                      <a:pt x="776" y="1933"/>
                    </a:lnTo>
                    <a:lnTo>
                      <a:pt x="776" y="0"/>
                    </a:lnTo>
                    <a:lnTo>
                      <a:pt x="0" y="0"/>
                    </a:lnTo>
                    <a:lnTo>
                      <a:pt x="0" y="1939"/>
                    </a:lnTo>
                    <a:lnTo>
                      <a:pt x="776" y="1939"/>
                    </a:lnTo>
                    <a:lnTo>
                      <a:pt x="776" y="1933"/>
                    </a:lnTo>
                    <a:lnTo>
                      <a:pt x="770" y="193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83" name="Rectangle 138"/>
              <p:cNvSpPr>
                <a:spLocks noChangeArrowheads="1"/>
              </p:cNvSpPr>
              <p:nvPr/>
            </p:nvSpPr>
            <p:spPr bwMode="auto">
              <a:xfrm>
                <a:off x="4826619" y="3896968"/>
                <a:ext cx="233295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D0</a:t>
                </a:r>
                <a:endParaRPr lang="en-US" altLang="en-US" sz="1600" dirty="0"/>
              </a:p>
            </p:txBody>
          </p:sp>
          <p:sp>
            <p:nvSpPr>
              <p:cNvPr id="28792" name="Freeform 147"/>
              <p:cNvSpPr>
                <a:spLocks/>
              </p:cNvSpPr>
              <p:nvPr/>
            </p:nvSpPr>
            <p:spPr bwMode="auto">
              <a:xfrm>
                <a:off x="4590357" y="4219162"/>
                <a:ext cx="3429" cy="17145"/>
              </a:xfrm>
              <a:custGeom>
                <a:avLst/>
                <a:gdLst>
                  <a:gd name="T0" fmla="*/ 3175 w 1"/>
                  <a:gd name="T1" fmla="*/ 0 h 4"/>
                  <a:gd name="T2" fmla="*/ 0 w 1"/>
                  <a:gd name="T3" fmla="*/ 0 h 4"/>
                  <a:gd name="T4" fmla="*/ 0 w 1"/>
                  <a:gd name="T5" fmla="*/ 7938 h 4"/>
                  <a:gd name="T6" fmla="*/ 0 w 1"/>
                  <a:gd name="T7" fmla="*/ 15875 h 4"/>
                  <a:gd name="T8" fmla="*/ 3175 w 1"/>
                  <a:gd name="T9" fmla="*/ 15875 h 4"/>
                  <a:gd name="T10" fmla="*/ 3175 w 1"/>
                  <a:gd name="T11" fmla="*/ 7938 h 4"/>
                  <a:gd name="T12" fmla="*/ 3175 w 1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4"/>
                  <a:gd name="T23" fmla="*/ 1 w 1"/>
                  <a:gd name="T24" fmla="*/ 4 h 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795" name="Rectangle 150"/>
              <p:cNvSpPr>
                <a:spLocks noChangeArrowheads="1"/>
              </p:cNvSpPr>
              <p:nvPr/>
            </p:nvSpPr>
            <p:spPr bwMode="auto">
              <a:xfrm>
                <a:off x="4621218" y="4219162"/>
                <a:ext cx="8573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01" name="Rectangle 156"/>
              <p:cNvSpPr>
                <a:spLocks noChangeArrowheads="1"/>
              </p:cNvSpPr>
              <p:nvPr/>
            </p:nvSpPr>
            <p:spPr bwMode="auto">
              <a:xfrm>
                <a:off x="5229866" y="4219162"/>
                <a:ext cx="3429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03" name="Rectangle 158"/>
              <p:cNvSpPr>
                <a:spLocks noChangeArrowheads="1"/>
              </p:cNvSpPr>
              <p:nvPr/>
            </p:nvSpPr>
            <p:spPr bwMode="auto">
              <a:xfrm>
                <a:off x="4521777" y="4630642"/>
                <a:ext cx="18860" cy="111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10" name="Rectangle 165"/>
              <p:cNvSpPr>
                <a:spLocks noChangeAspect="1" noChangeArrowheads="1"/>
              </p:cNvSpPr>
              <p:nvPr/>
            </p:nvSpPr>
            <p:spPr bwMode="auto">
              <a:xfrm>
                <a:off x="4603702" y="4872392"/>
                <a:ext cx="22477" cy="11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12" name="Rectangle 167"/>
              <p:cNvSpPr>
                <a:spLocks noChangeArrowheads="1"/>
              </p:cNvSpPr>
              <p:nvPr/>
            </p:nvSpPr>
            <p:spPr bwMode="auto">
              <a:xfrm>
                <a:off x="4370901" y="4872386"/>
                <a:ext cx="58293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32" name="Line 187"/>
              <p:cNvSpPr>
                <a:spLocks noChangeShapeType="1"/>
              </p:cNvSpPr>
              <p:nvPr/>
            </p:nvSpPr>
            <p:spPr bwMode="auto">
              <a:xfrm>
                <a:off x="4021143" y="5561615"/>
                <a:ext cx="160648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833" name="Freeform 188"/>
              <p:cNvSpPr>
                <a:spLocks/>
              </p:cNvSpPr>
              <p:nvPr/>
            </p:nvSpPr>
            <p:spPr bwMode="auto">
              <a:xfrm>
                <a:off x="5605341" y="5520467"/>
                <a:ext cx="144018" cy="80582"/>
              </a:xfrm>
              <a:custGeom>
                <a:avLst/>
                <a:gdLst>
                  <a:gd name="T0" fmla="*/ 0 w 84"/>
                  <a:gd name="T1" fmla="*/ 74613 h 47"/>
                  <a:gd name="T2" fmla="*/ 133350 w 84"/>
                  <a:gd name="T3" fmla="*/ 38100 h 47"/>
                  <a:gd name="T4" fmla="*/ 0 w 84"/>
                  <a:gd name="T5" fmla="*/ 0 h 47"/>
                  <a:gd name="T6" fmla="*/ 0 w 84"/>
                  <a:gd name="T7" fmla="*/ 746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"/>
                  <a:gd name="T13" fmla="*/ 0 h 47"/>
                  <a:gd name="T14" fmla="*/ 84 w 8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" h="47">
                    <a:moveTo>
                      <a:pt x="0" y="47"/>
                    </a:moveTo>
                    <a:lnTo>
                      <a:pt x="84" y="24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35" name="Freeform 190"/>
              <p:cNvSpPr>
                <a:spLocks/>
              </p:cNvSpPr>
              <p:nvPr/>
            </p:nvSpPr>
            <p:spPr bwMode="auto">
              <a:xfrm>
                <a:off x="7103813" y="2062321"/>
                <a:ext cx="949833" cy="2053971"/>
              </a:xfrm>
              <a:custGeom>
                <a:avLst/>
                <a:gdLst>
                  <a:gd name="T0" fmla="*/ 874713 w 554"/>
                  <a:gd name="T1" fmla="*/ 1897063 h 1198"/>
                  <a:gd name="T2" fmla="*/ 874713 w 554"/>
                  <a:gd name="T3" fmla="*/ 1889125 h 1198"/>
                  <a:gd name="T4" fmla="*/ 12700 w 554"/>
                  <a:gd name="T5" fmla="*/ 1889125 h 1198"/>
                  <a:gd name="T6" fmla="*/ 12700 w 554"/>
                  <a:gd name="T7" fmla="*/ 12700 h 1198"/>
                  <a:gd name="T8" fmla="*/ 866775 w 554"/>
                  <a:gd name="T9" fmla="*/ 12700 h 1198"/>
                  <a:gd name="T10" fmla="*/ 866775 w 554"/>
                  <a:gd name="T11" fmla="*/ 1897063 h 1198"/>
                  <a:gd name="T12" fmla="*/ 874713 w 554"/>
                  <a:gd name="T13" fmla="*/ 1897063 h 1198"/>
                  <a:gd name="T14" fmla="*/ 874713 w 554"/>
                  <a:gd name="T15" fmla="*/ 1889125 h 1198"/>
                  <a:gd name="T16" fmla="*/ 874713 w 554"/>
                  <a:gd name="T17" fmla="*/ 1897063 h 1198"/>
                  <a:gd name="T18" fmla="*/ 879475 w 554"/>
                  <a:gd name="T19" fmla="*/ 1897063 h 1198"/>
                  <a:gd name="T20" fmla="*/ 879475 w 554"/>
                  <a:gd name="T21" fmla="*/ 0 h 1198"/>
                  <a:gd name="T22" fmla="*/ 0 w 554"/>
                  <a:gd name="T23" fmla="*/ 0 h 1198"/>
                  <a:gd name="T24" fmla="*/ 0 w 554"/>
                  <a:gd name="T25" fmla="*/ 1901825 h 1198"/>
                  <a:gd name="T26" fmla="*/ 879475 w 554"/>
                  <a:gd name="T27" fmla="*/ 1901825 h 1198"/>
                  <a:gd name="T28" fmla="*/ 879475 w 554"/>
                  <a:gd name="T29" fmla="*/ 1897063 h 1198"/>
                  <a:gd name="T30" fmla="*/ 874713 w 554"/>
                  <a:gd name="T31" fmla="*/ 1897063 h 119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54"/>
                  <a:gd name="T49" fmla="*/ 0 h 1198"/>
                  <a:gd name="T50" fmla="*/ 554 w 554"/>
                  <a:gd name="T51" fmla="*/ 1198 h 119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54" h="1198">
                    <a:moveTo>
                      <a:pt x="551" y="1195"/>
                    </a:moveTo>
                    <a:lnTo>
                      <a:pt x="551" y="1190"/>
                    </a:lnTo>
                    <a:lnTo>
                      <a:pt x="8" y="1190"/>
                    </a:lnTo>
                    <a:lnTo>
                      <a:pt x="8" y="8"/>
                    </a:lnTo>
                    <a:lnTo>
                      <a:pt x="546" y="8"/>
                    </a:lnTo>
                    <a:lnTo>
                      <a:pt x="546" y="1195"/>
                    </a:lnTo>
                    <a:lnTo>
                      <a:pt x="551" y="1195"/>
                    </a:lnTo>
                    <a:lnTo>
                      <a:pt x="551" y="1190"/>
                    </a:lnTo>
                    <a:lnTo>
                      <a:pt x="551" y="1195"/>
                    </a:lnTo>
                    <a:lnTo>
                      <a:pt x="554" y="1195"/>
                    </a:lnTo>
                    <a:lnTo>
                      <a:pt x="554" y="0"/>
                    </a:lnTo>
                    <a:lnTo>
                      <a:pt x="0" y="0"/>
                    </a:lnTo>
                    <a:lnTo>
                      <a:pt x="0" y="1198"/>
                    </a:lnTo>
                    <a:lnTo>
                      <a:pt x="554" y="1198"/>
                    </a:lnTo>
                    <a:lnTo>
                      <a:pt x="554" y="1195"/>
                    </a:lnTo>
                    <a:lnTo>
                      <a:pt x="551" y="1195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36" name="Freeform 191"/>
              <p:cNvSpPr>
                <a:spLocks/>
              </p:cNvSpPr>
              <p:nvPr/>
            </p:nvSpPr>
            <p:spPr bwMode="auto">
              <a:xfrm>
                <a:off x="7103813" y="2062321"/>
                <a:ext cx="949833" cy="2053971"/>
              </a:xfrm>
              <a:custGeom>
                <a:avLst/>
                <a:gdLst>
                  <a:gd name="T0" fmla="*/ 874713 w 554"/>
                  <a:gd name="T1" fmla="*/ 1897063 h 1198"/>
                  <a:gd name="T2" fmla="*/ 874713 w 554"/>
                  <a:gd name="T3" fmla="*/ 1889125 h 1198"/>
                  <a:gd name="T4" fmla="*/ 12700 w 554"/>
                  <a:gd name="T5" fmla="*/ 1889125 h 1198"/>
                  <a:gd name="T6" fmla="*/ 12700 w 554"/>
                  <a:gd name="T7" fmla="*/ 12700 h 1198"/>
                  <a:gd name="T8" fmla="*/ 866775 w 554"/>
                  <a:gd name="T9" fmla="*/ 12700 h 1198"/>
                  <a:gd name="T10" fmla="*/ 866775 w 554"/>
                  <a:gd name="T11" fmla="*/ 1897063 h 1198"/>
                  <a:gd name="T12" fmla="*/ 874713 w 554"/>
                  <a:gd name="T13" fmla="*/ 1897063 h 1198"/>
                  <a:gd name="T14" fmla="*/ 874713 w 554"/>
                  <a:gd name="T15" fmla="*/ 1889125 h 1198"/>
                  <a:gd name="T16" fmla="*/ 874713 w 554"/>
                  <a:gd name="T17" fmla="*/ 1897063 h 1198"/>
                  <a:gd name="T18" fmla="*/ 879475 w 554"/>
                  <a:gd name="T19" fmla="*/ 1897063 h 1198"/>
                  <a:gd name="T20" fmla="*/ 879475 w 554"/>
                  <a:gd name="T21" fmla="*/ 0 h 1198"/>
                  <a:gd name="T22" fmla="*/ 0 w 554"/>
                  <a:gd name="T23" fmla="*/ 0 h 1198"/>
                  <a:gd name="T24" fmla="*/ 0 w 554"/>
                  <a:gd name="T25" fmla="*/ 1901825 h 1198"/>
                  <a:gd name="T26" fmla="*/ 879475 w 554"/>
                  <a:gd name="T27" fmla="*/ 1901825 h 1198"/>
                  <a:gd name="T28" fmla="*/ 879475 w 554"/>
                  <a:gd name="T29" fmla="*/ 1897063 h 1198"/>
                  <a:gd name="T30" fmla="*/ 874713 w 554"/>
                  <a:gd name="T31" fmla="*/ 1897063 h 119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54"/>
                  <a:gd name="T49" fmla="*/ 0 h 1198"/>
                  <a:gd name="T50" fmla="*/ 554 w 554"/>
                  <a:gd name="T51" fmla="*/ 1198 h 119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54" h="1198">
                    <a:moveTo>
                      <a:pt x="551" y="1195"/>
                    </a:moveTo>
                    <a:lnTo>
                      <a:pt x="551" y="1190"/>
                    </a:lnTo>
                    <a:lnTo>
                      <a:pt x="8" y="1190"/>
                    </a:lnTo>
                    <a:lnTo>
                      <a:pt x="8" y="8"/>
                    </a:lnTo>
                    <a:lnTo>
                      <a:pt x="546" y="8"/>
                    </a:lnTo>
                    <a:lnTo>
                      <a:pt x="546" y="1195"/>
                    </a:lnTo>
                    <a:lnTo>
                      <a:pt x="551" y="1195"/>
                    </a:lnTo>
                    <a:lnTo>
                      <a:pt x="551" y="1190"/>
                    </a:lnTo>
                    <a:lnTo>
                      <a:pt x="551" y="1195"/>
                    </a:lnTo>
                    <a:lnTo>
                      <a:pt x="554" y="1195"/>
                    </a:lnTo>
                    <a:lnTo>
                      <a:pt x="554" y="0"/>
                    </a:lnTo>
                    <a:lnTo>
                      <a:pt x="0" y="0"/>
                    </a:lnTo>
                    <a:lnTo>
                      <a:pt x="0" y="1198"/>
                    </a:lnTo>
                    <a:lnTo>
                      <a:pt x="554" y="1198"/>
                    </a:lnTo>
                    <a:lnTo>
                      <a:pt x="554" y="1195"/>
                    </a:lnTo>
                    <a:lnTo>
                      <a:pt x="551" y="119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37" name="Rectangle 192"/>
              <p:cNvSpPr>
                <a:spLocks noChangeArrowheads="1"/>
              </p:cNvSpPr>
              <p:nvPr/>
            </p:nvSpPr>
            <p:spPr bwMode="auto">
              <a:xfrm>
                <a:off x="7475860" y="2285206"/>
                <a:ext cx="522922" cy="1597914"/>
              </a:xfrm>
              <a:prstGeom prst="rect">
                <a:avLst/>
              </a:prstGeom>
              <a:solidFill>
                <a:srgbClr val="DFE6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38" name="Rectangle 193"/>
              <p:cNvSpPr>
                <a:spLocks noChangeArrowheads="1"/>
              </p:cNvSpPr>
              <p:nvPr/>
            </p:nvSpPr>
            <p:spPr bwMode="auto">
              <a:xfrm>
                <a:off x="7475860" y="2285206"/>
                <a:ext cx="522922" cy="15979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39" name="Freeform 194"/>
              <p:cNvSpPr>
                <a:spLocks/>
              </p:cNvSpPr>
              <p:nvPr/>
            </p:nvSpPr>
            <p:spPr bwMode="auto">
              <a:xfrm>
                <a:off x="7467287" y="2276633"/>
                <a:ext cx="541782" cy="1615059"/>
              </a:xfrm>
              <a:custGeom>
                <a:avLst/>
                <a:gdLst>
                  <a:gd name="T0" fmla="*/ 492125 w 316"/>
                  <a:gd name="T1" fmla="*/ 1487488 h 942"/>
                  <a:gd name="T2" fmla="*/ 492125 w 316"/>
                  <a:gd name="T3" fmla="*/ 1484313 h 942"/>
                  <a:gd name="T4" fmla="*/ 12700 w 316"/>
                  <a:gd name="T5" fmla="*/ 1484313 h 942"/>
                  <a:gd name="T6" fmla="*/ 12700 w 316"/>
                  <a:gd name="T7" fmla="*/ 12700 h 942"/>
                  <a:gd name="T8" fmla="*/ 488950 w 316"/>
                  <a:gd name="T9" fmla="*/ 12700 h 942"/>
                  <a:gd name="T10" fmla="*/ 488950 w 316"/>
                  <a:gd name="T11" fmla="*/ 1487488 h 942"/>
                  <a:gd name="T12" fmla="*/ 492125 w 316"/>
                  <a:gd name="T13" fmla="*/ 1487488 h 942"/>
                  <a:gd name="T14" fmla="*/ 492125 w 316"/>
                  <a:gd name="T15" fmla="*/ 1484313 h 942"/>
                  <a:gd name="T16" fmla="*/ 492125 w 316"/>
                  <a:gd name="T17" fmla="*/ 1487488 h 942"/>
                  <a:gd name="T18" fmla="*/ 501650 w 316"/>
                  <a:gd name="T19" fmla="*/ 1487488 h 942"/>
                  <a:gd name="T20" fmla="*/ 501650 w 316"/>
                  <a:gd name="T21" fmla="*/ 0 h 942"/>
                  <a:gd name="T22" fmla="*/ 0 w 316"/>
                  <a:gd name="T23" fmla="*/ 0 h 942"/>
                  <a:gd name="T24" fmla="*/ 0 w 316"/>
                  <a:gd name="T25" fmla="*/ 1495425 h 942"/>
                  <a:gd name="T26" fmla="*/ 501650 w 316"/>
                  <a:gd name="T27" fmla="*/ 1495425 h 942"/>
                  <a:gd name="T28" fmla="*/ 501650 w 316"/>
                  <a:gd name="T29" fmla="*/ 1487488 h 942"/>
                  <a:gd name="T30" fmla="*/ 492125 w 316"/>
                  <a:gd name="T31" fmla="*/ 1487488 h 94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16"/>
                  <a:gd name="T49" fmla="*/ 0 h 942"/>
                  <a:gd name="T50" fmla="*/ 316 w 316"/>
                  <a:gd name="T51" fmla="*/ 942 h 94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16" h="942">
                    <a:moveTo>
                      <a:pt x="310" y="937"/>
                    </a:moveTo>
                    <a:lnTo>
                      <a:pt x="310" y="935"/>
                    </a:lnTo>
                    <a:lnTo>
                      <a:pt x="8" y="935"/>
                    </a:lnTo>
                    <a:lnTo>
                      <a:pt x="8" y="8"/>
                    </a:lnTo>
                    <a:lnTo>
                      <a:pt x="308" y="8"/>
                    </a:lnTo>
                    <a:lnTo>
                      <a:pt x="308" y="937"/>
                    </a:lnTo>
                    <a:lnTo>
                      <a:pt x="310" y="937"/>
                    </a:lnTo>
                    <a:lnTo>
                      <a:pt x="310" y="935"/>
                    </a:lnTo>
                    <a:lnTo>
                      <a:pt x="310" y="937"/>
                    </a:lnTo>
                    <a:lnTo>
                      <a:pt x="316" y="937"/>
                    </a:lnTo>
                    <a:lnTo>
                      <a:pt x="316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316" y="942"/>
                    </a:lnTo>
                    <a:lnTo>
                      <a:pt x="316" y="937"/>
                    </a:lnTo>
                    <a:lnTo>
                      <a:pt x="310" y="937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40" name="Freeform 195"/>
              <p:cNvSpPr>
                <a:spLocks/>
              </p:cNvSpPr>
              <p:nvPr/>
            </p:nvSpPr>
            <p:spPr bwMode="auto">
              <a:xfrm>
                <a:off x="7467287" y="2276633"/>
                <a:ext cx="541782" cy="1615059"/>
              </a:xfrm>
              <a:custGeom>
                <a:avLst/>
                <a:gdLst>
                  <a:gd name="T0" fmla="*/ 492125 w 316"/>
                  <a:gd name="T1" fmla="*/ 1487488 h 942"/>
                  <a:gd name="T2" fmla="*/ 492125 w 316"/>
                  <a:gd name="T3" fmla="*/ 1484313 h 942"/>
                  <a:gd name="T4" fmla="*/ 12700 w 316"/>
                  <a:gd name="T5" fmla="*/ 1484313 h 942"/>
                  <a:gd name="T6" fmla="*/ 12700 w 316"/>
                  <a:gd name="T7" fmla="*/ 12700 h 942"/>
                  <a:gd name="T8" fmla="*/ 488950 w 316"/>
                  <a:gd name="T9" fmla="*/ 12700 h 942"/>
                  <a:gd name="T10" fmla="*/ 488950 w 316"/>
                  <a:gd name="T11" fmla="*/ 1487488 h 942"/>
                  <a:gd name="T12" fmla="*/ 492125 w 316"/>
                  <a:gd name="T13" fmla="*/ 1487488 h 942"/>
                  <a:gd name="T14" fmla="*/ 492125 w 316"/>
                  <a:gd name="T15" fmla="*/ 1484313 h 942"/>
                  <a:gd name="T16" fmla="*/ 492125 w 316"/>
                  <a:gd name="T17" fmla="*/ 1487488 h 942"/>
                  <a:gd name="T18" fmla="*/ 501650 w 316"/>
                  <a:gd name="T19" fmla="*/ 1487488 h 942"/>
                  <a:gd name="T20" fmla="*/ 501650 w 316"/>
                  <a:gd name="T21" fmla="*/ 0 h 942"/>
                  <a:gd name="T22" fmla="*/ 0 w 316"/>
                  <a:gd name="T23" fmla="*/ 0 h 942"/>
                  <a:gd name="T24" fmla="*/ 0 w 316"/>
                  <a:gd name="T25" fmla="*/ 1495425 h 942"/>
                  <a:gd name="T26" fmla="*/ 501650 w 316"/>
                  <a:gd name="T27" fmla="*/ 1495425 h 942"/>
                  <a:gd name="T28" fmla="*/ 501650 w 316"/>
                  <a:gd name="T29" fmla="*/ 1487488 h 942"/>
                  <a:gd name="T30" fmla="*/ 492125 w 316"/>
                  <a:gd name="T31" fmla="*/ 1487488 h 94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16"/>
                  <a:gd name="T49" fmla="*/ 0 h 942"/>
                  <a:gd name="T50" fmla="*/ 316 w 316"/>
                  <a:gd name="T51" fmla="*/ 942 h 94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16" h="942">
                    <a:moveTo>
                      <a:pt x="310" y="937"/>
                    </a:moveTo>
                    <a:lnTo>
                      <a:pt x="310" y="935"/>
                    </a:lnTo>
                    <a:lnTo>
                      <a:pt x="8" y="935"/>
                    </a:lnTo>
                    <a:lnTo>
                      <a:pt x="8" y="8"/>
                    </a:lnTo>
                    <a:lnTo>
                      <a:pt x="308" y="8"/>
                    </a:lnTo>
                    <a:lnTo>
                      <a:pt x="308" y="937"/>
                    </a:lnTo>
                    <a:lnTo>
                      <a:pt x="310" y="937"/>
                    </a:lnTo>
                    <a:lnTo>
                      <a:pt x="310" y="935"/>
                    </a:lnTo>
                    <a:lnTo>
                      <a:pt x="310" y="937"/>
                    </a:lnTo>
                    <a:lnTo>
                      <a:pt x="316" y="937"/>
                    </a:lnTo>
                    <a:lnTo>
                      <a:pt x="316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316" y="942"/>
                    </a:lnTo>
                    <a:lnTo>
                      <a:pt x="316" y="937"/>
                    </a:lnTo>
                    <a:lnTo>
                      <a:pt x="310" y="93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41" name="Line 196"/>
              <p:cNvSpPr>
                <a:spLocks noChangeShapeType="1"/>
              </p:cNvSpPr>
              <p:nvPr/>
            </p:nvSpPr>
            <p:spPr bwMode="auto">
              <a:xfrm>
                <a:off x="7470716" y="2487517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842" name="Line 197"/>
              <p:cNvSpPr>
                <a:spLocks noChangeShapeType="1"/>
              </p:cNvSpPr>
              <p:nvPr/>
            </p:nvSpPr>
            <p:spPr bwMode="auto">
              <a:xfrm>
                <a:off x="7470716" y="2684684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843" name="Line 198"/>
              <p:cNvSpPr>
                <a:spLocks noChangeShapeType="1"/>
              </p:cNvSpPr>
              <p:nvPr/>
            </p:nvSpPr>
            <p:spPr bwMode="auto">
              <a:xfrm>
                <a:off x="7470716" y="2885281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844" name="Line 199"/>
              <p:cNvSpPr>
                <a:spLocks noChangeShapeType="1"/>
              </p:cNvSpPr>
              <p:nvPr/>
            </p:nvSpPr>
            <p:spPr bwMode="auto">
              <a:xfrm>
                <a:off x="7470716" y="3087592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845" name="Line 200"/>
              <p:cNvSpPr>
                <a:spLocks noChangeShapeType="1"/>
              </p:cNvSpPr>
              <p:nvPr/>
            </p:nvSpPr>
            <p:spPr bwMode="auto">
              <a:xfrm>
                <a:off x="7470716" y="3283045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846" name="Line 201"/>
              <p:cNvSpPr>
                <a:spLocks noChangeShapeType="1"/>
              </p:cNvSpPr>
              <p:nvPr/>
            </p:nvSpPr>
            <p:spPr bwMode="auto">
              <a:xfrm>
                <a:off x="7470716" y="3485356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847" name="Line 202"/>
              <p:cNvSpPr>
                <a:spLocks noChangeShapeType="1"/>
              </p:cNvSpPr>
              <p:nvPr/>
            </p:nvSpPr>
            <p:spPr bwMode="auto">
              <a:xfrm>
                <a:off x="7470716" y="3685952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848" name="Rectangle 203"/>
              <p:cNvSpPr>
                <a:spLocks noChangeArrowheads="1"/>
              </p:cNvSpPr>
              <p:nvPr/>
            </p:nvSpPr>
            <p:spPr bwMode="auto">
              <a:xfrm>
                <a:off x="7153534" y="2077796"/>
                <a:ext cx="754271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8x1 </a:t>
                </a:r>
                <a:r>
                  <a:rPr lang="en-US" altLang="en-US" sz="1600" dirty="0" err="1">
                    <a:solidFill>
                      <a:srgbClr val="000000"/>
                    </a:solidFill>
                    <a:latin typeface="Helvetica" pitchFamily="34" charset="0"/>
                  </a:rPr>
                  <a:t>Mem</a:t>
                </a:r>
                <a:endParaRPr lang="en-US" altLang="en-US" sz="1600" dirty="0"/>
              </a:p>
            </p:txBody>
          </p:sp>
          <p:grpSp>
            <p:nvGrpSpPr>
              <p:cNvPr id="3" name="Group 442"/>
              <p:cNvGrpSpPr>
                <a:grpSpLocks/>
              </p:cNvGrpSpPr>
              <p:nvPr/>
            </p:nvGrpSpPr>
            <p:grpSpPr bwMode="auto">
              <a:xfrm>
                <a:off x="7664455" y="2343499"/>
                <a:ext cx="147447" cy="1489901"/>
                <a:chOff x="4871" y="1519"/>
                <a:chExt cx="86" cy="869"/>
              </a:xfrm>
            </p:grpSpPr>
            <p:sp>
              <p:nvSpPr>
                <p:cNvPr id="29023" name="Rectangle 207"/>
                <p:cNvSpPr>
                  <a:spLocks noChangeArrowheads="1"/>
                </p:cNvSpPr>
                <p:nvPr/>
              </p:nvSpPr>
              <p:spPr bwMode="auto">
                <a:xfrm>
                  <a:off x="4871" y="1519"/>
                  <a:ext cx="86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25" name="Rectangle 209"/>
                <p:cNvSpPr>
                  <a:spLocks noChangeArrowheads="1"/>
                </p:cNvSpPr>
                <p:nvPr/>
              </p:nvSpPr>
              <p:spPr bwMode="auto">
                <a:xfrm>
                  <a:off x="4871" y="1634"/>
                  <a:ext cx="73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27" name="Rectangle 211"/>
                <p:cNvSpPr>
                  <a:spLocks noChangeArrowheads="1"/>
                </p:cNvSpPr>
                <p:nvPr/>
              </p:nvSpPr>
              <p:spPr bwMode="auto">
                <a:xfrm>
                  <a:off x="4871" y="1749"/>
                  <a:ext cx="73" cy="63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29" name="Rectangle 213"/>
                <p:cNvSpPr>
                  <a:spLocks noChangeArrowheads="1"/>
                </p:cNvSpPr>
                <p:nvPr/>
              </p:nvSpPr>
              <p:spPr bwMode="auto">
                <a:xfrm>
                  <a:off x="4871" y="1864"/>
                  <a:ext cx="73" cy="63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31" name="Rectangle 216"/>
                <p:cNvSpPr>
                  <a:spLocks noChangeArrowheads="1"/>
                </p:cNvSpPr>
                <p:nvPr/>
              </p:nvSpPr>
              <p:spPr bwMode="auto">
                <a:xfrm>
                  <a:off x="4876" y="1984"/>
                  <a:ext cx="81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33" name="Rectangle 218"/>
                <p:cNvSpPr>
                  <a:spLocks noChangeArrowheads="1"/>
                </p:cNvSpPr>
                <p:nvPr/>
              </p:nvSpPr>
              <p:spPr bwMode="auto">
                <a:xfrm>
                  <a:off x="4876" y="2099"/>
                  <a:ext cx="68" cy="57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35" name="Rectangle 220"/>
                <p:cNvSpPr>
                  <a:spLocks noChangeArrowheads="1"/>
                </p:cNvSpPr>
                <p:nvPr/>
              </p:nvSpPr>
              <p:spPr bwMode="auto">
                <a:xfrm>
                  <a:off x="4876" y="2216"/>
                  <a:ext cx="68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9037" name="Rectangle 222"/>
                <p:cNvSpPr>
                  <a:spLocks noChangeArrowheads="1"/>
                </p:cNvSpPr>
                <p:nvPr/>
              </p:nvSpPr>
              <p:spPr bwMode="auto">
                <a:xfrm>
                  <a:off x="4876" y="2328"/>
                  <a:ext cx="68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</p:grpSp>
          <p:sp>
            <p:nvSpPr>
              <p:cNvPr id="28851" name="Rectangle 224"/>
              <p:cNvSpPr>
                <a:spLocks noChangeArrowheads="1"/>
              </p:cNvSpPr>
              <p:nvPr/>
            </p:nvSpPr>
            <p:spPr bwMode="auto">
              <a:xfrm>
                <a:off x="7344594" y="231092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28852" name="Rectangle 225"/>
              <p:cNvSpPr>
                <a:spLocks noChangeArrowheads="1"/>
              </p:cNvSpPr>
              <p:nvPr/>
            </p:nvSpPr>
            <p:spPr bwMode="auto">
              <a:xfrm>
                <a:off x="7344594" y="2504662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28853" name="Rectangle 226"/>
              <p:cNvSpPr>
                <a:spLocks noChangeArrowheads="1"/>
              </p:cNvSpPr>
              <p:nvPr/>
            </p:nvSpPr>
            <p:spPr bwMode="auto">
              <a:xfrm>
                <a:off x="7344594" y="270697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 sz="1600" dirty="0"/>
              </a:p>
            </p:txBody>
          </p:sp>
          <p:sp>
            <p:nvSpPr>
              <p:cNvPr id="28854" name="Rectangle 227"/>
              <p:cNvSpPr>
                <a:spLocks noChangeArrowheads="1"/>
              </p:cNvSpPr>
              <p:nvPr/>
            </p:nvSpPr>
            <p:spPr bwMode="auto">
              <a:xfrm>
                <a:off x="7344594" y="2904140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 sz="1600" dirty="0"/>
              </a:p>
            </p:txBody>
          </p:sp>
          <p:sp>
            <p:nvSpPr>
              <p:cNvPr id="28855" name="Rectangle 228"/>
              <p:cNvSpPr>
                <a:spLocks noChangeArrowheads="1"/>
              </p:cNvSpPr>
              <p:nvPr/>
            </p:nvSpPr>
            <p:spPr bwMode="auto">
              <a:xfrm>
                <a:off x="7344594" y="3106451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 sz="1600" dirty="0"/>
              </a:p>
            </p:txBody>
          </p:sp>
          <p:sp>
            <p:nvSpPr>
              <p:cNvPr id="28856" name="Rectangle 229"/>
              <p:cNvSpPr>
                <a:spLocks noChangeArrowheads="1"/>
              </p:cNvSpPr>
              <p:nvPr/>
            </p:nvSpPr>
            <p:spPr bwMode="auto">
              <a:xfrm>
                <a:off x="7344594" y="3303619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 sz="1600" dirty="0"/>
              </a:p>
            </p:txBody>
          </p:sp>
          <p:sp>
            <p:nvSpPr>
              <p:cNvPr id="28857" name="Rectangle 230"/>
              <p:cNvSpPr>
                <a:spLocks noChangeArrowheads="1"/>
              </p:cNvSpPr>
              <p:nvPr/>
            </p:nvSpPr>
            <p:spPr bwMode="auto">
              <a:xfrm>
                <a:off x="7344594" y="3505930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 sz="1600" dirty="0"/>
              </a:p>
            </p:txBody>
          </p:sp>
          <p:sp>
            <p:nvSpPr>
              <p:cNvPr id="28858" name="Rectangle 231"/>
              <p:cNvSpPr>
                <a:spLocks noChangeArrowheads="1"/>
              </p:cNvSpPr>
              <p:nvPr/>
            </p:nvSpPr>
            <p:spPr bwMode="auto">
              <a:xfrm>
                <a:off x="7344594" y="3697954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7</a:t>
                </a:r>
                <a:endParaRPr lang="en-US" altLang="en-US" sz="1600" dirty="0"/>
              </a:p>
            </p:txBody>
          </p:sp>
          <p:sp>
            <p:nvSpPr>
              <p:cNvPr id="28859" name="Rectangle 232"/>
              <p:cNvSpPr>
                <a:spLocks noChangeArrowheads="1"/>
              </p:cNvSpPr>
              <p:nvPr/>
            </p:nvSpPr>
            <p:spPr bwMode="auto">
              <a:xfrm>
                <a:off x="7138103" y="2977542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a2</a:t>
                </a:r>
                <a:endParaRPr lang="en-US" altLang="en-US" sz="1600" dirty="0"/>
              </a:p>
            </p:txBody>
          </p:sp>
          <p:sp>
            <p:nvSpPr>
              <p:cNvPr id="28860" name="Rectangle 233"/>
              <p:cNvSpPr>
                <a:spLocks noChangeArrowheads="1"/>
              </p:cNvSpPr>
              <p:nvPr/>
            </p:nvSpPr>
            <p:spPr bwMode="auto">
              <a:xfrm>
                <a:off x="7138103" y="3166459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a1</a:t>
                </a:r>
                <a:endParaRPr lang="en-US" altLang="en-US" sz="1600" dirty="0"/>
              </a:p>
            </p:txBody>
          </p:sp>
          <p:sp>
            <p:nvSpPr>
              <p:cNvPr id="28861" name="Rectangle 234"/>
              <p:cNvSpPr>
                <a:spLocks noChangeArrowheads="1"/>
              </p:cNvSpPr>
              <p:nvPr/>
            </p:nvSpPr>
            <p:spPr bwMode="auto">
              <a:xfrm>
                <a:off x="7138103" y="3343052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a0</a:t>
                </a:r>
                <a:endParaRPr lang="en-US" altLang="en-US" sz="1600"/>
              </a:p>
            </p:txBody>
          </p:sp>
          <p:sp>
            <p:nvSpPr>
              <p:cNvPr id="28864" name="Freeform 237"/>
              <p:cNvSpPr>
                <a:spLocks/>
              </p:cNvSpPr>
              <p:nvPr/>
            </p:nvSpPr>
            <p:spPr bwMode="auto">
              <a:xfrm>
                <a:off x="7604446" y="5016522"/>
                <a:ext cx="975550" cy="366903"/>
              </a:xfrm>
              <a:custGeom>
                <a:avLst/>
                <a:gdLst>
                  <a:gd name="T0" fmla="*/ 0 w 569"/>
                  <a:gd name="T1" fmla="*/ 0 h 214"/>
                  <a:gd name="T2" fmla="*/ 0 w 569"/>
                  <a:gd name="T3" fmla="*/ 339725 h 214"/>
                  <a:gd name="T4" fmla="*/ 903287 w 569"/>
                  <a:gd name="T5" fmla="*/ 339725 h 214"/>
                  <a:gd name="T6" fmla="*/ 0 60000 65536"/>
                  <a:gd name="T7" fmla="*/ 0 60000 65536"/>
                  <a:gd name="T8" fmla="*/ 0 60000 65536"/>
                  <a:gd name="T9" fmla="*/ 0 w 569"/>
                  <a:gd name="T10" fmla="*/ 0 h 214"/>
                  <a:gd name="T11" fmla="*/ 569 w 569"/>
                  <a:gd name="T12" fmla="*/ 214 h 2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9" h="214">
                    <a:moveTo>
                      <a:pt x="0" y="0"/>
                    </a:moveTo>
                    <a:lnTo>
                      <a:pt x="0" y="214"/>
                    </a:lnTo>
                    <a:lnTo>
                      <a:pt x="569" y="214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65" name="Freeform 238"/>
              <p:cNvSpPr>
                <a:spLocks/>
              </p:cNvSpPr>
              <p:nvPr/>
            </p:nvSpPr>
            <p:spPr bwMode="auto">
              <a:xfrm>
                <a:off x="8541770" y="5350732"/>
                <a:ext cx="142303" cy="80581"/>
              </a:xfrm>
              <a:custGeom>
                <a:avLst/>
                <a:gdLst>
                  <a:gd name="T0" fmla="*/ 0 w 83"/>
                  <a:gd name="T1" fmla="*/ 74612 h 47"/>
                  <a:gd name="T2" fmla="*/ 131762 w 83"/>
                  <a:gd name="T3" fmla="*/ 38100 h 47"/>
                  <a:gd name="T4" fmla="*/ 0 w 83"/>
                  <a:gd name="T5" fmla="*/ 0 h 47"/>
                  <a:gd name="T6" fmla="*/ 0 w 83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3"/>
                  <a:gd name="T13" fmla="*/ 0 h 47"/>
                  <a:gd name="T14" fmla="*/ 83 w 83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3" h="47">
                    <a:moveTo>
                      <a:pt x="0" y="47"/>
                    </a:moveTo>
                    <a:lnTo>
                      <a:pt x="83" y="24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66" name="Freeform 239"/>
              <p:cNvSpPr>
                <a:spLocks/>
              </p:cNvSpPr>
              <p:nvPr/>
            </p:nvSpPr>
            <p:spPr bwMode="auto">
              <a:xfrm>
                <a:off x="6858640" y="1961774"/>
                <a:ext cx="1328737" cy="3224365"/>
              </a:xfrm>
              <a:custGeom>
                <a:avLst/>
                <a:gdLst>
                  <a:gd name="T0" fmla="*/ 1222375 w 775"/>
                  <a:gd name="T1" fmla="*/ 3068638 h 1939"/>
                  <a:gd name="T2" fmla="*/ 1222375 w 775"/>
                  <a:gd name="T3" fmla="*/ 3060701 h 1939"/>
                  <a:gd name="T4" fmla="*/ 15875 w 775"/>
                  <a:gd name="T5" fmla="*/ 3060701 h 1939"/>
                  <a:gd name="T6" fmla="*/ 15875 w 775"/>
                  <a:gd name="T7" fmla="*/ 15875 h 1939"/>
                  <a:gd name="T8" fmla="*/ 1214437 w 775"/>
                  <a:gd name="T9" fmla="*/ 15875 h 1939"/>
                  <a:gd name="T10" fmla="*/ 1214437 w 775"/>
                  <a:gd name="T11" fmla="*/ 3068638 h 1939"/>
                  <a:gd name="T12" fmla="*/ 1222375 w 775"/>
                  <a:gd name="T13" fmla="*/ 3068638 h 1939"/>
                  <a:gd name="T14" fmla="*/ 1222375 w 775"/>
                  <a:gd name="T15" fmla="*/ 3060701 h 1939"/>
                  <a:gd name="T16" fmla="*/ 1222375 w 775"/>
                  <a:gd name="T17" fmla="*/ 3068638 h 1939"/>
                  <a:gd name="T18" fmla="*/ 1230312 w 775"/>
                  <a:gd name="T19" fmla="*/ 3068638 h 1939"/>
                  <a:gd name="T20" fmla="*/ 1230312 w 775"/>
                  <a:gd name="T21" fmla="*/ 0 h 1939"/>
                  <a:gd name="T22" fmla="*/ 0 w 775"/>
                  <a:gd name="T23" fmla="*/ 0 h 1939"/>
                  <a:gd name="T24" fmla="*/ 0 w 775"/>
                  <a:gd name="T25" fmla="*/ 3078163 h 1939"/>
                  <a:gd name="T26" fmla="*/ 1230312 w 775"/>
                  <a:gd name="T27" fmla="*/ 3078163 h 1939"/>
                  <a:gd name="T28" fmla="*/ 1230312 w 775"/>
                  <a:gd name="T29" fmla="*/ 3068638 h 1939"/>
                  <a:gd name="T30" fmla="*/ 1222375 w 775"/>
                  <a:gd name="T31" fmla="*/ 3068638 h 1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75"/>
                  <a:gd name="T49" fmla="*/ 0 h 1939"/>
                  <a:gd name="T50" fmla="*/ 775 w 775"/>
                  <a:gd name="T51" fmla="*/ 1939 h 1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75" h="1939">
                    <a:moveTo>
                      <a:pt x="770" y="1933"/>
                    </a:moveTo>
                    <a:lnTo>
                      <a:pt x="770" y="1928"/>
                    </a:lnTo>
                    <a:lnTo>
                      <a:pt x="10" y="1928"/>
                    </a:lnTo>
                    <a:lnTo>
                      <a:pt x="10" y="10"/>
                    </a:lnTo>
                    <a:lnTo>
                      <a:pt x="765" y="10"/>
                    </a:lnTo>
                    <a:lnTo>
                      <a:pt x="765" y="1933"/>
                    </a:lnTo>
                    <a:lnTo>
                      <a:pt x="770" y="1933"/>
                    </a:lnTo>
                    <a:lnTo>
                      <a:pt x="770" y="1928"/>
                    </a:lnTo>
                    <a:lnTo>
                      <a:pt x="770" y="1933"/>
                    </a:lnTo>
                    <a:lnTo>
                      <a:pt x="775" y="1933"/>
                    </a:lnTo>
                    <a:lnTo>
                      <a:pt x="775" y="0"/>
                    </a:lnTo>
                    <a:lnTo>
                      <a:pt x="0" y="0"/>
                    </a:lnTo>
                    <a:lnTo>
                      <a:pt x="0" y="1939"/>
                    </a:lnTo>
                    <a:lnTo>
                      <a:pt x="775" y="1939"/>
                    </a:lnTo>
                    <a:lnTo>
                      <a:pt x="775" y="1933"/>
                    </a:lnTo>
                    <a:lnTo>
                      <a:pt x="770" y="1933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67" name="Freeform 240"/>
              <p:cNvSpPr>
                <a:spLocks/>
              </p:cNvSpPr>
              <p:nvPr/>
            </p:nvSpPr>
            <p:spPr bwMode="auto">
              <a:xfrm>
                <a:off x="6858640" y="1861724"/>
                <a:ext cx="1328737" cy="3324416"/>
              </a:xfrm>
              <a:custGeom>
                <a:avLst/>
                <a:gdLst>
                  <a:gd name="T0" fmla="*/ 1222375 w 775"/>
                  <a:gd name="T1" fmla="*/ 3068638 h 1939"/>
                  <a:gd name="T2" fmla="*/ 1222375 w 775"/>
                  <a:gd name="T3" fmla="*/ 3060701 h 1939"/>
                  <a:gd name="T4" fmla="*/ 15875 w 775"/>
                  <a:gd name="T5" fmla="*/ 3060701 h 1939"/>
                  <a:gd name="T6" fmla="*/ 15875 w 775"/>
                  <a:gd name="T7" fmla="*/ 15875 h 1939"/>
                  <a:gd name="T8" fmla="*/ 1214437 w 775"/>
                  <a:gd name="T9" fmla="*/ 15875 h 1939"/>
                  <a:gd name="T10" fmla="*/ 1214437 w 775"/>
                  <a:gd name="T11" fmla="*/ 3068638 h 1939"/>
                  <a:gd name="T12" fmla="*/ 1222375 w 775"/>
                  <a:gd name="T13" fmla="*/ 3068638 h 1939"/>
                  <a:gd name="T14" fmla="*/ 1222375 w 775"/>
                  <a:gd name="T15" fmla="*/ 3060701 h 1939"/>
                  <a:gd name="T16" fmla="*/ 1222375 w 775"/>
                  <a:gd name="T17" fmla="*/ 3068638 h 1939"/>
                  <a:gd name="T18" fmla="*/ 1230312 w 775"/>
                  <a:gd name="T19" fmla="*/ 3068638 h 1939"/>
                  <a:gd name="T20" fmla="*/ 1230312 w 775"/>
                  <a:gd name="T21" fmla="*/ 0 h 1939"/>
                  <a:gd name="T22" fmla="*/ 0 w 775"/>
                  <a:gd name="T23" fmla="*/ 0 h 1939"/>
                  <a:gd name="T24" fmla="*/ 0 w 775"/>
                  <a:gd name="T25" fmla="*/ 3078163 h 1939"/>
                  <a:gd name="T26" fmla="*/ 1230312 w 775"/>
                  <a:gd name="T27" fmla="*/ 3078163 h 1939"/>
                  <a:gd name="T28" fmla="*/ 1230312 w 775"/>
                  <a:gd name="T29" fmla="*/ 3068638 h 1939"/>
                  <a:gd name="T30" fmla="*/ 1222375 w 775"/>
                  <a:gd name="T31" fmla="*/ 3068638 h 1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75"/>
                  <a:gd name="T49" fmla="*/ 0 h 1939"/>
                  <a:gd name="T50" fmla="*/ 775 w 775"/>
                  <a:gd name="T51" fmla="*/ 1939 h 1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75" h="1939">
                    <a:moveTo>
                      <a:pt x="770" y="1933"/>
                    </a:moveTo>
                    <a:lnTo>
                      <a:pt x="770" y="1928"/>
                    </a:lnTo>
                    <a:lnTo>
                      <a:pt x="10" y="1928"/>
                    </a:lnTo>
                    <a:lnTo>
                      <a:pt x="10" y="10"/>
                    </a:lnTo>
                    <a:lnTo>
                      <a:pt x="765" y="10"/>
                    </a:lnTo>
                    <a:lnTo>
                      <a:pt x="765" y="1933"/>
                    </a:lnTo>
                    <a:lnTo>
                      <a:pt x="770" y="1933"/>
                    </a:lnTo>
                    <a:lnTo>
                      <a:pt x="770" y="1928"/>
                    </a:lnTo>
                    <a:lnTo>
                      <a:pt x="770" y="1933"/>
                    </a:lnTo>
                    <a:lnTo>
                      <a:pt x="775" y="1933"/>
                    </a:lnTo>
                    <a:lnTo>
                      <a:pt x="775" y="0"/>
                    </a:lnTo>
                    <a:lnTo>
                      <a:pt x="0" y="0"/>
                    </a:lnTo>
                    <a:lnTo>
                      <a:pt x="0" y="1939"/>
                    </a:lnTo>
                    <a:lnTo>
                      <a:pt x="775" y="1939"/>
                    </a:lnTo>
                    <a:lnTo>
                      <a:pt x="775" y="1933"/>
                    </a:lnTo>
                    <a:lnTo>
                      <a:pt x="770" y="193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83" name="Rectangle 256"/>
              <p:cNvSpPr>
                <a:spLocks noChangeArrowheads="1"/>
              </p:cNvSpPr>
              <p:nvPr/>
            </p:nvSpPr>
            <p:spPr bwMode="auto">
              <a:xfrm>
                <a:off x="7598520" y="3911183"/>
                <a:ext cx="26129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D1</a:t>
                </a:r>
                <a:endParaRPr lang="en-US" altLang="en-US" sz="1600" dirty="0"/>
              </a:p>
            </p:txBody>
          </p:sp>
          <p:sp>
            <p:nvSpPr>
              <p:cNvPr id="28887" name="Rectangle 260"/>
              <p:cNvSpPr>
                <a:spLocks noChangeArrowheads="1"/>
              </p:cNvSpPr>
              <p:nvPr/>
            </p:nvSpPr>
            <p:spPr bwMode="auto">
              <a:xfrm>
                <a:off x="7676456" y="4872386"/>
                <a:ext cx="32576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89" name="Rectangle 262"/>
              <p:cNvSpPr>
                <a:spLocks noChangeArrowheads="1"/>
              </p:cNvSpPr>
              <p:nvPr/>
            </p:nvSpPr>
            <p:spPr bwMode="auto">
              <a:xfrm>
                <a:off x="7709032" y="4872386"/>
                <a:ext cx="58293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93" name="Freeform 266"/>
              <p:cNvSpPr>
                <a:spLocks/>
              </p:cNvSpPr>
              <p:nvPr/>
            </p:nvSpPr>
            <p:spPr bwMode="auto">
              <a:xfrm>
                <a:off x="7319840" y="4219162"/>
                <a:ext cx="3429" cy="17145"/>
              </a:xfrm>
              <a:custGeom>
                <a:avLst/>
                <a:gdLst>
                  <a:gd name="T0" fmla="*/ 3175 w 1"/>
                  <a:gd name="T1" fmla="*/ 0 h 4"/>
                  <a:gd name="T2" fmla="*/ 0 w 1"/>
                  <a:gd name="T3" fmla="*/ 0 h 4"/>
                  <a:gd name="T4" fmla="*/ 0 w 1"/>
                  <a:gd name="T5" fmla="*/ 7938 h 4"/>
                  <a:gd name="T6" fmla="*/ 0 w 1"/>
                  <a:gd name="T7" fmla="*/ 15875 h 4"/>
                  <a:gd name="T8" fmla="*/ 3175 w 1"/>
                  <a:gd name="T9" fmla="*/ 15875 h 4"/>
                  <a:gd name="T10" fmla="*/ 3175 w 1"/>
                  <a:gd name="T11" fmla="*/ 7938 h 4"/>
                  <a:gd name="T12" fmla="*/ 3175 w 1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4"/>
                  <a:gd name="T23" fmla="*/ 1 w 1"/>
                  <a:gd name="T24" fmla="*/ 4 h 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95" name="Rectangle 268"/>
              <p:cNvSpPr>
                <a:spLocks noChangeArrowheads="1"/>
              </p:cNvSpPr>
              <p:nvPr/>
            </p:nvSpPr>
            <p:spPr bwMode="auto">
              <a:xfrm>
                <a:off x="7345558" y="4219162"/>
                <a:ext cx="10287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898" name="Freeform 271"/>
              <p:cNvSpPr>
                <a:spLocks/>
              </p:cNvSpPr>
              <p:nvPr/>
            </p:nvSpPr>
            <p:spPr bwMode="auto">
              <a:xfrm>
                <a:off x="7928488" y="4219162"/>
                <a:ext cx="3429" cy="17145"/>
              </a:xfrm>
              <a:custGeom>
                <a:avLst/>
                <a:gdLst>
                  <a:gd name="T0" fmla="*/ 3175 w 1"/>
                  <a:gd name="T1" fmla="*/ 0 h 4"/>
                  <a:gd name="T2" fmla="*/ 0 w 1"/>
                  <a:gd name="T3" fmla="*/ 0 h 4"/>
                  <a:gd name="T4" fmla="*/ 0 w 1"/>
                  <a:gd name="T5" fmla="*/ 7938 h 4"/>
                  <a:gd name="T6" fmla="*/ 0 w 1"/>
                  <a:gd name="T7" fmla="*/ 15875 h 4"/>
                  <a:gd name="T8" fmla="*/ 3175 w 1"/>
                  <a:gd name="T9" fmla="*/ 15875 h 4"/>
                  <a:gd name="T10" fmla="*/ 3175 w 1"/>
                  <a:gd name="T11" fmla="*/ 7938 h 4"/>
                  <a:gd name="T12" fmla="*/ 3175 w 1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4"/>
                  <a:gd name="T23" fmla="*/ 1 w 1"/>
                  <a:gd name="T24" fmla="*/ 4 h 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00" name="Rectangle 273"/>
              <p:cNvSpPr>
                <a:spLocks noChangeArrowheads="1"/>
              </p:cNvSpPr>
              <p:nvPr/>
            </p:nvSpPr>
            <p:spPr bwMode="auto">
              <a:xfrm>
                <a:off x="7954205" y="4219162"/>
                <a:ext cx="5144" cy="1714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01" name="Rectangle 274"/>
              <p:cNvSpPr>
                <a:spLocks noChangeArrowheads="1"/>
              </p:cNvSpPr>
              <p:nvPr/>
            </p:nvSpPr>
            <p:spPr bwMode="auto">
              <a:xfrm>
                <a:off x="7954205" y="4219162"/>
                <a:ext cx="5144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03" name="Rectangle 276"/>
              <p:cNvSpPr>
                <a:spLocks noChangeArrowheads="1"/>
              </p:cNvSpPr>
              <p:nvPr/>
            </p:nvSpPr>
            <p:spPr bwMode="auto">
              <a:xfrm>
                <a:off x="7247831" y="4630642"/>
                <a:ext cx="17145" cy="111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05" name="Rectangle 278"/>
              <p:cNvSpPr>
                <a:spLocks noChangeArrowheads="1"/>
              </p:cNvSpPr>
              <p:nvPr/>
            </p:nvSpPr>
            <p:spPr bwMode="auto">
              <a:xfrm>
                <a:off x="7859908" y="4630642"/>
                <a:ext cx="18859" cy="111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10" name="Rectangle 283"/>
              <p:cNvSpPr>
                <a:spLocks noChangeArrowheads="1"/>
              </p:cNvSpPr>
              <p:nvPr/>
            </p:nvSpPr>
            <p:spPr bwMode="auto">
              <a:xfrm>
                <a:off x="7064380" y="4872386"/>
                <a:ext cx="30861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12" name="Rectangle 285"/>
              <p:cNvSpPr>
                <a:spLocks noChangeArrowheads="1"/>
              </p:cNvSpPr>
              <p:nvPr/>
            </p:nvSpPr>
            <p:spPr bwMode="auto">
              <a:xfrm>
                <a:off x="7095241" y="4872386"/>
                <a:ext cx="58293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37" name="Freeform 314"/>
              <p:cNvSpPr>
                <a:spLocks/>
              </p:cNvSpPr>
              <p:nvPr/>
            </p:nvSpPr>
            <p:spPr bwMode="auto">
              <a:xfrm>
                <a:off x="4074293" y="4224305"/>
                <a:ext cx="13716" cy="8573"/>
              </a:xfrm>
              <a:custGeom>
                <a:avLst/>
                <a:gdLst>
                  <a:gd name="T0" fmla="*/ 12700 w 3"/>
                  <a:gd name="T1" fmla="*/ 0 h 2"/>
                  <a:gd name="T2" fmla="*/ 0 w 3"/>
                  <a:gd name="T3" fmla="*/ 0 h 2"/>
                  <a:gd name="T4" fmla="*/ 0 w 3"/>
                  <a:gd name="T5" fmla="*/ 7938 h 2"/>
                  <a:gd name="T6" fmla="*/ 12700 w 3"/>
                  <a:gd name="T7" fmla="*/ 7938 h 2"/>
                  <a:gd name="T8" fmla="*/ 12700 w 3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2"/>
                  <a:gd name="T17" fmla="*/ 3 w 3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2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" y="2"/>
                      <a:pt x="3" y="2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38" name="Freeform 315"/>
              <p:cNvSpPr>
                <a:spLocks noEditPoints="1"/>
              </p:cNvSpPr>
              <p:nvPr/>
            </p:nvSpPr>
            <p:spPr bwMode="auto">
              <a:xfrm>
                <a:off x="5082419" y="4094003"/>
                <a:ext cx="250317" cy="25718"/>
              </a:xfrm>
              <a:custGeom>
                <a:avLst/>
                <a:gdLst>
                  <a:gd name="T0" fmla="*/ 194525 w 56"/>
                  <a:gd name="T1" fmla="*/ 11907 h 6"/>
                  <a:gd name="T2" fmla="*/ 115887 w 56"/>
                  <a:gd name="T3" fmla="*/ 11907 h 6"/>
                  <a:gd name="T4" fmla="*/ 0 w 56"/>
                  <a:gd name="T5" fmla="*/ 23813 h 6"/>
                  <a:gd name="T6" fmla="*/ 78638 w 56"/>
                  <a:gd name="T7" fmla="*/ 23813 h 6"/>
                  <a:gd name="T8" fmla="*/ 194525 w 56"/>
                  <a:gd name="T9" fmla="*/ 11907 h 6"/>
                  <a:gd name="T10" fmla="*/ 231775 w 56"/>
                  <a:gd name="T11" fmla="*/ 0 h 6"/>
                  <a:gd name="T12" fmla="*/ 215220 w 56"/>
                  <a:gd name="T13" fmla="*/ 0 h 6"/>
                  <a:gd name="T14" fmla="*/ 215220 w 56"/>
                  <a:gd name="T15" fmla="*/ 7938 h 6"/>
                  <a:gd name="T16" fmla="*/ 231775 w 56"/>
                  <a:gd name="T17" fmla="*/ 7938 h 6"/>
                  <a:gd name="T18" fmla="*/ 231775 w 56"/>
                  <a:gd name="T19" fmla="*/ 0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6"/>
                  <a:gd name="T31" fmla="*/ 0 h 6"/>
                  <a:gd name="T32" fmla="*/ 56 w 56"/>
                  <a:gd name="T33" fmla="*/ 6 h 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6" h="6">
                    <a:moveTo>
                      <a:pt x="47" y="3"/>
                    </a:moveTo>
                    <a:cubicBezTo>
                      <a:pt x="28" y="3"/>
                      <a:pt x="28" y="3"/>
                      <a:pt x="28" y="3"/>
                    </a:cubicBezTo>
                    <a:cubicBezTo>
                      <a:pt x="19" y="4"/>
                      <a:pt x="9" y="5"/>
                      <a:pt x="0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8" y="5"/>
                      <a:pt x="37" y="4"/>
                      <a:pt x="47" y="3"/>
                    </a:cubicBezTo>
                    <a:moveTo>
                      <a:pt x="56" y="0"/>
                    </a:moveTo>
                    <a:cubicBezTo>
                      <a:pt x="55" y="0"/>
                      <a:pt x="53" y="0"/>
                      <a:pt x="52" y="0"/>
                    </a:cubicBezTo>
                    <a:cubicBezTo>
                      <a:pt x="52" y="2"/>
                      <a:pt x="52" y="2"/>
                      <a:pt x="52" y="2"/>
                    </a:cubicBezTo>
                    <a:cubicBezTo>
                      <a:pt x="54" y="2"/>
                      <a:pt x="54" y="2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</a:path>
                </a:pathLst>
              </a:cu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39" name="Freeform 316"/>
              <p:cNvSpPr>
                <a:spLocks/>
              </p:cNvSpPr>
              <p:nvPr/>
            </p:nvSpPr>
            <p:spPr bwMode="auto">
              <a:xfrm>
                <a:off x="6630611" y="3946556"/>
                <a:ext cx="17145" cy="8573"/>
              </a:xfrm>
              <a:custGeom>
                <a:avLst/>
                <a:gdLst>
                  <a:gd name="T0" fmla="*/ 15875 w 4"/>
                  <a:gd name="T1" fmla="*/ 0 h 2"/>
                  <a:gd name="T2" fmla="*/ 0 w 4"/>
                  <a:gd name="T3" fmla="*/ 0 h 2"/>
                  <a:gd name="T4" fmla="*/ 0 w 4"/>
                  <a:gd name="T5" fmla="*/ 7938 h 2"/>
                  <a:gd name="T6" fmla="*/ 15875 w 4"/>
                  <a:gd name="T7" fmla="*/ 7938 h 2"/>
                  <a:gd name="T8" fmla="*/ 15875 w 4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2"/>
                  <a:gd name="T17" fmla="*/ 4 w 4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2">
                    <a:moveTo>
                      <a:pt x="4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" y="2"/>
                      <a:pt x="4" y="2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40" name="Freeform 317"/>
              <p:cNvSpPr>
                <a:spLocks/>
              </p:cNvSpPr>
              <p:nvPr/>
            </p:nvSpPr>
            <p:spPr bwMode="auto">
              <a:xfrm>
                <a:off x="6688904" y="3936269"/>
                <a:ext cx="17145" cy="13716"/>
              </a:xfrm>
              <a:custGeom>
                <a:avLst/>
                <a:gdLst>
                  <a:gd name="T0" fmla="*/ 15875 w 4"/>
                  <a:gd name="T1" fmla="*/ 0 h 3"/>
                  <a:gd name="T2" fmla="*/ 0 w 4"/>
                  <a:gd name="T3" fmla="*/ 4233 h 3"/>
                  <a:gd name="T4" fmla="*/ 0 w 4"/>
                  <a:gd name="T5" fmla="*/ 12700 h 3"/>
                  <a:gd name="T6" fmla="*/ 15875 w 4"/>
                  <a:gd name="T7" fmla="*/ 8467 h 3"/>
                  <a:gd name="T8" fmla="*/ 15875 w 4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3"/>
                  <a:gd name="T17" fmla="*/ 4 w 4"/>
                  <a:gd name="T18" fmla="*/ 3 h 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3">
                    <a:moveTo>
                      <a:pt x="4" y="0"/>
                    </a:moveTo>
                    <a:cubicBezTo>
                      <a:pt x="2" y="0"/>
                      <a:pt x="1" y="0"/>
                      <a:pt x="0" y="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2" y="2"/>
                      <a:pt x="4" y="2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41" name="Freeform 319"/>
              <p:cNvSpPr>
                <a:spLocks noEditPoints="1"/>
              </p:cNvSpPr>
              <p:nvPr/>
            </p:nvSpPr>
            <p:spPr bwMode="auto">
              <a:xfrm>
                <a:off x="4132586" y="4075144"/>
                <a:ext cx="1330452" cy="152590"/>
              </a:xfrm>
              <a:custGeom>
                <a:avLst/>
                <a:gdLst>
                  <a:gd name="T0" fmla="*/ 16591 w 297"/>
                  <a:gd name="T1" fmla="*/ 132976 h 34"/>
                  <a:gd name="T2" fmla="*/ 0 w 297"/>
                  <a:gd name="T3" fmla="*/ 132976 h 34"/>
                  <a:gd name="T4" fmla="*/ 0 w 297"/>
                  <a:gd name="T5" fmla="*/ 141287 h 34"/>
                  <a:gd name="T6" fmla="*/ 16591 w 297"/>
                  <a:gd name="T7" fmla="*/ 141287 h 34"/>
                  <a:gd name="T8" fmla="*/ 16591 w 297"/>
                  <a:gd name="T9" fmla="*/ 132976 h 34"/>
                  <a:gd name="T10" fmla="*/ 1231900 w 297"/>
                  <a:gd name="T11" fmla="*/ 0 h 34"/>
                  <a:gd name="T12" fmla="*/ 1215309 w 297"/>
                  <a:gd name="T13" fmla="*/ 4156 h 34"/>
                  <a:gd name="T14" fmla="*/ 1215309 w 297"/>
                  <a:gd name="T15" fmla="*/ 12466 h 34"/>
                  <a:gd name="T16" fmla="*/ 1231900 w 297"/>
                  <a:gd name="T17" fmla="*/ 8311 h 34"/>
                  <a:gd name="T18" fmla="*/ 1231900 w 297"/>
                  <a:gd name="T19" fmla="*/ 0 h 3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7"/>
                  <a:gd name="T31" fmla="*/ 0 h 34"/>
                  <a:gd name="T32" fmla="*/ 297 w 297"/>
                  <a:gd name="T33" fmla="*/ 34 h 3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7" h="34">
                    <a:moveTo>
                      <a:pt x="4" y="32"/>
                    </a:moveTo>
                    <a:cubicBezTo>
                      <a:pt x="3" y="32"/>
                      <a:pt x="2" y="32"/>
                      <a:pt x="0" y="32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2" y="34"/>
                      <a:pt x="3" y="34"/>
                      <a:pt x="4" y="34"/>
                    </a:cubicBezTo>
                    <a:cubicBezTo>
                      <a:pt x="4" y="32"/>
                      <a:pt x="4" y="32"/>
                      <a:pt x="4" y="32"/>
                    </a:cubicBezTo>
                    <a:moveTo>
                      <a:pt x="297" y="0"/>
                    </a:moveTo>
                    <a:cubicBezTo>
                      <a:pt x="296" y="0"/>
                      <a:pt x="294" y="1"/>
                      <a:pt x="293" y="1"/>
                    </a:cubicBezTo>
                    <a:cubicBezTo>
                      <a:pt x="293" y="3"/>
                      <a:pt x="293" y="3"/>
                      <a:pt x="293" y="3"/>
                    </a:cubicBezTo>
                    <a:cubicBezTo>
                      <a:pt x="294" y="3"/>
                      <a:pt x="296" y="2"/>
                      <a:pt x="297" y="2"/>
                    </a:cubicBezTo>
                    <a:cubicBezTo>
                      <a:pt x="297" y="0"/>
                      <a:pt x="297" y="0"/>
                      <a:pt x="297" y="0"/>
                    </a:cubicBezTo>
                  </a:path>
                </a:pathLst>
              </a:cu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46" name="Rectangle 325"/>
              <p:cNvSpPr>
                <a:spLocks noChangeArrowheads="1"/>
              </p:cNvSpPr>
              <p:nvPr/>
            </p:nvSpPr>
            <p:spPr bwMode="auto">
              <a:xfrm>
                <a:off x="3568010" y="2982256"/>
                <a:ext cx="91600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k</a:t>
                </a:r>
                <a:endParaRPr lang="en-US" altLang="en-US" sz="1600" dirty="0"/>
              </a:p>
            </p:txBody>
          </p:sp>
          <p:sp>
            <p:nvSpPr>
              <p:cNvPr id="28947" name="Rectangle 326"/>
              <p:cNvSpPr>
                <a:spLocks noChangeArrowheads="1"/>
              </p:cNvSpPr>
              <p:nvPr/>
            </p:nvSpPr>
            <p:spPr bwMode="auto">
              <a:xfrm>
                <a:off x="3579735" y="3184027"/>
                <a:ext cx="101620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p</a:t>
                </a:r>
                <a:endParaRPr lang="en-US" altLang="en-US" sz="1600" dirty="0"/>
              </a:p>
            </p:txBody>
          </p:sp>
          <p:sp>
            <p:nvSpPr>
              <p:cNvPr id="28948" name="Rectangle 327"/>
              <p:cNvSpPr>
                <a:spLocks noChangeArrowheads="1"/>
              </p:cNvSpPr>
              <p:nvPr/>
            </p:nvSpPr>
            <p:spPr bwMode="auto">
              <a:xfrm>
                <a:off x="3569365" y="3337908"/>
                <a:ext cx="91600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s</a:t>
                </a:r>
                <a:endParaRPr lang="en-US" altLang="en-US" sz="1600" dirty="0"/>
              </a:p>
            </p:txBody>
          </p:sp>
          <p:sp>
            <p:nvSpPr>
              <p:cNvPr id="28949" name="Rectangle 328"/>
              <p:cNvSpPr>
                <a:spLocks noChangeArrowheads="1"/>
              </p:cNvSpPr>
              <p:nvPr/>
            </p:nvSpPr>
            <p:spPr bwMode="auto">
              <a:xfrm>
                <a:off x="3673100" y="561416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  <a:endParaRPr lang="en-US" altLang="en-US" sz="1600" dirty="0"/>
              </a:p>
            </p:txBody>
          </p:sp>
          <p:sp>
            <p:nvSpPr>
              <p:cNvPr id="28950" name="Rectangle 329"/>
              <p:cNvSpPr>
                <a:spLocks noChangeArrowheads="1"/>
              </p:cNvSpPr>
              <p:nvPr/>
            </p:nvSpPr>
            <p:spPr bwMode="auto">
              <a:xfrm>
                <a:off x="5291588" y="4152296"/>
                <a:ext cx="6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 dirty="0"/>
              </a:p>
            </p:txBody>
          </p:sp>
          <p:sp>
            <p:nvSpPr>
              <p:cNvPr id="28957" name="Rectangle 336"/>
              <p:cNvSpPr>
                <a:spLocks noChangeArrowheads="1"/>
              </p:cNvSpPr>
              <p:nvPr/>
            </p:nvSpPr>
            <p:spPr bwMode="auto">
              <a:xfrm>
                <a:off x="8505597" y="5081806"/>
                <a:ext cx="12503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F</a:t>
                </a:r>
                <a:endParaRPr lang="en-US" altLang="en-US" sz="1600" dirty="0"/>
              </a:p>
            </p:txBody>
          </p:sp>
          <p:sp>
            <p:nvSpPr>
              <p:cNvPr id="28966" name="Rectangle 345"/>
              <p:cNvSpPr>
                <a:spLocks noChangeArrowheads="1"/>
              </p:cNvSpPr>
              <p:nvPr/>
            </p:nvSpPr>
            <p:spPr bwMode="auto">
              <a:xfrm>
                <a:off x="6911789" y="2841561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i="1" dirty="0">
                    <a:solidFill>
                      <a:srgbClr val="000000"/>
                    </a:solidFill>
                    <a:latin typeface="Helvetica" pitchFamily="34" charset="0"/>
                  </a:rPr>
                  <a:t>x</a:t>
                </a:r>
                <a:endParaRPr lang="en-US" altLang="en-US" sz="1600" dirty="0"/>
              </a:p>
            </p:txBody>
          </p:sp>
          <p:sp>
            <p:nvSpPr>
              <p:cNvPr id="28967" name="Rectangle 346"/>
              <p:cNvSpPr>
                <a:spLocks noChangeArrowheads="1"/>
              </p:cNvSpPr>
              <p:nvPr/>
            </p:nvSpPr>
            <p:spPr bwMode="auto">
              <a:xfrm>
                <a:off x="6911629" y="3066781"/>
                <a:ext cx="5770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i="1" dirty="0">
                    <a:solidFill>
                      <a:srgbClr val="000000"/>
                    </a:solidFill>
                    <a:latin typeface="Helvetica" pitchFamily="34" charset="0"/>
                  </a:rPr>
                  <a:t>t</a:t>
                </a:r>
                <a:endParaRPr lang="en-US" altLang="en-US" sz="1600" dirty="0"/>
              </a:p>
            </p:txBody>
          </p:sp>
          <p:sp>
            <p:nvSpPr>
              <p:cNvPr id="28968" name="Rectangle 347"/>
              <p:cNvSpPr>
                <a:spLocks noChangeArrowheads="1"/>
              </p:cNvSpPr>
              <p:nvPr/>
            </p:nvSpPr>
            <p:spPr bwMode="auto">
              <a:xfrm>
                <a:off x="6975226" y="3221323"/>
                <a:ext cx="13716" cy="137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70" name="Rectangle 349"/>
              <p:cNvSpPr>
                <a:spLocks noChangeArrowheads="1"/>
              </p:cNvSpPr>
              <p:nvPr/>
            </p:nvSpPr>
            <p:spPr bwMode="auto">
              <a:xfrm>
                <a:off x="6908470" y="3439731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i="1" dirty="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  <a:endParaRPr lang="en-US" altLang="en-US" sz="1600" dirty="0"/>
              </a:p>
            </p:txBody>
          </p:sp>
          <p:sp>
            <p:nvSpPr>
              <p:cNvPr id="28971" name="Rectangle 350"/>
              <p:cNvSpPr>
                <a:spLocks noChangeArrowheads="1"/>
              </p:cNvSpPr>
              <p:nvPr/>
            </p:nvSpPr>
            <p:spPr bwMode="auto">
              <a:xfrm>
                <a:off x="6975226" y="3301904"/>
                <a:ext cx="1714" cy="17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8973" name="Rectangle 352"/>
              <p:cNvSpPr>
                <a:spLocks noChangeArrowheads="1"/>
              </p:cNvSpPr>
              <p:nvPr/>
            </p:nvSpPr>
            <p:spPr bwMode="auto">
              <a:xfrm>
                <a:off x="6975226" y="3373913"/>
                <a:ext cx="8572" cy="3086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396" name="Rectangle 328"/>
              <p:cNvSpPr>
                <a:spLocks noChangeArrowheads="1"/>
              </p:cNvSpPr>
              <p:nvPr/>
            </p:nvSpPr>
            <p:spPr bwMode="auto">
              <a:xfrm>
                <a:off x="3684725" y="5440344"/>
                <a:ext cx="5770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t</a:t>
                </a:r>
                <a:endParaRPr lang="en-US" altLang="en-US" sz="1600" dirty="0"/>
              </a:p>
            </p:txBody>
          </p:sp>
          <p:sp>
            <p:nvSpPr>
              <p:cNvPr id="397" name="Rectangle 351"/>
              <p:cNvSpPr>
                <a:spLocks noChangeArrowheads="1"/>
              </p:cNvSpPr>
              <p:nvPr/>
            </p:nvSpPr>
            <p:spPr bwMode="auto">
              <a:xfrm>
                <a:off x="5120518" y="5152225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x</a:t>
                </a:r>
              </a:p>
            </p:txBody>
          </p:sp>
          <p:sp>
            <p:nvSpPr>
              <p:cNvPr id="398" name="Rectangle 351"/>
              <p:cNvSpPr>
                <a:spLocks noChangeArrowheads="1"/>
              </p:cNvSpPr>
              <p:nvPr/>
            </p:nvSpPr>
            <p:spPr bwMode="auto">
              <a:xfrm>
                <a:off x="4981567" y="4134945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h</a:t>
                </a:r>
              </a:p>
            </p:txBody>
          </p:sp>
          <p:sp>
            <p:nvSpPr>
              <p:cNvPr id="404" name="Freeform 92"/>
              <p:cNvSpPr>
                <a:spLocks/>
              </p:cNvSpPr>
              <p:nvPr/>
            </p:nvSpPr>
            <p:spPr bwMode="auto">
              <a:xfrm>
                <a:off x="4572000" y="4848522"/>
                <a:ext cx="130754" cy="64527"/>
              </a:xfrm>
              <a:custGeom>
                <a:avLst/>
                <a:gdLst>
                  <a:gd name="T0" fmla="*/ 122238 w 77"/>
                  <a:gd name="T1" fmla="*/ 30163 h 38"/>
                  <a:gd name="T2" fmla="*/ 0 w 77"/>
                  <a:gd name="T3" fmla="*/ 0 h 38"/>
                  <a:gd name="T4" fmla="*/ 0 w 77"/>
                  <a:gd name="T5" fmla="*/ 60325 h 38"/>
                  <a:gd name="T6" fmla="*/ 122238 w 77"/>
                  <a:gd name="T7" fmla="*/ 30163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7"/>
                  <a:gd name="T13" fmla="*/ 0 h 38"/>
                  <a:gd name="T14" fmla="*/ 77 w 7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7" h="38">
                    <a:moveTo>
                      <a:pt x="77" y="19"/>
                    </a:moveTo>
                    <a:lnTo>
                      <a:pt x="0" y="0"/>
                    </a:lnTo>
                    <a:lnTo>
                      <a:pt x="0" y="38"/>
                    </a:lnTo>
                    <a:lnTo>
                      <a:pt x="77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cxnSp>
            <p:nvCxnSpPr>
              <p:cNvPr id="407" name="Straight Connector 406"/>
              <p:cNvCxnSpPr/>
              <p:nvPr/>
            </p:nvCxnSpPr>
            <p:spPr>
              <a:xfrm>
                <a:off x="4701079" y="4627990"/>
                <a:ext cx="0" cy="12857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/>
              <p:cNvGrpSpPr/>
              <p:nvPr/>
            </p:nvGrpSpPr>
            <p:grpSpPr>
              <a:xfrm>
                <a:off x="4355098" y="4121097"/>
                <a:ext cx="561906" cy="895302"/>
                <a:chOff x="4355098" y="4121097"/>
                <a:chExt cx="561906" cy="895302"/>
              </a:xfrm>
            </p:grpSpPr>
            <p:cxnSp>
              <p:nvCxnSpPr>
                <p:cNvPr id="12" name="Straight Connector 11"/>
                <p:cNvCxnSpPr/>
                <p:nvPr/>
              </p:nvCxnSpPr>
              <p:spPr>
                <a:xfrm>
                  <a:off x="4909289" y="4121097"/>
                  <a:ext cx="0" cy="648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820" name="Freeform 175"/>
                <p:cNvSpPr>
                  <a:spLocks/>
                </p:cNvSpPr>
                <p:nvPr/>
              </p:nvSpPr>
              <p:spPr bwMode="auto">
                <a:xfrm>
                  <a:off x="4572840" y="4514056"/>
                  <a:ext cx="94297" cy="99441"/>
                </a:xfrm>
                <a:custGeom>
                  <a:avLst/>
                  <a:gdLst>
                    <a:gd name="T0" fmla="*/ 0 w 55"/>
                    <a:gd name="T1" fmla="*/ 92075 h 58"/>
                    <a:gd name="T2" fmla="*/ 87312 w 55"/>
                    <a:gd name="T3" fmla="*/ 46038 h 58"/>
                    <a:gd name="T4" fmla="*/ 0 w 55"/>
                    <a:gd name="T5" fmla="*/ 0 h 58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58"/>
                    <a:gd name="T11" fmla="*/ 55 w 55"/>
                    <a:gd name="T12" fmla="*/ 58 h 5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58">
                      <a:moveTo>
                        <a:pt x="0" y="58"/>
                      </a:moveTo>
                      <a:lnTo>
                        <a:pt x="55" y="2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7938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8822" name="Rectangle 177"/>
                <p:cNvSpPr>
                  <a:spLocks noChangeArrowheads="1"/>
                </p:cNvSpPr>
                <p:nvPr/>
              </p:nvSpPr>
              <p:spPr bwMode="auto">
                <a:xfrm>
                  <a:off x="4569411" y="4344320"/>
                  <a:ext cx="281178" cy="281178"/>
                </a:xfrm>
                <a:prstGeom prst="rect">
                  <a:avLst/>
                </a:prstGeom>
                <a:noFill/>
                <a:ln w="11113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8827" name="Rectangle 182"/>
                <p:cNvSpPr>
                  <a:spLocks noChangeArrowheads="1"/>
                </p:cNvSpPr>
                <p:nvPr/>
              </p:nvSpPr>
              <p:spPr bwMode="auto">
                <a:xfrm>
                  <a:off x="4355098" y="4733506"/>
                  <a:ext cx="133731" cy="282893"/>
                </a:xfrm>
                <a:prstGeom prst="rect">
                  <a:avLst/>
                </a:prstGeom>
                <a:noFill/>
                <a:ln w="11113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0" name="Oval 9"/>
                <p:cNvSpPr/>
                <p:nvPr/>
              </p:nvSpPr>
              <p:spPr>
                <a:xfrm>
                  <a:off x="4871285" y="4210017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600"/>
                </a:p>
              </p:txBody>
            </p:sp>
            <p:sp>
              <p:nvSpPr>
                <p:cNvPr id="405" name="Line 93"/>
                <p:cNvSpPr>
                  <a:spLocks noChangeShapeType="1"/>
                </p:cNvSpPr>
                <p:nvPr/>
              </p:nvSpPr>
              <p:spPr bwMode="auto">
                <a:xfrm>
                  <a:off x="4476408" y="4871886"/>
                  <a:ext cx="180000" cy="0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406" name="Freeform 95"/>
                <p:cNvSpPr>
                  <a:spLocks/>
                </p:cNvSpPr>
                <p:nvPr/>
              </p:nvSpPr>
              <p:spPr bwMode="auto">
                <a:xfrm>
                  <a:off x="4701079" y="4242061"/>
                  <a:ext cx="189377" cy="101443"/>
                </a:xfrm>
                <a:custGeom>
                  <a:avLst/>
                  <a:gdLst>
                    <a:gd name="T0" fmla="*/ 0 w 134"/>
                    <a:gd name="T1" fmla="*/ 127000 h 80"/>
                    <a:gd name="T2" fmla="*/ 0 w 134"/>
                    <a:gd name="T3" fmla="*/ 0 h 80"/>
                    <a:gd name="T4" fmla="*/ 212725 w 134"/>
                    <a:gd name="T5" fmla="*/ 0 h 80"/>
                    <a:gd name="T6" fmla="*/ 0 60000 65536"/>
                    <a:gd name="T7" fmla="*/ 0 60000 65536"/>
                    <a:gd name="T8" fmla="*/ 0 60000 65536"/>
                    <a:gd name="T9" fmla="*/ 0 w 134"/>
                    <a:gd name="T10" fmla="*/ 0 h 80"/>
                    <a:gd name="T11" fmla="*/ 134 w 134"/>
                    <a:gd name="T12" fmla="*/ 80 h 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4" h="80">
                      <a:moveTo>
                        <a:pt x="0" y="80"/>
                      </a:moveTo>
                      <a:lnTo>
                        <a:pt x="0" y="0"/>
                      </a:lnTo>
                      <a:lnTo>
                        <a:pt x="134" y="0"/>
                      </a:lnTo>
                    </a:path>
                  </a:pathLst>
                </a:custGeom>
                <a:noFill/>
                <a:ln w="20638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</p:grpSp>
          <p:grpSp>
            <p:nvGrpSpPr>
              <p:cNvPr id="410" name="Group 409"/>
              <p:cNvGrpSpPr/>
              <p:nvPr/>
            </p:nvGrpSpPr>
            <p:grpSpPr>
              <a:xfrm>
                <a:off x="7161248" y="4108467"/>
                <a:ext cx="630937" cy="919506"/>
                <a:chOff x="4355098" y="4121097"/>
                <a:chExt cx="630937" cy="919506"/>
              </a:xfrm>
            </p:grpSpPr>
            <p:cxnSp>
              <p:nvCxnSpPr>
                <p:cNvPr id="411" name="Straight Connector 410"/>
                <p:cNvCxnSpPr/>
                <p:nvPr/>
              </p:nvCxnSpPr>
              <p:spPr>
                <a:xfrm>
                  <a:off x="4909289" y="4121097"/>
                  <a:ext cx="0" cy="648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2" name="Freeform 175"/>
                <p:cNvSpPr>
                  <a:spLocks/>
                </p:cNvSpPr>
                <p:nvPr/>
              </p:nvSpPr>
              <p:spPr bwMode="auto">
                <a:xfrm>
                  <a:off x="4572840" y="4514056"/>
                  <a:ext cx="94297" cy="99441"/>
                </a:xfrm>
                <a:custGeom>
                  <a:avLst/>
                  <a:gdLst>
                    <a:gd name="T0" fmla="*/ 0 w 55"/>
                    <a:gd name="T1" fmla="*/ 92075 h 58"/>
                    <a:gd name="T2" fmla="*/ 87312 w 55"/>
                    <a:gd name="T3" fmla="*/ 46038 h 58"/>
                    <a:gd name="T4" fmla="*/ 0 w 55"/>
                    <a:gd name="T5" fmla="*/ 0 h 58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58"/>
                    <a:gd name="T11" fmla="*/ 55 w 55"/>
                    <a:gd name="T12" fmla="*/ 58 h 5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58">
                      <a:moveTo>
                        <a:pt x="0" y="58"/>
                      </a:moveTo>
                      <a:lnTo>
                        <a:pt x="55" y="2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7938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413" name="Rectangle 177"/>
                <p:cNvSpPr>
                  <a:spLocks noChangeArrowheads="1"/>
                </p:cNvSpPr>
                <p:nvPr/>
              </p:nvSpPr>
              <p:spPr bwMode="auto">
                <a:xfrm>
                  <a:off x="4569411" y="4344320"/>
                  <a:ext cx="281178" cy="281178"/>
                </a:xfrm>
                <a:prstGeom prst="rect">
                  <a:avLst/>
                </a:prstGeom>
                <a:noFill/>
                <a:ln w="11113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414" name="Rectangle 178"/>
                <p:cNvSpPr>
                  <a:spLocks noChangeArrowheads="1"/>
                </p:cNvSpPr>
                <p:nvPr/>
              </p:nvSpPr>
              <p:spPr bwMode="auto">
                <a:xfrm>
                  <a:off x="4658334" y="4733766"/>
                  <a:ext cx="327701" cy="282893"/>
                </a:xfrm>
                <a:prstGeom prst="rect">
                  <a:avLst/>
                </a:prstGeom>
                <a:noFill/>
                <a:ln w="11113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415" name="Rectangle 182"/>
                <p:cNvSpPr>
                  <a:spLocks noChangeArrowheads="1"/>
                </p:cNvSpPr>
                <p:nvPr/>
              </p:nvSpPr>
              <p:spPr bwMode="auto">
                <a:xfrm>
                  <a:off x="4355098" y="4733506"/>
                  <a:ext cx="133731" cy="282893"/>
                </a:xfrm>
                <a:prstGeom prst="rect">
                  <a:avLst/>
                </a:prstGeom>
                <a:noFill/>
                <a:ln w="11113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416" name="Rectangle 183"/>
                <p:cNvSpPr>
                  <a:spLocks noChangeArrowheads="1"/>
                </p:cNvSpPr>
                <p:nvPr/>
              </p:nvSpPr>
              <p:spPr bwMode="auto">
                <a:xfrm>
                  <a:off x="4860493" y="4701549"/>
                  <a:ext cx="66281" cy="1923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r>
                    <a:rPr lang="en-US" altLang="en-US" sz="1400" dirty="0">
                      <a:solidFill>
                        <a:srgbClr val="000000"/>
                      </a:solidFill>
                      <a:latin typeface="Helvetica" pitchFamily="34" charset="0"/>
                    </a:rPr>
                    <a:t>1</a:t>
                  </a:r>
                  <a:endParaRPr lang="en-US" altLang="en-US" sz="1400" dirty="0"/>
                </a:p>
              </p:txBody>
            </p:sp>
            <p:sp>
              <p:nvSpPr>
                <p:cNvPr id="417" name="Rectangle 184"/>
                <p:cNvSpPr>
                  <a:spLocks noChangeArrowheads="1"/>
                </p:cNvSpPr>
                <p:nvPr/>
              </p:nvSpPr>
              <p:spPr bwMode="auto">
                <a:xfrm>
                  <a:off x="4715523" y="4711644"/>
                  <a:ext cx="77248" cy="1923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r>
                    <a:rPr lang="en-US" altLang="en-US" sz="1400" dirty="0">
                      <a:solidFill>
                        <a:srgbClr val="000000"/>
                      </a:solidFill>
                      <a:latin typeface="Helvetica" pitchFamily="34" charset="0"/>
                    </a:rPr>
                    <a:t>0</a:t>
                  </a:r>
                  <a:endParaRPr lang="en-US" altLang="en-US" sz="1400" dirty="0"/>
                </a:p>
              </p:txBody>
            </p:sp>
            <p:sp>
              <p:nvSpPr>
                <p:cNvPr id="418" name="Oval 417"/>
                <p:cNvSpPr/>
                <p:nvPr/>
              </p:nvSpPr>
              <p:spPr>
                <a:xfrm>
                  <a:off x="4871285" y="4210017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600"/>
                </a:p>
              </p:txBody>
            </p:sp>
            <p:sp>
              <p:nvSpPr>
                <p:cNvPr id="419" name="Line 93"/>
                <p:cNvSpPr>
                  <a:spLocks noChangeShapeType="1"/>
                </p:cNvSpPr>
                <p:nvPr/>
              </p:nvSpPr>
              <p:spPr bwMode="auto">
                <a:xfrm>
                  <a:off x="4476408" y="4871886"/>
                  <a:ext cx="180000" cy="0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420" name="Freeform 95"/>
                <p:cNvSpPr>
                  <a:spLocks/>
                </p:cNvSpPr>
                <p:nvPr/>
              </p:nvSpPr>
              <p:spPr bwMode="auto">
                <a:xfrm>
                  <a:off x="4701079" y="4242061"/>
                  <a:ext cx="189377" cy="101443"/>
                </a:xfrm>
                <a:custGeom>
                  <a:avLst/>
                  <a:gdLst>
                    <a:gd name="T0" fmla="*/ 0 w 134"/>
                    <a:gd name="T1" fmla="*/ 127000 h 80"/>
                    <a:gd name="T2" fmla="*/ 0 w 134"/>
                    <a:gd name="T3" fmla="*/ 0 h 80"/>
                    <a:gd name="T4" fmla="*/ 212725 w 134"/>
                    <a:gd name="T5" fmla="*/ 0 h 80"/>
                    <a:gd name="T6" fmla="*/ 0 60000 65536"/>
                    <a:gd name="T7" fmla="*/ 0 60000 65536"/>
                    <a:gd name="T8" fmla="*/ 0 60000 65536"/>
                    <a:gd name="T9" fmla="*/ 0 w 134"/>
                    <a:gd name="T10" fmla="*/ 0 h 80"/>
                    <a:gd name="T11" fmla="*/ 134 w 134"/>
                    <a:gd name="T12" fmla="*/ 80 h 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4" h="80">
                      <a:moveTo>
                        <a:pt x="0" y="80"/>
                      </a:moveTo>
                      <a:lnTo>
                        <a:pt x="0" y="0"/>
                      </a:lnTo>
                      <a:lnTo>
                        <a:pt x="134" y="0"/>
                      </a:lnTo>
                    </a:path>
                  </a:pathLst>
                </a:custGeom>
                <a:noFill/>
                <a:ln w="20638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421" name="Rectangle 290"/>
                <p:cNvSpPr>
                  <a:spLocks noChangeArrowheads="1"/>
                </p:cNvSpPr>
                <p:nvPr/>
              </p:nvSpPr>
              <p:spPr bwMode="auto">
                <a:xfrm>
                  <a:off x="4747003" y="4875723"/>
                  <a:ext cx="220412" cy="1648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r>
                    <a:rPr lang="en-US" altLang="en-US" sz="1200" dirty="0">
                      <a:solidFill>
                        <a:srgbClr val="000000"/>
                      </a:solidFill>
                      <a:latin typeface="Helvetica" pitchFamily="34" charset="0"/>
                    </a:rPr>
                    <a:t>2x1</a:t>
                  </a:r>
                  <a:endParaRPr lang="en-US" altLang="en-US" sz="1200" dirty="0"/>
                </a:p>
              </p:txBody>
            </p:sp>
          </p:grpSp>
          <p:cxnSp>
            <p:nvCxnSpPr>
              <p:cNvPr id="422" name="Straight Connector 421"/>
              <p:cNvCxnSpPr/>
              <p:nvPr/>
            </p:nvCxnSpPr>
            <p:spPr>
              <a:xfrm>
                <a:off x="7537235" y="4609317"/>
                <a:ext cx="0" cy="10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>
            <a:xfrm>
              <a:off x="4509573" y="4769463"/>
              <a:ext cx="367025" cy="379741"/>
              <a:chOff x="5333495" y="4342794"/>
              <a:chExt cx="367025" cy="379741"/>
            </a:xfrm>
          </p:grpSpPr>
          <p:sp>
            <p:nvSpPr>
              <p:cNvPr id="425" name="Rectangle 178"/>
              <p:cNvSpPr>
                <a:spLocks noChangeArrowheads="1"/>
              </p:cNvSpPr>
              <p:nvPr/>
            </p:nvSpPr>
            <p:spPr bwMode="auto">
              <a:xfrm>
                <a:off x="5333495" y="4378877"/>
                <a:ext cx="367025" cy="316840"/>
              </a:xfrm>
              <a:prstGeom prst="rect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426" name="Rectangle 183"/>
              <p:cNvSpPr>
                <a:spLocks noChangeArrowheads="1"/>
              </p:cNvSpPr>
              <p:nvPr/>
            </p:nvSpPr>
            <p:spPr bwMode="auto">
              <a:xfrm>
                <a:off x="5559913" y="4342794"/>
                <a:ext cx="74235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 dirty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400" dirty="0"/>
              </a:p>
            </p:txBody>
          </p:sp>
          <p:sp>
            <p:nvSpPr>
              <p:cNvPr id="427" name="Rectangle 184"/>
              <p:cNvSpPr>
                <a:spLocks noChangeArrowheads="1"/>
              </p:cNvSpPr>
              <p:nvPr/>
            </p:nvSpPr>
            <p:spPr bwMode="auto">
              <a:xfrm>
                <a:off x="5397547" y="4354101"/>
                <a:ext cx="8651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 dirty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400" dirty="0"/>
              </a:p>
            </p:txBody>
          </p:sp>
          <p:sp>
            <p:nvSpPr>
              <p:cNvPr id="428" name="Rectangle 290"/>
              <p:cNvSpPr>
                <a:spLocks noChangeArrowheads="1"/>
              </p:cNvSpPr>
              <p:nvPr/>
            </p:nvSpPr>
            <p:spPr bwMode="auto">
              <a:xfrm>
                <a:off x="5432804" y="4537869"/>
                <a:ext cx="246861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200" dirty="0">
                    <a:solidFill>
                      <a:srgbClr val="000000"/>
                    </a:solidFill>
                    <a:latin typeface="Helvetica" pitchFamily="34" charset="0"/>
                  </a:rPr>
                  <a:t>2x1</a:t>
                </a:r>
                <a:endParaRPr lang="en-US" altLang="en-US" sz="1200" dirty="0"/>
              </a:p>
            </p:txBody>
          </p:sp>
        </p:grpSp>
        <p:sp>
          <p:nvSpPr>
            <p:cNvPr id="666" name="Line 187"/>
            <p:cNvSpPr>
              <a:spLocks noChangeShapeType="1"/>
            </p:cNvSpPr>
            <p:nvPr/>
          </p:nvSpPr>
          <p:spPr bwMode="auto">
            <a:xfrm>
              <a:off x="3719103" y="3308684"/>
              <a:ext cx="3960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3.3. Example 3: Solution</a:t>
            </a:r>
          </a:p>
        </p:txBody>
      </p:sp>
      <p:sp>
        <p:nvSpPr>
          <p:cNvPr id="38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25</a:t>
            </a:fld>
            <a:endParaRPr lang="de-DE" dirty="0"/>
          </a:p>
        </p:txBody>
      </p:sp>
      <p:sp>
        <p:nvSpPr>
          <p:cNvPr id="438" name="Rectangle 419"/>
          <p:cNvSpPr>
            <a:spLocks noChangeArrowheads="1"/>
          </p:cNvSpPr>
          <p:nvPr/>
        </p:nvSpPr>
        <p:spPr bwMode="auto">
          <a:xfrm>
            <a:off x="4862473" y="2288077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439" name="Rectangle 419"/>
          <p:cNvSpPr>
            <a:spLocks noChangeArrowheads="1"/>
          </p:cNvSpPr>
          <p:nvPr/>
        </p:nvSpPr>
        <p:spPr bwMode="auto">
          <a:xfrm>
            <a:off x="4869810" y="2518879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440" name="Rectangle 419"/>
          <p:cNvSpPr>
            <a:spLocks noChangeArrowheads="1"/>
          </p:cNvSpPr>
          <p:nvPr/>
        </p:nvSpPr>
        <p:spPr bwMode="auto">
          <a:xfrm>
            <a:off x="4881228" y="2733200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441" name="Rectangle 419"/>
          <p:cNvSpPr>
            <a:spLocks noChangeArrowheads="1"/>
          </p:cNvSpPr>
          <p:nvPr/>
        </p:nvSpPr>
        <p:spPr bwMode="auto">
          <a:xfrm>
            <a:off x="4881227" y="2954183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442" name="Rectangle 419"/>
          <p:cNvSpPr>
            <a:spLocks noChangeArrowheads="1"/>
          </p:cNvSpPr>
          <p:nvPr/>
        </p:nvSpPr>
        <p:spPr bwMode="auto">
          <a:xfrm>
            <a:off x="4891607" y="3166948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443" name="Rectangle 419"/>
          <p:cNvSpPr>
            <a:spLocks noChangeArrowheads="1"/>
          </p:cNvSpPr>
          <p:nvPr/>
        </p:nvSpPr>
        <p:spPr bwMode="auto">
          <a:xfrm>
            <a:off x="4874811" y="3622270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444" name="Rectangle 419"/>
          <p:cNvSpPr>
            <a:spLocks noChangeArrowheads="1"/>
          </p:cNvSpPr>
          <p:nvPr/>
        </p:nvSpPr>
        <p:spPr bwMode="auto">
          <a:xfrm>
            <a:off x="4883530" y="3366148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657" name="Rectangle 419"/>
          <p:cNvSpPr>
            <a:spLocks noChangeArrowheads="1"/>
          </p:cNvSpPr>
          <p:nvPr/>
        </p:nvSpPr>
        <p:spPr bwMode="auto">
          <a:xfrm flipH="1">
            <a:off x="7853269" y="2261851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658" name="Rectangle 419"/>
          <p:cNvSpPr>
            <a:spLocks noChangeArrowheads="1"/>
          </p:cNvSpPr>
          <p:nvPr/>
        </p:nvSpPr>
        <p:spPr bwMode="auto">
          <a:xfrm flipH="1">
            <a:off x="7860606" y="2492653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659" name="Rectangle 419"/>
          <p:cNvSpPr>
            <a:spLocks noChangeArrowheads="1"/>
          </p:cNvSpPr>
          <p:nvPr/>
        </p:nvSpPr>
        <p:spPr bwMode="auto">
          <a:xfrm flipH="1">
            <a:off x="7872024" y="2706974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660" name="Rectangle 419"/>
          <p:cNvSpPr>
            <a:spLocks noChangeArrowheads="1"/>
          </p:cNvSpPr>
          <p:nvPr/>
        </p:nvSpPr>
        <p:spPr bwMode="auto">
          <a:xfrm flipH="1">
            <a:off x="7872023" y="2927957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661" name="Rectangle 419"/>
          <p:cNvSpPr>
            <a:spLocks noChangeArrowheads="1"/>
          </p:cNvSpPr>
          <p:nvPr/>
        </p:nvSpPr>
        <p:spPr bwMode="auto">
          <a:xfrm flipH="1">
            <a:off x="7882403" y="3140722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662" name="Rectangle 419"/>
          <p:cNvSpPr>
            <a:spLocks noChangeArrowheads="1"/>
          </p:cNvSpPr>
          <p:nvPr/>
        </p:nvSpPr>
        <p:spPr bwMode="auto">
          <a:xfrm flipH="1">
            <a:off x="7865607" y="3596044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663" name="Rectangle 419"/>
          <p:cNvSpPr>
            <a:spLocks noChangeArrowheads="1"/>
          </p:cNvSpPr>
          <p:nvPr/>
        </p:nvSpPr>
        <p:spPr bwMode="auto">
          <a:xfrm flipH="1">
            <a:off x="7873364" y="3350048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664" name="Rectangle 419"/>
          <p:cNvSpPr>
            <a:spLocks noChangeArrowheads="1"/>
          </p:cNvSpPr>
          <p:nvPr/>
        </p:nvSpPr>
        <p:spPr bwMode="auto">
          <a:xfrm flipH="1">
            <a:off x="7865343" y="2033429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grpSp>
        <p:nvGrpSpPr>
          <p:cNvPr id="17" name="Group 16"/>
          <p:cNvGrpSpPr>
            <a:grpSpLocks noChangeAspect="1"/>
          </p:cNvGrpSpPr>
          <p:nvPr/>
        </p:nvGrpSpPr>
        <p:grpSpPr>
          <a:xfrm>
            <a:off x="3030" y="3660877"/>
            <a:ext cx="3277848" cy="1595711"/>
            <a:chOff x="662862" y="3444317"/>
            <a:chExt cx="4278586" cy="2082884"/>
          </a:xfrm>
        </p:grpSpPr>
        <p:grpSp>
          <p:nvGrpSpPr>
            <p:cNvPr id="667" name="Group 666"/>
            <p:cNvGrpSpPr>
              <a:grpSpLocks noChangeAspect="1"/>
            </p:cNvGrpSpPr>
            <p:nvPr/>
          </p:nvGrpSpPr>
          <p:grpSpPr>
            <a:xfrm>
              <a:off x="662862" y="3444317"/>
              <a:ext cx="4278586" cy="2082884"/>
              <a:chOff x="666273" y="3598621"/>
              <a:chExt cx="3185988" cy="1550987"/>
            </a:xfrm>
          </p:grpSpPr>
          <p:sp>
            <p:nvSpPr>
              <p:cNvPr id="668" name="Rectangle 336"/>
              <p:cNvSpPr>
                <a:spLocks noChangeArrowheads="1"/>
              </p:cNvSpPr>
              <p:nvPr/>
            </p:nvSpPr>
            <p:spPr bwMode="auto">
              <a:xfrm>
                <a:off x="1136173" y="3598621"/>
                <a:ext cx="2323089" cy="1550987"/>
              </a:xfrm>
              <a:prstGeom prst="rect">
                <a:avLst/>
              </a:pr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69" name="Freeform 340"/>
              <p:cNvSpPr>
                <a:spLocks/>
              </p:cNvSpPr>
              <p:nvPr/>
            </p:nvSpPr>
            <p:spPr bwMode="auto">
              <a:xfrm>
                <a:off x="863123" y="3908183"/>
                <a:ext cx="812800" cy="188913"/>
              </a:xfrm>
              <a:custGeom>
                <a:avLst/>
                <a:gdLst>
                  <a:gd name="T0" fmla="*/ 812800 w 512"/>
                  <a:gd name="T1" fmla="*/ 188913 h 119"/>
                  <a:gd name="T2" fmla="*/ 427037 w 512"/>
                  <a:gd name="T3" fmla="*/ 188913 h 119"/>
                  <a:gd name="T4" fmla="*/ 427037 w 512"/>
                  <a:gd name="T5" fmla="*/ 0 h 119"/>
                  <a:gd name="T6" fmla="*/ 0 w 512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"/>
                  <a:gd name="T13" fmla="*/ 0 h 119"/>
                  <a:gd name="T14" fmla="*/ 512 w 512"/>
                  <a:gd name="T15" fmla="*/ 119 h 1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" h="119">
                    <a:moveTo>
                      <a:pt x="512" y="119"/>
                    </a:moveTo>
                    <a:lnTo>
                      <a:pt x="269" y="119"/>
                    </a:lnTo>
                    <a:lnTo>
                      <a:pt x="269" y="0"/>
                    </a:lnTo>
                    <a:lnTo>
                      <a:pt x="0" y="0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70" name="Line 341"/>
              <p:cNvSpPr>
                <a:spLocks noChangeShapeType="1"/>
              </p:cNvSpPr>
              <p:nvPr/>
            </p:nvSpPr>
            <p:spPr bwMode="auto">
              <a:xfrm>
                <a:off x="863123" y="4190758"/>
                <a:ext cx="812800" cy="1588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71" name="Freeform 342"/>
              <p:cNvSpPr>
                <a:spLocks/>
              </p:cNvSpPr>
              <p:nvPr/>
            </p:nvSpPr>
            <p:spPr bwMode="auto">
              <a:xfrm>
                <a:off x="1539398" y="4284421"/>
                <a:ext cx="136525" cy="193675"/>
              </a:xfrm>
              <a:custGeom>
                <a:avLst/>
                <a:gdLst>
                  <a:gd name="T0" fmla="*/ 0 w 86"/>
                  <a:gd name="T1" fmla="*/ 193675 h 122"/>
                  <a:gd name="T2" fmla="*/ 65088 w 86"/>
                  <a:gd name="T3" fmla="*/ 193675 h 122"/>
                  <a:gd name="T4" fmla="*/ 65088 w 86"/>
                  <a:gd name="T5" fmla="*/ 0 h 122"/>
                  <a:gd name="T6" fmla="*/ 136525 w 86"/>
                  <a:gd name="T7" fmla="*/ 0 h 1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122"/>
                  <a:gd name="T14" fmla="*/ 86 w 86"/>
                  <a:gd name="T15" fmla="*/ 122 h 1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122">
                    <a:moveTo>
                      <a:pt x="0" y="122"/>
                    </a:moveTo>
                    <a:lnTo>
                      <a:pt x="41" y="122"/>
                    </a:lnTo>
                    <a:lnTo>
                      <a:pt x="41" y="0"/>
                    </a:lnTo>
                    <a:lnTo>
                      <a:pt x="86" y="0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72" name="Line 343"/>
              <p:cNvSpPr>
                <a:spLocks noChangeShapeType="1"/>
              </p:cNvSpPr>
              <p:nvPr/>
            </p:nvSpPr>
            <p:spPr bwMode="auto">
              <a:xfrm>
                <a:off x="863123" y="4478096"/>
                <a:ext cx="361950" cy="1587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73" name="Freeform 345"/>
              <p:cNvSpPr>
                <a:spLocks/>
              </p:cNvSpPr>
              <p:nvPr/>
            </p:nvSpPr>
            <p:spPr bwMode="auto">
              <a:xfrm>
                <a:off x="980598" y="3866908"/>
                <a:ext cx="150813" cy="74613"/>
              </a:xfrm>
              <a:custGeom>
                <a:avLst/>
                <a:gdLst>
                  <a:gd name="T0" fmla="*/ 150813 w 95"/>
                  <a:gd name="T1" fmla="*/ 36513 h 47"/>
                  <a:gd name="T2" fmla="*/ 0 w 95"/>
                  <a:gd name="T3" fmla="*/ 0 h 47"/>
                  <a:gd name="T4" fmla="*/ 0 w 95"/>
                  <a:gd name="T5" fmla="*/ 74613 h 47"/>
                  <a:gd name="T6" fmla="*/ 150813 w 95"/>
                  <a:gd name="T7" fmla="*/ 365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74" name="Freeform 346"/>
              <p:cNvSpPr>
                <a:spLocks/>
              </p:cNvSpPr>
              <p:nvPr/>
            </p:nvSpPr>
            <p:spPr bwMode="auto">
              <a:xfrm>
                <a:off x="980598" y="4152658"/>
                <a:ext cx="150813" cy="76200"/>
              </a:xfrm>
              <a:custGeom>
                <a:avLst/>
                <a:gdLst>
                  <a:gd name="T0" fmla="*/ 150813 w 95"/>
                  <a:gd name="T1" fmla="*/ 38100 h 48"/>
                  <a:gd name="T2" fmla="*/ 0 w 95"/>
                  <a:gd name="T3" fmla="*/ 0 h 48"/>
                  <a:gd name="T4" fmla="*/ 0 w 95"/>
                  <a:gd name="T5" fmla="*/ 76200 h 48"/>
                  <a:gd name="T6" fmla="*/ 150813 w 95"/>
                  <a:gd name="T7" fmla="*/ 3810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8"/>
                  <a:gd name="T14" fmla="*/ 95 w 95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8">
                    <a:moveTo>
                      <a:pt x="95" y="24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75" name="Freeform 347"/>
              <p:cNvSpPr>
                <a:spLocks/>
              </p:cNvSpPr>
              <p:nvPr/>
            </p:nvSpPr>
            <p:spPr bwMode="auto">
              <a:xfrm>
                <a:off x="980598" y="4439996"/>
                <a:ext cx="150813" cy="74612"/>
              </a:xfrm>
              <a:custGeom>
                <a:avLst/>
                <a:gdLst>
                  <a:gd name="T0" fmla="*/ 150813 w 95"/>
                  <a:gd name="T1" fmla="*/ 38100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8100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4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76" name="Freeform 348"/>
              <p:cNvSpPr>
                <a:spLocks/>
              </p:cNvSpPr>
              <p:nvPr/>
            </p:nvSpPr>
            <p:spPr bwMode="auto">
              <a:xfrm>
                <a:off x="980598" y="4713046"/>
                <a:ext cx="150813" cy="74612"/>
              </a:xfrm>
              <a:custGeom>
                <a:avLst/>
                <a:gdLst>
                  <a:gd name="T0" fmla="*/ 150813 w 95"/>
                  <a:gd name="T1" fmla="*/ 36512 h 47"/>
                  <a:gd name="T2" fmla="*/ 0 w 95"/>
                  <a:gd name="T3" fmla="*/ 0 h 47"/>
                  <a:gd name="T4" fmla="*/ 0 w 95"/>
                  <a:gd name="T5" fmla="*/ 74612 h 47"/>
                  <a:gd name="T6" fmla="*/ 150813 w 95"/>
                  <a:gd name="T7" fmla="*/ 365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7"/>
                  <a:gd name="T14" fmla="*/ 95 w 95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7">
                    <a:moveTo>
                      <a:pt x="95" y="23"/>
                    </a:moveTo>
                    <a:lnTo>
                      <a:pt x="0" y="0"/>
                    </a:lnTo>
                    <a:lnTo>
                      <a:pt x="0" y="47"/>
                    </a:lnTo>
                    <a:lnTo>
                      <a:pt x="9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77" name="Freeform 349"/>
              <p:cNvSpPr>
                <a:spLocks/>
              </p:cNvSpPr>
              <p:nvPr/>
            </p:nvSpPr>
            <p:spPr bwMode="auto">
              <a:xfrm>
                <a:off x="980598" y="4989271"/>
                <a:ext cx="150813" cy="76200"/>
              </a:xfrm>
              <a:custGeom>
                <a:avLst/>
                <a:gdLst>
                  <a:gd name="T0" fmla="*/ 150813 w 95"/>
                  <a:gd name="T1" fmla="*/ 38100 h 48"/>
                  <a:gd name="T2" fmla="*/ 0 w 95"/>
                  <a:gd name="T3" fmla="*/ 0 h 48"/>
                  <a:gd name="T4" fmla="*/ 0 w 95"/>
                  <a:gd name="T5" fmla="*/ 76200 h 48"/>
                  <a:gd name="T6" fmla="*/ 150813 w 95"/>
                  <a:gd name="T7" fmla="*/ 3810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48"/>
                  <a:gd name="T14" fmla="*/ 95 w 95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48">
                    <a:moveTo>
                      <a:pt x="95" y="24"/>
                    </a:moveTo>
                    <a:lnTo>
                      <a:pt x="0" y="0"/>
                    </a:lnTo>
                    <a:lnTo>
                      <a:pt x="0" y="48"/>
                    </a:lnTo>
                    <a:lnTo>
                      <a:pt x="95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78" name="Rectangle 350"/>
              <p:cNvSpPr>
                <a:spLocks noChangeArrowheads="1"/>
              </p:cNvSpPr>
              <p:nvPr/>
            </p:nvSpPr>
            <p:spPr bwMode="auto">
              <a:xfrm>
                <a:off x="851925" y="3677830"/>
                <a:ext cx="99717" cy="239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k</a:t>
                </a:r>
                <a:endParaRPr lang="en-US" altLang="en-US" sz="1600" dirty="0"/>
              </a:p>
            </p:txBody>
          </p:sp>
          <p:sp>
            <p:nvSpPr>
              <p:cNvPr id="679" name="Rectangle 351"/>
              <p:cNvSpPr>
                <a:spLocks noChangeArrowheads="1"/>
              </p:cNvSpPr>
              <p:nvPr/>
            </p:nvSpPr>
            <p:spPr bwMode="auto">
              <a:xfrm>
                <a:off x="848734" y="3918101"/>
                <a:ext cx="110624" cy="239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p</a:t>
                </a:r>
              </a:p>
            </p:txBody>
          </p:sp>
          <p:sp>
            <p:nvSpPr>
              <p:cNvPr id="680" name="Rectangle 352"/>
              <p:cNvSpPr>
                <a:spLocks noChangeArrowheads="1"/>
              </p:cNvSpPr>
              <p:nvPr/>
            </p:nvSpPr>
            <p:spPr bwMode="auto">
              <a:xfrm>
                <a:off x="870322" y="4242652"/>
                <a:ext cx="99717" cy="239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s</a:t>
                </a:r>
              </a:p>
            </p:txBody>
          </p:sp>
          <p:sp>
            <p:nvSpPr>
              <p:cNvPr id="681" name="Rectangle 354"/>
              <p:cNvSpPr>
                <a:spLocks noChangeArrowheads="1"/>
              </p:cNvSpPr>
              <p:nvPr/>
            </p:nvSpPr>
            <p:spPr bwMode="auto">
              <a:xfrm>
                <a:off x="860187" y="4813931"/>
                <a:ext cx="110624" cy="239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</a:p>
            </p:txBody>
          </p:sp>
          <p:sp>
            <p:nvSpPr>
              <p:cNvPr id="682" name="Rectangle 355"/>
              <p:cNvSpPr>
                <a:spLocks noChangeArrowheads="1"/>
              </p:cNvSpPr>
              <p:nvPr/>
            </p:nvSpPr>
            <p:spPr bwMode="auto">
              <a:xfrm>
                <a:off x="3690564" y="4174802"/>
                <a:ext cx="121530" cy="239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F</a:t>
                </a:r>
                <a:endParaRPr lang="en-US" altLang="en-US" sz="1600" dirty="0"/>
              </a:p>
            </p:txBody>
          </p:sp>
          <p:sp>
            <p:nvSpPr>
              <p:cNvPr id="683" name="Rectangle 356"/>
              <p:cNvSpPr>
                <a:spLocks noChangeArrowheads="1"/>
              </p:cNvSpPr>
              <p:nvPr/>
            </p:nvSpPr>
            <p:spPr bwMode="auto">
              <a:xfrm>
                <a:off x="1850520" y="3635133"/>
                <a:ext cx="812134" cy="239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 err="1">
                    <a:solidFill>
                      <a:srgbClr val="000000"/>
                    </a:solidFill>
                    <a:latin typeface="Helvetica" pitchFamily="34" charset="0"/>
                  </a:rPr>
                  <a:t>BeltWarn</a:t>
                </a:r>
                <a:endParaRPr lang="en-US" altLang="en-US" sz="1600" dirty="0"/>
              </a:p>
            </p:txBody>
          </p:sp>
          <p:sp>
            <p:nvSpPr>
              <p:cNvPr id="684" name="Freeform 357"/>
              <p:cNvSpPr>
                <a:spLocks/>
              </p:cNvSpPr>
              <p:nvPr/>
            </p:nvSpPr>
            <p:spPr bwMode="auto">
              <a:xfrm>
                <a:off x="1675923" y="4003433"/>
                <a:ext cx="388938" cy="374650"/>
              </a:xfrm>
              <a:custGeom>
                <a:avLst/>
                <a:gdLst>
                  <a:gd name="T0" fmla="*/ 0 w 83"/>
                  <a:gd name="T1" fmla="*/ 374650 h 80"/>
                  <a:gd name="T2" fmla="*/ 201498 w 83"/>
                  <a:gd name="T3" fmla="*/ 374650 h 80"/>
                  <a:gd name="T4" fmla="*/ 388938 w 83"/>
                  <a:gd name="T5" fmla="*/ 187325 h 80"/>
                  <a:gd name="T6" fmla="*/ 201498 w 83"/>
                  <a:gd name="T7" fmla="*/ 0 h 80"/>
                  <a:gd name="T8" fmla="*/ 0 w 83"/>
                  <a:gd name="T9" fmla="*/ 0 h 80"/>
                  <a:gd name="T10" fmla="*/ 0 w 83"/>
                  <a:gd name="T11" fmla="*/ 374650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3"/>
                  <a:gd name="T19" fmla="*/ 0 h 80"/>
                  <a:gd name="T20" fmla="*/ 83 w 83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3" h="80">
                    <a:moveTo>
                      <a:pt x="0" y="80"/>
                    </a:moveTo>
                    <a:cubicBezTo>
                      <a:pt x="43" y="80"/>
                      <a:pt x="43" y="80"/>
                      <a:pt x="43" y="80"/>
                    </a:cubicBezTo>
                    <a:cubicBezTo>
                      <a:pt x="65" y="80"/>
                      <a:pt x="83" y="62"/>
                      <a:pt x="83" y="40"/>
                    </a:cubicBezTo>
                    <a:cubicBezTo>
                      <a:pt x="83" y="18"/>
                      <a:pt x="65" y="0"/>
                      <a:pt x="4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85" name="Freeform 358"/>
              <p:cNvSpPr>
                <a:spLocks/>
              </p:cNvSpPr>
              <p:nvPr/>
            </p:nvSpPr>
            <p:spPr bwMode="auto">
              <a:xfrm>
                <a:off x="1229836" y="4332046"/>
                <a:ext cx="230187" cy="290512"/>
              </a:xfrm>
              <a:custGeom>
                <a:avLst/>
                <a:gdLst>
                  <a:gd name="T0" fmla="*/ 0 w 145"/>
                  <a:gd name="T1" fmla="*/ 290512 h 183"/>
                  <a:gd name="T2" fmla="*/ 230187 w 145"/>
                  <a:gd name="T3" fmla="*/ 146050 h 183"/>
                  <a:gd name="T4" fmla="*/ 0 w 145"/>
                  <a:gd name="T5" fmla="*/ 0 h 183"/>
                  <a:gd name="T6" fmla="*/ 0 w 145"/>
                  <a:gd name="T7" fmla="*/ 290512 h 18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5"/>
                  <a:gd name="T13" fmla="*/ 0 h 183"/>
                  <a:gd name="T14" fmla="*/ 145 w 145"/>
                  <a:gd name="T15" fmla="*/ 183 h 18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5" h="183">
                    <a:moveTo>
                      <a:pt x="0" y="183"/>
                    </a:moveTo>
                    <a:lnTo>
                      <a:pt x="145" y="92"/>
                    </a:lnTo>
                    <a:lnTo>
                      <a:pt x="0" y="0"/>
                    </a:lnTo>
                    <a:lnTo>
                      <a:pt x="0" y="183"/>
                    </a:lnTo>
                    <a:close/>
                  </a:path>
                </a:pathLst>
              </a:custGeom>
              <a:solidFill>
                <a:srgbClr val="FFFFFF"/>
              </a:solidFill>
              <a:ln w="793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86" name="Oval 359"/>
              <p:cNvSpPr>
                <a:spLocks noChangeArrowheads="1"/>
              </p:cNvSpPr>
              <p:nvPr/>
            </p:nvSpPr>
            <p:spPr bwMode="auto">
              <a:xfrm>
                <a:off x="1464786" y="4439996"/>
                <a:ext cx="69850" cy="69850"/>
              </a:xfrm>
              <a:prstGeom prst="ellipse">
                <a:avLst/>
              </a:prstGeom>
              <a:solidFill>
                <a:srgbClr val="FFFFFF"/>
              </a:solidFill>
              <a:ln w="7938">
                <a:solidFill>
                  <a:srgbClr val="0078C1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87" name="Freeform 363"/>
              <p:cNvSpPr>
                <a:spLocks noChangeAspect="1"/>
              </p:cNvSpPr>
              <p:nvPr/>
            </p:nvSpPr>
            <p:spPr bwMode="auto">
              <a:xfrm>
                <a:off x="2969339" y="4154251"/>
                <a:ext cx="400053" cy="395049"/>
              </a:xfrm>
              <a:custGeom>
                <a:avLst/>
                <a:gdLst>
                  <a:gd name="T0" fmla="*/ 381000 w 81"/>
                  <a:gd name="T1" fmla="*/ 188119 h 80"/>
                  <a:gd name="T2" fmla="*/ 0 w 81"/>
                  <a:gd name="T3" fmla="*/ 376238 h 80"/>
                  <a:gd name="T4" fmla="*/ 56444 w 81"/>
                  <a:gd name="T5" fmla="*/ 192822 h 80"/>
                  <a:gd name="T6" fmla="*/ 56444 w 81"/>
                  <a:gd name="T7" fmla="*/ 188119 h 80"/>
                  <a:gd name="T8" fmla="*/ 0 w 81"/>
                  <a:gd name="T9" fmla="*/ 0 h 80"/>
                  <a:gd name="T10" fmla="*/ 381000 w 81"/>
                  <a:gd name="T11" fmla="*/ 188119 h 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1"/>
                  <a:gd name="T19" fmla="*/ 0 h 80"/>
                  <a:gd name="T20" fmla="*/ 81 w 81"/>
                  <a:gd name="T21" fmla="*/ 80 h 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1" h="80">
                    <a:moveTo>
                      <a:pt x="81" y="40"/>
                    </a:moveTo>
                    <a:cubicBezTo>
                      <a:pt x="81" y="40"/>
                      <a:pt x="62" y="80"/>
                      <a:pt x="0" y="80"/>
                    </a:cubicBezTo>
                    <a:cubicBezTo>
                      <a:pt x="0" y="80"/>
                      <a:pt x="12" y="76"/>
                      <a:pt x="12" y="41"/>
                    </a:cubicBezTo>
                    <a:cubicBezTo>
                      <a:pt x="12" y="40"/>
                      <a:pt x="12" y="40"/>
                      <a:pt x="12" y="40"/>
                    </a:cubicBezTo>
                    <a:cubicBezTo>
                      <a:pt x="12" y="4"/>
                      <a:pt x="0" y="0"/>
                      <a:pt x="0" y="0"/>
                    </a:cubicBezTo>
                    <a:cubicBezTo>
                      <a:pt x="62" y="0"/>
                      <a:pt x="81" y="40"/>
                      <a:pt x="81" y="40"/>
                    </a:cubicBezTo>
                    <a:close/>
                  </a:path>
                </a:pathLst>
              </a:custGeom>
              <a:noFill/>
              <a:ln w="12700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88" name="Line 364"/>
              <p:cNvSpPr>
                <a:spLocks noChangeShapeType="1"/>
              </p:cNvSpPr>
              <p:nvPr/>
            </p:nvSpPr>
            <p:spPr bwMode="auto">
              <a:xfrm>
                <a:off x="2069622" y="4185996"/>
                <a:ext cx="268069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89" name="Freeform 365"/>
              <p:cNvSpPr>
                <a:spLocks/>
              </p:cNvSpPr>
              <p:nvPr/>
            </p:nvSpPr>
            <p:spPr bwMode="auto">
              <a:xfrm>
                <a:off x="877411" y="4473334"/>
                <a:ext cx="2142859" cy="558798"/>
              </a:xfrm>
              <a:custGeom>
                <a:avLst/>
                <a:gdLst>
                  <a:gd name="T0" fmla="*/ 1385887 w 873"/>
                  <a:gd name="T1" fmla="*/ 0 h 415"/>
                  <a:gd name="T2" fmla="*/ 1282700 w 873"/>
                  <a:gd name="T3" fmla="*/ 0 h 415"/>
                  <a:gd name="T4" fmla="*/ 1282700 w 873"/>
                  <a:gd name="T5" fmla="*/ 658812 h 415"/>
                  <a:gd name="T6" fmla="*/ 0 w 873"/>
                  <a:gd name="T7" fmla="*/ 658812 h 41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73"/>
                  <a:gd name="T13" fmla="*/ 0 h 415"/>
                  <a:gd name="T14" fmla="*/ 873 w 873"/>
                  <a:gd name="T15" fmla="*/ 415 h 41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73" h="415">
                    <a:moveTo>
                      <a:pt x="873" y="0"/>
                    </a:moveTo>
                    <a:lnTo>
                      <a:pt x="808" y="0"/>
                    </a:lnTo>
                    <a:lnTo>
                      <a:pt x="808" y="415"/>
                    </a:lnTo>
                    <a:lnTo>
                      <a:pt x="0" y="415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90" name="Line 366"/>
              <p:cNvSpPr>
                <a:spLocks noChangeShapeType="1"/>
              </p:cNvSpPr>
              <p:nvPr/>
            </p:nvSpPr>
            <p:spPr bwMode="auto">
              <a:xfrm>
                <a:off x="3369737" y="4365030"/>
                <a:ext cx="482524" cy="0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91" name="Freeform 375"/>
              <p:cNvSpPr>
                <a:spLocks/>
              </p:cNvSpPr>
              <p:nvPr/>
            </p:nvSpPr>
            <p:spPr bwMode="auto">
              <a:xfrm>
                <a:off x="872647" y="4378083"/>
                <a:ext cx="2147622" cy="371474"/>
              </a:xfrm>
              <a:custGeom>
                <a:avLst/>
                <a:gdLst>
                  <a:gd name="T0" fmla="*/ 1390650 w 876"/>
                  <a:gd name="T1" fmla="*/ 0 h 296"/>
                  <a:gd name="T2" fmla="*/ 1211263 w 876"/>
                  <a:gd name="T3" fmla="*/ 0 h 296"/>
                  <a:gd name="T4" fmla="*/ 1211263 w 876"/>
                  <a:gd name="T5" fmla="*/ 469900 h 296"/>
                  <a:gd name="T6" fmla="*/ 0 w 876"/>
                  <a:gd name="T7" fmla="*/ 469900 h 29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76"/>
                  <a:gd name="T13" fmla="*/ 0 h 296"/>
                  <a:gd name="T14" fmla="*/ 876 w 876"/>
                  <a:gd name="T15" fmla="*/ 296 h 29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76" h="296">
                    <a:moveTo>
                      <a:pt x="876" y="0"/>
                    </a:moveTo>
                    <a:lnTo>
                      <a:pt x="763" y="0"/>
                    </a:lnTo>
                    <a:lnTo>
                      <a:pt x="763" y="296"/>
                    </a:lnTo>
                    <a:lnTo>
                      <a:pt x="0" y="296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692" name="Line 486"/>
              <p:cNvSpPr>
                <a:spLocks noChangeShapeType="1"/>
              </p:cNvSpPr>
              <p:nvPr/>
            </p:nvSpPr>
            <p:spPr bwMode="auto">
              <a:xfrm>
                <a:off x="666273" y="3598621"/>
                <a:ext cx="1588" cy="1587"/>
              </a:xfrm>
              <a:prstGeom prst="line">
                <a:avLst/>
              </a:prstGeom>
              <a:noFill/>
              <a:ln w="3175">
                <a:solidFill>
                  <a:srgbClr val="0078C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693" name="Rectangle 352"/>
            <p:cNvSpPr>
              <a:spLocks noChangeArrowheads="1"/>
            </p:cNvSpPr>
            <p:nvPr/>
          </p:nvSpPr>
          <p:spPr bwMode="auto">
            <a:xfrm>
              <a:off x="940663" y="4669927"/>
              <a:ext cx="75326" cy="321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t</a:t>
              </a:r>
            </a:p>
          </p:txBody>
        </p:sp>
        <p:sp>
          <p:nvSpPr>
            <p:cNvPr id="694" name="Freeform 432"/>
            <p:cNvSpPr>
              <a:spLocks/>
            </p:cNvSpPr>
            <p:nvPr/>
          </p:nvSpPr>
          <p:spPr bwMode="auto">
            <a:xfrm>
              <a:off x="2911645" y="4269838"/>
              <a:ext cx="119063" cy="125016"/>
            </a:xfrm>
            <a:custGeom>
              <a:avLst/>
              <a:gdLst>
                <a:gd name="T0" fmla="*/ 0 w 60"/>
                <a:gd name="T1" fmla="*/ 63 h 63"/>
                <a:gd name="T2" fmla="*/ 60 w 60"/>
                <a:gd name="T3" fmla="*/ 31 h 63"/>
                <a:gd name="T4" fmla="*/ 0 w 60"/>
                <a:gd name="T5" fmla="*/ 0 h 63"/>
                <a:gd name="T6" fmla="*/ 0 60000 65536"/>
                <a:gd name="T7" fmla="*/ 0 60000 65536"/>
                <a:gd name="T8" fmla="*/ 0 60000 65536"/>
                <a:gd name="T9" fmla="*/ 0 w 60"/>
                <a:gd name="T10" fmla="*/ 0 h 63"/>
                <a:gd name="T11" fmla="*/ 60 w 60"/>
                <a:gd name="T12" fmla="*/ 63 h 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63">
                  <a:moveTo>
                    <a:pt x="0" y="63"/>
                  </a:moveTo>
                  <a:lnTo>
                    <a:pt x="60" y="3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5" name="Rectangle 433"/>
            <p:cNvSpPr>
              <a:spLocks noChangeArrowheads="1"/>
            </p:cNvSpPr>
            <p:nvPr/>
          </p:nvSpPr>
          <p:spPr bwMode="auto">
            <a:xfrm>
              <a:off x="2905690" y="4053540"/>
              <a:ext cx="392668" cy="407700"/>
            </a:xfrm>
            <a:prstGeom prst="rect">
              <a:avLst/>
            </a:prstGeom>
            <a:noFill/>
            <a:ln w="19050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96" name="Line 364"/>
            <p:cNvSpPr>
              <a:spLocks noChangeShapeType="1"/>
            </p:cNvSpPr>
            <p:nvPr/>
          </p:nvSpPr>
          <p:spPr bwMode="auto">
            <a:xfrm>
              <a:off x="3264864" y="4320962"/>
              <a:ext cx="540000" cy="0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7" name="Rectangle 351"/>
            <p:cNvSpPr>
              <a:spLocks noChangeArrowheads="1"/>
            </p:cNvSpPr>
            <p:nvPr/>
          </p:nvSpPr>
          <p:spPr bwMode="auto">
            <a:xfrm>
              <a:off x="3376143" y="4028309"/>
              <a:ext cx="133914" cy="321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</a:p>
          </p:txBody>
        </p:sp>
        <p:sp>
          <p:nvSpPr>
            <p:cNvPr id="698" name="Rectangle 351"/>
            <p:cNvSpPr>
              <a:spLocks noChangeArrowheads="1"/>
            </p:cNvSpPr>
            <p:nvPr/>
          </p:nvSpPr>
          <p:spPr bwMode="auto">
            <a:xfrm>
              <a:off x="2664639" y="3939135"/>
              <a:ext cx="148562" cy="321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00000"/>
                  </a:solidFill>
                  <a:latin typeface="Helvetica" pitchFamily="34" charset="0"/>
                </a:rPr>
                <a:t>h</a:t>
              </a:r>
            </a:p>
          </p:txBody>
        </p:sp>
      </p:grpSp>
      <p:sp>
        <p:nvSpPr>
          <p:cNvPr id="700" name="Oval 497"/>
          <p:cNvSpPr>
            <a:spLocks noChangeArrowheads="1"/>
          </p:cNvSpPr>
          <p:nvPr/>
        </p:nvSpPr>
        <p:spPr bwMode="auto">
          <a:xfrm rot="19855884">
            <a:off x="483758" y="3829902"/>
            <a:ext cx="1230162" cy="1036391"/>
          </a:xfrm>
          <a:prstGeom prst="ellipse">
            <a:avLst/>
          </a:prstGeom>
          <a:noFill/>
          <a:ln w="158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02" name="Oval 498"/>
          <p:cNvSpPr>
            <a:spLocks noChangeArrowheads="1"/>
          </p:cNvSpPr>
          <p:nvPr/>
        </p:nvSpPr>
        <p:spPr bwMode="auto">
          <a:xfrm>
            <a:off x="2258046" y="4068132"/>
            <a:ext cx="692429" cy="710967"/>
          </a:xfrm>
          <a:prstGeom prst="ellipse">
            <a:avLst/>
          </a:prstGeom>
          <a:noFill/>
          <a:ln w="15875">
            <a:solidFill>
              <a:srgbClr val="7030A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03" name="Rectangle 419"/>
          <p:cNvSpPr>
            <a:spLocks noChangeArrowheads="1"/>
          </p:cNvSpPr>
          <p:nvPr/>
        </p:nvSpPr>
        <p:spPr bwMode="auto">
          <a:xfrm>
            <a:off x="4861743" y="2020172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704" name="Line 187"/>
          <p:cNvSpPr>
            <a:spLocks noChangeShapeType="1"/>
          </p:cNvSpPr>
          <p:nvPr/>
        </p:nvSpPr>
        <p:spPr bwMode="auto">
          <a:xfrm>
            <a:off x="3719103" y="3140722"/>
            <a:ext cx="396000" cy="0"/>
          </a:xfrm>
          <a:prstGeom prst="line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705" name="Line 187"/>
          <p:cNvSpPr>
            <a:spLocks noChangeShapeType="1"/>
          </p:cNvSpPr>
          <p:nvPr/>
        </p:nvSpPr>
        <p:spPr bwMode="auto">
          <a:xfrm>
            <a:off x="3690150" y="2977624"/>
            <a:ext cx="396000" cy="0"/>
          </a:xfrm>
          <a:prstGeom prst="line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706" name="Rectangle 168"/>
          <p:cNvSpPr>
            <a:spLocks noChangeArrowheads="1"/>
          </p:cNvSpPr>
          <p:nvPr/>
        </p:nvSpPr>
        <p:spPr bwMode="auto">
          <a:xfrm>
            <a:off x="4186502" y="4824094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707" name="Rectangle 168"/>
          <p:cNvSpPr>
            <a:spLocks noChangeArrowheads="1"/>
          </p:cNvSpPr>
          <p:nvPr/>
        </p:nvSpPr>
        <p:spPr bwMode="auto">
          <a:xfrm>
            <a:off x="7327014" y="4808027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7030A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7030A0"/>
              </a:solidFill>
            </a:endParaRPr>
          </a:p>
        </p:txBody>
      </p:sp>
      <p:sp>
        <p:nvSpPr>
          <p:cNvPr id="708" name="Freeform 331"/>
          <p:cNvSpPr>
            <a:spLocks/>
          </p:cNvSpPr>
          <p:nvPr/>
        </p:nvSpPr>
        <p:spPr bwMode="auto">
          <a:xfrm>
            <a:off x="4439544" y="4043209"/>
            <a:ext cx="245791" cy="1382573"/>
          </a:xfrm>
          <a:custGeom>
            <a:avLst/>
            <a:gdLst>
              <a:gd name="T0" fmla="*/ 203200 w 49"/>
              <a:gd name="T1" fmla="*/ 0 h 276"/>
              <a:gd name="T2" fmla="*/ 103673 w 49"/>
              <a:gd name="T3" fmla="*/ 82826 h 276"/>
              <a:gd name="T4" fmla="*/ 29029 w 49"/>
              <a:gd name="T5" fmla="*/ 198783 h 276"/>
              <a:gd name="T6" fmla="*/ 29029 w 49"/>
              <a:gd name="T7" fmla="*/ 496956 h 276"/>
              <a:gd name="T8" fmla="*/ 53910 w 49"/>
              <a:gd name="T9" fmla="*/ 654326 h 276"/>
              <a:gd name="T10" fmla="*/ 103673 w 49"/>
              <a:gd name="T11" fmla="*/ 803413 h 276"/>
              <a:gd name="T12" fmla="*/ 103673 w 49"/>
              <a:gd name="T13" fmla="*/ 1143000 h 2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9"/>
              <a:gd name="T22" fmla="*/ 0 h 276"/>
              <a:gd name="T23" fmla="*/ 49 w 49"/>
              <a:gd name="T24" fmla="*/ 276 h 27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9" h="276">
                <a:moveTo>
                  <a:pt x="49" y="0"/>
                </a:moveTo>
                <a:cubicBezTo>
                  <a:pt x="42" y="12"/>
                  <a:pt x="36" y="13"/>
                  <a:pt x="25" y="20"/>
                </a:cubicBezTo>
                <a:cubicBezTo>
                  <a:pt x="11" y="29"/>
                  <a:pt x="12" y="32"/>
                  <a:pt x="7" y="48"/>
                </a:cubicBezTo>
                <a:cubicBezTo>
                  <a:pt x="0" y="74"/>
                  <a:pt x="3" y="94"/>
                  <a:pt x="7" y="120"/>
                </a:cubicBezTo>
                <a:cubicBezTo>
                  <a:pt x="9" y="133"/>
                  <a:pt x="10" y="145"/>
                  <a:pt x="13" y="158"/>
                </a:cubicBezTo>
                <a:cubicBezTo>
                  <a:pt x="16" y="170"/>
                  <a:pt x="22" y="181"/>
                  <a:pt x="25" y="194"/>
                </a:cubicBezTo>
                <a:cubicBezTo>
                  <a:pt x="30" y="219"/>
                  <a:pt x="25" y="251"/>
                  <a:pt x="25" y="276"/>
                </a:cubicBezTo>
              </a:path>
            </a:pathLst>
          </a:cu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600"/>
          </a:p>
        </p:txBody>
      </p:sp>
      <p:sp>
        <p:nvSpPr>
          <p:cNvPr id="709" name="Freeform 333"/>
          <p:cNvSpPr>
            <a:spLocks/>
          </p:cNvSpPr>
          <p:nvPr/>
        </p:nvSpPr>
        <p:spPr bwMode="auto">
          <a:xfrm>
            <a:off x="8108712" y="4018393"/>
            <a:ext cx="21122" cy="1261598"/>
          </a:xfrm>
          <a:custGeom>
            <a:avLst/>
            <a:gdLst>
              <a:gd name="T0" fmla="*/ 17462 w 4"/>
              <a:gd name="T1" fmla="*/ 0 h 252"/>
              <a:gd name="T2" fmla="*/ 0 w 4"/>
              <a:gd name="T3" fmla="*/ 1042988 h 252"/>
              <a:gd name="T4" fmla="*/ 0 60000 65536"/>
              <a:gd name="T5" fmla="*/ 0 60000 65536"/>
              <a:gd name="T6" fmla="*/ 0 w 4"/>
              <a:gd name="T7" fmla="*/ 0 h 252"/>
              <a:gd name="T8" fmla="*/ 4 w 4"/>
              <a:gd name="T9" fmla="*/ 252 h 2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252">
                <a:moveTo>
                  <a:pt x="4" y="0"/>
                </a:moveTo>
                <a:cubicBezTo>
                  <a:pt x="4" y="85"/>
                  <a:pt x="0" y="167"/>
                  <a:pt x="0" y="252"/>
                </a:cubicBezTo>
              </a:path>
            </a:pathLst>
          </a:custGeom>
          <a:noFill/>
          <a:ln w="31750">
            <a:solidFill>
              <a:srgbClr val="66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600"/>
          </a:p>
        </p:txBody>
      </p:sp>
      <p:sp>
        <p:nvSpPr>
          <p:cNvPr id="710" name="Freeform 342"/>
          <p:cNvSpPr>
            <a:spLocks/>
          </p:cNvSpPr>
          <p:nvPr/>
        </p:nvSpPr>
        <p:spPr bwMode="auto">
          <a:xfrm flipV="1">
            <a:off x="5743328" y="5343357"/>
            <a:ext cx="853466" cy="176582"/>
          </a:xfrm>
          <a:custGeom>
            <a:avLst/>
            <a:gdLst>
              <a:gd name="T0" fmla="*/ 0 w 178"/>
              <a:gd name="T1" fmla="*/ 45671 h 13"/>
              <a:gd name="T2" fmla="*/ 364946 w 178"/>
              <a:gd name="T3" fmla="*/ 37367 h 13"/>
              <a:gd name="T4" fmla="*/ 738187 w 178"/>
              <a:gd name="T5" fmla="*/ 53975 h 13"/>
              <a:gd name="T6" fmla="*/ 0 60000 65536"/>
              <a:gd name="T7" fmla="*/ 0 60000 65536"/>
              <a:gd name="T8" fmla="*/ 0 60000 65536"/>
              <a:gd name="T9" fmla="*/ 0 w 178"/>
              <a:gd name="T10" fmla="*/ 0 h 13"/>
              <a:gd name="T11" fmla="*/ 178 w 178"/>
              <a:gd name="T12" fmla="*/ 13 h 13"/>
              <a:gd name="connsiteX0" fmla="*/ 0 w 9781"/>
              <a:gd name="connsiteY0" fmla="*/ 0 h 12624"/>
              <a:gd name="connsiteX1" fmla="*/ 4725 w 9781"/>
              <a:gd name="connsiteY1" fmla="*/ 9547 h 12624"/>
              <a:gd name="connsiteX2" fmla="*/ 9781 w 9781"/>
              <a:gd name="connsiteY2" fmla="*/ 12624 h 12624"/>
              <a:gd name="connsiteX0" fmla="*/ 0 w 10000"/>
              <a:gd name="connsiteY0" fmla="*/ 0 h 10000"/>
              <a:gd name="connsiteX1" fmla="*/ 4943 w 10000"/>
              <a:gd name="connsiteY1" fmla="*/ 7563 h 10000"/>
              <a:gd name="connsiteX2" fmla="*/ 10000 w 10000"/>
              <a:gd name="connsiteY2" fmla="*/ 10000 h 10000"/>
              <a:gd name="connsiteX0" fmla="*/ 0 w 9900"/>
              <a:gd name="connsiteY0" fmla="*/ 0 h 11717"/>
              <a:gd name="connsiteX1" fmla="*/ 4843 w 9900"/>
              <a:gd name="connsiteY1" fmla="*/ 9280 h 11717"/>
              <a:gd name="connsiteX2" fmla="*/ 9900 w 9900"/>
              <a:gd name="connsiteY2" fmla="*/ 11717 h 1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00" h="11717">
                <a:moveTo>
                  <a:pt x="0" y="0"/>
                </a:moveTo>
                <a:cubicBezTo>
                  <a:pt x="1723" y="0"/>
                  <a:pt x="3119" y="9280"/>
                  <a:pt x="4843" y="9280"/>
                </a:cubicBezTo>
                <a:cubicBezTo>
                  <a:pt x="6106" y="9280"/>
                  <a:pt x="8981" y="3796"/>
                  <a:pt x="9900" y="11717"/>
                </a:cubicBezTo>
              </a:path>
            </a:pathLst>
          </a:cu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600"/>
          </a:p>
        </p:txBody>
      </p:sp>
      <p:sp>
        <p:nvSpPr>
          <p:cNvPr id="712" name="Rectangle 308"/>
          <p:cNvSpPr>
            <a:spLocks noChangeArrowheads="1"/>
          </p:cNvSpPr>
          <p:nvPr/>
        </p:nvSpPr>
        <p:spPr bwMode="auto">
          <a:xfrm>
            <a:off x="6143982" y="5505367"/>
            <a:ext cx="21480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 b="1" dirty="0">
                <a:solidFill>
                  <a:srgbClr val="FF0000"/>
                </a:solidFill>
                <a:latin typeface="Helvetica" pitchFamily="34" charset="0"/>
              </a:rPr>
              <a:t>10</a:t>
            </a:r>
            <a:endParaRPr lang="en-US" altLang="en-US" sz="1500" b="1" dirty="0">
              <a:solidFill>
                <a:srgbClr val="FF0000"/>
              </a:solidFill>
            </a:endParaRPr>
          </a:p>
        </p:txBody>
      </p:sp>
      <p:sp>
        <p:nvSpPr>
          <p:cNvPr id="713" name="Freeform 343"/>
          <p:cNvSpPr>
            <a:spLocks/>
          </p:cNvSpPr>
          <p:nvPr/>
        </p:nvSpPr>
        <p:spPr bwMode="auto">
          <a:xfrm flipV="1">
            <a:off x="5734605" y="5642916"/>
            <a:ext cx="883311" cy="51846"/>
          </a:xfrm>
          <a:custGeom>
            <a:avLst/>
            <a:gdLst>
              <a:gd name="T0" fmla="*/ 0 w 180"/>
              <a:gd name="T1" fmla="*/ 4106 h 29"/>
              <a:gd name="T2" fmla="*/ 439385 w 180"/>
              <a:gd name="T3" fmla="*/ 28739 h 29"/>
              <a:gd name="T4" fmla="*/ 746125 w 180"/>
              <a:gd name="T5" fmla="*/ 119063 h 29"/>
              <a:gd name="T6" fmla="*/ 0 60000 65536"/>
              <a:gd name="T7" fmla="*/ 0 60000 65536"/>
              <a:gd name="T8" fmla="*/ 0 60000 65536"/>
              <a:gd name="T9" fmla="*/ 0 w 180"/>
              <a:gd name="T10" fmla="*/ 0 h 29"/>
              <a:gd name="T11" fmla="*/ 180 w 180"/>
              <a:gd name="T12" fmla="*/ 29 h 2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" h="29">
                <a:moveTo>
                  <a:pt x="0" y="1"/>
                </a:moveTo>
                <a:cubicBezTo>
                  <a:pt x="34" y="0"/>
                  <a:pt x="73" y="3"/>
                  <a:pt x="106" y="7"/>
                </a:cubicBezTo>
                <a:cubicBezTo>
                  <a:pt x="126" y="9"/>
                  <a:pt x="172" y="5"/>
                  <a:pt x="180" y="29"/>
                </a:cubicBezTo>
              </a:path>
            </a:pathLst>
          </a:cu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600"/>
          </a:p>
        </p:txBody>
      </p:sp>
      <p:sp>
        <p:nvSpPr>
          <p:cNvPr id="714" name="Freeform 344"/>
          <p:cNvSpPr>
            <a:spLocks/>
          </p:cNvSpPr>
          <p:nvPr/>
        </p:nvSpPr>
        <p:spPr bwMode="auto">
          <a:xfrm flipV="1">
            <a:off x="5757647" y="5848381"/>
            <a:ext cx="885231" cy="51205"/>
          </a:xfrm>
          <a:custGeom>
            <a:avLst/>
            <a:gdLst>
              <a:gd name="T0" fmla="*/ 0 w 199"/>
              <a:gd name="T1" fmla="*/ 0 h 27"/>
              <a:gd name="T2" fmla="*/ 509252 w 199"/>
              <a:gd name="T3" fmla="*/ 65852 h 27"/>
              <a:gd name="T4" fmla="*/ 650021 w 199"/>
              <a:gd name="T5" fmla="*/ 78199 h 27"/>
              <a:gd name="T6" fmla="*/ 823912 w 199"/>
              <a:gd name="T7" fmla="*/ 111125 h 27"/>
              <a:gd name="T8" fmla="*/ 0 60000 65536"/>
              <a:gd name="T9" fmla="*/ 0 60000 65536"/>
              <a:gd name="T10" fmla="*/ 0 60000 65536"/>
              <a:gd name="T11" fmla="*/ 0 60000 65536"/>
              <a:gd name="T12" fmla="*/ 0 w 199"/>
              <a:gd name="T13" fmla="*/ 0 h 27"/>
              <a:gd name="T14" fmla="*/ 199 w 199"/>
              <a:gd name="T15" fmla="*/ 27 h 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99" h="27">
                <a:moveTo>
                  <a:pt x="0" y="0"/>
                </a:moveTo>
                <a:cubicBezTo>
                  <a:pt x="43" y="0"/>
                  <a:pt x="83" y="9"/>
                  <a:pt x="123" y="16"/>
                </a:cubicBezTo>
                <a:cubicBezTo>
                  <a:pt x="134" y="18"/>
                  <a:pt x="146" y="16"/>
                  <a:pt x="157" y="19"/>
                </a:cubicBezTo>
                <a:cubicBezTo>
                  <a:pt x="172" y="21"/>
                  <a:pt x="184" y="27"/>
                  <a:pt x="199" y="27"/>
                </a:cubicBezTo>
              </a:path>
            </a:pathLst>
          </a:custGeom>
          <a:noFill/>
          <a:ln w="317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600"/>
          </a:p>
        </p:txBody>
      </p:sp>
      <p:grpSp>
        <p:nvGrpSpPr>
          <p:cNvPr id="716" name="Group 439"/>
          <p:cNvGrpSpPr>
            <a:grpSpLocks/>
          </p:cNvGrpSpPr>
          <p:nvPr/>
        </p:nvGrpSpPr>
        <p:grpSpPr bwMode="auto">
          <a:xfrm>
            <a:off x="1221422" y="2445717"/>
            <a:ext cx="2807299" cy="1223192"/>
            <a:chOff x="1893" y="1702"/>
            <a:chExt cx="1002" cy="598"/>
          </a:xfrm>
        </p:grpSpPr>
        <p:sp>
          <p:nvSpPr>
            <p:cNvPr id="717" name="Freeform 309"/>
            <p:cNvSpPr>
              <a:spLocks noEditPoints="1"/>
            </p:cNvSpPr>
            <p:nvPr/>
          </p:nvSpPr>
          <p:spPr bwMode="auto">
            <a:xfrm>
              <a:off x="1893" y="1702"/>
              <a:ext cx="958" cy="598"/>
            </a:xfrm>
            <a:custGeom>
              <a:avLst/>
              <a:gdLst>
                <a:gd name="T0" fmla="*/ 927 w 337"/>
                <a:gd name="T1" fmla="*/ 31 h 213"/>
                <a:gd name="T2" fmla="*/ 927 w 337"/>
                <a:gd name="T3" fmla="*/ 36 h 213"/>
                <a:gd name="T4" fmla="*/ 958 w 337"/>
                <a:gd name="T5" fmla="*/ 45 h 213"/>
                <a:gd name="T6" fmla="*/ 958 w 337"/>
                <a:gd name="T7" fmla="*/ 39 h 213"/>
                <a:gd name="T8" fmla="*/ 927 w 337"/>
                <a:gd name="T9" fmla="*/ 31 h 213"/>
                <a:gd name="T10" fmla="*/ 887 w 337"/>
                <a:gd name="T11" fmla="*/ 22 h 213"/>
                <a:gd name="T12" fmla="*/ 887 w 337"/>
                <a:gd name="T13" fmla="*/ 28 h 213"/>
                <a:gd name="T14" fmla="*/ 915 w 337"/>
                <a:gd name="T15" fmla="*/ 34 h 213"/>
                <a:gd name="T16" fmla="*/ 915 w 337"/>
                <a:gd name="T17" fmla="*/ 28 h 213"/>
                <a:gd name="T18" fmla="*/ 887 w 337"/>
                <a:gd name="T19" fmla="*/ 22 h 213"/>
                <a:gd name="T20" fmla="*/ 688 w 337"/>
                <a:gd name="T21" fmla="*/ 0 h 213"/>
                <a:gd name="T22" fmla="*/ 128 w 337"/>
                <a:gd name="T23" fmla="*/ 298 h 213"/>
                <a:gd name="T24" fmla="*/ 0 w 337"/>
                <a:gd name="T25" fmla="*/ 598 h 213"/>
                <a:gd name="T26" fmla="*/ 6 w 337"/>
                <a:gd name="T27" fmla="*/ 598 h 213"/>
                <a:gd name="T28" fmla="*/ 6 w 337"/>
                <a:gd name="T29" fmla="*/ 592 h 213"/>
                <a:gd name="T30" fmla="*/ 154 w 337"/>
                <a:gd name="T31" fmla="*/ 275 h 213"/>
                <a:gd name="T32" fmla="*/ 688 w 337"/>
                <a:gd name="T33" fmla="*/ 6 h 213"/>
                <a:gd name="T34" fmla="*/ 878 w 337"/>
                <a:gd name="T35" fmla="*/ 25 h 213"/>
                <a:gd name="T36" fmla="*/ 878 w 337"/>
                <a:gd name="T37" fmla="*/ 20 h 213"/>
                <a:gd name="T38" fmla="*/ 688 w 337"/>
                <a:gd name="T39" fmla="*/ 0 h 21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337"/>
                <a:gd name="T61" fmla="*/ 0 h 213"/>
                <a:gd name="T62" fmla="*/ 337 w 337"/>
                <a:gd name="T63" fmla="*/ 213 h 213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337" h="213">
                  <a:moveTo>
                    <a:pt x="326" y="11"/>
                  </a:moveTo>
                  <a:cubicBezTo>
                    <a:pt x="326" y="13"/>
                    <a:pt x="326" y="13"/>
                    <a:pt x="326" y="13"/>
                  </a:cubicBezTo>
                  <a:cubicBezTo>
                    <a:pt x="330" y="14"/>
                    <a:pt x="333" y="15"/>
                    <a:pt x="337" y="16"/>
                  </a:cubicBezTo>
                  <a:cubicBezTo>
                    <a:pt x="337" y="14"/>
                    <a:pt x="337" y="14"/>
                    <a:pt x="337" y="14"/>
                  </a:cubicBezTo>
                  <a:cubicBezTo>
                    <a:pt x="334" y="13"/>
                    <a:pt x="330" y="12"/>
                    <a:pt x="326" y="11"/>
                  </a:cubicBezTo>
                  <a:moveTo>
                    <a:pt x="312" y="8"/>
                  </a:moveTo>
                  <a:cubicBezTo>
                    <a:pt x="312" y="10"/>
                    <a:pt x="312" y="10"/>
                    <a:pt x="312" y="10"/>
                  </a:cubicBezTo>
                  <a:cubicBezTo>
                    <a:pt x="315" y="11"/>
                    <a:pt x="319" y="11"/>
                    <a:pt x="322" y="12"/>
                  </a:cubicBezTo>
                  <a:cubicBezTo>
                    <a:pt x="322" y="10"/>
                    <a:pt x="322" y="10"/>
                    <a:pt x="322" y="10"/>
                  </a:cubicBezTo>
                  <a:cubicBezTo>
                    <a:pt x="319" y="9"/>
                    <a:pt x="315" y="9"/>
                    <a:pt x="312" y="8"/>
                  </a:cubicBezTo>
                  <a:moveTo>
                    <a:pt x="242" y="0"/>
                  </a:moveTo>
                  <a:cubicBezTo>
                    <a:pt x="141" y="0"/>
                    <a:pt x="81" y="53"/>
                    <a:pt x="45" y="106"/>
                  </a:cubicBezTo>
                  <a:cubicBezTo>
                    <a:pt x="10" y="160"/>
                    <a:pt x="0" y="213"/>
                    <a:pt x="0" y="213"/>
                  </a:cubicBezTo>
                  <a:cubicBezTo>
                    <a:pt x="2" y="213"/>
                    <a:pt x="2" y="213"/>
                    <a:pt x="2" y="213"/>
                  </a:cubicBezTo>
                  <a:cubicBezTo>
                    <a:pt x="2" y="213"/>
                    <a:pt x="2" y="212"/>
                    <a:pt x="2" y="211"/>
                  </a:cubicBezTo>
                  <a:cubicBezTo>
                    <a:pt x="5" y="199"/>
                    <a:pt x="18" y="147"/>
                    <a:pt x="54" y="98"/>
                  </a:cubicBezTo>
                  <a:cubicBezTo>
                    <a:pt x="90" y="48"/>
                    <a:pt x="148" y="2"/>
                    <a:pt x="242" y="2"/>
                  </a:cubicBezTo>
                  <a:cubicBezTo>
                    <a:pt x="262" y="2"/>
                    <a:pt x="285" y="4"/>
                    <a:pt x="309" y="9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285" y="2"/>
                    <a:pt x="262" y="0"/>
                    <a:pt x="242" y="0"/>
                  </a:cubicBezTo>
                </a:path>
              </a:pathLst>
            </a:custGeom>
            <a:solidFill>
              <a:srgbClr val="FF0000"/>
            </a:solidFill>
            <a:ln w="9525">
              <a:solidFill>
                <a:srgbClr val="FF0000"/>
              </a:solidFill>
              <a:prstDash val="dash"/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718" name="Group 438"/>
            <p:cNvGrpSpPr>
              <a:grpSpLocks/>
            </p:cNvGrpSpPr>
            <p:nvPr/>
          </p:nvGrpSpPr>
          <p:grpSpPr bwMode="auto">
            <a:xfrm>
              <a:off x="2777" y="1720"/>
              <a:ext cx="118" cy="34"/>
              <a:chOff x="2777" y="1720"/>
              <a:chExt cx="118" cy="34"/>
            </a:xfrm>
          </p:grpSpPr>
          <p:sp>
            <p:nvSpPr>
              <p:cNvPr id="719" name="Freeform 310"/>
              <p:cNvSpPr>
                <a:spLocks/>
              </p:cNvSpPr>
              <p:nvPr/>
            </p:nvSpPr>
            <p:spPr bwMode="auto">
              <a:xfrm>
                <a:off x="2777" y="1720"/>
                <a:ext cx="8" cy="8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5 h 3"/>
                  <a:gd name="T4" fmla="*/ 8 w 3"/>
                  <a:gd name="T5" fmla="*/ 8 h 3"/>
                  <a:gd name="T6" fmla="*/ 8 w 3"/>
                  <a:gd name="T7" fmla="*/ 3 h 3"/>
                  <a:gd name="T8" fmla="*/ 0 w 3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3"/>
                  <a:gd name="T17" fmla="*/ 3 w 3"/>
                  <a:gd name="T18" fmla="*/ 3 h 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3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" y="3"/>
                      <a:pt x="3" y="3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1"/>
                      <a:pt x="1" y="0"/>
                      <a:pt x="0" y="0"/>
                    </a:cubicBezTo>
                  </a:path>
                </a:pathLst>
              </a:cu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0" name="Freeform 311"/>
              <p:cNvSpPr>
                <a:spLocks/>
              </p:cNvSpPr>
              <p:nvPr/>
            </p:nvSpPr>
            <p:spPr bwMode="auto">
              <a:xfrm>
                <a:off x="2811" y="1728"/>
                <a:ext cx="11" cy="8"/>
              </a:xfrm>
              <a:custGeom>
                <a:avLst/>
                <a:gdLst>
                  <a:gd name="T0" fmla="*/ 0 w 4"/>
                  <a:gd name="T1" fmla="*/ 0 h 3"/>
                  <a:gd name="T2" fmla="*/ 0 w 4"/>
                  <a:gd name="T3" fmla="*/ 5 h 3"/>
                  <a:gd name="T4" fmla="*/ 11 w 4"/>
                  <a:gd name="T5" fmla="*/ 8 h 3"/>
                  <a:gd name="T6" fmla="*/ 11 w 4"/>
                  <a:gd name="T7" fmla="*/ 3 h 3"/>
                  <a:gd name="T8" fmla="*/ 0 w 4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3"/>
                  <a:gd name="T17" fmla="*/ 4 w 4"/>
                  <a:gd name="T18" fmla="*/ 3 h 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3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2" y="3"/>
                      <a:pt x="3" y="3"/>
                      <a:pt x="4" y="3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2" y="0"/>
                      <a:pt x="0" y="0"/>
                    </a:cubicBezTo>
                  </a:path>
                </a:pathLst>
              </a:cu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1" name="Freeform 312"/>
              <p:cNvSpPr>
                <a:spLocks/>
              </p:cNvSpPr>
              <p:nvPr/>
            </p:nvSpPr>
            <p:spPr bwMode="auto">
              <a:xfrm>
                <a:off x="2838" y="1723"/>
                <a:ext cx="57" cy="31"/>
              </a:xfrm>
              <a:custGeom>
                <a:avLst/>
                <a:gdLst>
                  <a:gd name="T0" fmla="*/ 0 w 57"/>
                  <a:gd name="T1" fmla="*/ 29 h 31"/>
                  <a:gd name="T2" fmla="*/ 57 w 57"/>
                  <a:gd name="T3" fmla="*/ 31 h 31"/>
                  <a:gd name="T4" fmla="*/ 7 w 57"/>
                  <a:gd name="T5" fmla="*/ 0 h 31"/>
                  <a:gd name="T6" fmla="*/ 0 w 57"/>
                  <a:gd name="T7" fmla="*/ 29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7"/>
                  <a:gd name="T13" fmla="*/ 0 h 31"/>
                  <a:gd name="T14" fmla="*/ 57 w 57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7" h="31">
                    <a:moveTo>
                      <a:pt x="0" y="29"/>
                    </a:moveTo>
                    <a:lnTo>
                      <a:pt x="57" y="31"/>
                    </a:lnTo>
                    <a:lnTo>
                      <a:pt x="7" y="0"/>
                    </a:ln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</p:grpSp>
      <p:grpSp>
        <p:nvGrpSpPr>
          <p:cNvPr id="722" name="Group 440"/>
          <p:cNvGrpSpPr>
            <a:grpSpLocks/>
          </p:cNvGrpSpPr>
          <p:nvPr/>
        </p:nvGrpSpPr>
        <p:grpSpPr bwMode="auto">
          <a:xfrm>
            <a:off x="2897641" y="3574546"/>
            <a:ext cx="3857494" cy="636476"/>
            <a:chOff x="2438" y="2422"/>
            <a:chExt cx="2062" cy="230"/>
          </a:xfrm>
        </p:grpSpPr>
        <p:sp>
          <p:nvSpPr>
            <p:cNvPr id="723" name="Freeform 313"/>
            <p:cNvSpPr>
              <a:spLocks noEditPoints="1"/>
            </p:cNvSpPr>
            <p:nvPr/>
          </p:nvSpPr>
          <p:spPr bwMode="auto">
            <a:xfrm>
              <a:off x="2438" y="2433"/>
              <a:ext cx="2015" cy="219"/>
            </a:xfrm>
            <a:custGeom>
              <a:avLst/>
              <a:gdLst>
                <a:gd name="T0" fmla="*/ 339 w 772"/>
                <a:gd name="T1" fmla="*/ 183 h 84"/>
                <a:gd name="T2" fmla="*/ 0 w 772"/>
                <a:gd name="T3" fmla="*/ 214 h 84"/>
                <a:gd name="T4" fmla="*/ 0 w 772"/>
                <a:gd name="T5" fmla="*/ 214 h 84"/>
                <a:gd name="T6" fmla="*/ 0 w 772"/>
                <a:gd name="T7" fmla="*/ 219 h 84"/>
                <a:gd name="T8" fmla="*/ 0 w 772"/>
                <a:gd name="T9" fmla="*/ 219 h 84"/>
                <a:gd name="T10" fmla="*/ 339 w 772"/>
                <a:gd name="T11" fmla="*/ 188 h 84"/>
                <a:gd name="T12" fmla="*/ 339 w 772"/>
                <a:gd name="T13" fmla="*/ 183 h 84"/>
                <a:gd name="T14" fmla="*/ 373 w 772"/>
                <a:gd name="T15" fmla="*/ 180 h 84"/>
                <a:gd name="T16" fmla="*/ 347 w 772"/>
                <a:gd name="T17" fmla="*/ 183 h 84"/>
                <a:gd name="T18" fmla="*/ 347 w 772"/>
                <a:gd name="T19" fmla="*/ 188 h 84"/>
                <a:gd name="T20" fmla="*/ 373 w 772"/>
                <a:gd name="T21" fmla="*/ 185 h 84"/>
                <a:gd name="T22" fmla="*/ 373 w 772"/>
                <a:gd name="T23" fmla="*/ 180 h 84"/>
                <a:gd name="T24" fmla="*/ 658 w 772"/>
                <a:gd name="T25" fmla="*/ 151 h 84"/>
                <a:gd name="T26" fmla="*/ 384 w 772"/>
                <a:gd name="T27" fmla="*/ 180 h 84"/>
                <a:gd name="T28" fmla="*/ 384 w 772"/>
                <a:gd name="T29" fmla="*/ 185 h 84"/>
                <a:gd name="T30" fmla="*/ 658 w 772"/>
                <a:gd name="T31" fmla="*/ 156 h 84"/>
                <a:gd name="T32" fmla="*/ 658 w 772"/>
                <a:gd name="T33" fmla="*/ 151 h 84"/>
                <a:gd name="T34" fmla="*/ 976 w 772"/>
                <a:gd name="T35" fmla="*/ 123 h 84"/>
                <a:gd name="T36" fmla="*/ 927 w 772"/>
                <a:gd name="T37" fmla="*/ 123 h 84"/>
                <a:gd name="T38" fmla="*/ 668 w 772"/>
                <a:gd name="T39" fmla="*/ 149 h 84"/>
                <a:gd name="T40" fmla="*/ 668 w 772"/>
                <a:gd name="T41" fmla="*/ 154 h 84"/>
                <a:gd name="T42" fmla="*/ 976 w 772"/>
                <a:gd name="T43" fmla="*/ 123 h 84"/>
                <a:gd name="T44" fmla="*/ 1062 w 772"/>
                <a:gd name="T45" fmla="*/ 107 h 84"/>
                <a:gd name="T46" fmla="*/ 1000 w 772"/>
                <a:gd name="T47" fmla="*/ 115 h 84"/>
                <a:gd name="T48" fmla="*/ 1049 w 772"/>
                <a:gd name="T49" fmla="*/ 115 h 84"/>
                <a:gd name="T50" fmla="*/ 1062 w 772"/>
                <a:gd name="T51" fmla="*/ 112 h 84"/>
                <a:gd name="T52" fmla="*/ 1062 w 772"/>
                <a:gd name="T53" fmla="*/ 107 h 84"/>
                <a:gd name="T54" fmla="*/ 1138 w 772"/>
                <a:gd name="T55" fmla="*/ 99 h 84"/>
                <a:gd name="T56" fmla="*/ 1073 w 772"/>
                <a:gd name="T57" fmla="*/ 107 h 84"/>
                <a:gd name="T58" fmla="*/ 1073 w 772"/>
                <a:gd name="T59" fmla="*/ 112 h 84"/>
                <a:gd name="T60" fmla="*/ 1138 w 772"/>
                <a:gd name="T61" fmla="*/ 104 h 84"/>
                <a:gd name="T62" fmla="*/ 1138 w 772"/>
                <a:gd name="T63" fmla="*/ 99 h 84"/>
                <a:gd name="T64" fmla="*/ 1830 w 772"/>
                <a:gd name="T65" fmla="*/ 21 h 84"/>
                <a:gd name="T66" fmla="*/ 1148 w 772"/>
                <a:gd name="T67" fmla="*/ 96 h 84"/>
                <a:gd name="T68" fmla="*/ 1148 w 772"/>
                <a:gd name="T69" fmla="*/ 102 h 84"/>
                <a:gd name="T70" fmla="*/ 1830 w 772"/>
                <a:gd name="T71" fmla="*/ 26 h 84"/>
                <a:gd name="T72" fmla="*/ 1830 w 772"/>
                <a:gd name="T73" fmla="*/ 21 h 84"/>
                <a:gd name="T74" fmla="*/ 1864 w 772"/>
                <a:gd name="T75" fmla="*/ 18 h 84"/>
                <a:gd name="T76" fmla="*/ 1840 w 772"/>
                <a:gd name="T77" fmla="*/ 21 h 84"/>
                <a:gd name="T78" fmla="*/ 1840 w 772"/>
                <a:gd name="T79" fmla="*/ 26 h 84"/>
                <a:gd name="T80" fmla="*/ 1864 w 772"/>
                <a:gd name="T81" fmla="*/ 23 h 84"/>
                <a:gd name="T82" fmla="*/ 1864 w 772"/>
                <a:gd name="T83" fmla="*/ 18 h 84"/>
                <a:gd name="T84" fmla="*/ 1898 w 772"/>
                <a:gd name="T85" fmla="*/ 13 h 84"/>
                <a:gd name="T86" fmla="*/ 1874 w 772"/>
                <a:gd name="T87" fmla="*/ 16 h 84"/>
                <a:gd name="T88" fmla="*/ 1874 w 772"/>
                <a:gd name="T89" fmla="*/ 21 h 84"/>
                <a:gd name="T90" fmla="*/ 1898 w 772"/>
                <a:gd name="T91" fmla="*/ 18 h 84"/>
                <a:gd name="T92" fmla="*/ 1898 w 772"/>
                <a:gd name="T93" fmla="*/ 13 h 84"/>
                <a:gd name="T94" fmla="*/ 1963 w 772"/>
                <a:gd name="T95" fmla="*/ 5 h 84"/>
                <a:gd name="T96" fmla="*/ 1908 w 772"/>
                <a:gd name="T97" fmla="*/ 13 h 84"/>
                <a:gd name="T98" fmla="*/ 1908 w 772"/>
                <a:gd name="T99" fmla="*/ 18 h 84"/>
                <a:gd name="T100" fmla="*/ 1963 w 772"/>
                <a:gd name="T101" fmla="*/ 10 h 84"/>
                <a:gd name="T102" fmla="*/ 1963 w 772"/>
                <a:gd name="T103" fmla="*/ 5 h 84"/>
                <a:gd name="T104" fmla="*/ 2015 w 772"/>
                <a:gd name="T105" fmla="*/ 0 h 84"/>
                <a:gd name="T106" fmla="*/ 1973 w 772"/>
                <a:gd name="T107" fmla="*/ 5 h 84"/>
                <a:gd name="T108" fmla="*/ 1973 w 772"/>
                <a:gd name="T109" fmla="*/ 10 h 84"/>
                <a:gd name="T110" fmla="*/ 2015 w 772"/>
                <a:gd name="T111" fmla="*/ 5 h 84"/>
                <a:gd name="T112" fmla="*/ 2015 w 772"/>
                <a:gd name="T113" fmla="*/ 0 h 8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772"/>
                <a:gd name="T172" fmla="*/ 0 h 84"/>
                <a:gd name="T173" fmla="*/ 772 w 772"/>
                <a:gd name="T174" fmla="*/ 84 h 8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772" h="84">
                  <a:moveTo>
                    <a:pt x="130" y="70"/>
                  </a:moveTo>
                  <a:cubicBezTo>
                    <a:pt x="16" y="82"/>
                    <a:pt x="1" y="82"/>
                    <a:pt x="0" y="82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" y="84"/>
                    <a:pt x="16" y="84"/>
                    <a:pt x="130" y="72"/>
                  </a:cubicBezTo>
                  <a:cubicBezTo>
                    <a:pt x="130" y="70"/>
                    <a:pt x="130" y="70"/>
                    <a:pt x="130" y="70"/>
                  </a:cubicBezTo>
                  <a:moveTo>
                    <a:pt x="143" y="69"/>
                  </a:moveTo>
                  <a:cubicBezTo>
                    <a:pt x="140" y="69"/>
                    <a:pt x="136" y="70"/>
                    <a:pt x="133" y="70"/>
                  </a:cubicBezTo>
                  <a:cubicBezTo>
                    <a:pt x="133" y="72"/>
                    <a:pt x="133" y="72"/>
                    <a:pt x="133" y="72"/>
                  </a:cubicBezTo>
                  <a:cubicBezTo>
                    <a:pt x="136" y="72"/>
                    <a:pt x="140" y="71"/>
                    <a:pt x="143" y="71"/>
                  </a:cubicBezTo>
                  <a:cubicBezTo>
                    <a:pt x="143" y="69"/>
                    <a:pt x="143" y="69"/>
                    <a:pt x="143" y="69"/>
                  </a:cubicBezTo>
                  <a:moveTo>
                    <a:pt x="252" y="58"/>
                  </a:moveTo>
                  <a:cubicBezTo>
                    <a:pt x="211" y="62"/>
                    <a:pt x="176" y="66"/>
                    <a:pt x="147" y="69"/>
                  </a:cubicBezTo>
                  <a:cubicBezTo>
                    <a:pt x="147" y="71"/>
                    <a:pt x="147" y="71"/>
                    <a:pt x="147" y="71"/>
                  </a:cubicBezTo>
                  <a:cubicBezTo>
                    <a:pt x="176" y="68"/>
                    <a:pt x="211" y="64"/>
                    <a:pt x="252" y="60"/>
                  </a:cubicBezTo>
                  <a:cubicBezTo>
                    <a:pt x="252" y="58"/>
                    <a:pt x="252" y="58"/>
                    <a:pt x="252" y="58"/>
                  </a:cubicBezTo>
                  <a:moveTo>
                    <a:pt x="374" y="47"/>
                  </a:moveTo>
                  <a:cubicBezTo>
                    <a:pt x="355" y="47"/>
                    <a:pt x="355" y="47"/>
                    <a:pt x="355" y="47"/>
                  </a:cubicBezTo>
                  <a:cubicBezTo>
                    <a:pt x="319" y="51"/>
                    <a:pt x="286" y="54"/>
                    <a:pt x="256" y="57"/>
                  </a:cubicBezTo>
                  <a:cubicBezTo>
                    <a:pt x="256" y="59"/>
                    <a:pt x="256" y="59"/>
                    <a:pt x="256" y="59"/>
                  </a:cubicBezTo>
                  <a:cubicBezTo>
                    <a:pt x="290" y="56"/>
                    <a:pt x="330" y="51"/>
                    <a:pt x="374" y="47"/>
                  </a:cubicBezTo>
                  <a:moveTo>
                    <a:pt x="407" y="41"/>
                  </a:moveTo>
                  <a:cubicBezTo>
                    <a:pt x="399" y="42"/>
                    <a:pt x="391" y="43"/>
                    <a:pt x="383" y="44"/>
                  </a:cubicBezTo>
                  <a:cubicBezTo>
                    <a:pt x="402" y="44"/>
                    <a:pt x="402" y="44"/>
                    <a:pt x="402" y="44"/>
                  </a:cubicBezTo>
                  <a:cubicBezTo>
                    <a:pt x="403" y="43"/>
                    <a:pt x="405" y="43"/>
                    <a:pt x="407" y="43"/>
                  </a:cubicBezTo>
                  <a:cubicBezTo>
                    <a:pt x="407" y="41"/>
                    <a:pt x="407" y="41"/>
                    <a:pt x="407" y="41"/>
                  </a:cubicBezTo>
                  <a:moveTo>
                    <a:pt x="436" y="38"/>
                  </a:moveTo>
                  <a:cubicBezTo>
                    <a:pt x="427" y="39"/>
                    <a:pt x="419" y="40"/>
                    <a:pt x="411" y="41"/>
                  </a:cubicBezTo>
                  <a:cubicBezTo>
                    <a:pt x="411" y="43"/>
                    <a:pt x="411" y="43"/>
                    <a:pt x="411" y="43"/>
                  </a:cubicBezTo>
                  <a:cubicBezTo>
                    <a:pt x="419" y="42"/>
                    <a:pt x="427" y="41"/>
                    <a:pt x="436" y="40"/>
                  </a:cubicBezTo>
                  <a:cubicBezTo>
                    <a:pt x="436" y="38"/>
                    <a:pt x="436" y="38"/>
                    <a:pt x="436" y="38"/>
                  </a:cubicBezTo>
                  <a:moveTo>
                    <a:pt x="701" y="8"/>
                  </a:moveTo>
                  <a:cubicBezTo>
                    <a:pt x="600" y="19"/>
                    <a:pt x="514" y="29"/>
                    <a:pt x="440" y="37"/>
                  </a:cubicBezTo>
                  <a:cubicBezTo>
                    <a:pt x="440" y="39"/>
                    <a:pt x="440" y="39"/>
                    <a:pt x="440" y="39"/>
                  </a:cubicBezTo>
                  <a:cubicBezTo>
                    <a:pt x="514" y="31"/>
                    <a:pt x="600" y="21"/>
                    <a:pt x="701" y="10"/>
                  </a:cubicBezTo>
                  <a:cubicBezTo>
                    <a:pt x="701" y="8"/>
                    <a:pt x="701" y="8"/>
                    <a:pt x="701" y="8"/>
                  </a:cubicBezTo>
                  <a:moveTo>
                    <a:pt x="714" y="7"/>
                  </a:moveTo>
                  <a:cubicBezTo>
                    <a:pt x="711" y="7"/>
                    <a:pt x="708" y="7"/>
                    <a:pt x="705" y="8"/>
                  </a:cubicBezTo>
                  <a:cubicBezTo>
                    <a:pt x="705" y="10"/>
                    <a:pt x="705" y="10"/>
                    <a:pt x="705" y="10"/>
                  </a:cubicBezTo>
                  <a:cubicBezTo>
                    <a:pt x="708" y="9"/>
                    <a:pt x="711" y="9"/>
                    <a:pt x="714" y="9"/>
                  </a:cubicBezTo>
                  <a:cubicBezTo>
                    <a:pt x="714" y="7"/>
                    <a:pt x="714" y="7"/>
                    <a:pt x="714" y="7"/>
                  </a:cubicBezTo>
                  <a:moveTo>
                    <a:pt x="727" y="5"/>
                  </a:moveTo>
                  <a:cubicBezTo>
                    <a:pt x="724" y="5"/>
                    <a:pt x="721" y="6"/>
                    <a:pt x="718" y="6"/>
                  </a:cubicBezTo>
                  <a:cubicBezTo>
                    <a:pt x="718" y="8"/>
                    <a:pt x="718" y="8"/>
                    <a:pt x="718" y="8"/>
                  </a:cubicBezTo>
                  <a:cubicBezTo>
                    <a:pt x="721" y="8"/>
                    <a:pt x="724" y="7"/>
                    <a:pt x="727" y="7"/>
                  </a:cubicBezTo>
                  <a:cubicBezTo>
                    <a:pt x="727" y="5"/>
                    <a:pt x="727" y="5"/>
                    <a:pt x="727" y="5"/>
                  </a:cubicBezTo>
                  <a:moveTo>
                    <a:pt x="752" y="2"/>
                  </a:moveTo>
                  <a:cubicBezTo>
                    <a:pt x="745" y="3"/>
                    <a:pt x="738" y="4"/>
                    <a:pt x="731" y="5"/>
                  </a:cubicBezTo>
                  <a:cubicBezTo>
                    <a:pt x="731" y="7"/>
                    <a:pt x="731" y="7"/>
                    <a:pt x="731" y="7"/>
                  </a:cubicBezTo>
                  <a:cubicBezTo>
                    <a:pt x="738" y="6"/>
                    <a:pt x="745" y="5"/>
                    <a:pt x="752" y="4"/>
                  </a:cubicBezTo>
                  <a:cubicBezTo>
                    <a:pt x="752" y="2"/>
                    <a:pt x="752" y="2"/>
                    <a:pt x="752" y="2"/>
                  </a:cubicBezTo>
                  <a:moveTo>
                    <a:pt x="772" y="0"/>
                  </a:moveTo>
                  <a:cubicBezTo>
                    <a:pt x="767" y="1"/>
                    <a:pt x="761" y="1"/>
                    <a:pt x="756" y="2"/>
                  </a:cubicBezTo>
                  <a:cubicBezTo>
                    <a:pt x="756" y="4"/>
                    <a:pt x="756" y="4"/>
                    <a:pt x="756" y="4"/>
                  </a:cubicBezTo>
                  <a:cubicBezTo>
                    <a:pt x="762" y="3"/>
                    <a:pt x="767" y="3"/>
                    <a:pt x="772" y="2"/>
                  </a:cubicBezTo>
                  <a:cubicBezTo>
                    <a:pt x="772" y="0"/>
                    <a:pt x="772" y="0"/>
                    <a:pt x="772" y="0"/>
                  </a:cubicBezTo>
                </a:path>
              </a:pathLst>
            </a:custGeom>
            <a:solidFill>
              <a:srgbClr val="6600CC"/>
            </a:solidFill>
            <a:ln w="9525">
              <a:solidFill>
                <a:srgbClr val="66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4" name="Freeform 318"/>
            <p:cNvSpPr>
              <a:spLocks/>
            </p:cNvSpPr>
            <p:nvPr/>
          </p:nvSpPr>
          <p:spPr bwMode="auto">
            <a:xfrm>
              <a:off x="4336" y="2446"/>
              <a:ext cx="10" cy="5"/>
            </a:xfrm>
            <a:custGeom>
              <a:avLst/>
              <a:gdLst>
                <a:gd name="T0" fmla="*/ 10 w 4"/>
                <a:gd name="T1" fmla="*/ 0 h 2"/>
                <a:gd name="T2" fmla="*/ 0 w 4"/>
                <a:gd name="T3" fmla="*/ 0 h 2"/>
                <a:gd name="T4" fmla="*/ 0 w 4"/>
                <a:gd name="T5" fmla="*/ 5 h 2"/>
                <a:gd name="T6" fmla="*/ 10 w 4"/>
                <a:gd name="T7" fmla="*/ 5 h 2"/>
                <a:gd name="T8" fmla="*/ 10 w 4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"/>
                <a:gd name="T16" fmla="*/ 0 h 2"/>
                <a:gd name="T17" fmla="*/ 4 w 4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" h="2">
                  <a:moveTo>
                    <a:pt x="4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3" y="2"/>
                    <a:pt x="4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6600CC"/>
            </a:solidFill>
            <a:ln w="9525">
              <a:solidFill>
                <a:srgbClr val="66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5" name="Freeform 321"/>
            <p:cNvSpPr>
              <a:spLocks/>
            </p:cNvSpPr>
            <p:nvPr/>
          </p:nvSpPr>
          <p:spPr bwMode="auto">
            <a:xfrm>
              <a:off x="4401" y="2438"/>
              <a:ext cx="10" cy="5"/>
            </a:xfrm>
            <a:custGeom>
              <a:avLst/>
              <a:gdLst>
                <a:gd name="T0" fmla="*/ 10 w 4"/>
                <a:gd name="T1" fmla="*/ 0 h 2"/>
                <a:gd name="T2" fmla="*/ 0 w 4"/>
                <a:gd name="T3" fmla="*/ 0 h 2"/>
                <a:gd name="T4" fmla="*/ 0 w 4"/>
                <a:gd name="T5" fmla="*/ 5 h 2"/>
                <a:gd name="T6" fmla="*/ 10 w 4"/>
                <a:gd name="T7" fmla="*/ 5 h 2"/>
                <a:gd name="T8" fmla="*/ 10 w 4"/>
                <a:gd name="T9" fmla="*/ 0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"/>
                <a:gd name="T16" fmla="*/ 0 h 2"/>
                <a:gd name="T17" fmla="*/ 4 w 4"/>
                <a:gd name="T18" fmla="*/ 2 h 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" h="2">
                  <a:moveTo>
                    <a:pt x="4" y="0"/>
                  </a:moveTo>
                  <a:cubicBezTo>
                    <a:pt x="3" y="0"/>
                    <a:pt x="2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" y="2"/>
                    <a:pt x="3" y="2"/>
                    <a:pt x="4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6600CC"/>
            </a:solidFill>
            <a:ln w="9525">
              <a:solidFill>
                <a:srgbClr val="66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6" name="Freeform 322"/>
            <p:cNvSpPr>
              <a:spLocks/>
            </p:cNvSpPr>
            <p:nvPr/>
          </p:nvSpPr>
          <p:spPr bwMode="auto">
            <a:xfrm>
              <a:off x="4440" y="2422"/>
              <a:ext cx="60" cy="29"/>
            </a:xfrm>
            <a:custGeom>
              <a:avLst/>
              <a:gdLst>
                <a:gd name="T0" fmla="*/ 5 w 60"/>
                <a:gd name="T1" fmla="*/ 29 h 29"/>
                <a:gd name="T2" fmla="*/ 60 w 60"/>
                <a:gd name="T3" fmla="*/ 8 h 29"/>
                <a:gd name="T4" fmla="*/ 0 w 60"/>
                <a:gd name="T5" fmla="*/ 0 h 29"/>
                <a:gd name="T6" fmla="*/ 5 w 60"/>
                <a:gd name="T7" fmla="*/ 29 h 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"/>
                <a:gd name="T13" fmla="*/ 0 h 29"/>
                <a:gd name="T14" fmla="*/ 60 w 60"/>
                <a:gd name="T15" fmla="*/ 29 h 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" h="29">
                  <a:moveTo>
                    <a:pt x="5" y="29"/>
                  </a:moveTo>
                  <a:lnTo>
                    <a:pt x="60" y="8"/>
                  </a:lnTo>
                  <a:lnTo>
                    <a:pt x="0" y="0"/>
                  </a:lnTo>
                  <a:lnTo>
                    <a:pt x="5" y="29"/>
                  </a:lnTo>
                  <a:close/>
                </a:path>
              </a:pathLst>
            </a:custGeom>
            <a:solidFill>
              <a:srgbClr val="6600CC"/>
            </a:solidFill>
            <a:ln w="9525">
              <a:solidFill>
                <a:srgbClr val="66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70954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844"/>
    </mc:Choice>
    <mc:Fallback xmlns="">
      <p:transition spd="slow" advTm="1138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1" grpId="0"/>
      <p:bldP spid="715" grpId="0"/>
      <p:bldP spid="438" grpId="0"/>
      <p:bldP spid="439" grpId="0"/>
      <p:bldP spid="440" grpId="0"/>
      <p:bldP spid="441" grpId="0"/>
      <p:bldP spid="442" grpId="0"/>
      <p:bldP spid="443" grpId="0"/>
      <p:bldP spid="444" grpId="0"/>
      <p:bldP spid="657" grpId="0"/>
      <p:bldP spid="658" grpId="0"/>
      <p:bldP spid="659" grpId="0"/>
      <p:bldP spid="660" grpId="0"/>
      <p:bldP spid="661" grpId="0"/>
      <p:bldP spid="662" grpId="0"/>
      <p:bldP spid="663" grpId="0"/>
      <p:bldP spid="664" grpId="0"/>
      <p:bldP spid="703" grpId="0"/>
      <p:bldP spid="706" grpId="0"/>
      <p:bldP spid="707" grpId="0"/>
      <p:bldP spid="708" grpId="0" animBg="1"/>
      <p:bldP spid="709" grpId="0" animBg="1"/>
      <p:bldP spid="710" grpId="0" animBg="1"/>
      <p:bldP spid="712" grpId="0"/>
      <p:bldP spid="713" grpId="0" animBg="1"/>
      <p:bldP spid="7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3.3. Example 3: Solution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26</a:t>
            </a:fld>
            <a:endParaRPr lang="de-DE" dirty="0"/>
          </a:p>
        </p:txBody>
      </p:sp>
      <p:sp>
        <p:nvSpPr>
          <p:cNvPr id="5" name="Rectangle 306"/>
          <p:cNvSpPr>
            <a:spLocks noChangeArrowheads="1"/>
          </p:cNvSpPr>
          <p:nvPr/>
        </p:nvSpPr>
        <p:spPr bwMode="auto">
          <a:xfrm>
            <a:off x="6155137" y="5279991"/>
            <a:ext cx="21480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 b="1" dirty="0">
                <a:solidFill>
                  <a:srgbClr val="FF0000"/>
                </a:solidFill>
                <a:latin typeface="Helvetica" pitchFamily="34" charset="0"/>
              </a:rPr>
              <a:t>01</a:t>
            </a:r>
            <a:endParaRPr lang="en-US" altLang="en-US" sz="1500" b="1" dirty="0">
              <a:solidFill>
                <a:srgbClr val="FF0000"/>
              </a:solidFill>
            </a:endParaRPr>
          </a:p>
        </p:txBody>
      </p:sp>
      <p:sp>
        <p:nvSpPr>
          <p:cNvPr id="6" name="Rectangle 307"/>
          <p:cNvSpPr>
            <a:spLocks noChangeArrowheads="1"/>
          </p:cNvSpPr>
          <p:nvPr/>
        </p:nvSpPr>
        <p:spPr bwMode="auto">
          <a:xfrm>
            <a:off x="6142512" y="5765422"/>
            <a:ext cx="20415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 b="1" dirty="0">
                <a:solidFill>
                  <a:srgbClr val="FF0000"/>
                </a:solidFill>
                <a:latin typeface="Helvetica" pitchFamily="34" charset="0"/>
              </a:rPr>
              <a:t>11</a:t>
            </a:r>
            <a:endParaRPr lang="en-US" altLang="en-US" sz="1500" b="1" dirty="0">
              <a:solidFill>
                <a:srgbClr val="FF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293415" y="1449113"/>
            <a:ext cx="5729990" cy="4679624"/>
            <a:chOff x="3293415" y="1449113"/>
            <a:chExt cx="5729990" cy="4679624"/>
          </a:xfrm>
        </p:grpSpPr>
        <p:grpSp>
          <p:nvGrpSpPr>
            <p:cNvPr id="8" name="Group 7"/>
            <p:cNvGrpSpPr>
              <a:grpSpLocks noChangeAspect="1"/>
            </p:cNvGrpSpPr>
            <p:nvPr/>
          </p:nvGrpSpPr>
          <p:grpSpPr>
            <a:xfrm>
              <a:off x="3293415" y="1449113"/>
              <a:ext cx="5729990" cy="4679624"/>
              <a:chOff x="3568010" y="1753711"/>
              <a:chExt cx="5116063" cy="4178236"/>
            </a:xfrm>
          </p:grpSpPr>
          <p:sp>
            <p:nvSpPr>
              <p:cNvPr id="15" name="Freeform 15"/>
              <p:cNvSpPr>
                <a:spLocks/>
              </p:cNvSpPr>
              <p:nvPr/>
            </p:nvSpPr>
            <p:spPr bwMode="auto">
              <a:xfrm>
                <a:off x="4074293" y="1927121"/>
                <a:ext cx="4301679" cy="3961298"/>
              </a:xfrm>
              <a:custGeom>
                <a:avLst/>
                <a:gdLst>
                  <a:gd name="T0" fmla="*/ 3973512 w 2509"/>
                  <a:gd name="T1" fmla="*/ 3860800 h 2437"/>
                  <a:gd name="T2" fmla="*/ 3973512 w 2509"/>
                  <a:gd name="T3" fmla="*/ 3857625 h 2437"/>
                  <a:gd name="T4" fmla="*/ 12700 w 2509"/>
                  <a:gd name="T5" fmla="*/ 3857625 h 2437"/>
                  <a:gd name="T6" fmla="*/ 12700 w 2509"/>
                  <a:gd name="T7" fmla="*/ 7937 h 2437"/>
                  <a:gd name="T8" fmla="*/ 3970337 w 2509"/>
                  <a:gd name="T9" fmla="*/ 7937 h 2437"/>
                  <a:gd name="T10" fmla="*/ 3970337 w 2509"/>
                  <a:gd name="T11" fmla="*/ 3860800 h 2437"/>
                  <a:gd name="T12" fmla="*/ 3973512 w 2509"/>
                  <a:gd name="T13" fmla="*/ 3860800 h 2437"/>
                  <a:gd name="T14" fmla="*/ 3973512 w 2509"/>
                  <a:gd name="T15" fmla="*/ 3857625 h 2437"/>
                  <a:gd name="T16" fmla="*/ 3973512 w 2509"/>
                  <a:gd name="T17" fmla="*/ 3860800 h 2437"/>
                  <a:gd name="T18" fmla="*/ 3983037 w 2509"/>
                  <a:gd name="T19" fmla="*/ 3860800 h 2437"/>
                  <a:gd name="T20" fmla="*/ 3983037 w 2509"/>
                  <a:gd name="T21" fmla="*/ 0 h 2437"/>
                  <a:gd name="T22" fmla="*/ 0 w 2509"/>
                  <a:gd name="T23" fmla="*/ 0 h 2437"/>
                  <a:gd name="T24" fmla="*/ 0 w 2509"/>
                  <a:gd name="T25" fmla="*/ 3868737 h 2437"/>
                  <a:gd name="T26" fmla="*/ 3983037 w 2509"/>
                  <a:gd name="T27" fmla="*/ 3868737 h 2437"/>
                  <a:gd name="T28" fmla="*/ 3983037 w 2509"/>
                  <a:gd name="T29" fmla="*/ 3860800 h 2437"/>
                  <a:gd name="T30" fmla="*/ 3973512 w 2509"/>
                  <a:gd name="T31" fmla="*/ 3860800 h 243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509"/>
                  <a:gd name="T49" fmla="*/ 0 h 2437"/>
                  <a:gd name="T50" fmla="*/ 2509 w 2509"/>
                  <a:gd name="T51" fmla="*/ 2437 h 243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509" h="2437">
                    <a:moveTo>
                      <a:pt x="2503" y="2432"/>
                    </a:moveTo>
                    <a:lnTo>
                      <a:pt x="2503" y="2430"/>
                    </a:lnTo>
                    <a:lnTo>
                      <a:pt x="8" y="2430"/>
                    </a:lnTo>
                    <a:lnTo>
                      <a:pt x="8" y="5"/>
                    </a:lnTo>
                    <a:lnTo>
                      <a:pt x="2501" y="5"/>
                    </a:lnTo>
                    <a:lnTo>
                      <a:pt x="2501" y="2432"/>
                    </a:lnTo>
                    <a:lnTo>
                      <a:pt x="2503" y="2432"/>
                    </a:lnTo>
                    <a:lnTo>
                      <a:pt x="2503" y="2430"/>
                    </a:lnTo>
                    <a:lnTo>
                      <a:pt x="2503" y="2432"/>
                    </a:lnTo>
                    <a:lnTo>
                      <a:pt x="2509" y="2432"/>
                    </a:lnTo>
                    <a:lnTo>
                      <a:pt x="2509" y="0"/>
                    </a:lnTo>
                    <a:lnTo>
                      <a:pt x="0" y="0"/>
                    </a:lnTo>
                    <a:lnTo>
                      <a:pt x="0" y="2437"/>
                    </a:lnTo>
                    <a:lnTo>
                      <a:pt x="2509" y="2437"/>
                    </a:lnTo>
                    <a:lnTo>
                      <a:pt x="2509" y="2432"/>
                    </a:lnTo>
                    <a:lnTo>
                      <a:pt x="2503" y="2432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6" name="Freeform 16"/>
              <p:cNvSpPr>
                <a:spLocks/>
              </p:cNvSpPr>
              <p:nvPr/>
            </p:nvSpPr>
            <p:spPr bwMode="auto">
              <a:xfrm>
                <a:off x="4074293" y="1753711"/>
                <a:ext cx="4301679" cy="4178236"/>
              </a:xfrm>
              <a:custGeom>
                <a:avLst/>
                <a:gdLst>
                  <a:gd name="T0" fmla="*/ 3973512 w 2509"/>
                  <a:gd name="T1" fmla="*/ 3860800 h 2437"/>
                  <a:gd name="T2" fmla="*/ 3973512 w 2509"/>
                  <a:gd name="T3" fmla="*/ 3857625 h 2437"/>
                  <a:gd name="T4" fmla="*/ 12700 w 2509"/>
                  <a:gd name="T5" fmla="*/ 3857625 h 2437"/>
                  <a:gd name="T6" fmla="*/ 12700 w 2509"/>
                  <a:gd name="T7" fmla="*/ 7937 h 2437"/>
                  <a:gd name="T8" fmla="*/ 3970337 w 2509"/>
                  <a:gd name="T9" fmla="*/ 7937 h 2437"/>
                  <a:gd name="T10" fmla="*/ 3970337 w 2509"/>
                  <a:gd name="T11" fmla="*/ 3860800 h 2437"/>
                  <a:gd name="T12" fmla="*/ 3973512 w 2509"/>
                  <a:gd name="T13" fmla="*/ 3860800 h 2437"/>
                  <a:gd name="T14" fmla="*/ 3973512 w 2509"/>
                  <a:gd name="T15" fmla="*/ 3857625 h 2437"/>
                  <a:gd name="T16" fmla="*/ 3973512 w 2509"/>
                  <a:gd name="T17" fmla="*/ 3860800 h 2437"/>
                  <a:gd name="T18" fmla="*/ 3983037 w 2509"/>
                  <a:gd name="T19" fmla="*/ 3860800 h 2437"/>
                  <a:gd name="T20" fmla="*/ 3983037 w 2509"/>
                  <a:gd name="T21" fmla="*/ 0 h 2437"/>
                  <a:gd name="T22" fmla="*/ 0 w 2509"/>
                  <a:gd name="T23" fmla="*/ 0 h 2437"/>
                  <a:gd name="T24" fmla="*/ 0 w 2509"/>
                  <a:gd name="T25" fmla="*/ 3868737 h 2437"/>
                  <a:gd name="T26" fmla="*/ 3983037 w 2509"/>
                  <a:gd name="T27" fmla="*/ 3868737 h 2437"/>
                  <a:gd name="T28" fmla="*/ 3983037 w 2509"/>
                  <a:gd name="T29" fmla="*/ 3860800 h 2437"/>
                  <a:gd name="T30" fmla="*/ 3973512 w 2509"/>
                  <a:gd name="T31" fmla="*/ 3860800 h 243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509"/>
                  <a:gd name="T49" fmla="*/ 0 h 2437"/>
                  <a:gd name="T50" fmla="*/ 2509 w 2509"/>
                  <a:gd name="T51" fmla="*/ 2437 h 243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509" h="2437">
                    <a:moveTo>
                      <a:pt x="2503" y="2432"/>
                    </a:moveTo>
                    <a:lnTo>
                      <a:pt x="2503" y="2430"/>
                    </a:lnTo>
                    <a:lnTo>
                      <a:pt x="8" y="2430"/>
                    </a:lnTo>
                    <a:lnTo>
                      <a:pt x="8" y="5"/>
                    </a:lnTo>
                    <a:lnTo>
                      <a:pt x="2501" y="5"/>
                    </a:lnTo>
                    <a:lnTo>
                      <a:pt x="2501" y="2432"/>
                    </a:lnTo>
                    <a:lnTo>
                      <a:pt x="2503" y="2432"/>
                    </a:lnTo>
                    <a:lnTo>
                      <a:pt x="2503" y="2430"/>
                    </a:lnTo>
                    <a:lnTo>
                      <a:pt x="2503" y="2432"/>
                    </a:lnTo>
                    <a:lnTo>
                      <a:pt x="2509" y="2432"/>
                    </a:lnTo>
                    <a:lnTo>
                      <a:pt x="2509" y="0"/>
                    </a:lnTo>
                    <a:lnTo>
                      <a:pt x="0" y="0"/>
                    </a:lnTo>
                    <a:lnTo>
                      <a:pt x="0" y="2437"/>
                    </a:lnTo>
                    <a:lnTo>
                      <a:pt x="2509" y="2437"/>
                    </a:lnTo>
                    <a:lnTo>
                      <a:pt x="2509" y="2432"/>
                    </a:lnTo>
                    <a:lnTo>
                      <a:pt x="2503" y="243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7" name="Freeform 17"/>
              <p:cNvSpPr>
                <a:spLocks/>
              </p:cNvSpPr>
              <p:nvPr/>
            </p:nvSpPr>
            <p:spPr bwMode="auto">
              <a:xfrm>
                <a:off x="4379474" y="2067464"/>
                <a:ext cx="953262" cy="2052257"/>
              </a:xfrm>
              <a:custGeom>
                <a:avLst/>
                <a:gdLst>
                  <a:gd name="T0" fmla="*/ 874713 w 556"/>
                  <a:gd name="T1" fmla="*/ 1892301 h 1197"/>
                  <a:gd name="T2" fmla="*/ 874713 w 556"/>
                  <a:gd name="T3" fmla="*/ 1889126 h 1197"/>
                  <a:gd name="T4" fmla="*/ 12700 w 556"/>
                  <a:gd name="T5" fmla="*/ 1889126 h 1197"/>
                  <a:gd name="T6" fmla="*/ 12700 w 556"/>
                  <a:gd name="T7" fmla="*/ 11113 h 1197"/>
                  <a:gd name="T8" fmla="*/ 865188 w 556"/>
                  <a:gd name="T9" fmla="*/ 11113 h 1197"/>
                  <a:gd name="T10" fmla="*/ 865188 w 556"/>
                  <a:gd name="T11" fmla="*/ 1892301 h 1197"/>
                  <a:gd name="T12" fmla="*/ 874713 w 556"/>
                  <a:gd name="T13" fmla="*/ 1892301 h 1197"/>
                  <a:gd name="T14" fmla="*/ 874713 w 556"/>
                  <a:gd name="T15" fmla="*/ 1889126 h 1197"/>
                  <a:gd name="T16" fmla="*/ 874713 w 556"/>
                  <a:gd name="T17" fmla="*/ 1892301 h 1197"/>
                  <a:gd name="T18" fmla="*/ 882650 w 556"/>
                  <a:gd name="T19" fmla="*/ 1892301 h 1197"/>
                  <a:gd name="T20" fmla="*/ 882650 w 556"/>
                  <a:gd name="T21" fmla="*/ 0 h 1197"/>
                  <a:gd name="T22" fmla="*/ 0 w 556"/>
                  <a:gd name="T23" fmla="*/ 0 h 1197"/>
                  <a:gd name="T24" fmla="*/ 0 w 556"/>
                  <a:gd name="T25" fmla="*/ 1900238 h 1197"/>
                  <a:gd name="T26" fmla="*/ 882650 w 556"/>
                  <a:gd name="T27" fmla="*/ 1900238 h 1197"/>
                  <a:gd name="T28" fmla="*/ 882650 w 556"/>
                  <a:gd name="T29" fmla="*/ 1892301 h 1197"/>
                  <a:gd name="T30" fmla="*/ 874713 w 556"/>
                  <a:gd name="T31" fmla="*/ 1892301 h 119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56"/>
                  <a:gd name="T49" fmla="*/ 0 h 1197"/>
                  <a:gd name="T50" fmla="*/ 556 w 556"/>
                  <a:gd name="T51" fmla="*/ 1197 h 119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56" h="1197">
                    <a:moveTo>
                      <a:pt x="551" y="1192"/>
                    </a:moveTo>
                    <a:lnTo>
                      <a:pt x="551" y="1190"/>
                    </a:lnTo>
                    <a:lnTo>
                      <a:pt x="8" y="1190"/>
                    </a:lnTo>
                    <a:lnTo>
                      <a:pt x="8" y="7"/>
                    </a:lnTo>
                    <a:lnTo>
                      <a:pt x="545" y="7"/>
                    </a:lnTo>
                    <a:lnTo>
                      <a:pt x="545" y="1192"/>
                    </a:lnTo>
                    <a:lnTo>
                      <a:pt x="551" y="1192"/>
                    </a:lnTo>
                    <a:lnTo>
                      <a:pt x="551" y="1190"/>
                    </a:lnTo>
                    <a:lnTo>
                      <a:pt x="551" y="1192"/>
                    </a:lnTo>
                    <a:lnTo>
                      <a:pt x="556" y="1192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1197"/>
                    </a:lnTo>
                    <a:lnTo>
                      <a:pt x="556" y="1197"/>
                    </a:lnTo>
                    <a:lnTo>
                      <a:pt x="556" y="1192"/>
                    </a:lnTo>
                    <a:lnTo>
                      <a:pt x="551" y="1192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8" name="Freeform 18"/>
              <p:cNvSpPr>
                <a:spLocks/>
              </p:cNvSpPr>
              <p:nvPr/>
            </p:nvSpPr>
            <p:spPr bwMode="auto">
              <a:xfrm>
                <a:off x="4379474" y="2067464"/>
                <a:ext cx="953262" cy="2052257"/>
              </a:xfrm>
              <a:custGeom>
                <a:avLst/>
                <a:gdLst>
                  <a:gd name="T0" fmla="*/ 874713 w 556"/>
                  <a:gd name="T1" fmla="*/ 1892301 h 1197"/>
                  <a:gd name="T2" fmla="*/ 874713 w 556"/>
                  <a:gd name="T3" fmla="*/ 1889126 h 1197"/>
                  <a:gd name="T4" fmla="*/ 12700 w 556"/>
                  <a:gd name="T5" fmla="*/ 1889126 h 1197"/>
                  <a:gd name="T6" fmla="*/ 12700 w 556"/>
                  <a:gd name="T7" fmla="*/ 11113 h 1197"/>
                  <a:gd name="T8" fmla="*/ 865188 w 556"/>
                  <a:gd name="T9" fmla="*/ 11113 h 1197"/>
                  <a:gd name="T10" fmla="*/ 865188 w 556"/>
                  <a:gd name="T11" fmla="*/ 1892301 h 1197"/>
                  <a:gd name="T12" fmla="*/ 874713 w 556"/>
                  <a:gd name="T13" fmla="*/ 1892301 h 1197"/>
                  <a:gd name="T14" fmla="*/ 874713 w 556"/>
                  <a:gd name="T15" fmla="*/ 1889126 h 1197"/>
                  <a:gd name="T16" fmla="*/ 874713 w 556"/>
                  <a:gd name="T17" fmla="*/ 1892301 h 1197"/>
                  <a:gd name="T18" fmla="*/ 882650 w 556"/>
                  <a:gd name="T19" fmla="*/ 1892301 h 1197"/>
                  <a:gd name="T20" fmla="*/ 882650 w 556"/>
                  <a:gd name="T21" fmla="*/ 0 h 1197"/>
                  <a:gd name="T22" fmla="*/ 0 w 556"/>
                  <a:gd name="T23" fmla="*/ 0 h 1197"/>
                  <a:gd name="T24" fmla="*/ 0 w 556"/>
                  <a:gd name="T25" fmla="*/ 1900238 h 1197"/>
                  <a:gd name="T26" fmla="*/ 882650 w 556"/>
                  <a:gd name="T27" fmla="*/ 1900238 h 1197"/>
                  <a:gd name="T28" fmla="*/ 882650 w 556"/>
                  <a:gd name="T29" fmla="*/ 1892301 h 1197"/>
                  <a:gd name="T30" fmla="*/ 874713 w 556"/>
                  <a:gd name="T31" fmla="*/ 1892301 h 1197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56"/>
                  <a:gd name="T49" fmla="*/ 0 h 1197"/>
                  <a:gd name="T50" fmla="*/ 556 w 556"/>
                  <a:gd name="T51" fmla="*/ 1197 h 1197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56" h="1197">
                    <a:moveTo>
                      <a:pt x="551" y="1192"/>
                    </a:moveTo>
                    <a:lnTo>
                      <a:pt x="551" y="1190"/>
                    </a:lnTo>
                    <a:lnTo>
                      <a:pt x="8" y="1190"/>
                    </a:lnTo>
                    <a:lnTo>
                      <a:pt x="8" y="7"/>
                    </a:lnTo>
                    <a:lnTo>
                      <a:pt x="545" y="7"/>
                    </a:lnTo>
                    <a:lnTo>
                      <a:pt x="545" y="1192"/>
                    </a:lnTo>
                    <a:lnTo>
                      <a:pt x="551" y="1192"/>
                    </a:lnTo>
                    <a:lnTo>
                      <a:pt x="551" y="1190"/>
                    </a:lnTo>
                    <a:lnTo>
                      <a:pt x="551" y="1192"/>
                    </a:lnTo>
                    <a:lnTo>
                      <a:pt x="556" y="1192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1197"/>
                    </a:lnTo>
                    <a:lnTo>
                      <a:pt x="556" y="1197"/>
                    </a:lnTo>
                    <a:lnTo>
                      <a:pt x="556" y="1192"/>
                    </a:lnTo>
                    <a:lnTo>
                      <a:pt x="551" y="119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9" name="Rectangle 19"/>
              <p:cNvSpPr>
                <a:spLocks noChangeArrowheads="1"/>
              </p:cNvSpPr>
              <p:nvPr/>
            </p:nvSpPr>
            <p:spPr bwMode="auto">
              <a:xfrm>
                <a:off x="4751520" y="2285206"/>
                <a:ext cx="522923" cy="1597914"/>
              </a:xfrm>
              <a:prstGeom prst="rect">
                <a:avLst/>
              </a:prstGeom>
              <a:solidFill>
                <a:srgbClr val="DFE6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0" name="Rectangle 20"/>
              <p:cNvSpPr>
                <a:spLocks noChangeArrowheads="1"/>
              </p:cNvSpPr>
              <p:nvPr/>
            </p:nvSpPr>
            <p:spPr bwMode="auto">
              <a:xfrm>
                <a:off x="4751520" y="2285206"/>
                <a:ext cx="522923" cy="15979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1" name="Freeform 21"/>
              <p:cNvSpPr>
                <a:spLocks/>
              </p:cNvSpPr>
              <p:nvPr/>
            </p:nvSpPr>
            <p:spPr bwMode="auto">
              <a:xfrm>
                <a:off x="4741233" y="2281777"/>
                <a:ext cx="541782" cy="1609915"/>
              </a:xfrm>
              <a:custGeom>
                <a:avLst/>
                <a:gdLst>
                  <a:gd name="T0" fmla="*/ 493713 w 316"/>
                  <a:gd name="T1" fmla="*/ 1482725 h 939"/>
                  <a:gd name="T2" fmla="*/ 493713 w 316"/>
                  <a:gd name="T3" fmla="*/ 1479550 h 939"/>
                  <a:gd name="T4" fmla="*/ 12700 w 316"/>
                  <a:gd name="T5" fmla="*/ 1479550 h 939"/>
                  <a:gd name="T6" fmla="*/ 12700 w 316"/>
                  <a:gd name="T7" fmla="*/ 12700 h 939"/>
                  <a:gd name="T8" fmla="*/ 488950 w 316"/>
                  <a:gd name="T9" fmla="*/ 12700 h 939"/>
                  <a:gd name="T10" fmla="*/ 488950 w 316"/>
                  <a:gd name="T11" fmla="*/ 1482725 h 939"/>
                  <a:gd name="T12" fmla="*/ 493713 w 316"/>
                  <a:gd name="T13" fmla="*/ 1482725 h 939"/>
                  <a:gd name="T14" fmla="*/ 493713 w 316"/>
                  <a:gd name="T15" fmla="*/ 1479550 h 939"/>
                  <a:gd name="T16" fmla="*/ 493713 w 316"/>
                  <a:gd name="T17" fmla="*/ 1482725 h 939"/>
                  <a:gd name="T18" fmla="*/ 501650 w 316"/>
                  <a:gd name="T19" fmla="*/ 1482725 h 939"/>
                  <a:gd name="T20" fmla="*/ 501650 w 316"/>
                  <a:gd name="T21" fmla="*/ 0 h 939"/>
                  <a:gd name="T22" fmla="*/ 0 w 316"/>
                  <a:gd name="T23" fmla="*/ 0 h 939"/>
                  <a:gd name="T24" fmla="*/ 0 w 316"/>
                  <a:gd name="T25" fmla="*/ 1490662 h 939"/>
                  <a:gd name="T26" fmla="*/ 501650 w 316"/>
                  <a:gd name="T27" fmla="*/ 1490662 h 939"/>
                  <a:gd name="T28" fmla="*/ 501650 w 316"/>
                  <a:gd name="T29" fmla="*/ 1482725 h 939"/>
                  <a:gd name="T30" fmla="*/ 493713 w 316"/>
                  <a:gd name="T31" fmla="*/ 1482725 h 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16"/>
                  <a:gd name="T49" fmla="*/ 0 h 939"/>
                  <a:gd name="T50" fmla="*/ 316 w 316"/>
                  <a:gd name="T51" fmla="*/ 939 h 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16" h="939">
                    <a:moveTo>
                      <a:pt x="311" y="934"/>
                    </a:moveTo>
                    <a:lnTo>
                      <a:pt x="311" y="932"/>
                    </a:lnTo>
                    <a:lnTo>
                      <a:pt x="8" y="932"/>
                    </a:lnTo>
                    <a:lnTo>
                      <a:pt x="8" y="8"/>
                    </a:lnTo>
                    <a:lnTo>
                      <a:pt x="308" y="8"/>
                    </a:lnTo>
                    <a:lnTo>
                      <a:pt x="308" y="934"/>
                    </a:lnTo>
                    <a:lnTo>
                      <a:pt x="311" y="934"/>
                    </a:lnTo>
                    <a:lnTo>
                      <a:pt x="311" y="932"/>
                    </a:lnTo>
                    <a:lnTo>
                      <a:pt x="311" y="934"/>
                    </a:lnTo>
                    <a:lnTo>
                      <a:pt x="316" y="934"/>
                    </a:lnTo>
                    <a:lnTo>
                      <a:pt x="316" y="0"/>
                    </a:lnTo>
                    <a:lnTo>
                      <a:pt x="0" y="0"/>
                    </a:lnTo>
                    <a:lnTo>
                      <a:pt x="0" y="939"/>
                    </a:lnTo>
                    <a:lnTo>
                      <a:pt x="316" y="939"/>
                    </a:lnTo>
                    <a:lnTo>
                      <a:pt x="316" y="934"/>
                    </a:lnTo>
                    <a:lnTo>
                      <a:pt x="311" y="934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2" name="Freeform 22"/>
              <p:cNvSpPr>
                <a:spLocks/>
              </p:cNvSpPr>
              <p:nvPr/>
            </p:nvSpPr>
            <p:spPr bwMode="auto">
              <a:xfrm>
                <a:off x="4741233" y="2281777"/>
                <a:ext cx="541782" cy="1609915"/>
              </a:xfrm>
              <a:custGeom>
                <a:avLst/>
                <a:gdLst>
                  <a:gd name="T0" fmla="*/ 493713 w 316"/>
                  <a:gd name="T1" fmla="*/ 1482725 h 939"/>
                  <a:gd name="T2" fmla="*/ 493713 w 316"/>
                  <a:gd name="T3" fmla="*/ 1479550 h 939"/>
                  <a:gd name="T4" fmla="*/ 12700 w 316"/>
                  <a:gd name="T5" fmla="*/ 1479550 h 939"/>
                  <a:gd name="T6" fmla="*/ 12700 w 316"/>
                  <a:gd name="T7" fmla="*/ 12700 h 939"/>
                  <a:gd name="T8" fmla="*/ 488950 w 316"/>
                  <a:gd name="T9" fmla="*/ 12700 h 939"/>
                  <a:gd name="T10" fmla="*/ 488950 w 316"/>
                  <a:gd name="T11" fmla="*/ 1482725 h 939"/>
                  <a:gd name="T12" fmla="*/ 493713 w 316"/>
                  <a:gd name="T13" fmla="*/ 1482725 h 939"/>
                  <a:gd name="T14" fmla="*/ 493713 w 316"/>
                  <a:gd name="T15" fmla="*/ 1479550 h 939"/>
                  <a:gd name="T16" fmla="*/ 493713 w 316"/>
                  <a:gd name="T17" fmla="*/ 1482725 h 939"/>
                  <a:gd name="T18" fmla="*/ 501650 w 316"/>
                  <a:gd name="T19" fmla="*/ 1482725 h 939"/>
                  <a:gd name="T20" fmla="*/ 501650 w 316"/>
                  <a:gd name="T21" fmla="*/ 0 h 939"/>
                  <a:gd name="T22" fmla="*/ 0 w 316"/>
                  <a:gd name="T23" fmla="*/ 0 h 939"/>
                  <a:gd name="T24" fmla="*/ 0 w 316"/>
                  <a:gd name="T25" fmla="*/ 1490662 h 939"/>
                  <a:gd name="T26" fmla="*/ 501650 w 316"/>
                  <a:gd name="T27" fmla="*/ 1490662 h 939"/>
                  <a:gd name="T28" fmla="*/ 501650 w 316"/>
                  <a:gd name="T29" fmla="*/ 1482725 h 939"/>
                  <a:gd name="T30" fmla="*/ 493713 w 316"/>
                  <a:gd name="T31" fmla="*/ 1482725 h 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16"/>
                  <a:gd name="T49" fmla="*/ 0 h 939"/>
                  <a:gd name="T50" fmla="*/ 316 w 316"/>
                  <a:gd name="T51" fmla="*/ 939 h 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16" h="939">
                    <a:moveTo>
                      <a:pt x="311" y="934"/>
                    </a:moveTo>
                    <a:lnTo>
                      <a:pt x="311" y="932"/>
                    </a:lnTo>
                    <a:lnTo>
                      <a:pt x="8" y="932"/>
                    </a:lnTo>
                    <a:lnTo>
                      <a:pt x="8" y="8"/>
                    </a:lnTo>
                    <a:lnTo>
                      <a:pt x="308" y="8"/>
                    </a:lnTo>
                    <a:lnTo>
                      <a:pt x="308" y="934"/>
                    </a:lnTo>
                    <a:lnTo>
                      <a:pt x="311" y="934"/>
                    </a:lnTo>
                    <a:lnTo>
                      <a:pt x="311" y="932"/>
                    </a:lnTo>
                    <a:lnTo>
                      <a:pt x="311" y="934"/>
                    </a:lnTo>
                    <a:lnTo>
                      <a:pt x="316" y="934"/>
                    </a:lnTo>
                    <a:lnTo>
                      <a:pt x="316" y="0"/>
                    </a:lnTo>
                    <a:lnTo>
                      <a:pt x="0" y="0"/>
                    </a:lnTo>
                    <a:lnTo>
                      <a:pt x="0" y="939"/>
                    </a:lnTo>
                    <a:lnTo>
                      <a:pt x="316" y="939"/>
                    </a:lnTo>
                    <a:lnTo>
                      <a:pt x="316" y="934"/>
                    </a:lnTo>
                    <a:lnTo>
                      <a:pt x="311" y="9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>
                <a:off x="4746377" y="2487517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4" name="Line 24"/>
              <p:cNvSpPr>
                <a:spLocks noChangeShapeType="1"/>
              </p:cNvSpPr>
              <p:nvPr/>
            </p:nvSpPr>
            <p:spPr bwMode="auto">
              <a:xfrm>
                <a:off x="4746377" y="2684684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5" name="Line 25"/>
              <p:cNvSpPr>
                <a:spLocks noChangeShapeType="1"/>
              </p:cNvSpPr>
              <p:nvPr/>
            </p:nvSpPr>
            <p:spPr bwMode="auto">
              <a:xfrm>
                <a:off x="4746377" y="2885281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6" name="Line 26"/>
              <p:cNvSpPr>
                <a:spLocks noChangeShapeType="1"/>
              </p:cNvSpPr>
              <p:nvPr/>
            </p:nvSpPr>
            <p:spPr bwMode="auto">
              <a:xfrm>
                <a:off x="4746377" y="3087592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7" name="Line 27"/>
              <p:cNvSpPr>
                <a:spLocks noChangeShapeType="1"/>
              </p:cNvSpPr>
              <p:nvPr/>
            </p:nvSpPr>
            <p:spPr bwMode="auto">
              <a:xfrm>
                <a:off x="4746377" y="3283045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>
                <a:off x="4746377" y="3485356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29" name="Line 29"/>
              <p:cNvSpPr>
                <a:spLocks noChangeShapeType="1"/>
              </p:cNvSpPr>
              <p:nvPr/>
            </p:nvSpPr>
            <p:spPr bwMode="auto">
              <a:xfrm>
                <a:off x="4746377" y="3685952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30" name="Rectangle 30"/>
              <p:cNvSpPr>
                <a:spLocks noChangeArrowheads="1"/>
              </p:cNvSpPr>
              <p:nvPr/>
            </p:nvSpPr>
            <p:spPr bwMode="auto">
              <a:xfrm>
                <a:off x="4418632" y="2082282"/>
                <a:ext cx="754271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8x1 </a:t>
                </a:r>
                <a:r>
                  <a:rPr lang="en-US" altLang="en-US" sz="1600" dirty="0" err="1">
                    <a:solidFill>
                      <a:srgbClr val="000000"/>
                    </a:solidFill>
                    <a:latin typeface="Helvetica" pitchFamily="34" charset="0"/>
                  </a:rPr>
                  <a:t>Mem</a:t>
                </a:r>
                <a:endParaRPr lang="en-US" altLang="en-US" sz="1600" dirty="0"/>
              </a:p>
            </p:txBody>
          </p:sp>
          <p:grpSp>
            <p:nvGrpSpPr>
              <p:cNvPr id="31" name="Group 441"/>
              <p:cNvGrpSpPr>
                <a:grpSpLocks/>
              </p:cNvGrpSpPr>
              <p:nvPr/>
            </p:nvGrpSpPr>
            <p:grpSpPr bwMode="auto">
              <a:xfrm>
                <a:off x="4938380" y="2343498"/>
                <a:ext cx="147447" cy="1495044"/>
                <a:chOff x="3281" y="1519"/>
                <a:chExt cx="86" cy="872"/>
              </a:xfrm>
            </p:grpSpPr>
            <p:sp>
              <p:nvSpPr>
                <p:cNvPr id="198" name="Rectangle 34"/>
                <p:cNvSpPr>
                  <a:spLocks noChangeArrowheads="1"/>
                </p:cNvSpPr>
                <p:nvPr/>
              </p:nvSpPr>
              <p:spPr bwMode="auto">
                <a:xfrm>
                  <a:off x="3281" y="1519"/>
                  <a:ext cx="86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99" name="Rectangle 36"/>
                <p:cNvSpPr>
                  <a:spLocks noChangeArrowheads="1"/>
                </p:cNvSpPr>
                <p:nvPr/>
              </p:nvSpPr>
              <p:spPr bwMode="auto">
                <a:xfrm>
                  <a:off x="3281" y="1634"/>
                  <a:ext cx="73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00" name="Rectangle 38"/>
                <p:cNvSpPr>
                  <a:spLocks noChangeArrowheads="1"/>
                </p:cNvSpPr>
                <p:nvPr/>
              </p:nvSpPr>
              <p:spPr bwMode="auto">
                <a:xfrm>
                  <a:off x="3281" y="1752"/>
                  <a:ext cx="86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01" name="Rectangle 40"/>
                <p:cNvSpPr>
                  <a:spLocks noChangeArrowheads="1"/>
                </p:cNvSpPr>
                <p:nvPr/>
              </p:nvSpPr>
              <p:spPr bwMode="auto">
                <a:xfrm>
                  <a:off x="3281" y="1867"/>
                  <a:ext cx="73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02" name="Rectangle 42"/>
                <p:cNvSpPr>
                  <a:spLocks noChangeArrowheads="1"/>
                </p:cNvSpPr>
                <p:nvPr/>
              </p:nvSpPr>
              <p:spPr bwMode="auto">
                <a:xfrm>
                  <a:off x="3281" y="1984"/>
                  <a:ext cx="86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03" name="Rectangle 44"/>
                <p:cNvSpPr>
                  <a:spLocks noChangeArrowheads="1"/>
                </p:cNvSpPr>
                <p:nvPr/>
              </p:nvSpPr>
              <p:spPr bwMode="auto">
                <a:xfrm>
                  <a:off x="3281" y="2099"/>
                  <a:ext cx="73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04" name="Rectangle 46"/>
                <p:cNvSpPr>
                  <a:spLocks noChangeArrowheads="1"/>
                </p:cNvSpPr>
                <p:nvPr/>
              </p:nvSpPr>
              <p:spPr bwMode="auto">
                <a:xfrm>
                  <a:off x="3286" y="2216"/>
                  <a:ext cx="81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205" name="Rectangle 48"/>
                <p:cNvSpPr>
                  <a:spLocks noChangeArrowheads="1"/>
                </p:cNvSpPr>
                <p:nvPr/>
              </p:nvSpPr>
              <p:spPr bwMode="auto">
                <a:xfrm>
                  <a:off x="3281" y="2331"/>
                  <a:ext cx="73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</p:grpSp>
          <p:sp>
            <p:nvSpPr>
              <p:cNvPr id="32" name="Rectangle 50"/>
              <p:cNvSpPr>
                <a:spLocks noChangeArrowheads="1"/>
              </p:cNvSpPr>
              <p:nvPr/>
            </p:nvSpPr>
            <p:spPr bwMode="auto">
              <a:xfrm>
                <a:off x="4624969" y="231092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33" name="Rectangle 51"/>
              <p:cNvSpPr>
                <a:spLocks noChangeArrowheads="1"/>
              </p:cNvSpPr>
              <p:nvPr/>
            </p:nvSpPr>
            <p:spPr bwMode="auto">
              <a:xfrm>
                <a:off x="4624969" y="2508091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34" name="Rectangle 52"/>
              <p:cNvSpPr>
                <a:spLocks noChangeArrowheads="1"/>
              </p:cNvSpPr>
              <p:nvPr/>
            </p:nvSpPr>
            <p:spPr bwMode="auto">
              <a:xfrm>
                <a:off x="4624969" y="270697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 sz="1600" dirty="0"/>
              </a:p>
            </p:txBody>
          </p:sp>
          <p:sp>
            <p:nvSpPr>
              <p:cNvPr id="35" name="Rectangle 53"/>
              <p:cNvSpPr>
                <a:spLocks noChangeArrowheads="1"/>
              </p:cNvSpPr>
              <p:nvPr/>
            </p:nvSpPr>
            <p:spPr bwMode="auto">
              <a:xfrm>
                <a:off x="4624969" y="2904140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 sz="1600" dirty="0"/>
              </a:p>
            </p:txBody>
          </p:sp>
          <p:sp>
            <p:nvSpPr>
              <p:cNvPr id="36" name="Rectangle 54"/>
              <p:cNvSpPr>
                <a:spLocks noChangeArrowheads="1"/>
              </p:cNvSpPr>
              <p:nvPr/>
            </p:nvSpPr>
            <p:spPr bwMode="auto">
              <a:xfrm>
                <a:off x="4624969" y="3104737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 sz="1600" dirty="0"/>
              </a:p>
            </p:txBody>
          </p:sp>
          <p:sp>
            <p:nvSpPr>
              <p:cNvPr id="37" name="Rectangle 55"/>
              <p:cNvSpPr>
                <a:spLocks noChangeArrowheads="1"/>
              </p:cNvSpPr>
              <p:nvPr/>
            </p:nvSpPr>
            <p:spPr bwMode="auto">
              <a:xfrm>
                <a:off x="4624969" y="3303619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 sz="1600" dirty="0"/>
              </a:p>
            </p:txBody>
          </p:sp>
          <p:sp>
            <p:nvSpPr>
              <p:cNvPr id="38" name="Rectangle 56"/>
              <p:cNvSpPr>
                <a:spLocks noChangeArrowheads="1"/>
              </p:cNvSpPr>
              <p:nvPr/>
            </p:nvSpPr>
            <p:spPr bwMode="auto">
              <a:xfrm>
                <a:off x="4624969" y="3504215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 sz="1600" dirty="0"/>
              </a:p>
            </p:txBody>
          </p:sp>
          <p:sp>
            <p:nvSpPr>
              <p:cNvPr id="39" name="Rectangle 57"/>
              <p:cNvSpPr>
                <a:spLocks noChangeArrowheads="1"/>
              </p:cNvSpPr>
              <p:nvPr/>
            </p:nvSpPr>
            <p:spPr bwMode="auto">
              <a:xfrm>
                <a:off x="4624969" y="370138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7</a:t>
                </a:r>
                <a:endParaRPr lang="en-US" altLang="en-US" sz="1600" dirty="0"/>
              </a:p>
            </p:txBody>
          </p:sp>
          <p:sp>
            <p:nvSpPr>
              <p:cNvPr id="40" name="Rectangle 58"/>
              <p:cNvSpPr>
                <a:spLocks noChangeArrowheads="1"/>
              </p:cNvSpPr>
              <p:nvPr/>
            </p:nvSpPr>
            <p:spPr bwMode="auto">
              <a:xfrm>
                <a:off x="4413764" y="3012154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a2</a:t>
                </a:r>
                <a:endParaRPr lang="en-US" altLang="en-US" sz="1600"/>
              </a:p>
            </p:txBody>
          </p:sp>
          <p:sp>
            <p:nvSpPr>
              <p:cNvPr id="41" name="Rectangle 59"/>
              <p:cNvSpPr>
                <a:spLocks noChangeArrowheads="1"/>
              </p:cNvSpPr>
              <p:nvPr/>
            </p:nvSpPr>
            <p:spPr bwMode="auto">
              <a:xfrm>
                <a:off x="4413764" y="3166459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a1</a:t>
                </a:r>
                <a:endParaRPr lang="en-US" altLang="en-US" sz="1600"/>
              </a:p>
            </p:txBody>
          </p:sp>
          <p:sp>
            <p:nvSpPr>
              <p:cNvPr id="42" name="Rectangle 60"/>
              <p:cNvSpPr>
                <a:spLocks noChangeArrowheads="1"/>
              </p:cNvSpPr>
              <p:nvPr/>
            </p:nvSpPr>
            <p:spPr bwMode="auto">
              <a:xfrm>
                <a:off x="4413764" y="3346481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a0</a:t>
                </a:r>
                <a:endParaRPr lang="en-US" altLang="en-US" sz="1600"/>
              </a:p>
            </p:txBody>
          </p:sp>
          <p:sp>
            <p:nvSpPr>
              <p:cNvPr id="43" name="Rectangle 61"/>
              <p:cNvSpPr>
                <a:spLocks noChangeArrowheads="1"/>
              </p:cNvSpPr>
              <p:nvPr/>
            </p:nvSpPr>
            <p:spPr bwMode="auto">
              <a:xfrm>
                <a:off x="3736499" y="3173602"/>
                <a:ext cx="2500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939598"/>
                    </a:solidFill>
                    <a:latin typeface="Helvetica" pitchFamily="34" charset="0"/>
                  </a:rPr>
                  <a:t>P1</a:t>
                </a:r>
                <a:endParaRPr lang="en-US" altLang="en-US" sz="1600" dirty="0"/>
              </a:p>
            </p:txBody>
          </p:sp>
          <p:sp>
            <p:nvSpPr>
              <p:cNvPr id="44" name="Rectangle 62"/>
              <p:cNvSpPr>
                <a:spLocks noChangeArrowheads="1"/>
              </p:cNvSpPr>
              <p:nvPr/>
            </p:nvSpPr>
            <p:spPr bwMode="auto">
              <a:xfrm>
                <a:off x="3713465" y="2980479"/>
                <a:ext cx="2500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939598"/>
                    </a:solidFill>
                    <a:latin typeface="Helvetica" pitchFamily="34" charset="0"/>
                  </a:rPr>
                  <a:t>P0</a:t>
                </a:r>
                <a:endParaRPr lang="en-US" altLang="en-US" sz="1600" dirty="0"/>
              </a:p>
            </p:txBody>
          </p:sp>
          <p:sp>
            <p:nvSpPr>
              <p:cNvPr id="45" name="Rectangle 65"/>
              <p:cNvSpPr>
                <a:spLocks noChangeArrowheads="1"/>
              </p:cNvSpPr>
              <p:nvPr/>
            </p:nvSpPr>
            <p:spPr bwMode="auto">
              <a:xfrm>
                <a:off x="3724967" y="3360806"/>
                <a:ext cx="2500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939598"/>
                    </a:solidFill>
                    <a:latin typeface="Helvetica" pitchFamily="34" charset="0"/>
                  </a:rPr>
                  <a:t>P2</a:t>
                </a:r>
                <a:endParaRPr lang="en-US" altLang="en-US" sz="1600" dirty="0"/>
              </a:p>
            </p:txBody>
          </p:sp>
          <p:sp>
            <p:nvSpPr>
              <p:cNvPr id="46" name="Rectangle 66"/>
              <p:cNvSpPr>
                <a:spLocks noChangeArrowheads="1"/>
              </p:cNvSpPr>
              <p:nvPr/>
            </p:nvSpPr>
            <p:spPr bwMode="auto">
              <a:xfrm>
                <a:off x="3803402" y="5465603"/>
                <a:ext cx="2500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939598"/>
                    </a:solidFill>
                    <a:latin typeface="Helvetica" pitchFamily="34" charset="0"/>
                  </a:rPr>
                  <a:t>P3</a:t>
                </a:r>
                <a:endParaRPr lang="en-US" altLang="en-US" sz="1600"/>
              </a:p>
            </p:txBody>
          </p:sp>
          <p:sp>
            <p:nvSpPr>
              <p:cNvPr id="47" name="Rectangle 67"/>
              <p:cNvSpPr>
                <a:spLocks noChangeArrowheads="1"/>
              </p:cNvSpPr>
              <p:nvPr/>
            </p:nvSpPr>
            <p:spPr bwMode="auto">
              <a:xfrm>
                <a:off x="3803402" y="5642197"/>
                <a:ext cx="25006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939598"/>
                    </a:solidFill>
                    <a:latin typeface="Helvetica" pitchFamily="34" charset="0"/>
                  </a:rPr>
                  <a:t>P4</a:t>
                </a:r>
                <a:endParaRPr lang="en-US" altLang="en-US" sz="1600"/>
              </a:p>
            </p:txBody>
          </p:sp>
          <p:sp>
            <p:nvSpPr>
              <p:cNvPr id="48" name="Freeform 69"/>
              <p:cNvSpPr>
                <a:spLocks noEditPoints="1"/>
              </p:cNvSpPr>
              <p:nvPr/>
            </p:nvSpPr>
            <p:spPr bwMode="auto">
              <a:xfrm>
                <a:off x="4012571" y="3099593"/>
                <a:ext cx="250317" cy="18860"/>
              </a:xfrm>
              <a:custGeom>
                <a:avLst/>
                <a:gdLst>
                  <a:gd name="T0" fmla="*/ 57150 w 146"/>
                  <a:gd name="T1" fmla="*/ 0 h 11"/>
                  <a:gd name="T2" fmla="*/ 0 w 146"/>
                  <a:gd name="T3" fmla="*/ 0 h 11"/>
                  <a:gd name="T4" fmla="*/ 0 w 146"/>
                  <a:gd name="T5" fmla="*/ 17463 h 11"/>
                  <a:gd name="T6" fmla="*/ 57150 w 146"/>
                  <a:gd name="T7" fmla="*/ 17463 h 11"/>
                  <a:gd name="T8" fmla="*/ 57150 w 146"/>
                  <a:gd name="T9" fmla="*/ 0 h 11"/>
                  <a:gd name="T10" fmla="*/ 111125 w 146"/>
                  <a:gd name="T11" fmla="*/ 0 h 11"/>
                  <a:gd name="T12" fmla="*/ 69850 w 146"/>
                  <a:gd name="T13" fmla="*/ 0 h 11"/>
                  <a:gd name="T14" fmla="*/ 69850 w 146"/>
                  <a:gd name="T15" fmla="*/ 17463 h 11"/>
                  <a:gd name="T16" fmla="*/ 111125 w 146"/>
                  <a:gd name="T17" fmla="*/ 17463 h 11"/>
                  <a:gd name="T18" fmla="*/ 111125 w 146"/>
                  <a:gd name="T19" fmla="*/ 0 h 11"/>
                  <a:gd name="T20" fmla="*/ 231775 w 146"/>
                  <a:gd name="T21" fmla="*/ 0 h 11"/>
                  <a:gd name="T22" fmla="*/ 128587 w 146"/>
                  <a:gd name="T23" fmla="*/ 0 h 11"/>
                  <a:gd name="T24" fmla="*/ 128587 w 146"/>
                  <a:gd name="T25" fmla="*/ 17463 h 11"/>
                  <a:gd name="T26" fmla="*/ 231775 w 146"/>
                  <a:gd name="T27" fmla="*/ 17463 h 11"/>
                  <a:gd name="T28" fmla="*/ 231775 w 146"/>
                  <a:gd name="T29" fmla="*/ 0 h 1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6"/>
                  <a:gd name="T46" fmla="*/ 0 h 11"/>
                  <a:gd name="T47" fmla="*/ 146 w 146"/>
                  <a:gd name="T48" fmla="*/ 11 h 1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6" h="11">
                    <a:moveTo>
                      <a:pt x="36" y="0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6" y="11"/>
                    </a:lnTo>
                    <a:lnTo>
                      <a:pt x="36" y="0"/>
                    </a:lnTo>
                    <a:moveTo>
                      <a:pt x="70" y="0"/>
                    </a:moveTo>
                    <a:lnTo>
                      <a:pt x="44" y="0"/>
                    </a:lnTo>
                    <a:lnTo>
                      <a:pt x="44" y="11"/>
                    </a:lnTo>
                    <a:lnTo>
                      <a:pt x="70" y="11"/>
                    </a:lnTo>
                    <a:lnTo>
                      <a:pt x="70" y="0"/>
                    </a:lnTo>
                    <a:moveTo>
                      <a:pt x="146" y="0"/>
                    </a:moveTo>
                    <a:lnTo>
                      <a:pt x="81" y="0"/>
                    </a:lnTo>
                    <a:lnTo>
                      <a:pt x="81" y="11"/>
                    </a:lnTo>
                    <a:lnTo>
                      <a:pt x="146" y="11"/>
                    </a:lnTo>
                    <a:lnTo>
                      <a:pt x="1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49" name="Rectangle 70"/>
              <p:cNvSpPr>
                <a:spLocks noChangeArrowheads="1"/>
              </p:cNvSpPr>
              <p:nvPr/>
            </p:nvSpPr>
            <p:spPr bwMode="auto">
              <a:xfrm>
                <a:off x="4074293" y="3099593"/>
                <a:ext cx="13716" cy="18860"/>
              </a:xfrm>
              <a:prstGeom prst="rect">
                <a:avLst/>
              </a:pr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50" name="Rectangle 71"/>
              <p:cNvSpPr>
                <a:spLocks noChangeArrowheads="1"/>
              </p:cNvSpPr>
              <p:nvPr/>
            </p:nvSpPr>
            <p:spPr bwMode="auto">
              <a:xfrm>
                <a:off x="4074293" y="3099593"/>
                <a:ext cx="13716" cy="188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51" name="Freeform 72"/>
              <p:cNvSpPr>
                <a:spLocks/>
              </p:cNvSpPr>
              <p:nvPr/>
            </p:nvSpPr>
            <p:spPr bwMode="auto">
              <a:xfrm>
                <a:off x="4235456" y="3068732"/>
                <a:ext cx="144018" cy="80582"/>
              </a:xfrm>
              <a:custGeom>
                <a:avLst/>
                <a:gdLst>
                  <a:gd name="T0" fmla="*/ 0 w 84"/>
                  <a:gd name="T1" fmla="*/ 74613 h 47"/>
                  <a:gd name="T2" fmla="*/ 133350 w 84"/>
                  <a:gd name="T3" fmla="*/ 38100 h 47"/>
                  <a:gd name="T4" fmla="*/ 0 w 84"/>
                  <a:gd name="T5" fmla="*/ 0 h 47"/>
                  <a:gd name="T6" fmla="*/ 0 w 84"/>
                  <a:gd name="T7" fmla="*/ 746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"/>
                  <a:gd name="T13" fmla="*/ 0 h 47"/>
                  <a:gd name="T14" fmla="*/ 84 w 8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" h="47">
                    <a:moveTo>
                      <a:pt x="0" y="47"/>
                    </a:moveTo>
                    <a:lnTo>
                      <a:pt x="84" y="24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52" name="Rectangle 73"/>
              <p:cNvSpPr>
                <a:spLocks noChangeArrowheads="1"/>
              </p:cNvSpPr>
              <p:nvPr/>
            </p:nvSpPr>
            <p:spPr bwMode="auto">
              <a:xfrm>
                <a:off x="5797365" y="5136419"/>
                <a:ext cx="28533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m0</a:t>
                </a:r>
                <a:endParaRPr lang="en-US" altLang="en-US" sz="1600" dirty="0"/>
              </a:p>
            </p:txBody>
          </p:sp>
          <p:sp>
            <p:nvSpPr>
              <p:cNvPr id="53" name="Rectangle 74"/>
              <p:cNvSpPr>
                <a:spLocks noChangeArrowheads="1"/>
              </p:cNvSpPr>
              <p:nvPr/>
            </p:nvSpPr>
            <p:spPr bwMode="auto">
              <a:xfrm>
                <a:off x="5797365" y="5297582"/>
                <a:ext cx="28533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m1</a:t>
                </a:r>
                <a:endParaRPr lang="en-US" altLang="en-US" sz="1600" dirty="0"/>
              </a:p>
            </p:txBody>
          </p:sp>
          <p:sp>
            <p:nvSpPr>
              <p:cNvPr id="54" name="Rectangle 75"/>
              <p:cNvSpPr>
                <a:spLocks noChangeArrowheads="1"/>
              </p:cNvSpPr>
              <p:nvPr/>
            </p:nvSpPr>
            <p:spPr bwMode="auto">
              <a:xfrm>
                <a:off x="6354577" y="5156993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o0</a:t>
                </a:r>
                <a:endParaRPr lang="en-US" altLang="en-US" sz="1600"/>
              </a:p>
            </p:txBody>
          </p:sp>
          <p:sp>
            <p:nvSpPr>
              <p:cNvPr id="55" name="Rectangle 76"/>
              <p:cNvSpPr>
                <a:spLocks noChangeArrowheads="1"/>
              </p:cNvSpPr>
              <p:nvPr/>
            </p:nvSpPr>
            <p:spPr bwMode="auto">
              <a:xfrm>
                <a:off x="6354577" y="5386736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o1</a:t>
                </a:r>
                <a:endParaRPr lang="en-US" altLang="en-US" sz="1600" dirty="0"/>
              </a:p>
            </p:txBody>
          </p:sp>
          <p:sp>
            <p:nvSpPr>
              <p:cNvPr id="56" name="Rectangle 77"/>
              <p:cNvSpPr>
                <a:spLocks noChangeArrowheads="1"/>
              </p:cNvSpPr>
              <p:nvPr/>
            </p:nvSpPr>
            <p:spPr bwMode="auto">
              <a:xfrm>
                <a:off x="5797365" y="5455316"/>
                <a:ext cx="28533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m2</a:t>
                </a:r>
                <a:endParaRPr lang="en-US" altLang="en-US" sz="1600" dirty="0"/>
              </a:p>
            </p:txBody>
          </p:sp>
          <p:sp>
            <p:nvSpPr>
              <p:cNvPr id="57" name="Rectangle 78"/>
              <p:cNvSpPr>
                <a:spLocks noChangeArrowheads="1"/>
              </p:cNvSpPr>
              <p:nvPr/>
            </p:nvSpPr>
            <p:spPr bwMode="auto">
              <a:xfrm>
                <a:off x="5797365" y="5619908"/>
                <a:ext cx="28533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m3</a:t>
                </a:r>
                <a:endParaRPr lang="en-US" altLang="en-US" sz="1600"/>
              </a:p>
            </p:txBody>
          </p:sp>
          <p:sp>
            <p:nvSpPr>
              <p:cNvPr id="58" name="Freeform 79"/>
              <p:cNvSpPr>
                <a:spLocks/>
              </p:cNvSpPr>
              <p:nvPr/>
            </p:nvSpPr>
            <p:spPr bwMode="auto">
              <a:xfrm>
                <a:off x="5749359" y="4778089"/>
                <a:ext cx="795528" cy="1078420"/>
              </a:xfrm>
              <a:custGeom>
                <a:avLst/>
                <a:gdLst>
                  <a:gd name="T0" fmla="*/ 733425 w 464"/>
                  <a:gd name="T1" fmla="*/ 990600 h 629"/>
                  <a:gd name="T2" fmla="*/ 733425 w 464"/>
                  <a:gd name="T3" fmla="*/ 985837 h 629"/>
                  <a:gd name="T4" fmla="*/ 7938 w 464"/>
                  <a:gd name="T5" fmla="*/ 985837 h 629"/>
                  <a:gd name="T6" fmla="*/ 7938 w 464"/>
                  <a:gd name="T7" fmla="*/ 12700 h 629"/>
                  <a:gd name="T8" fmla="*/ 728663 w 464"/>
                  <a:gd name="T9" fmla="*/ 12700 h 629"/>
                  <a:gd name="T10" fmla="*/ 728663 w 464"/>
                  <a:gd name="T11" fmla="*/ 990600 h 629"/>
                  <a:gd name="T12" fmla="*/ 733425 w 464"/>
                  <a:gd name="T13" fmla="*/ 990600 h 629"/>
                  <a:gd name="T14" fmla="*/ 733425 w 464"/>
                  <a:gd name="T15" fmla="*/ 985837 h 629"/>
                  <a:gd name="T16" fmla="*/ 733425 w 464"/>
                  <a:gd name="T17" fmla="*/ 990600 h 629"/>
                  <a:gd name="T18" fmla="*/ 736600 w 464"/>
                  <a:gd name="T19" fmla="*/ 990600 h 629"/>
                  <a:gd name="T20" fmla="*/ 736600 w 464"/>
                  <a:gd name="T21" fmla="*/ 0 h 629"/>
                  <a:gd name="T22" fmla="*/ 0 w 464"/>
                  <a:gd name="T23" fmla="*/ 0 h 629"/>
                  <a:gd name="T24" fmla="*/ 0 w 464"/>
                  <a:gd name="T25" fmla="*/ 998537 h 629"/>
                  <a:gd name="T26" fmla="*/ 736600 w 464"/>
                  <a:gd name="T27" fmla="*/ 998537 h 629"/>
                  <a:gd name="T28" fmla="*/ 736600 w 464"/>
                  <a:gd name="T29" fmla="*/ 990600 h 629"/>
                  <a:gd name="T30" fmla="*/ 733425 w 464"/>
                  <a:gd name="T31" fmla="*/ 990600 h 6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64"/>
                  <a:gd name="T49" fmla="*/ 0 h 629"/>
                  <a:gd name="T50" fmla="*/ 464 w 464"/>
                  <a:gd name="T51" fmla="*/ 629 h 62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64" h="629">
                    <a:moveTo>
                      <a:pt x="462" y="624"/>
                    </a:moveTo>
                    <a:lnTo>
                      <a:pt x="462" y="621"/>
                    </a:lnTo>
                    <a:lnTo>
                      <a:pt x="5" y="621"/>
                    </a:lnTo>
                    <a:lnTo>
                      <a:pt x="5" y="8"/>
                    </a:lnTo>
                    <a:lnTo>
                      <a:pt x="459" y="8"/>
                    </a:lnTo>
                    <a:lnTo>
                      <a:pt x="459" y="624"/>
                    </a:lnTo>
                    <a:lnTo>
                      <a:pt x="462" y="624"/>
                    </a:lnTo>
                    <a:lnTo>
                      <a:pt x="462" y="621"/>
                    </a:lnTo>
                    <a:lnTo>
                      <a:pt x="462" y="624"/>
                    </a:lnTo>
                    <a:lnTo>
                      <a:pt x="464" y="624"/>
                    </a:lnTo>
                    <a:lnTo>
                      <a:pt x="464" y="0"/>
                    </a:lnTo>
                    <a:lnTo>
                      <a:pt x="0" y="0"/>
                    </a:lnTo>
                    <a:lnTo>
                      <a:pt x="0" y="629"/>
                    </a:lnTo>
                    <a:lnTo>
                      <a:pt x="464" y="629"/>
                    </a:lnTo>
                    <a:lnTo>
                      <a:pt x="464" y="624"/>
                    </a:lnTo>
                    <a:lnTo>
                      <a:pt x="462" y="624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59" name="Freeform 80"/>
              <p:cNvSpPr>
                <a:spLocks/>
              </p:cNvSpPr>
              <p:nvPr/>
            </p:nvSpPr>
            <p:spPr bwMode="auto">
              <a:xfrm>
                <a:off x="5749359" y="4778089"/>
                <a:ext cx="795528" cy="1078420"/>
              </a:xfrm>
              <a:custGeom>
                <a:avLst/>
                <a:gdLst>
                  <a:gd name="T0" fmla="*/ 733425 w 464"/>
                  <a:gd name="T1" fmla="*/ 990600 h 629"/>
                  <a:gd name="T2" fmla="*/ 733425 w 464"/>
                  <a:gd name="T3" fmla="*/ 985837 h 629"/>
                  <a:gd name="T4" fmla="*/ 7938 w 464"/>
                  <a:gd name="T5" fmla="*/ 985837 h 629"/>
                  <a:gd name="T6" fmla="*/ 7938 w 464"/>
                  <a:gd name="T7" fmla="*/ 12700 h 629"/>
                  <a:gd name="T8" fmla="*/ 728663 w 464"/>
                  <a:gd name="T9" fmla="*/ 12700 h 629"/>
                  <a:gd name="T10" fmla="*/ 728663 w 464"/>
                  <a:gd name="T11" fmla="*/ 990600 h 629"/>
                  <a:gd name="T12" fmla="*/ 733425 w 464"/>
                  <a:gd name="T13" fmla="*/ 990600 h 629"/>
                  <a:gd name="T14" fmla="*/ 733425 w 464"/>
                  <a:gd name="T15" fmla="*/ 985837 h 629"/>
                  <a:gd name="T16" fmla="*/ 733425 w 464"/>
                  <a:gd name="T17" fmla="*/ 990600 h 629"/>
                  <a:gd name="T18" fmla="*/ 736600 w 464"/>
                  <a:gd name="T19" fmla="*/ 990600 h 629"/>
                  <a:gd name="T20" fmla="*/ 736600 w 464"/>
                  <a:gd name="T21" fmla="*/ 0 h 629"/>
                  <a:gd name="T22" fmla="*/ 0 w 464"/>
                  <a:gd name="T23" fmla="*/ 0 h 629"/>
                  <a:gd name="T24" fmla="*/ 0 w 464"/>
                  <a:gd name="T25" fmla="*/ 998537 h 629"/>
                  <a:gd name="T26" fmla="*/ 736600 w 464"/>
                  <a:gd name="T27" fmla="*/ 998537 h 629"/>
                  <a:gd name="T28" fmla="*/ 736600 w 464"/>
                  <a:gd name="T29" fmla="*/ 990600 h 629"/>
                  <a:gd name="T30" fmla="*/ 733425 w 464"/>
                  <a:gd name="T31" fmla="*/ 990600 h 62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464"/>
                  <a:gd name="T49" fmla="*/ 0 h 629"/>
                  <a:gd name="T50" fmla="*/ 464 w 464"/>
                  <a:gd name="T51" fmla="*/ 629 h 62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464" h="629">
                    <a:moveTo>
                      <a:pt x="462" y="624"/>
                    </a:moveTo>
                    <a:lnTo>
                      <a:pt x="462" y="621"/>
                    </a:lnTo>
                    <a:lnTo>
                      <a:pt x="5" y="621"/>
                    </a:lnTo>
                    <a:lnTo>
                      <a:pt x="5" y="8"/>
                    </a:lnTo>
                    <a:lnTo>
                      <a:pt x="459" y="8"/>
                    </a:lnTo>
                    <a:lnTo>
                      <a:pt x="459" y="624"/>
                    </a:lnTo>
                    <a:lnTo>
                      <a:pt x="462" y="624"/>
                    </a:lnTo>
                    <a:lnTo>
                      <a:pt x="462" y="621"/>
                    </a:lnTo>
                    <a:lnTo>
                      <a:pt x="462" y="624"/>
                    </a:lnTo>
                    <a:lnTo>
                      <a:pt x="464" y="624"/>
                    </a:lnTo>
                    <a:lnTo>
                      <a:pt x="464" y="0"/>
                    </a:lnTo>
                    <a:lnTo>
                      <a:pt x="0" y="0"/>
                    </a:lnTo>
                    <a:lnTo>
                      <a:pt x="0" y="629"/>
                    </a:lnTo>
                    <a:lnTo>
                      <a:pt x="464" y="629"/>
                    </a:lnTo>
                    <a:lnTo>
                      <a:pt x="464" y="624"/>
                    </a:lnTo>
                    <a:lnTo>
                      <a:pt x="462" y="62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60" name="Rectangle 81"/>
              <p:cNvSpPr>
                <a:spLocks noChangeArrowheads="1"/>
              </p:cNvSpPr>
              <p:nvPr/>
            </p:nvSpPr>
            <p:spPr bwMode="auto">
              <a:xfrm>
                <a:off x="5921982" y="4741742"/>
                <a:ext cx="538151" cy="4396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Switch</a:t>
                </a:r>
              </a:p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matrix</a:t>
                </a:r>
                <a:endParaRPr lang="en-US" altLang="en-US" sz="1600" dirty="0"/>
              </a:p>
            </p:txBody>
          </p:sp>
          <p:sp>
            <p:nvSpPr>
              <p:cNvPr id="61" name="Freeform 85"/>
              <p:cNvSpPr>
                <a:spLocks/>
              </p:cNvSpPr>
              <p:nvPr/>
            </p:nvSpPr>
            <p:spPr bwMode="auto">
              <a:xfrm>
                <a:off x="6083686" y="5167279"/>
                <a:ext cx="241744" cy="185797"/>
              </a:xfrm>
              <a:custGeom>
                <a:avLst/>
                <a:gdLst>
                  <a:gd name="T0" fmla="*/ 215900 w 141"/>
                  <a:gd name="T1" fmla="*/ 149225 h 99"/>
                  <a:gd name="T2" fmla="*/ 215900 w 141"/>
                  <a:gd name="T3" fmla="*/ 146050 h 99"/>
                  <a:gd name="T4" fmla="*/ 12700 w 141"/>
                  <a:gd name="T5" fmla="*/ 146050 h 99"/>
                  <a:gd name="T6" fmla="*/ 12700 w 141"/>
                  <a:gd name="T7" fmla="*/ 12700 h 99"/>
                  <a:gd name="T8" fmla="*/ 211137 w 141"/>
                  <a:gd name="T9" fmla="*/ 12700 h 99"/>
                  <a:gd name="T10" fmla="*/ 211137 w 141"/>
                  <a:gd name="T11" fmla="*/ 149225 h 99"/>
                  <a:gd name="T12" fmla="*/ 215900 w 141"/>
                  <a:gd name="T13" fmla="*/ 149225 h 99"/>
                  <a:gd name="T14" fmla="*/ 215900 w 141"/>
                  <a:gd name="T15" fmla="*/ 146050 h 99"/>
                  <a:gd name="T16" fmla="*/ 215900 w 141"/>
                  <a:gd name="T17" fmla="*/ 149225 h 99"/>
                  <a:gd name="T18" fmla="*/ 223837 w 141"/>
                  <a:gd name="T19" fmla="*/ 149225 h 99"/>
                  <a:gd name="T20" fmla="*/ 223837 w 141"/>
                  <a:gd name="T21" fmla="*/ 0 h 99"/>
                  <a:gd name="T22" fmla="*/ 0 w 141"/>
                  <a:gd name="T23" fmla="*/ 0 h 99"/>
                  <a:gd name="T24" fmla="*/ 0 w 141"/>
                  <a:gd name="T25" fmla="*/ 157163 h 99"/>
                  <a:gd name="T26" fmla="*/ 223837 w 141"/>
                  <a:gd name="T27" fmla="*/ 157163 h 99"/>
                  <a:gd name="T28" fmla="*/ 223837 w 141"/>
                  <a:gd name="T29" fmla="*/ 149225 h 99"/>
                  <a:gd name="T30" fmla="*/ 215900 w 141"/>
                  <a:gd name="T31" fmla="*/ 149225 h 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9"/>
                  <a:gd name="T50" fmla="*/ 141 w 141"/>
                  <a:gd name="T51" fmla="*/ 99 h 9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9">
                    <a:moveTo>
                      <a:pt x="136" y="94"/>
                    </a:moveTo>
                    <a:lnTo>
                      <a:pt x="136" y="92"/>
                    </a:lnTo>
                    <a:lnTo>
                      <a:pt x="8" y="92"/>
                    </a:lnTo>
                    <a:lnTo>
                      <a:pt x="8" y="8"/>
                    </a:lnTo>
                    <a:lnTo>
                      <a:pt x="133" y="8"/>
                    </a:lnTo>
                    <a:lnTo>
                      <a:pt x="133" y="94"/>
                    </a:lnTo>
                    <a:lnTo>
                      <a:pt x="136" y="94"/>
                    </a:lnTo>
                    <a:lnTo>
                      <a:pt x="136" y="92"/>
                    </a:lnTo>
                    <a:lnTo>
                      <a:pt x="136" y="94"/>
                    </a:lnTo>
                    <a:lnTo>
                      <a:pt x="141" y="94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9"/>
                    </a:lnTo>
                    <a:lnTo>
                      <a:pt x="141" y="99"/>
                    </a:lnTo>
                    <a:lnTo>
                      <a:pt x="141" y="94"/>
                    </a:lnTo>
                    <a:lnTo>
                      <a:pt x="136" y="94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62" name="Freeform 86"/>
              <p:cNvSpPr>
                <a:spLocks/>
              </p:cNvSpPr>
              <p:nvPr/>
            </p:nvSpPr>
            <p:spPr bwMode="auto">
              <a:xfrm>
                <a:off x="6083686" y="5167280"/>
                <a:ext cx="241744" cy="169736"/>
              </a:xfrm>
              <a:custGeom>
                <a:avLst/>
                <a:gdLst>
                  <a:gd name="T0" fmla="*/ 215900 w 141"/>
                  <a:gd name="T1" fmla="*/ 149225 h 99"/>
                  <a:gd name="T2" fmla="*/ 215900 w 141"/>
                  <a:gd name="T3" fmla="*/ 146050 h 99"/>
                  <a:gd name="T4" fmla="*/ 12700 w 141"/>
                  <a:gd name="T5" fmla="*/ 146050 h 99"/>
                  <a:gd name="T6" fmla="*/ 12700 w 141"/>
                  <a:gd name="T7" fmla="*/ 12700 h 99"/>
                  <a:gd name="T8" fmla="*/ 211137 w 141"/>
                  <a:gd name="T9" fmla="*/ 12700 h 99"/>
                  <a:gd name="T10" fmla="*/ 211137 w 141"/>
                  <a:gd name="T11" fmla="*/ 149225 h 99"/>
                  <a:gd name="T12" fmla="*/ 215900 w 141"/>
                  <a:gd name="T13" fmla="*/ 149225 h 99"/>
                  <a:gd name="T14" fmla="*/ 215900 w 141"/>
                  <a:gd name="T15" fmla="*/ 146050 h 99"/>
                  <a:gd name="T16" fmla="*/ 215900 w 141"/>
                  <a:gd name="T17" fmla="*/ 149225 h 99"/>
                  <a:gd name="T18" fmla="*/ 223837 w 141"/>
                  <a:gd name="T19" fmla="*/ 149225 h 99"/>
                  <a:gd name="T20" fmla="*/ 223837 w 141"/>
                  <a:gd name="T21" fmla="*/ 0 h 99"/>
                  <a:gd name="T22" fmla="*/ 0 w 141"/>
                  <a:gd name="T23" fmla="*/ 0 h 99"/>
                  <a:gd name="T24" fmla="*/ 0 w 141"/>
                  <a:gd name="T25" fmla="*/ 157163 h 99"/>
                  <a:gd name="T26" fmla="*/ 223837 w 141"/>
                  <a:gd name="T27" fmla="*/ 157163 h 99"/>
                  <a:gd name="T28" fmla="*/ 223837 w 141"/>
                  <a:gd name="T29" fmla="*/ 149225 h 99"/>
                  <a:gd name="T30" fmla="*/ 215900 w 141"/>
                  <a:gd name="T31" fmla="*/ 149225 h 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9"/>
                  <a:gd name="T50" fmla="*/ 141 w 141"/>
                  <a:gd name="T51" fmla="*/ 99 h 9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9">
                    <a:moveTo>
                      <a:pt x="136" y="94"/>
                    </a:moveTo>
                    <a:lnTo>
                      <a:pt x="136" y="92"/>
                    </a:lnTo>
                    <a:lnTo>
                      <a:pt x="8" y="92"/>
                    </a:lnTo>
                    <a:lnTo>
                      <a:pt x="8" y="8"/>
                    </a:lnTo>
                    <a:lnTo>
                      <a:pt x="133" y="8"/>
                    </a:lnTo>
                    <a:lnTo>
                      <a:pt x="133" y="94"/>
                    </a:lnTo>
                    <a:lnTo>
                      <a:pt x="136" y="94"/>
                    </a:lnTo>
                    <a:lnTo>
                      <a:pt x="136" y="92"/>
                    </a:lnTo>
                    <a:lnTo>
                      <a:pt x="136" y="94"/>
                    </a:lnTo>
                    <a:lnTo>
                      <a:pt x="141" y="94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9"/>
                    </a:lnTo>
                    <a:lnTo>
                      <a:pt x="141" y="99"/>
                    </a:lnTo>
                    <a:lnTo>
                      <a:pt x="141" y="94"/>
                    </a:lnTo>
                    <a:lnTo>
                      <a:pt x="136" y="9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63" name="Freeform 87"/>
              <p:cNvSpPr>
                <a:spLocks/>
              </p:cNvSpPr>
              <p:nvPr/>
            </p:nvSpPr>
            <p:spPr bwMode="auto">
              <a:xfrm>
                <a:off x="6083686" y="5391880"/>
                <a:ext cx="241744" cy="172829"/>
              </a:xfrm>
              <a:custGeom>
                <a:avLst/>
                <a:gdLst>
                  <a:gd name="T0" fmla="*/ 215900 w 141"/>
                  <a:gd name="T1" fmla="*/ 149225 h 96"/>
                  <a:gd name="T2" fmla="*/ 215900 w 141"/>
                  <a:gd name="T3" fmla="*/ 139700 h 96"/>
                  <a:gd name="T4" fmla="*/ 12700 w 141"/>
                  <a:gd name="T5" fmla="*/ 139700 h 96"/>
                  <a:gd name="T6" fmla="*/ 12700 w 141"/>
                  <a:gd name="T7" fmla="*/ 11112 h 96"/>
                  <a:gd name="T8" fmla="*/ 211137 w 141"/>
                  <a:gd name="T9" fmla="*/ 11112 h 96"/>
                  <a:gd name="T10" fmla="*/ 211137 w 141"/>
                  <a:gd name="T11" fmla="*/ 149225 h 96"/>
                  <a:gd name="T12" fmla="*/ 215900 w 141"/>
                  <a:gd name="T13" fmla="*/ 149225 h 96"/>
                  <a:gd name="T14" fmla="*/ 215900 w 141"/>
                  <a:gd name="T15" fmla="*/ 139700 h 96"/>
                  <a:gd name="T16" fmla="*/ 215900 w 141"/>
                  <a:gd name="T17" fmla="*/ 149225 h 96"/>
                  <a:gd name="T18" fmla="*/ 223837 w 141"/>
                  <a:gd name="T19" fmla="*/ 149225 h 96"/>
                  <a:gd name="T20" fmla="*/ 223837 w 141"/>
                  <a:gd name="T21" fmla="*/ 0 h 96"/>
                  <a:gd name="T22" fmla="*/ 0 w 141"/>
                  <a:gd name="T23" fmla="*/ 0 h 96"/>
                  <a:gd name="T24" fmla="*/ 0 w 141"/>
                  <a:gd name="T25" fmla="*/ 152400 h 96"/>
                  <a:gd name="T26" fmla="*/ 223837 w 141"/>
                  <a:gd name="T27" fmla="*/ 152400 h 96"/>
                  <a:gd name="T28" fmla="*/ 223837 w 141"/>
                  <a:gd name="T29" fmla="*/ 149225 h 96"/>
                  <a:gd name="T30" fmla="*/ 215900 w 141"/>
                  <a:gd name="T31" fmla="*/ 149225 h 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6"/>
                  <a:gd name="T50" fmla="*/ 141 w 141"/>
                  <a:gd name="T51" fmla="*/ 96 h 9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6">
                    <a:moveTo>
                      <a:pt x="136" y="94"/>
                    </a:moveTo>
                    <a:lnTo>
                      <a:pt x="136" y="88"/>
                    </a:lnTo>
                    <a:lnTo>
                      <a:pt x="8" y="88"/>
                    </a:lnTo>
                    <a:lnTo>
                      <a:pt x="8" y="7"/>
                    </a:lnTo>
                    <a:lnTo>
                      <a:pt x="133" y="7"/>
                    </a:lnTo>
                    <a:lnTo>
                      <a:pt x="133" y="94"/>
                    </a:lnTo>
                    <a:lnTo>
                      <a:pt x="136" y="94"/>
                    </a:lnTo>
                    <a:lnTo>
                      <a:pt x="136" y="88"/>
                    </a:lnTo>
                    <a:lnTo>
                      <a:pt x="136" y="94"/>
                    </a:lnTo>
                    <a:lnTo>
                      <a:pt x="141" y="94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141" y="96"/>
                    </a:lnTo>
                    <a:lnTo>
                      <a:pt x="141" y="94"/>
                    </a:lnTo>
                    <a:lnTo>
                      <a:pt x="136" y="94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64" name="Freeform 88"/>
              <p:cNvSpPr>
                <a:spLocks/>
              </p:cNvSpPr>
              <p:nvPr/>
            </p:nvSpPr>
            <p:spPr bwMode="auto">
              <a:xfrm>
                <a:off x="6083686" y="5391880"/>
                <a:ext cx="241744" cy="164592"/>
              </a:xfrm>
              <a:custGeom>
                <a:avLst/>
                <a:gdLst>
                  <a:gd name="T0" fmla="*/ 215900 w 141"/>
                  <a:gd name="T1" fmla="*/ 149225 h 96"/>
                  <a:gd name="T2" fmla="*/ 215900 w 141"/>
                  <a:gd name="T3" fmla="*/ 139700 h 96"/>
                  <a:gd name="T4" fmla="*/ 12700 w 141"/>
                  <a:gd name="T5" fmla="*/ 139700 h 96"/>
                  <a:gd name="T6" fmla="*/ 12700 w 141"/>
                  <a:gd name="T7" fmla="*/ 11112 h 96"/>
                  <a:gd name="T8" fmla="*/ 211137 w 141"/>
                  <a:gd name="T9" fmla="*/ 11112 h 96"/>
                  <a:gd name="T10" fmla="*/ 211137 w 141"/>
                  <a:gd name="T11" fmla="*/ 149225 h 96"/>
                  <a:gd name="T12" fmla="*/ 215900 w 141"/>
                  <a:gd name="T13" fmla="*/ 149225 h 96"/>
                  <a:gd name="T14" fmla="*/ 215900 w 141"/>
                  <a:gd name="T15" fmla="*/ 139700 h 96"/>
                  <a:gd name="T16" fmla="*/ 215900 w 141"/>
                  <a:gd name="T17" fmla="*/ 149225 h 96"/>
                  <a:gd name="T18" fmla="*/ 223837 w 141"/>
                  <a:gd name="T19" fmla="*/ 149225 h 96"/>
                  <a:gd name="T20" fmla="*/ 223837 w 141"/>
                  <a:gd name="T21" fmla="*/ 0 h 96"/>
                  <a:gd name="T22" fmla="*/ 0 w 141"/>
                  <a:gd name="T23" fmla="*/ 0 h 96"/>
                  <a:gd name="T24" fmla="*/ 0 w 141"/>
                  <a:gd name="T25" fmla="*/ 152400 h 96"/>
                  <a:gd name="T26" fmla="*/ 223837 w 141"/>
                  <a:gd name="T27" fmla="*/ 152400 h 96"/>
                  <a:gd name="T28" fmla="*/ 223837 w 141"/>
                  <a:gd name="T29" fmla="*/ 149225 h 96"/>
                  <a:gd name="T30" fmla="*/ 215900 w 141"/>
                  <a:gd name="T31" fmla="*/ 149225 h 9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6"/>
                  <a:gd name="T50" fmla="*/ 141 w 141"/>
                  <a:gd name="T51" fmla="*/ 96 h 9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6">
                    <a:moveTo>
                      <a:pt x="136" y="94"/>
                    </a:moveTo>
                    <a:lnTo>
                      <a:pt x="136" y="88"/>
                    </a:lnTo>
                    <a:lnTo>
                      <a:pt x="8" y="88"/>
                    </a:lnTo>
                    <a:lnTo>
                      <a:pt x="8" y="7"/>
                    </a:lnTo>
                    <a:lnTo>
                      <a:pt x="133" y="7"/>
                    </a:lnTo>
                    <a:lnTo>
                      <a:pt x="133" y="94"/>
                    </a:lnTo>
                    <a:lnTo>
                      <a:pt x="136" y="94"/>
                    </a:lnTo>
                    <a:lnTo>
                      <a:pt x="136" y="88"/>
                    </a:lnTo>
                    <a:lnTo>
                      <a:pt x="136" y="94"/>
                    </a:lnTo>
                    <a:lnTo>
                      <a:pt x="141" y="94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141" y="96"/>
                    </a:lnTo>
                    <a:lnTo>
                      <a:pt x="141" y="94"/>
                    </a:lnTo>
                    <a:lnTo>
                      <a:pt x="136" y="9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65" name="Rectangle 89"/>
              <p:cNvSpPr>
                <a:spLocks noChangeArrowheads="1"/>
              </p:cNvSpPr>
              <p:nvPr/>
            </p:nvSpPr>
            <p:spPr bwMode="auto">
              <a:xfrm>
                <a:off x="5888688" y="2051415"/>
                <a:ext cx="55784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rgbClr val="000000"/>
                    </a:solidFill>
                    <a:latin typeface="Helvetica" pitchFamily="34" charset="0"/>
                  </a:rPr>
                  <a:t>FPGA</a:t>
                </a:r>
                <a:endParaRPr lang="en-US" altLang="en-US" sz="1800" dirty="0"/>
              </a:p>
            </p:txBody>
          </p:sp>
          <p:sp>
            <p:nvSpPr>
              <p:cNvPr id="66" name="Freeform 92"/>
              <p:cNvSpPr>
                <a:spLocks/>
              </p:cNvSpPr>
              <p:nvPr/>
            </p:nvSpPr>
            <p:spPr bwMode="auto">
              <a:xfrm>
                <a:off x="4778333" y="5024977"/>
                <a:ext cx="854440" cy="366903"/>
              </a:xfrm>
              <a:custGeom>
                <a:avLst/>
                <a:gdLst>
                  <a:gd name="T0" fmla="*/ 0 w 590"/>
                  <a:gd name="T1" fmla="*/ 0 h 214"/>
                  <a:gd name="T2" fmla="*/ 0 w 590"/>
                  <a:gd name="T3" fmla="*/ 339725 h 214"/>
                  <a:gd name="T4" fmla="*/ 936625 w 590"/>
                  <a:gd name="T5" fmla="*/ 339725 h 214"/>
                  <a:gd name="T6" fmla="*/ 0 60000 65536"/>
                  <a:gd name="T7" fmla="*/ 0 60000 65536"/>
                  <a:gd name="T8" fmla="*/ 0 60000 65536"/>
                  <a:gd name="T9" fmla="*/ 0 w 590"/>
                  <a:gd name="T10" fmla="*/ 0 h 214"/>
                  <a:gd name="T11" fmla="*/ 590 w 590"/>
                  <a:gd name="T12" fmla="*/ 214 h 2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0" h="214">
                    <a:moveTo>
                      <a:pt x="0" y="0"/>
                    </a:moveTo>
                    <a:lnTo>
                      <a:pt x="0" y="214"/>
                    </a:lnTo>
                    <a:lnTo>
                      <a:pt x="590" y="214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67" name="Freeform 93"/>
              <p:cNvSpPr>
                <a:spLocks/>
              </p:cNvSpPr>
              <p:nvPr/>
            </p:nvSpPr>
            <p:spPr bwMode="auto">
              <a:xfrm>
                <a:off x="5605341" y="5350732"/>
                <a:ext cx="147447" cy="80581"/>
              </a:xfrm>
              <a:custGeom>
                <a:avLst/>
                <a:gdLst>
                  <a:gd name="T0" fmla="*/ 0 w 86"/>
                  <a:gd name="T1" fmla="*/ 74612 h 47"/>
                  <a:gd name="T2" fmla="*/ 136525 w 86"/>
                  <a:gd name="T3" fmla="*/ 38100 h 47"/>
                  <a:gd name="T4" fmla="*/ 0 w 86"/>
                  <a:gd name="T5" fmla="*/ 0 h 47"/>
                  <a:gd name="T6" fmla="*/ 0 w 86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4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68" name="Line 94"/>
              <p:cNvSpPr>
                <a:spLocks noChangeShapeType="1"/>
              </p:cNvSpPr>
              <p:nvPr/>
            </p:nvSpPr>
            <p:spPr bwMode="auto">
              <a:xfrm>
                <a:off x="4021143" y="5722778"/>
                <a:ext cx="160648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69" name="Freeform 95"/>
              <p:cNvSpPr>
                <a:spLocks/>
              </p:cNvSpPr>
              <p:nvPr/>
            </p:nvSpPr>
            <p:spPr bwMode="auto">
              <a:xfrm>
                <a:off x="5605341" y="5681630"/>
                <a:ext cx="144018" cy="80582"/>
              </a:xfrm>
              <a:custGeom>
                <a:avLst/>
                <a:gdLst>
                  <a:gd name="T0" fmla="*/ 0 w 84"/>
                  <a:gd name="T1" fmla="*/ 74613 h 47"/>
                  <a:gd name="T2" fmla="*/ 133350 w 84"/>
                  <a:gd name="T3" fmla="*/ 38100 h 47"/>
                  <a:gd name="T4" fmla="*/ 0 w 84"/>
                  <a:gd name="T5" fmla="*/ 0 h 47"/>
                  <a:gd name="T6" fmla="*/ 0 w 84"/>
                  <a:gd name="T7" fmla="*/ 746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"/>
                  <a:gd name="T13" fmla="*/ 0 h 47"/>
                  <a:gd name="T14" fmla="*/ 84 w 8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" h="47">
                    <a:moveTo>
                      <a:pt x="0" y="47"/>
                    </a:moveTo>
                    <a:lnTo>
                      <a:pt x="84" y="24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70" name="Rectangle 96"/>
              <p:cNvSpPr>
                <a:spLocks noChangeArrowheads="1"/>
              </p:cNvSpPr>
              <p:nvPr/>
            </p:nvSpPr>
            <p:spPr bwMode="auto">
              <a:xfrm>
                <a:off x="6354577" y="5609621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o2</a:t>
                </a:r>
                <a:endParaRPr lang="en-US" altLang="en-US" sz="1600"/>
              </a:p>
            </p:txBody>
          </p:sp>
          <p:sp>
            <p:nvSpPr>
              <p:cNvPr id="71" name="Freeform 97"/>
              <p:cNvSpPr>
                <a:spLocks/>
              </p:cNvSpPr>
              <p:nvPr/>
            </p:nvSpPr>
            <p:spPr bwMode="auto">
              <a:xfrm>
                <a:off x="6083686" y="5611336"/>
                <a:ext cx="257176" cy="196499"/>
              </a:xfrm>
              <a:custGeom>
                <a:avLst/>
                <a:gdLst>
                  <a:gd name="T0" fmla="*/ 215900 w 141"/>
                  <a:gd name="T1" fmla="*/ 147637 h 99"/>
                  <a:gd name="T2" fmla="*/ 215900 w 141"/>
                  <a:gd name="T3" fmla="*/ 144462 h 99"/>
                  <a:gd name="T4" fmla="*/ 12700 w 141"/>
                  <a:gd name="T5" fmla="*/ 144462 h 99"/>
                  <a:gd name="T6" fmla="*/ 12700 w 141"/>
                  <a:gd name="T7" fmla="*/ 11112 h 99"/>
                  <a:gd name="T8" fmla="*/ 211137 w 141"/>
                  <a:gd name="T9" fmla="*/ 11112 h 99"/>
                  <a:gd name="T10" fmla="*/ 211137 w 141"/>
                  <a:gd name="T11" fmla="*/ 147637 h 99"/>
                  <a:gd name="T12" fmla="*/ 215900 w 141"/>
                  <a:gd name="T13" fmla="*/ 147637 h 99"/>
                  <a:gd name="T14" fmla="*/ 215900 w 141"/>
                  <a:gd name="T15" fmla="*/ 144462 h 99"/>
                  <a:gd name="T16" fmla="*/ 215900 w 141"/>
                  <a:gd name="T17" fmla="*/ 147637 h 99"/>
                  <a:gd name="T18" fmla="*/ 223837 w 141"/>
                  <a:gd name="T19" fmla="*/ 147637 h 99"/>
                  <a:gd name="T20" fmla="*/ 223837 w 141"/>
                  <a:gd name="T21" fmla="*/ 0 h 99"/>
                  <a:gd name="T22" fmla="*/ 0 w 141"/>
                  <a:gd name="T23" fmla="*/ 0 h 99"/>
                  <a:gd name="T24" fmla="*/ 0 w 141"/>
                  <a:gd name="T25" fmla="*/ 157162 h 99"/>
                  <a:gd name="T26" fmla="*/ 223837 w 141"/>
                  <a:gd name="T27" fmla="*/ 157162 h 99"/>
                  <a:gd name="T28" fmla="*/ 223837 w 141"/>
                  <a:gd name="T29" fmla="*/ 147637 h 99"/>
                  <a:gd name="T30" fmla="*/ 215900 w 141"/>
                  <a:gd name="T31" fmla="*/ 147637 h 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9"/>
                  <a:gd name="T50" fmla="*/ 141 w 141"/>
                  <a:gd name="T51" fmla="*/ 99 h 9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9">
                    <a:moveTo>
                      <a:pt x="136" y="93"/>
                    </a:moveTo>
                    <a:lnTo>
                      <a:pt x="136" y="91"/>
                    </a:lnTo>
                    <a:lnTo>
                      <a:pt x="8" y="91"/>
                    </a:lnTo>
                    <a:lnTo>
                      <a:pt x="8" y="7"/>
                    </a:lnTo>
                    <a:lnTo>
                      <a:pt x="133" y="7"/>
                    </a:lnTo>
                    <a:lnTo>
                      <a:pt x="133" y="93"/>
                    </a:lnTo>
                    <a:lnTo>
                      <a:pt x="136" y="93"/>
                    </a:lnTo>
                    <a:lnTo>
                      <a:pt x="136" y="91"/>
                    </a:lnTo>
                    <a:lnTo>
                      <a:pt x="136" y="93"/>
                    </a:lnTo>
                    <a:lnTo>
                      <a:pt x="141" y="93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9"/>
                    </a:lnTo>
                    <a:lnTo>
                      <a:pt x="141" y="99"/>
                    </a:lnTo>
                    <a:lnTo>
                      <a:pt x="141" y="93"/>
                    </a:lnTo>
                    <a:lnTo>
                      <a:pt x="136" y="93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72" name="Freeform 98"/>
              <p:cNvSpPr>
                <a:spLocks/>
              </p:cNvSpPr>
              <p:nvPr/>
            </p:nvSpPr>
            <p:spPr bwMode="auto">
              <a:xfrm>
                <a:off x="6083686" y="5611336"/>
                <a:ext cx="241744" cy="169735"/>
              </a:xfrm>
              <a:custGeom>
                <a:avLst/>
                <a:gdLst>
                  <a:gd name="T0" fmla="*/ 215900 w 141"/>
                  <a:gd name="T1" fmla="*/ 147637 h 99"/>
                  <a:gd name="T2" fmla="*/ 215900 w 141"/>
                  <a:gd name="T3" fmla="*/ 144462 h 99"/>
                  <a:gd name="T4" fmla="*/ 12700 w 141"/>
                  <a:gd name="T5" fmla="*/ 144462 h 99"/>
                  <a:gd name="T6" fmla="*/ 12700 w 141"/>
                  <a:gd name="T7" fmla="*/ 11112 h 99"/>
                  <a:gd name="T8" fmla="*/ 211137 w 141"/>
                  <a:gd name="T9" fmla="*/ 11112 h 99"/>
                  <a:gd name="T10" fmla="*/ 211137 w 141"/>
                  <a:gd name="T11" fmla="*/ 147637 h 99"/>
                  <a:gd name="T12" fmla="*/ 215900 w 141"/>
                  <a:gd name="T13" fmla="*/ 147637 h 99"/>
                  <a:gd name="T14" fmla="*/ 215900 w 141"/>
                  <a:gd name="T15" fmla="*/ 144462 h 99"/>
                  <a:gd name="T16" fmla="*/ 215900 w 141"/>
                  <a:gd name="T17" fmla="*/ 147637 h 99"/>
                  <a:gd name="T18" fmla="*/ 223837 w 141"/>
                  <a:gd name="T19" fmla="*/ 147637 h 99"/>
                  <a:gd name="T20" fmla="*/ 223837 w 141"/>
                  <a:gd name="T21" fmla="*/ 0 h 99"/>
                  <a:gd name="T22" fmla="*/ 0 w 141"/>
                  <a:gd name="T23" fmla="*/ 0 h 99"/>
                  <a:gd name="T24" fmla="*/ 0 w 141"/>
                  <a:gd name="T25" fmla="*/ 157162 h 99"/>
                  <a:gd name="T26" fmla="*/ 223837 w 141"/>
                  <a:gd name="T27" fmla="*/ 157162 h 99"/>
                  <a:gd name="T28" fmla="*/ 223837 w 141"/>
                  <a:gd name="T29" fmla="*/ 147637 h 99"/>
                  <a:gd name="T30" fmla="*/ 215900 w 141"/>
                  <a:gd name="T31" fmla="*/ 147637 h 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41"/>
                  <a:gd name="T49" fmla="*/ 0 h 99"/>
                  <a:gd name="T50" fmla="*/ 141 w 141"/>
                  <a:gd name="T51" fmla="*/ 99 h 9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41" h="99">
                    <a:moveTo>
                      <a:pt x="136" y="93"/>
                    </a:moveTo>
                    <a:lnTo>
                      <a:pt x="136" y="91"/>
                    </a:lnTo>
                    <a:lnTo>
                      <a:pt x="8" y="91"/>
                    </a:lnTo>
                    <a:lnTo>
                      <a:pt x="8" y="7"/>
                    </a:lnTo>
                    <a:lnTo>
                      <a:pt x="133" y="7"/>
                    </a:lnTo>
                    <a:lnTo>
                      <a:pt x="133" y="93"/>
                    </a:lnTo>
                    <a:lnTo>
                      <a:pt x="136" y="93"/>
                    </a:lnTo>
                    <a:lnTo>
                      <a:pt x="136" y="91"/>
                    </a:lnTo>
                    <a:lnTo>
                      <a:pt x="136" y="93"/>
                    </a:lnTo>
                    <a:lnTo>
                      <a:pt x="141" y="93"/>
                    </a:lnTo>
                    <a:lnTo>
                      <a:pt x="141" y="0"/>
                    </a:lnTo>
                    <a:lnTo>
                      <a:pt x="0" y="0"/>
                    </a:lnTo>
                    <a:lnTo>
                      <a:pt x="0" y="99"/>
                    </a:lnTo>
                    <a:lnTo>
                      <a:pt x="141" y="99"/>
                    </a:lnTo>
                    <a:lnTo>
                      <a:pt x="141" y="93"/>
                    </a:lnTo>
                    <a:lnTo>
                      <a:pt x="136" y="9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73" name="Freeform 100"/>
              <p:cNvSpPr>
                <a:spLocks noEditPoints="1"/>
              </p:cNvSpPr>
              <p:nvPr/>
            </p:nvSpPr>
            <p:spPr bwMode="auto">
              <a:xfrm>
                <a:off x="4012571" y="3252184"/>
                <a:ext cx="250317" cy="18859"/>
              </a:xfrm>
              <a:custGeom>
                <a:avLst/>
                <a:gdLst>
                  <a:gd name="T0" fmla="*/ 57150 w 146"/>
                  <a:gd name="T1" fmla="*/ 0 h 11"/>
                  <a:gd name="T2" fmla="*/ 0 w 146"/>
                  <a:gd name="T3" fmla="*/ 0 h 11"/>
                  <a:gd name="T4" fmla="*/ 0 w 146"/>
                  <a:gd name="T5" fmla="*/ 17462 h 11"/>
                  <a:gd name="T6" fmla="*/ 57150 w 146"/>
                  <a:gd name="T7" fmla="*/ 17462 h 11"/>
                  <a:gd name="T8" fmla="*/ 57150 w 146"/>
                  <a:gd name="T9" fmla="*/ 0 h 11"/>
                  <a:gd name="T10" fmla="*/ 111125 w 146"/>
                  <a:gd name="T11" fmla="*/ 0 h 11"/>
                  <a:gd name="T12" fmla="*/ 69850 w 146"/>
                  <a:gd name="T13" fmla="*/ 0 h 11"/>
                  <a:gd name="T14" fmla="*/ 69850 w 146"/>
                  <a:gd name="T15" fmla="*/ 17462 h 11"/>
                  <a:gd name="T16" fmla="*/ 111125 w 146"/>
                  <a:gd name="T17" fmla="*/ 17462 h 11"/>
                  <a:gd name="T18" fmla="*/ 111125 w 146"/>
                  <a:gd name="T19" fmla="*/ 0 h 11"/>
                  <a:gd name="T20" fmla="*/ 231775 w 146"/>
                  <a:gd name="T21" fmla="*/ 0 h 11"/>
                  <a:gd name="T22" fmla="*/ 128587 w 146"/>
                  <a:gd name="T23" fmla="*/ 0 h 11"/>
                  <a:gd name="T24" fmla="*/ 128587 w 146"/>
                  <a:gd name="T25" fmla="*/ 17462 h 11"/>
                  <a:gd name="T26" fmla="*/ 231775 w 146"/>
                  <a:gd name="T27" fmla="*/ 17462 h 11"/>
                  <a:gd name="T28" fmla="*/ 231775 w 146"/>
                  <a:gd name="T29" fmla="*/ 0 h 1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6"/>
                  <a:gd name="T46" fmla="*/ 0 h 11"/>
                  <a:gd name="T47" fmla="*/ 146 w 146"/>
                  <a:gd name="T48" fmla="*/ 11 h 1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6" h="11">
                    <a:moveTo>
                      <a:pt x="36" y="0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6" y="11"/>
                    </a:lnTo>
                    <a:lnTo>
                      <a:pt x="36" y="0"/>
                    </a:lnTo>
                    <a:moveTo>
                      <a:pt x="70" y="0"/>
                    </a:moveTo>
                    <a:lnTo>
                      <a:pt x="44" y="0"/>
                    </a:lnTo>
                    <a:lnTo>
                      <a:pt x="44" y="11"/>
                    </a:lnTo>
                    <a:lnTo>
                      <a:pt x="70" y="11"/>
                    </a:lnTo>
                    <a:lnTo>
                      <a:pt x="70" y="0"/>
                    </a:lnTo>
                    <a:moveTo>
                      <a:pt x="146" y="0"/>
                    </a:moveTo>
                    <a:lnTo>
                      <a:pt x="81" y="0"/>
                    </a:lnTo>
                    <a:lnTo>
                      <a:pt x="81" y="11"/>
                    </a:lnTo>
                    <a:lnTo>
                      <a:pt x="146" y="11"/>
                    </a:lnTo>
                    <a:lnTo>
                      <a:pt x="1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74" name="Rectangle 101"/>
              <p:cNvSpPr>
                <a:spLocks noChangeArrowheads="1"/>
              </p:cNvSpPr>
              <p:nvPr/>
            </p:nvSpPr>
            <p:spPr bwMode="auto">
              <a:xfrm>
                <a:off x="4074293" y="3252184"/>
                <a:ext cx="13716" cy="18859"/>
              </a:xfrm>
              <a:prstGeom prst="rect">
                <a:avLst/>
              </a:pr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75" name="Rectangle 102"/>
              <p:cNvSpPr>
                <a:spLocks noChangeArrowheads="1"/>
              </p:cNvSpPr>
              <p:nvPr/>
            </p:nvSpPr>
            <p:spPr bwMode="auto">
              <a:xfrm>
                <a:off x="4074293" y="3252184"/>
                <a:ext cx="13716" cy="18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76" name="Freeform 103"/>
              <p:cNvSpPr>
                <a:spLocks/>
              </p:cNvSpPr>
              <p:nvPr/>
            </p:nvSpPr>
            <p:spPr bwMode="auto">
              <a:xfrm>
                <a:off x="4235456" y="3221323"/>
                <a:ext cx="144018" cy="80581"/>
              </a:xfrm>
              <a:custGeom>
                <a:avLst/>
                <a:gdLst>
                  <a:gd name="T0" fmla="*/ 0 w 84"/>
                  <a:gd name="T1" fmla="*/ 74612 h 47"/>
                  <a:gd name="T2" fmla="*/ 133350 w 84"/>
                  <a:gd name="T3" fmla="*/ 36512 h 47"/>
                  <a:gd name="T4" fmla="*/ 0 w 84"/>
                  <a:gd name="T5" fmla="*/ 0 h 47"/>
                  <a:gd name="T6" fmla="*/ 0 w 84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"/>
                  <a:gd name="T13" fmla="*/ 0 h 47"/>
                  <a:gd name="T14" fmla="*/ 84 w 8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" h="47">
                    <a:moveTo>
                      <a:pt x="0" y="47"/>
                    </a:moveTo>
                    <a:lnTo>
                      <a:pt x="84" y="23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77" name="Freeform 104"/>
              <p:cNvSpPr>
                <a:spLocks noEditPoints="1"/>
              </p:cNvSpPr>
              <p:nvPr/>
            </p:nvSpPr>
            <p:spPr bwMode="auto">
              <a:xfrm>
                <a:off x="4012571" y="3413347"/>
                <a:ext cx="250317" cy="0"/>
              </a:xfrm>
              <a:custGeom>
                <a:avLst/>
                <a:gdLst>
                  <a:gd name="T0" fmla="*/ 57150 w 146"/>
                  <a:gd name="T1" fmla="*/ 0 h 11"/>
                  <a:gd name="T2" fmla="*/ 0 w 146"/>
                  <a:gd name="T3" fmla="*/ 0 h 11"/>
                  <a:gd name="T4" fmla="*/ 0 w 146"/>
                  <a:gd name="T5" fmla="*/ 17462 h 11"/>
                  <a:gd name="T6" fmla="*/ 57150 w 146"/>
                  <a:gd name="T7" fmla="*/ 17462 h 11"/>
                  <a:gd name="T8" fmla="*/ 57150 w 146"/>
                  <a:gd name="T9" fmla="*/ 0 h 11"/>
                  <a:gd name="T10" fmla="*/ 111125 w 146"/>
                  <a:gd name="T11" fmla="*/ 0 h 11"/>
                  <a:gd name="T12" fmla="*/ 69850 w 146"/>
                  <a:gd name="T13" fmla="*/ 0 h 11"/>
                  <a:gd name="T14" fmla="*/ 69850 w 146"/>
                  <a:gd name="T15" fmla="*/ 17462 h 11"/>
                  <a:gd name="T16" fmla="*/ 111125 w 146"/>
                  <a:gd name="T17" fmla="*/ 17462 h 11"/>
                  <a:gd name="T18" fmla="*/ 111125 w 146"/>
                  <a:gd name="T19" fmla="*/ 0 h 11"/>
                  <a:gd name="T20" fmla="*/ 231775 w 146"/>
                  <a:gd name="T21" fmla="*/ 0 h 11"/>
                  <a:gd name="T22" fmla="*/ 128587 w 146"/>
                  <a:gd name="T23" fmla="*/ 0 h 11"/>
                  <a:gd name="T24" fmla="*/ 128587 w 146"/>
                  <a:gd name="T25" fmla="*/ 17462 h 11"/>
                  <a:gd name="T26" fmla="*/ 231775 w 146"/>
                  <a:gd name="T27" fmla="*/ 17462 h 11"/>
                  <a:gd name="T28" fmla="*/ 231775 w 146"/>
                  <a:gd name="T29" fmla="*/ 0 h 1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6"/>
                  <a:gd name="T46" fmla="*/ 0 h 11"/>
                  <a:gd name="T47" fmla="*/ 146 w 146"/>
                  <a:gd name="T48" fmla="*/ 11 h 1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6" h="11">
                    <a:moveTo>
                      <a:pt x="36" y="0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6" y="11"/>
                    </a:lnTo>
                    <a:lnTo>
                      <a:pt x="36" y="0"/>
                    </a:lnTo>
                    <a:close/>
                    <a:moveTo>
                      <a:pt x="70" y="0"/>
                    </a:moveTo>
                    <a:lnTo>
                      <a:pt x="44" y="0"/>
                    </a:lnTo>
                    <a:lnTo>
                      <a:pt x="44" y="11"/>
                    </a:lnTo>
                    <a:lnTo>
                      <a:pt x="70" y="11"/>
                    </a:lnTo>
                    <a:lnTo>
                      <a:pt x="70" y="0"/>
                    </a:lnTo>
                    <a:close/>
                    <a:moveTo>
                      <a:pt x="146" y="0"/>
                    </a:moveTo>
                    <a:lnTo>
                      <a:pt x="81" y="0"/>
                    </a:lnTo>
                    <a:lnTo>
                      <a:pt x="81" y="11"/>
                    </a:lnTo>
                    <a:lnTo>
                      <a:pt x="146" y="11"/>
                    </a:lnTo>
                    <a:lnTo>
                      <a:pt x="14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78" name="Freeform 105"/>
              <p:cNvSpPr>
                <a:spLocks noEditPoints="1"/>
              </p:cNvSpPr>
              <p:nvPr/>
            </p:nvSpPr>
            <p:spPr bwMode="auto">
              <a:xfrm>
                <a:off x="4012571" y="3413347"/>
                <a:ext cx="250317" cy="18859"/>
              </a:xfrm>
              <a:custGeom>
                <a:avLst/>
                <a:gdLst>
                  <a:gd name="T0" fmla="*/ 57150 w 146"/>
                  <a:gd name="T1" fmla="*/ 0 h 11"/>
                  <a:gd name="T2" fmla="*/ 0 w 146"/>
                  <a:gd name="T3" fmla="*/ 0 h 11"/>
                  <a:gd name="T4" fmla="*/ 0 w 146"/>
                  <a:gd name="T5" fmla="*/ 17462 h 11"/>
                  <a:gd name="T6" fmla="*/ 57150 w 146"/>
                  <a:gd name="T7" fmla="*/ 17462 h 11"/>
                  <a:gd name="T8" fmla="*/ 57150 w 146"/>
                  <a:gd name="T9" fmla="*/ 0 h 11"/>
                  <a:gd name="T10" fmla="*/ 111125 w 146"/>
                  <a:gd name="T11" fmla="*/ 0 h 11"/>
                  <a:gd name="T12" fmla="*/ 69850 w 146"/>
                  <a:gd name="T13" fmla="*/ 0 h 11"/>
                  <a:gd name="T14" fmla="*/ 69850 w 146"/>
                  <a:gd name="T15" fmla="*/ 17462 h 11"/>
                  <a:gd name="T16" fmla="*/ 111125 w 146"/>
                  <a:gd name="T17" fmla="*/ 17462 h 11"/>
                  <a:gd name="T18" fmla="*/ 111125 w 146"/>
                  <a:gd name="T19" fmla="*/ 0 h 11"/>
                  <a:gd name="T20" fmla="*/ 231775 w 146"/>
                  <a:gd name="T21" fmla="*/ 0 h 11"/>
                  <a:gd name="T22" fmla="*/ 128587 w 146"/>
                  <a:gd name="T23" fmla="*/ 0 h 11"/>
                  <a:gd name="T24" fmla="*/ 128587 w 146"/>
                  <a:gd name="T25" fmla="*/ 17462 h 11"/>
                  <a:gd name="T26" fmla="*/ 231775 w 146"/>
                  <a:gd name="T27" fmla="*/ 17462 h 11"/>
                  <a:gd name="T28" fmla="*/ 231775 w 146"/>
                  <a:gd name="T29" fmla="*/ 0 h 1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6"/>
                  <a:gd name="T46" fmla="*/ 0 h 11"/>
                  <a:gd name="T47" fmla="*/ 146 w 146"/>
                  <a:gd name="T48" fmla="*/ 11 h 1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6" h="11">
                    <a:moveTo>
                      <a:pt x="36" y="0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6" y="11"/>
                    </a:lnTo>
                    <a:lnTo>
                      <a:pt x="36" y="0"/>
                    </a:lnTo>
                    <a:moveTo>
                      <a:pt x="70" y="0"/>
                    </a:moveTo>
                    <a:lnTo>
                      <a:pt x="44" y="0"/>
                    </a:lnTo>
                    <a:lnTo>
                      <a:pt x="44" y="11"/>
                    </a:lnTo>
                    <a:lnTo>
                      <a:pt x="70" y="11"/>
                    </a:lnTo>
                    <a:lnTo>
                      <a:pt x="70" y="0"/>
                    </a:lnTo>
                    <a:moveTo>
                      <a:pt x="146" y="0"/>
                    </a:moveTo>
                    <a:lnTo>
                      <a:pt x="81" y="0"/>
                    </a:lnTo>
                    <a:lnTo>
                      <a:pt x="81" y="11"/>
                    </a:lnTo>
                    <a:lnTo>
                      <a:pt x="146" y="11"/>
                    </a:lnTo>
                    <a:lnTo>
                      <a:pt x="1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79" name="Rectangle 106"/>
              <p:cNvSpPr>
                <a:spLocks noChangeArrowheads="1"/>
              </p:cNvSpPr>
              <p:nvPr/>
            </p:nvSpPr>
            <p:spPr bwMode="auto">
              <a:xfrm>
                <a:off x="4074293" y="3413347"/>
                <a:ext cx="13716" cy="18859"/>
              </a:xfrm>
              <a:prstGeom prst="rect">
                <a:avLst/>
              </a:pr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80" name="Rectangle 107"/>
              <p:cNvSpPr>
                <a:spLocks noChangeArrowheads="1"/>
              </p:cNvSpPr>
              <p:nvPr/>
            </p:nvSpPr>
            <p:spPr bwMode="auto">
              <a:xfrm>
                <a:off x="4074293" y="3413347"/>
                <a:ext cx="13716" cy="188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81" name="Freeform 108"/>
              <p:cNvSpPr>
                <a:spLocks/>
              </p:cNvSpPr>
              <p:nvPr/>
            </p:nvSpPr>
            <p:spPr bwMode="auto">
              <a:xfrm>
                <a:off x="4235456" y="3382486"/>
                <a:ext cx="144018" cy="80581"/>
              </a:xfrm>
              <a:custGeom>
                <a:avLst/>
                <a:gdLst>
                  <a:gd name="T0" fmla="*/ 0 w 84"/>
                  <a:gd name="T1" fmla="*/ 74612 h 47"/>
                  <a:gd name="T2" fmla="*/ 133350 w 84"/>
                  <a:gd name="T3" fmla="*/ 36512 h 47"/>
                  <a:gd name="T4" fmla="*/ 0 w 84"/>
                  <a:gd name="T5" fmla="*/ 0 h 47"/>
                  <a:gd name="T6" fmla="*/ 0 w 84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"/>
                  <a:gd name="T13" fmla="*/ 0 h 47"/>
                  <a:gd name="T14" fmla="*/ 84 w 8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" h="47">
                    <a:moveTo>
                      <a:pt x="0" y="47"/>
                    </a:moveTo>
                    <a:lnTo>
                      <a:pt x="84" y="23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82" name="Freeform 109"/>
              <p:cNvSpPr>
                <a:spLocks noEditPoints="1"/>
              </p:cNvSpPr>
              <p:nvPr/>
            </p:nvSpPr>
            <p:spPr bwMode="auto">
              <a:xfrm>
                <a:off x="6544886" y="3091021"/>
                <a:ext cx="456057" cy="2156841"/>
              </a:xfrm>
              <a:custGeom>
                <a:avLst/>
                <a:gdLst>
                  <a:gd name="T0" fmla="*/ 95219 w 102"/>
                  <a:gd name="T1" fmla="*/ 799659 h 482"/>
                  <a:gd name="T2" fmla="*/ 78659 w 102"/>
                  <a:gd name="T3" fmla="*/ 799659 h 482"/>
                  <a:gd name="T4" fmla="*/ 78659 w 102"/>
                  <a:gd name="T5" fmla="*/ 1980502 h 482"/>
                  <a:gd name="T6" fmla="*/ 0 w 102"/>
                  <a:gd name="T7" fmla="*/ 1980502 h 482"/>
                  <a:gd name="T8" fmla="*/ 0 w 102"/>
                  <a:gd name="T9" fmla="*/ 1997075 h 482"/>
                  <a:gd name="T10" fmla="*/ 95219 w 102"/>
                  <a:gd name="T11" fmla="*/ 1997075 h 482"/>
                  <a:gd name="T12" fmla="*/ 95219 w 102"/>
                  <a:gd name="T13" fmla="*/ 799659 h 482"/>
                  <a:gd name="T14" fmla="*/ 289797 w 102"/>
                  <a:gd name="T15" fmla="*/ 0 h 482"/>
                  <a:gd name="T16" fmla="*/ 78659 w 102"/>
                  <a:gd name="T17" fmla="*/ 0 h 482"/>
                  <a:gd name="T18" fmla="*/ 78659 w 102"/>
                  <a:gd name="T19" fmla="*/ 791372 h 482"/>
                  <a:gd name="T20" fmla="*/ 95219 w 102"/>
                  <a:gd name="T21" fmla="*/ 791372 h 482"/>
                  <a:gd name="T22" fmla="*/ 95219 w 102"/>
                  <a:gd name="T23" fmla="*/ 16573 h 482"/>
                  <a:gd name="T24" fmla="*/ 289797 w 102"/>
                  <a:gd name="T25" fmla="*/ 16573 h 482"/>
                  <a:gd name="T26" fmla="*/ 289797 w 102"/>
                  <a:gd name="T27" fmla="*/ 0 h 482"/>
                  <a:gd name="T28" fmla="*/ 422275 w 102"/>
                  <a:gd name="T29" fmla="*/ 0 h 482"/>
                  <a:gd name="T30" fmla="*/ 306356 w 102"/>
                  <a:gd name="T31" fmla="*/ 0 h 482"/>
                  <a:gd name="T32" fmla="*/ 306356 w 102"/>
                  <a:gd name="T33" fmla="*/ 16573 h 482"/>
                  <a:gd name="T34" fmla="*/ 422275 w 102"/>
                  <a:gd name="T35" fmla="*/ 16573 h 482"/>
                  <a:gd name="T36" fmla="*/ 422275 w 102"/>
                  <a:gd name="T37" fmla="*/ 0 h 48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02"/>
                  <a:gd name="T58" fmla="*/ 0 h 482"/>
                  <a:gd name="T59" fmla="*/ 102 w 102"/>
                  <a:gd name="T60" fmla="*/ 482 h 48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02" h="482">
                    <a:moveTo>
                      <a:pt x="23" y="193"/>
                    </a:moveTo>
                    <a:cubicBezTo>
                      <a:pt x="21" y="193"/>
                      <a:pt x="20" y="193"/>
                      <a:pt x="19" y="193"/>
                    </a:cubicBezTo>
                    <a:cubicBezTo>
                      <a:pt x="19" y="478"/>
                      <a:pt x="19" y="478"/>
                      <a:pt x="19" y="478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0" y="482"/>
                      <a:pt x="0" y="482"/>
                      <a:pt x="0" y="482"/>
                    </a:cubicBezTo>
                    <a:cubicBezTo>
                      <a:pt x="23" y="482"/>
                      <a:pt x="23" y="482"/>
                      <a:pt x="23" y="482"/>
                    </a:cubicBezTo>
                    <a:cubicBezTo>
                      <a:pt x="23" y="193"/>
                      <a:pt x="23" y="193"/>
                      <a:pt x="23" y="193"/>
                    </a:cubicBezTo>
                    <a:moveTo>
                      <a:pt x="70" y="0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9" y="191"/>
                      <a:pt x="19" y="191"/>
                      <a:pt x="19" y="191"/>
                    </a:cubicBezTo>
                    <a:cubicBezTo>
                      <a:pt x="20" y="191"/>
                      <a:pt x="21" y="191"/>
                      <a:pt x="23" y="191"/>
                    </a:cubicBezTo>
                    <a:cubicBezTo>
                      <a:pt x="23" y="4"/>
                      <a:pt x="23" y="4"/>
                      <a:pt x="23" y="4"/>
                    </a:cubicBezTo>
                    <a:cubicBezTo>
                      <a:pt x="70" y="4"/>
                      <a:pt x="70" y="4"/>
                      <a:pt x="70" y="4"/>
                    </a:cubicBezTo>
                    <a:cubicBezTo>
                      <a:pt x="70" y="0"/>
                      <a:pt x="70" y="0"/>
                      <a:pt x="70" y="0"/>
                    </a:cubicBezTo>
                    <a:moveTo>
                      <a:pt x="102" y="0"/>
                    </a:moveTo>
                    <a:cubicBezTo>
                      <a:pt x="74" y="0"/>
                      <a:pt x="74" y="0"/>
                      <a:pt x="74" y="0"/>
                    </a:cubicBezTo>
                    <a:cubicBezTo>
                      <a:pt x="74" y="4"/>
                      <a:pt x="74" y="4"/>
                      <a:pt x="74" y="4"/>
                    </a:cubicBezTo>
                    <a:cubicBezTo>
                      <a:pt x="102" y="4"/>
                      <a:pt x="102" y="4"/>
                      <a:pt x="102" y="4"/>
                    </a:cubicBezTo>
                    <a:cubicBezTo>
                      <a:pt x="102" y="0"/>
                      <a:pt x="102" y="0"/>
                      <a:pt x="102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83" name="Rectangle 110"/>
              <p:cNvSpPr>
                <a:spLocks noChangeArrowheads="1"/>
              </p:cNvSpPr>
              <p:nvPr/>
            </p:nvSpPr>
            <p:spPr bwMode="auto">
              <a:xfrm>
                <a:off x="6544886" y="5230717"/>
                <a:ext cx="1715" cy="17145"/>
              </a:xfrm>
              <a:prstGeom prst="rect">
                <a:avLst/>
              </a:pr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84" name="Rectangle 111"/>
              <p:cNvSpPr>
                <a:spLocks noChangeArrowheads="1"/>
              </p:cNvSpPr>
              <p:nvPr/>
            </p:nvSpPr>
            <p:spPr bwMode="auto">
              <a:xfrm>
                <a:off x="6544886" y="5230717"/>
                <a:ext cx="1715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85" name="Freeform 112"/>
              <p:cNvSpPr>
                <a:spLocks/>
              </p:cNvSpPr>
              <p:nvPr/>
            </p:nvSpPr>
            <p:spPr bwMode="auto">
              <a:xfrm>
                <a:off x="6975226" y="3060160"/>
                <a:ext cx="147447" cy="80581"/>
              </a:xfrm>
              <a:custGeom>
                <a:avLst/>
                <a:gdLst>
                  <a:gd name="T0" fmla="*/ 0 w 86"/>
                  <a:gd name="T1" fmla="*/ 74612 h 47"/>
                  <a:gd name="T2" fmla="*/ 136525 w 86"/>
                  <a:gd name="T3" fmla="*/ 36512 h 47"/>
                  <a:gd name="T4" fmla="*/ 0 w 86"/>
                  <a:gd name="T5" fmla="*/ 0 h 47"/>
                  <a:gd name="T6" fmla="*/ 0 w 86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3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86" name="Freeform 113"/>
              <p:cNvSpPr>
                <a:spLocks noEditPoints="1"/>
              </p:cNvSpPr>
              <p:nvPr/>
            </p:nvSpPr>
            <p:spPr bwMode="auto">
              <a:xfrm>
                <a:off x="6544886" y="3252184"/>
                <a:ext cx="430340" cy="2237422"/>
              </a:xfrm>
              <a:custGeom>
                <a:avLst/>
                <a:gdLst>
                  <a:gd name="T0" fmla="*/ 149424 w 96"/>
                  <a:gd name="T1" fmla="*/ 642223 h 500"/>
                  <a:gd name="T2" fmla="*/ 132821 w 96"/>
                  <a:gd name="T3" fmla="*/ 646366 h 500"/>
                  <a:gd name="T4" fmla="*/ 132821 w 96"/>
                  <a:gd name="T5" fmla="*/ 2055114 h 500"/>
                  <a:gd name="T6" fmla="*/ 0 w 96"/>
                  <a:gd name="T7" fmla="*/ 2055114 h 500"/>
                  <a:gd name="T8" fmla="*/ 0 w 96"/>
                  <a:gd name="T9" fmla="*/ 2071687 h 500"/>
                  <a:gd name="T10" fmla="*/ 149424 w 96"/>
                  <a:gd name="T11" fmla="*/ 2071687 h 500"/>
                  <a:gd name="T12" fmla="*/ 149424 w 96"/>
                  <a:gd name="T13" fmla="*/ 642223 h 500"/>
                  <a:gd name="T14" fmla="*/ 290546 w 96"/>
                  <a:gd name="T15" fmla="*/ 0 h 500"/>
                  <a:gd name="T16" fmla="*/ 132821 w 96"/>
                  <a:gd name="T17" fmla="*/ 0 h 500"/>
                  <a:gd name="T18" fmla="*/ 132821 w 96"/>
                  <a:gd name="T19" fmla="*/ 638080 h 500"/>
                  <a:gd name="T20" fmla="*/ 149424 w 96"/>
                  <a:gd name="T21" fmla="*/ 633936 h 500"/>
                  <a:gd name="T22" fmla="*/ 149424 w 96"/>
                  <a:gd name="T23" fmla="*/ 16573 h 500"/>
                  <a:gd name="T24" fmla="*/ 290546 w 96"/>
                  <a:gd name="T25" fmla="*/ 16573 h 500"/>
                  <a:gd name="T26" fmla="*/ 290546 w 96"/>
                  <a:gd name="T27" fmla="*/ 0 h 500"/>
                  <a:gd name="T28" fmla="*/ 398463 w 96"/>
                  <a:gd name="T29" fmla="*/ 0 h 500"/>
                  <a:gd name="T30" fmla="*/ 307149 w 96"/>
                  <a:gd name="T31" fmla="*/ 0 h 500"/>
                  <a:gd name="T32" fmla="*/ 307149 w 96"/>
                  <a:gd name="T33" fmla="*/ 16573 h 500"/>
                  <a:gd name="T34" fmla="*/ 398463 w 96"/>
                  <a:gd name="T35" fmla="*/ 16573 h 500"/>
                  <a:gd name="T36" fmla="*/ 398463 w 96"/>
                  <a:gd name="T37" fmla="*/ 0 h 50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6"/>
                  <a:gd name="T58" fmla="*/ 0 h 500"/>
                  <a:gd name="T59" fmla="*/ 96 w 96"/>
                  <a:gd name="T60" fmla="*/ 500 h 50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6" h="500">
                    <a:moveTo>
                      <a:pt x="36" y="155"/>
                    </a:moveTo>
                    <a:cubicBezTo>
                      <a:pt x="34" y="155"/>
                      <a:pt x="33" y="155"/>
                      <a:pt x="32" y="156"/>
                    </a:cubicBezTo>
                    <a:cubicBezTo>
                      <a:pt x="32" y="496"/>
                      <a:pt x="32" y="496"/>
                      <a:pt x="32" y="496"/>
                    </a:cubicBezTo>
                    <a:cubicBezTo>
                      <a:pt x="0" y="496"/>
                      <a:pt x="0" y="496"/>
                      <a:pt x="0" y="496"/>
                    </a:cubicBezTo>
                    <a:cubicBezTo>
                      <a:pt x="0" y="500"/>
                      <a:pt x="0" y="500"/>
                      <a:pt x="0" y="500"/>
                    </a:cubicBezTo>
                    <a:cubicBezTo>
                      <a:pt x="36" y="500"/>
                      <a:pt x="36" y="500"/>
                      <a:pt x="36" y="500"/>
                    </a:cubicBezTo>
                    <a:cubicBezTo>
                      <a:pt x="36" y="155"/>
                      <a:pt x="36" y="155"/>
                      <a:pt x="36" y="155"/>
                    </a:cubicBezTo>
                    <a:moveTo>
                      <a:pt x="7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54"/>
                      <a:pt x="32" y="154"/>
                      <a:pt x="32" y="154"/>
                    </a:cubicBezTo>
                    <a:cubicBezTo>
                      <a:pt x="33" y="153"/>
                      <a:pt x="34" y="153"/>
                      <a:pt x="36" y="153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70" y="4"/>
                      <a:pt x="70" y="4"/>
                      <a:pt x="70" y="4"/>
                    </a:cubicBezTo>
                    <a:cubicBezTo>
                      <a:pt x="70" y="0"/>
                      <a:pt x="70" y="0"/>
                      <a:pt x="70" y="0"/>
                    </a:cubicBezTo>
                    <a:moveTo>
                      <a:pt x="96" y="0"/>
                    </a:moveTo>
                    <a:cubicBezTo>
                      <a:pt x="74" y="0"/>
                      <a:pt x="74" y="0"/>
                      <a:pt x="74" y="0"/>
                    </a:cubicBezTo>
                    <a:cubicBezTo>
                      <a:pt x="74" y="4"/>
                      <a:pt x="74" y="4"/>
                      <a:pt x="74" y="4"/>
                    </a:cubicBezTo>
                    <a:cubicBezTo>
                      <a:pt x="96" y="4"/>
                      <a:pt x="96" y="4"/>
                      <a:pt x="96" y="4"/>
                    </a:cubicBezTo>
                    <a:cubicBezTo>
                      <a:pt x="96" y="0"/>
                      <a:pt x="96" y="0"/>
                      <a:pt x="96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87" name="Rectangle 114"/>
              <p:cNvSpPr>
                <a:spLocks noChangeArrowheads="1"/>
              </p:cNvSpPr>
              <p:nvPr/>
            </p:nvSpPr>
            <p:spPr bwMode="auto">
              <a:xfrm>
                <a:off x="6544886" y="5472461"/>
                <a:ext cx="1715" cy="17145"/>
              </a:xfrm>
              <a:prstGeom prst="rect">
                <a:avLst/>
              </a:pr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88" name="Rectangle 115"/>
              <p:cNvSpPr>
                <a:spLocks noChangeArrowheads="1"/>
              </p:cNvSpPr>
              <p:nvPr/>
            </p:nvSpPr>
            <p:spPr bwMode="auto">
              <a:xfrm>
                <a:off x="6544886" y="5472461"/>
                <a:ext cx="1715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89" name="Freeform 116"/>
              <p:cNvSpPr>
                <a:spLocks/>
              </p:cNvSpPr>
              <p:nvPr/>
            </p:nvSpPr>
            <p:spPr bwMode="auto">
              <a:xfrm>
                <a:off x="6975226" y="3221323"/>
                <a:ext cx="147447" cy="80581"/>
              </a:xfrm>
              <a:custGeom>
                <a:avLst/>
                <a:gdLst>
                  <a:gd name="T0" fmla="*/ 0 w 86"/>
                  <a:gd name="T1" fmla="*/ 74612 h 47"/>
                  <a:gd name="T2" fmla="*/ 136525 w 86"/>
                  <a:gd name="T3" fmla="*/ 36512 h 47"/>
                  <a:gd name="T4" fmla="*/ 0 w 86"/>
                  <a:gd name="T5" fmla="*/ 0 h 47"/>
                  <a:gd name="T6" fmla="*/ 0 w 86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3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90" name="Freeform 117"/>
              <p:cNvSpPr>
                <a:spLocks/>
              </p:cNvSpPr>
              <p:nvPr/>
            </p:nvSpPr>
            <p:spPr bwMode="auto">
              <a:xfrm>
                <a:off x="6975226" y="3221323"/>
                <a:ext cx="147447" cy="80581"/>
              </a:xfrm>
              <a:custGeom>
                <a:avLst/>
                <a:gdLst>
                  <a:gd name="T0" fmla="*/ 0 w 86"/>
                  <a:gd name="T1" fmla="*/ 74612 h 47"/>
                  <a:gd name="T2" fmla="*/ 136525 w 86"/>
                  <a:gd name="T3" fmla="*/ 36512 h 47"/>
                  <a:gd name="T4" fmla="*/ 0 w 86"/>
                  <a:gd name="T5" fmla="*/ 0 h 47"/>
                  <a:gd name="T6" fmla="*/ 0 w 86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3"/>
                    </a:lnTo>
                    <a:lnTo>
                      <a:pt x="0" y="0"/>
                    </a:lnTo>
                    <a:lnTo>
                      <a:pt x="0" y="4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91" name="Freeform 118"/>
              <p:cNvSpPr>
                <a:spLocks noEditPoints="1"/>
              </p:cNvSpPr>
              <p:nvPr/>
            </p:nvSpPr>
            <p:spPr bwMode="auto">
              <a:xfrm>
                <a:off x="6553459" y="3404774"/>
                <a:ext cx="421767" cy="2309432"/>
              </a:xfrm>
              <a:custGeom>
                <a:avLst/>
                <a:gdLst>
                  <a:gd name="T0" fmla="*/ 195263 w 94"/>
                  <a:gd name="T1" fmla="*/ 497294 h 516"/>
                  <a:gd name="T2" fmla="*/ 178644 w 94"/>
                  <a:gd name="T3" fmla="*/ 497294 h 516"/>
                  <a:gd name="T4" fmla="*/ 178644 w 94"/>
                  <a:gd name="T5" fmla="*/ 2121787 h 516"/>
                  <a:gd name="T6" fmla="*/ 0 w 94"/>
                  <a:gd name="T7" fmla="*/ 2121787 h 516"/>
                  <a:gd name="T8" fmla="*/ 0 w 94"/>
                  <a:gd name="T9" fmla="*/ 2138363 h 516"/>
                  <a:gd name="T10" fmla="*/ 195263 w 94"/>
                  <a:gd name="T11" fmla="*/ 2138363 h 516"/>
                  <a:gd name="T12" fmla="*/ 195263 w 94"/>
                  <a:gd name="T13" fmla="*/ 497294 h 516"/>
                  <a:gd name="T14" fmla="*/ 282507 w 94"/>
                  <a:gd name="T15" fmla="*/ 0 h 516"/>
                  <a:gd name="T16" fmla="*/ 178644 w 94"/>
                  <a:gd name="T17" fmla="*/ 0 h 516"/>
                  <a:gd name="T18" fmla="*/ 178644 w 94"/>
                  <a:gd name="T19" fmla="*/ 489005 h 516"/>
                  <a:gd name="T20" fmla="*/ 195263 w 94"/>
                  <a:gd name="T21" fmla="*/ 489005 h 516"/>
                  <a:gd name="T22" fmla="*/ 195263 w 94"/>
                  <a:gd name="T23" fmla="*/ 16576 h 516"/>
                  <a:gd name="T24" fmla="*/ 282507 w 94"/>
                  <a:gd name="T25" fmla="*/ 16576 h 516"/>
                  <a:gd name="T26" fmla="*/ 282507 w 94"/>
                  <a:gd name="T27" fmla="*/ 0 h 516"/>
                  <a:gd name="T28" fmla="*/ 390525 w 94"/>
                  <a:gd name="T29" fmla="*/ 0 h 516"/>
                  <a:gd name="T30" fmla="*/ 299126 w 94"/>
                  <a:gd name="T31" fmla="*/ 0 h 516"/>
                  <a:gd name="T32" fmla="*/ 299126 w 94"/>
                  <a:gd name="T33" fmla="*/ 16576 h 516"/>
                  <a:gd name="T34" fmla="*/ 390525 w 94"/>
                  <a:gd name="T35" fmla="*/ 16576 h 516"/>
                  <a:gd name="T36" fmla="*/ 390525 w 94"/>
                  <a:gd name="T37" fmla="*/ 0 h 51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94"/>
                  <a:gd name="T58" fmla="*/ 0 h 516"/>
                  <a:gd name="T59" fmla="*/ 94 w 94"/>
                  <a:gd name="T60" fmla="*/ 516 h 51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94" h="516">
                    <a:moveTo>
                      <a:pt x="47" y="120"/>
                    </a:moveTo>
                    <a:cubicBezTo>
                      <a:pt x="46" y="120"/>
                      <a:pt x="44" y="120"/>
                      <a:pt x="43" y="120"/>
                    </a:cubicBezTo>
                    <a:cubicBezTo>
                      <a:pt x="43" y="512"/>
                      <a:pt x="43" y="512"/>
                      <a:pt x="43" y="512"/>
                    </a:cubicBezTo>
                    <a:cubicBezTo>
                      <a:pt x="0" y="512"/>
                      <a:pt x="0" y="512"/>
                      <a:pt x="0" y="512"/>
                    </a:cubicBezTo>
                    <a:cubicBezTo>
                      <a:pt x="0" y="516"/>
                      <a:pt x="0" y="516"/>
                      <a:pt x="0" y="516"/>
                    </a:cubicBezTo>
                    <a:cubicBezTo>
                      <a:pt x="47" y="516"/>
                      <a:pt x="47" y="516"/>
                      <a:pt x="47" y="516"/>
                    </a:cubicBezTo>
                    <a:cubicBezTo>
                      <a:pt x="47" y="120"/>
                      <a:pt x="47" y="120"/>
                      <a:pt x="47" y="120"/>
                    </a:cubicBezTo>
                    <a:moveTo>
                      <a:pt x="68" y="0"/>
                    </a:moveTo>
                    <a:cubicBezTo>
                      <a:pt x="43" y="0"/>
                      <a:pt x="43" y="0"/>
                      <a:pt x="43" y="0"/>
                    </a:cubicBezTo>
                    <a:cubicBezTo>
                      <a:pt x="43" y="118"/>
                      <a:pt x="43" y="118"/>
                      <a:pt x="43" y="118"/>
                    </a:cubicBezTo>
                    <a:cubicBezTo>
                      <a:pt x="44" y="118"/>
                      <a:pt x="46" y="118"/>
                      <a:pt x="47" y="118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68" y="4"/>
                      <a:pt x="68" y="4"/>
                      <a:pt x="68" y="4"/>
                    </a:cubicBezTo>
                    <a:cubicBezTo>
                      <a:pt x="68" y="0"/>
                      <a:pt x="68" y="0"/>
                      <a:pt x="68" y="0"/>
                    </a:cubicBezTo>
                    <a:moveTo>
                      <a:pt x="94" y="0"/>
                    </a:moveTo>
                    <a:cubicBezTo>
                      <a:pt x="72" y="0"/>
                      <a:pt x="72" y="0"/>
                      <a:pt x="72" y="0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94" y="0"/>
                      <a:pt x="94" y="0"/>
                      <a:pt x="94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92" name="Freeform 119"/>
              <p:cNvSpPr>
                <a:spLocks/>
              </p:cNvSpPr>
              <p:nvPr/>
            </p:nvSpPr>
            <p:spPr bwMode="auto">
              <a:xfrm>
                <a:off x="6975226" y="3373913"/>
                <a:ext cx="147447" cy="80582"/>
              </a:xfrm>
              <a:custGeom>
                <a:avLst/>
                <a:gdLst>
                  <a:gd name="T0" fmla="*/ 0 w 86"/>
                  <a:gd name="T1" fmla="*/ 74613 h 47"/>
                  <a:gd name="T2" fmla="*/ 136525 w 86"/>
                  <a:gd name="T3" fmla="*/ 36513 h 47"/>
                  <a:gd name="T4" fmla="*/ 0 w 86"/>
                  <a:gd name="T5" fmla="*/ 0 h 47"/>
                  <a:gd name="T6" fmla="*/ 0 w 86"/>
                  <a:gd name="T7" fmla="*/ 746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3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93" name="Freeform 120"/>
              <p:cNvSpPr>
                <a:spLocks/>
              </p:cNvSpPr>
              <p:nvPr/>
            </p:nvSpPr>
            <p:spPr bwMode="auto">
              <a:xfrm>
                <a:off x="6975226" y="3373913"/>
                <a:ext cx="147447" cy="80582"/>
              </a:xfrm>
              <a:custGeom>
                <a:avLst/>
                <a:gdLst>
                  <a:gd name="T0" fmla="*/ 0 w 86"/>
                  <a:gd name="T1" fmla="*/ 74613 h 47"/>
                  <a:gd name="T2" fmla="*/ 136525 w 86"/>
                  <a:gd name="T3" fmla="*/ 36513 h 47"/>
                  <a:gd name="T4" fmla="*/ 0 w 86"/>
                  <a:gd name="T5" fmla="*/ 0 h 47"/>
                  <a:gd name="T6" fmla="*/ 0 w 86"/>
                  <a:gd name="T7" fmla="*/ 746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"/>
                  <a:gd name="T13" fmla="*/ 0 h 47"/>
                  <a:gd name="T14" fmla="*/ 86 w 86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" h="47">
                    <a:moveTo>
                      <a:pt x="0" y="47"/>
                    </a:moveTo>
                    <a:lnTo>
                      <a:pt x="86" y="23"/>
                    </a:lnTo>
                    <a:lnTo>
                      <a:pt x="0" y="0"/>
                    </a:lnTo>
                    <a:lnTo>
                      <a:pt x="0" y="4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94" name="Freeform 121"/>
              <p:cNvSpPr>
                <a:spLocks/>
              </p:cNvSpPr>
              <p:nvPr/>
            </p:nvSpPr>
            <p:spPr bwMode="auto">
              <a:xfrm>
                <a:off x="4132586" y="1961775"/>
                <a:ext cx="1330452" cy="3224366"/>
              </a:xfrm>
              <a:custGeom>
                <a:avLst/>
                <a:gdLst>
                  <a:gd name="T0" fmla="*/ 1222375 w 776"/>
                  <a:gd name="T1" fmla="*/ 3068638 h 1939"/>
                  <a:gd name="T2" fmla="*/ 1222375 w 776"/>
                  <a:gd name="T3" fmla="*/ 3060701 h 1939"/>
                  <a:gd name="T4" fmla="*/ 17463 w 776"/>
                  <a:gd name="T5" fmla="*/ 3060701 h 1939"/>
                  <a:gd name="T6" fmla="*/ 17463 w 776"/>
                  <a:gd name="T7" fmla="*/ 15875 h 1939"/>
                  <a:gd name="T8" fmla="*/ 1214438 w 776"/>
                  <a:gd name="T9" fmla="*/ 15875 h 1939"/>
                  <a:gd name="T10" fmla="*/ 1214438 w 776"/>
                  <a:gd name="T11" fmla="*/ 3068638 h 1939"/>
                  <a:gd name="T12" fmla="*/ 1222375 w 776"/>
                  <a:gd name="T13" fmla="*/ 3068638 h 1939"/>
                  <a:gd name="T14" fmla="*/ 1222375 w 776"/>
                  <a:gd name="T15" fmla="*/ 3060701 h 1939"/>
                  <a:gd name="T16" fmla="*/ 1222375 w 776"/>
                  <a:gd name="T17" fmla="*/ 3068638 h 1939"/>
                  <a:gd name="T18" fmla="*/ 1231900 w 776"/>
                  <a:gd name="T19" fmla="*/ 3068638 h 1939"/>
                  <a:gd name="T20" fmla="*/ 1231900 w 776"/>
                  <a:gd name="T21" fmla="*/ 0 h 1939"/>
                  <a:gd name="T22" fmla="*/ 0 w 776"/>
                  <a:gd name="T23" fmla="*/ 0 h 1939"/>
                  <a:gd name="T24" fmla="*/ 0 w 776"/>
                  <a:gd name="T25" fmla="*/ 3078163 h 1939"/>
                  <a:gd name="T26" fmla="*/ 1231900 w 776"/>
                  <a:gd name="T27" fmla="*/ 3078163 h 1939"/>
                  <a:gd name="T28" fmla="*/ 1231900 w 776"/>
                  <a:gd name="T29" fmla="*/ 3068638 h 1939"/>
                  <a:gd name="T30" fmla="*/ 1222375 w 776"/>
                  <a:gd name="T31" fmla="*/ 3068638 h 1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76"/>
                  <a:gd name="T49" fmla="*/ 0 h 1939"/>
                  <a:gd name="T50" fmla="*/ 776 w 776"/>
                  <a:gd name="T51" fmla="*/ 1939 h 1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76" h="1939">
                    <a:moveTo>
                      <a:pt x="770" y="1933"/>
                    </a:moveTo>
                    <a:lnTo>
                      <a:pt x="770" y="1928"/>
                    </a:lnTo>
                    <a:lnTo>
                      <a:pt x="11" y="1928"/>
                    </a:lnTo>
                    <a:lnTo>
                      <a:pt x="11" y="10"/>
                    </a:lnTo>
                    <a:lnTo>
                      <a:pt x="765" y="10"/>
                    </a:lnTo>
                    <a:lnTo>
                      <a:pt x="765" y="1933"/>
                    </a:lnTo>
                    <a:lnTo>
                      <a:pt x="770" y="1933"/>
                    </a:lnTo>
                    <a:lnTo>
                      <a:pt x="770" y="1928"/>
                    </a:lnTo>
                    <a:lnTo>
                      <a:pt x="770" y="1933"/>
                    </a:lnTo>
                    <a:lnTo>
                      <a:pt x="776" y="1933"/>
                    </a:lnTo>
                    <a:lnTo>
                      <a:pt x="776" y="0"/>
                    </a:lnTo>
                    <a:lnTo>
                      <a:pt x="0" y="0"/>
                    </a:lnTo>
                    <a:lnTo>
                      <a:pt x="0" y="1939"/>
                    </a:lnTo>
                    <a:lnTo>
                      <a:pt x="776" y="1939"/>
                    </a:lnTo>
                    <a:lnTo>
                      <a:pt x="776" y="1933"/>
                    </a:lnTo>
                    <a:lnTo>
                      <a:pt x="770" y="1933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95" name="Freeform 122"/>
              <p:cNvSpPr>
                <a:spLocks/>
              </p:cNvSpPr>
              <p:nvPr/>
            </p:nvSpPr>
            <p:spPr bwMode="auto">
              <a:xfrm>
                <a:off x="4132586" y="1861724"/>
                <a:ext cx="1330452" cy="3324416"/>
              </a:xfrm>
              <a:custGeom>
                <a:avLst/>
                <a:gdLst>
                  <a:gd name="T0" fmla="*/ 1222375 w 776"/>
                  <a:gd name="T1" fmla="*/ 3068638 h 1939"/>
                  <a:gd name="T2" fmla="*/ 1222375 w 776"/>
                  <a:gd name="T3" fmla="*/ 3060701 h 1939"/>
                  <a:gd name="T4" fmla="*/ 17463 w 776"/>
                  <a:gd name="T5" fmla="*/ 3060701 h 1939"/>
                  <a:gd name="T6" fmla="*/ 17463 w 776"/>
                  <a:gd name="T7" fmla="*/ 15875 h 1939"/>
                  <a:gd name="T8" fmla="*/ 1214438 w 776"/>
                  <a:gd name="T9" fmla="*/ 15875 h 1939"/>
                  <a:gd name="T10" fmla="*/ 1214438 w 776"/>
                  <a:gd name="T11" fmla="*/ 3068638 h 1939"/>
                  <a:gd name="T12" fmla="*/ 1222375 w 776"/>
                  <a:gd name="T13" fmla="*/ 3068638 h 1939"/>
                  <a:gd name="T14" fmla="*/ 1222375 w 776"/>
                  <a:gd name="T15" fmla="*/ 3060701 h 1939"/>
                  <a:gd name="T16" fmla="*/ 1222375 w 776"/>
                  <a:gd name="T17" fmla="*/ 3068638 h 1939"/>
                  <a:gd name="T18" fmla="*/ 1231900 w 776"/>
                  <a:gd name="T19" fmla="*/ 3068638 h 1939"/>
                  <a:gd name="T20" fmla="*/ 1231900 w 776"/>
                  <a:gd name="T21" fmla="*/ 0 h 1939"/>
                  <a:gd name="T22" fmla="*/ 0 w 776"/>
                  <a:gd name="T23" fmla="*/ 0 h 1939"/>
                  <a:gd name="T24" fmla="*/ 0 w 776"/>
                  <a:gd name="T25" fmla="*/ 3078163 h 1939"/>
                  <a:gd name="T26" fmla="*/ 1231900 w 776"/>
                  <a:gd name="T27" fmla="*/ 3078163 h 1939"/>
                  <a:gd name="T28" fmla="*/ 1231900 w 776"/>
                  <a:gd name="T29" fmla="*/ 3068638 h 1939"/>
                  <a:gd name="T30" fmla="*/ 1222375 w 776"/>
                  <a:gd name="T31" fmla="*/ 3068638 h 1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76"/>
                  <a:gd name="T49" fmla="*/ 0 h 1939"/>
                  <a:gd name="T50" fmla="*/ 776 w 776"/>
                  <a:gd name="T51" fmla="*/ 1939 h 1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76" h="1939">
                    <a:moveTo>
                      <a:pt x="770" y="1933"/>
                    </a:moveTo>
                    <a:lnTo>
                      <a:pt x="770" y="1928"/>
                    </a:lnTo>
                    <a:lnTo>
                      <a:pt x="11" y="1928"/>
                    </a:lnTo>
                    <a:lnTo>
                      <a:pt x="11" y="10"/>
                    </a:lnTo>
                    <a:lnTo>
                      <a:pt x="765" y="10"/>
                    </a:lnTo>
                    <a:lnTo>
                      <a:pt x="765" y="1933"/>
                    </a:lnTo>
                    <a:lnTo>
                      <a:pt x="770" y="1933"/>
                    </a:lnTo>
                    <a:lnTo>
                      <a:pt x="770" y="1928"/>
                    </a:lnTo>
                    <a:lnTo>
                      <a:pt x="770" y="1933"/>
                    </a:lnTo>
                    <a:lnTo>
                      <a:pt x="776" y="1933"/>
                    </a:lnTo>
                    <a:lnTo>
                      <a:pt x="776" y="0"/>
                    </a:lnTo>
                    <a:lnTo>
                      <a:pt x="0" y="0"/>
                    </a:lnTo>
                    <a:lnTo>
                      <a:pt x="0" y="1939"/>
                    </a:lnTo>
                    <a:lnTo>
                      <a:pt x="776" y="1939"/>
                    </a:lnTo>
                    <a:lnTo>
                      <a:pt x="776" y="1933"/>
                    </a:lnTo>
                    <a:lnTo>
                      <a:pt x="770" y="193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96" name="Rectangle 138"/>
              <p:cNvSpPr>
                <a:spLocks noChangeArrowheads="1"/>
              </p:cNvSpPr>
              <p:nvPr/>
            </p:nvSpPr>
            <p:spPr bwMode="auto">
              <a:xfrm>
                <a:off x="4826619" y="3896968"/>
                <a:ext cx="233295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D0</a:t>
                </a:r>
                <a:endParaRPr lang="en-US" altLang="en-US" sz="1600" dirty="0"/>
              </a:p>
            </p:txBody>
          </p:sp>
          <p:sp>
            <p:nvSpPr>
              <p:cNvPr id="97" name="Freeform 147"/>
              <p:cNvSpPr>
                <a:spLocks/>
              </p:cNvSpPr>
              <p:nvPr/>
            </p:nvSpPr>
            <p:spPr bwMode="auto">
              <a:xfrm>
                <a:off x="4590357" y="4219162"/>
                <a:ext cx="3429" cy="17145"/>
              </a:xfrm>
              <a:custGeom>
                <a:avLst/>
                <a:gdLst>
                  <a:gd name="T0" fmla="*/ 3175 w 1"/>
                  <a:gd name="T1" fmla="*/ 0 h 4"/>
                  <a:gd name="T2" fmla="*/ 0 w 1"/>
                  <a:gd name="T3" fmla="*/ 0 h 4"/>
                  <a:gd name="T4" fmla="*/ 0 w 1"/>
                  <a:gd name="T5" fmla="*/ 7938 h 4"/>
                  <a:gd name="T6" fmla="*/ 0 w 1"/>
                  <a:gd name="T7" fmla="*/ 15875 h 4"/>
                  <a:gd name="T8" fmla="*/ 3175 w 1"/>
                  <a:gd name="T9" fmla="*/ 15875 h 4"/>
                  <a:gd name="T10" fmla="*/ 3175 w 1"/>
                  <a:gd name="T11" fmla="*/ 7938 h 4"/>
                  <a:gd name="T12" fmla="*/ 3175 w 1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4"/>
                  <a:gd name="T23" fmla="*/ 1 w 1"/>
                  <a:gd name="T24" fmla="*/ 4 h 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98" name="Rectangle 150"/>
              <p:cNvSpPr>
                <a:spLocks noChangeArrowheads="1"/>
              </p:cNvSpPr>
              <p:nvPr/>
            </p:nvSpPr>
            <p:spPr bwMode="auto">
              <a:xfrm>
                <a:off x="4621218" y="4219162"/>
                <a:ext cx="8573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99" name="Rectangle 156"/>
              <p:cNvSpPr>
                <a:spLocks noChangeArrowheads="1"/>
              </p:cNvSpPr>
              <p:nvPr/>
            </p:nvSpPr>
            <p:spPr bwMode="auto">
              <a:xfrm>
                <a:off x="5229866" y="4219162"/>
                <a:ext cx="3429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00" name="Rectangle 158"/>
              <p:cNvSpPr>
                <a:spLocks noChangeArrowheads="1"/>
              </p:cNvSpPr>
              <p:nvPr/>
            </p:nvSpPr>
            <p:spPr bwMode="auto">
              <a:xfrm>
                <a:off x="4521777" y="4630642"/>
                <a:ext cx="18860" cy="111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01" name="Rectangle 165"/>
              <p:cNvSpPr>
                <a:spLocks noChangeAspect="1" noChangeArrowheads="1"/>
              </p:cNvSpPr>
              <p:nvPr/>
            </p:nvSpPr>
            <p:spPr bwMode="auto">
              <a:xfrm>
                <a:off x="4603702" y="4872392"/>
                <a:ext cx="22477" cy="11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02" name="Rectangle 167"/>
              <p:cNvSpPr>
                <a:spLocks noChangeArrowheads="1"/>
              </p:cNvSpPr>
              <p:nvPr/>
            </p:nvSpPr>
            <p:spPr bwMode="auto">
              <a:xfrm>
                <a:off x="4370901" y="4872386"/>
                <a:ext cx="58293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03" name="Line 187"/>
              <p:cNvSpPr>
                <a:spLocks noChangeShapeType="1"/>
              </p:cNvSpPr>
              <p:nvPr/>
            </p:nvSpPr>
            <p:spPr bwMode="auto">
              <a:xfrm>
                <a:off x="4021143" y="5561615"/>
                <a:ext cx="1606487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104" name="Freeform 188"/>
              <p:cNvSpPr>
                <a:spLocks/>
              </p:cNvSpPr>
              <p:nvPr/>
            </p:nvSpPr>
            <p:spPr bwMode="auto">
              <a:xfrm>
                <a:off x="5605341" y="5520467"/>
                <a:ext cx="144018" cy="80582"/>
              </a:xfrm>
              <a:custGeom>
                <a:avLst/>
                <a:gdLst>
                  <a:gd name="T0" fmla="*/ 0 w 84"/>
                  <a:gd name="T1" fmla="*/ 74613 h 47"/>
                  <a:gd name="T2" fmla="*/ 133350 w 84"/>
                  <a:gd name="T3" fmla="*/ 38100 h 47"/>
                  <a:gd name="T4" fmla="*/ 0 w 84"/>
                  <a:gd name="T5" fmla="*/ 0 h 47"/>
                  <a:gd name="T6" fmla="*/ 0 w 84"/>
                  <a:gd name="T7" fmla="*/ 74613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4"/>
                  <a:gd name="T13" fmla="*/ 0 h 47"/>
                  <a:gd name="T14" fmla="*/ 84 w 84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4" h="47">
                    <a:moveTo>
                      <a:pt x="0" y="47"/>
                    </a:moveTo>
                    <a:lnTo>
                      <a:pt x="84" y="24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05" name="Freeform 190"/>
              <p:cNvSpPr>
                <a:spLocks/>
              </p:cNvSpPr>
              <p:nvPr/>
            </p:nvSpPr>
            <p:spPr bwMode="auto">
              <a:xfrm>
                <a:off x="7103813" y="2062321"/>
                <a:ext cx="949833" cy="2053971"/>
              </a:xfrm>
              <a:custGeom>
                <a:avLst/>
                <a:gdLst>
                  <a:gd name="T0" fmla="*/ 874713 w 554"/>
                  <a:gd name="T1" fmla="*/ 1897063 h 1198"/>
                  <a:gd name="T2" fmla="*/ 874713 w 554"/>
                  <a:gd name="T3" fmla="*/ 1889125 h 1198"/>
                  <a:gd name="T4" fmla="*/ 12700 w 554"/>
                  <a:gd name="T5" fmla="*/ 1889125 h 1198"/>
                  <a:gd name="T6" fmla="*/ 12700 w 554"/>
                  <a:gd name="T7" fmla="*/ 12700 h 1198"/>
                  <a:gd name="T8" fmla="*/ 866775 w 554"/>
                  <a:gd name="T9" fmla="*/ 12700 h 1198"/>
                  <a:gd name="T10" fmla="*/ 866775 w 554"/>
                  <a:gd name="T11" fmla="*/ 1897063 h 1198"/>
                  <a:gd name="T12" fmla="*/ 874713 w 554"/>
                  <a:gd name="T13" fmla="*/ 1897063 h 1198"/>
                  <a:gd name="T14" fmla="*/ 874713 w 554"/>
                  <a:gd name="T15" fmla="*/ 1889125 h 1198"/>
                  <a:gd name="T16" fmla="*/ 874713 w 554"/>
                  <a:gd name="T17" fmla="*/ 1897063 h 1198"/>
                  <a:gd name="T18" fmla="*/ 879475 w 554"/>
                  <a:gd name="T19" fmla="*/ 1897063 h 1198"/>
                  <a:gd name="T20" fmla="*/ 879475 w 554"/>
                  <a:gd name="T21" fmla="*/ 0 h 1198"/>
                  <a:gd name="T22" fmla="*/ 0 w 554"/>
                  <a:gd name="T23" fmla="*/ 0 h 1198"/>
                  <a:gd name="T24" fmla="*/ 0 w 554"/>
                  <a:gd name="T25" fmla="*/ 1901825 h 1198"/>
                  <a:gd name="T26" fmla="*/ 879475 w 554"/>
                  <a:gd name="T27" fmla="*/ 1901825 h 1198"/>
                  <a:gd name="T28" fmla="*/ 879475 w 554"/>
                  <a:gd name="T29" fmla="*/ 1897063 h 1198"/>
                  <a:gd name="T30" fmla="*/ 874713 w 554"/>
                  <a:gd name="T31" fmla="*/ 1897063 h 119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54"/>
                  <a:gd name="T49" fmla="*/ 0 h 1198"/>
                  <a:gd name="T50" fmla="*/ 554 w 554"/>
                  <a:gd name="T51" fmla="*/ 1198 h 119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54" h="1198">
                    <a:moveTo>
                      <a:pt x="551" y="1195"/>
                    </a:moveTo>
                    <a:lnTo>
                      <a:pt x="551" y="1190"/>
                    </a:lnTo>
                    <a:lnTo>
                      <a:pt x="8" y="1190"/>
                    </a:lnTo>
                    <a:lnTo>
                      <a:pt x="8" y="8"/>
                    </a:lnTo>
                    <a:lnTo>
                      <a:pt x="546" y="8"/>
                    </a:lnTo>
                    <a:lnTo>
                      <a:pt x="546" y="1195"/>
                    </a:lnTo>
                    <a:lnTo>
                      <a:pt x="551" y="1195"/>
                    </a:lnTo>
                    <a:lnTo>
                      <a:pt x="551" y="1190"/>
                    </a:lnTo>
                    <a:lnTo>
                      <a:pt x="551" y="1195"/>
                    </a:lnTo>
                    <a:lnTo>
                      <a:pt x="554" y="1195"/>
                    </a:lnTo>
                    <a:lnTo>
                      <a:pt x="554" y="0"/>
                    </a:lnTo>
                    <a:lnTo>
                      <a:pt x="0" y="0"/>
                    </a:lnTo>
                    <a:lnTo>
                      <a:pt x="0" y="1198"/>
                    </a:lnTo>
                    <a:lnTo>
                      <a:pt x="554" y="1198"/>
                    </a:lnTo>
                    <a:lnTo>
                      <a:pt x="554" y="1195"/>
                    </a:lnTo>
                    <a:lnTo>
                      <a:pt x="551" y="1195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06" name="Freeform 191"/>
              <p:cNvSpPr>
                <a:spLocks/>
              </p:cNvSpPr>
              <p:nvPr/>
            </p:nvSpPr>
            <p:spPr bwMode="auto">
              <a:xfrm>
                <a:off x="7103813" y="2062321"/>
                <a:ext cx="949833" cy="2053971"/>
              </a:xfrm>
              <a:custGeom>
                <a:avLst/>
                <a:gdLst>
                  <a:gd name="T0" fmla="*/ 874713 w 554"/>
                  <a:gd name="T1" fmla="*/ 1897063 h 1198"/>
                  <a:gd name="T2" fmla="*/ 874713 w 554"/>
                  <a:gd name="T3" fmla="*/ 1889125 h 1198"/>
                  <a:gd name="T4" fmla="*/ 12700 w 554"/>
                  <a:gd name="T5" fmla="*/ 1889125 h 1198"/>
                  <a:gd name="T6" fmla="*/ 12700 w 554"/>
                  <a:gd name="T7" fmla="*/ 12700 h 1198"/>
                  <a:gd name="T8" fmla="*/ 866775 w 554"/>
                  <a:gd name="T9" fmla="*/ 12700 h 1198"/>
                  <a:gd name="T10" fmla="*/ 866775 w 554"/>
                  <a:gd name="T11" fmla="*/ 1897063 h 1198"/>
                  <a:gd name="T12" fmla="*/ 874713 w 554"/>
                  <a:gd name="T13" fmla="*/ 1897063 h 1198"/>
                  <a:gd name="T14" fmla="*/ 874713 w 554"/>
                  <a:gd name="T15" fmla="*/ 1889125 h 1198"/>
                  <a:gd name="T16" fmla="*/ 874713 w 554"/>
                  <a:gd name="T17" fmla="*/ 1897063 h 1198"/>
                  <a:gd name="T18" fmla="*/ 879475 w 554"/>
                  <a:gd name="T19" fmla="*/ 1897063 h 1198"/>
                  <a:gd name="T20" fmla="*/ 879475 w 554"/>
                  <a:gd name="T21" fmla="*/ 0 h 1198"/>
                  <a:gd name="T22" fmla="*/ 0 w 554"/>
                  <a:gd name="T23" fmla="*/ 0 h 1198"/>
                  <a:gd name="T24" fmla="*/ 0 w 554"/>
                  <a:gd name="T25" fmla="*/ 1901825 h 1198"/>
                  <a:gd name="T26" fmla="*/ 879475 w 554"/>
                  <a:gd name="T27" fmla="*/ 1901825 h 1198"/>
                  <a:gd name="T28" fmla="*/ 879475 w 554"/>
                  <a:gd name="T29" fmla="*/ 1897063 h 1198"/>
                  <a:gd name="T30" fmla="*/ 874713 w 554"/>
                  <a:gd name="T31" fmla="*/ 1897063 h 119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54"/>
                  <a:gd name="T49" fmla="*/ 0 h 1198"/>
                  <a:gd name="T50" fmla="*/ 554 w 554"/>
                  <a:gd name="T51" fmla="*/ 1198 h 1198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54" h="1198">
                    <a:moveTo>
                      <a:pt x="551" y="1195"/>
                    </a:moveTo>
                    <a:lnTo>
                      <a:pt x="551" y="1190"/>
                    </a:lnTo>
                    <a:lnTo>
                      <a:pt x="8" y="1190"/>
                    </a:lnTo>
                    <a:lnTo>
                      <a:pt x="8" y="8"/>
                    </a:lnTo>
                    <a:lnTo>
                      <a:pt x="546" y="8"/>
                    </a:lnTo>
                    <a:lnTo>
                      <a:pt x="546" y="1195"/>
                    </a:lnTo>
                    <a:lnTo>
                      <a:pt x="551" y="1195"/>
                    </a:lnTo>
                    <a:lnTo>
                      <a:pt x="551" y="1190"/>
                    </a:lnTo>
                    <a:lnTo>
                      <a:pt x="551" y="1195"/>
                    </a:lnTo>
                    <a:lnTo>
                      <a:pt x="554" y="1195"/>
                    </a:lnTo>
                    <a:lnTo>
                      <a:pt x="554" y="0"/>
                    </a:lnTo>
                    <a:lnTo>
                      <a:pt x="0" y="0"/>
                    </a:lnTo>
                    <a:lnTo>
                      <a:pt x="0" y="1198"/>
                    </a:lnTo>
                    <a:lnTo>
                      <a:pt x="554" y="1198"/>
                    </a:lnTo>
                    <a:lnTo>
                      <a:pt x="554" y="1195"/>
                    </a:lnTo>
                    <a:lnTo>
                      <a:pt x="551" y="1195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07" name="Rectangle 192"/>
              <p:cNvSpPr>
                <a:spLocks noChangeArrowheads="1"/>
              </p:cNvSpPr>
              <p:nvPr/>
            </p:nvSpPr>
            <p:spPr bwMode="auto">
              <a:xfrm>
                <a:off x="7475860" y="2285206"/>
                <a:ext cx="522922" cy="1597914"/>
              </a:xfrm>
              <a:prstGeom prst="rect">
                <a:avLst/>
              </a:prstGeom>
              <a:solidFill>
                <a:srgbClr val="DFE6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08" name="Rectangle 193"/>
              <p:cNvSpPr>
                <a:spLocks noChangeArrowheads="1"/>
              </p:cNvSpPr>
              <p:nvPr/>
            </p:nvSpPr>
            <p:spPr bwMode="auto">
              <a:xfrm>
                <a:off x="7475860" y="2285206"/>
                <a:ext cx="522922" cy="15979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09" name="Freeform 194"/>
              <p:cNvSpPr>
                <a:spLocks/>
              </p:cNvSpPr>
              <p:nvPr/>
            </p:nvSpPr>
            <p:spPr bwMode="auto">
              <a:xfrm>
                <a:off x="7467287" y="2276633"/>
                <a:ext cx="541782" cy="1615059"/>
              </a:xfrm>
              <a:custGeom>
                <a:avLst/>
                <a:gdLst>
                  <a:gd name="T0" fmla="*/ 492125 w 316"/>
                  <a:gd name="T1" fmla="*/ 1487488 h 942"/>
                  <a:gd name="T2" fmla="*/ 492125 w 316"/>
                  <a:gd name="T3" fmla="*/ 1484313 h 942"/>
                  <a:gd name="T4" fmla="*/ 12700 w 316"/>
                  <a:gd name="T5" fmla="*/ 1484313 h 942"/>
                  <a:gd name="T6" fmla="*/ 12700 w 316"/>
                  <a:gd name="T7" fmla="*/ 12700 h 942"/>
                  <a:gd name="T8" fmla="*/ 488950 w 316"/>
                  <a:gd name="T9" fmla="*/ 12700 h 942"/>
                  <a:gd name="T10" fmla="*/ 488950 w 316"/>
                  <a:gd name="T11" fmla="*/ 1487488 h 942"/>
                  <a:gd name="T12" fmla="*/ 492125 w 316"/>
                  <a:gd name="T13" fmla="*/ 1487488 h 942"/>
                  <a:gd name="T14" fmla="*/ 492125 w 316"/>
                  <a:gd name="T15" fmla="*/ 1484313 h 942"/>
                  <a:gd name="T16" fmla="*/ 492125 w 316"/>
                  <a:gd name="T17" fmla="*/ 1487488 h 942"/>
                  <a:gd name="T18" fmla="*/ 501650 w 316"/>
                  <a:gd name="T19" fmla="*/ 1487488 h 942"/>
                  <a:gd name="T20" fmla="*/ 501650 w 316"/>
                  <a:gd name="T21" fmla="*/ 0 h 942"/>
                  <a:gd name="T22" fmla="*/ 0 w 316"/>
                  <a:gd name="T23" fmla="*/ 0 h 942"/>
                  <a:gd name="T24" fmla="*/ 0 w 316"/>
                  <a:gd name="T25" fmla="*/ 1495425 h 942"/>
                  <a:gd name="T26" fmla="*/ 501650 w 316"/>
                  <a:gd name="T27" fmla="*/ 1495425 h 942"/>
                  <a:gd name="T28" fmla="*/ 501650 w 316"/>
                  <a:gd name="T29" fmla="*/ 1487488 h 942"/>
                  <a:gd name="T30" fmla="*/ 492125 w 316"/>
                  <a:gd name="T31" fmla="*/ 1487488 h 94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16"/>
                  <a:gd name="T49" fmla="*/ 0 h 942"/>
                  <a:gd name="T50" fmla="*/ 316 w 316"/>
                  <a:gd name="T51" fmla="*/ 942 h 94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16" h="942">
                    <a:moveTo>
                      <a:pt x="310" y="937"/>
                    </a:moveTo>
                    <a:lnTo>
                      <a:pt x="310" y="935"/>
                    </a:lnTo>
                    <a:lnTo>
                      <a:pt x="8" y="935"/>
                    </a:lnTo>
                    <a:lnTo>
                      <a:pt x="8" y="8"/>
                    </a:lnTo>
                    <a:lnTo>
                      <a:pt x="308" y="8"/>
                    </a:lnTo>
                    <a:lnTo>
                      <a:pt x="308" y="937"/>
                    </a:lnTo>
                    <a:lnTo>
                      <a:pt x="310" y="937"/>
                    </a:lnTo>
                    <a:lnTo>
                      <a:pt x="310" y="935"/>
                    </a:lnTo>
                    <a:lnTo>
                      <a:pt x="310" y="937"/>
                    </a:lnTo>
                    <a:lnTo>
                      <a:pt x="316" y="937"/>
                    </a:lnTo>
                    <a:lnTo>
                      <a:pt x="316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316" y="942"/>
                    </a:lnTo>
                    <a:lnTo>
                      <a:pt x="316" y="937"/>
                    </a:lnTo>
                    <a:lnTo>
                      <a:pt x="310" y="937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10" name="Freeform 195"/>
              <p:cNvSpPr>
                <a:spLocks/>
              </p:cNvSpPr>
              <p:nvPr/>
            </p:nvSpPr>
            <p:spPr bwMode="auto">
              <a:xfrm>
                <a:off x="7467287" y="2276633"/>
                <a:ext cx="541782" cy="1615059"/>
              </a:xfrm>
              <a:custGeom>
                <a:avLst/>
                <a:gdLst>
                  <a:gd name="T0" fmla="*/ 492125 w 316"/>
                  <a:gd name="T1" fmla="*/ 1487488 h 942"/>
                  <a:gd name="T2" fmla="*/ 492125 w 316"/>
                  <a:gd name="T3" fmla="*/ 1484313 h 942"/>
                  <a:gd name="T4" fmla="*/ 12700 w 316"/>
                  <a:gd name="T5" fmla="*/ 1484313 h 942"/>
                  <a:gd name="T6" fmla="*/ 12700 w 316"/>
                  <a:gd name="T7" fmla="*/ 12700 h 942"/>
                  <a:gd name="T8" fmla="*/ 488950 w 316"/>
                  <a:gd name="T9" fmla="*/ 12700 h 942"/>
                  <a:gd name="T10" fmla="*/ 488950 w 316"/>
                  <a:gd name="T11" fmla="*/ 1487488 h 942"/>
                  <a:gd name="T12" fmla="*/ 492125 w 316"/>
                  <a:gd name="T13" fmla="*/ 1487488 h 942"/>
                  <a:gd name="T14" fmla="*/ 492125 w 316"/>
                  <a:gd name="T15" fmla="*/ 1484313 h 942"/>
                  <a:gd name="T16" fmla="*/ 492125 w 316"/>
                  <a:gd name="T17" fmla="*/ 1487488 h 942"/>
                  <a:gd name="T18" fmla="*/ 501650 w 316"/>
                  <a:gd name="T19" fmla="*/ 1487488 h 942"/>
                  <a:gd name="T20" fmla="*/ 501650 w 316"/>
                  <a:gd name="T21" fmla="*/ 0 h 942"/>
                  <a:gd name="T22" fmla="*/ 0 w 316"/>
                  <a:gd name="T23" fmla="*/ 0 h 942"/>
                  <a:gd name="T24" fmla="*/ 0 w 316"/>
                  <a:gd name="T25" fmla="*/ 1495425 h 942"/>
                  <a:gd name="T26" fmla="*/ 501650 w 316"/>
                  <a:gd name="T27" fmla="*/ 1495425 h 942"/>
                  <a:gd name="T28" fmla="*/ 501650 w 316"/>
                  <a:gd name="T29" fmla="*/ 1487488 h 942"/>
                  <a:gd name="T30" fmla="*/ 492125 w 316"/>
                  <a:gd name="T31" fmla="*/ 1487488 h 94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16"/>
                  <a:gd name="T49" fmla="*/ 0 h 942"/>
                  <a:gd name="T50" fmla="*/ 316 w 316"/>
                  <a:gd name="T51" fmla="*/ 942 h 94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16" h="942">
                    <a:moveTo>
                      <a:pt x="310" y="937"/>
                    </a:moveTo>
                    <a:lnTo>
                      <a:pt x="310" y="935"/>
                    </a:lnTo>
                    <a:lnTo>
                      <a:pt x="8" y="935"/>
                    </a:lnTo>
                    <a:lnTo>
                      <a:pt x="8" y="8"/>
                    </a:lnTo>
                    <a:lnTo>
                      <a:pt x="308" y="8"/>
                    </a:lnTo>
                    <a:lnTo>
                      <a:pt x="308" y="937"/>
                    </a:lnTo>
                    <a:lnTo>
                      <a:pt x="310" y="937"/>
                    </a:lnTo>
                    <a:lnTo>
                      <a:pt x="310" y="935"/>
                    </a:lnTo>
                    <a:lnTo>
                      <a:pt x="310" y="937"/>
                    </a:lnTo>
                    <a:lnTo>
                      <a:pt x="316" y="937"/>
                    </a:lnTo>
                    <a:lnTo>
                      <a:pt x="316" y="0"/>
                    </a:lnTo>
                    <a:lnTo>
                      <a:pt x="0" y="0"/>
                    </a:lnTo>
                    <a:lnTo>
                      <a:pt x="0" y="942"/>
                    </a:lnTo>
                    <a:lnTo>
                      <a:pt x="316" y="942"/>
                    </a:lnTo>
                    <a:lnTo>
                      <a:pt x="316" y="937"/>
                    </a:lnTo>
                    <a:lnTo>
                      <a:pt x="310" y="937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11" name="Line 196"/>
              <p:cNvSpPr>
                <a:spLocks noChangeShapeType="1"/>
              </p:cNvSpPr>
              <p:nvPr/>
            </p:nvSpPr>
            <p:spPr bwMode="auto">
              <a:xfrm>
                <a:off x="7470716" y="2487517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112" name="Line 197"/>
              <p:cNvSpPr>
                <a:spLocks noChangeShapeType="1"/>
              </p:cNvSpPr>
              <p:nvPr/>
            </p:nvSpPr>
            <p:spPr bwMode="auto">
              <a:xfrm>
                <a:off x="7470716" y="2684684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113" name="Line 198"/>
              <p:cNvSpPr>
                <a:spLocks noChangeShapeType="1"/>
              </p:cNvSpPr>
              <p:nvPr/>
            </p:nvSpPr>
            <p:spPr bwMode="auto">
              <a:xfrm>
                <a:off x="7470716" y="2885281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114" name="Line 199"/>
              <p:cNvSpPr>
                <a:spLocks noChangeShapeType="1"/>
              </p:cNvSpPr>
              <p:nvPr/>
            </p:nvSpPr>
            <p:spPr bwMode="auto">
              <a:xfrm>
                <a:off x="7470716" y="3087592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115" name="Line 200"/>
              <p:cNvSpPr>
                <a:spLocks noChangeShapeType="1"/>
              </p:cNvSpPr>
              <p:nvPr/>
            </p:nvSpPr>
            <p:spPr bwMode="auto">
              <a:xfrm>
                <a:off x="7470716" y="3283045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116" name="Line 201"/>
              <p:cNvSpPr>
                <a:spLocks noChangeShapeType="1"/>
              </p:cNvSpPr>
              <p:nvPr/>
            </p:nvSpPr>
            <p:spPr bwMode="auto">
              <a:xfrm>
                <a:off x="7470716" y="3485356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117" name="Line 202"/>
              <p:cNvSpPr>
                <a:spLocks noChangeShapeType="1"/>
              </p:cNvSpPr>
              <p:nvPr/>
            </p:nvSpPr>
            <p:spPr bwMode="auto">
              <a:xfrm>
                <a:off x="7470716" y="3685952"/>
                <a:ext cx="528066" cy="0"/>
              </a:xfrm>
              <a:prstGeom prst="line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sz="1600"/>
              </a:p>
            </p:txBody>
          </p:sp>
          <p:sp>
            <p:nvSpPr>
              <p:cNvPr id="118" name="Rectangle 203"/>
              <p:cNvSpPr>
                <a:spLocks noChangeArrowheads="1"/>
              </p:cNvSpPr>
              <p:nvPr/>
            </p:nvSpPr>
            <p:spPr bwMode="auto">
              <a:xfrm>
                <a:off x="7153534" y="2077796"/>
                <a:ext cx="754271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8x1 </a:t>
                </a:r>
                <a:r>
                  <a:rPr lang="en-US" altLang="en-US" sz="1600" dirty="0" err="1">
                    <a:solidFill>
                      <a:srgbClr val="000000"/>
                    </a:solidFill>
                    <a:latin typeface="Helvetica" pitchFamily="34" charset="0"/>
                  </a:rPr>
                  <a:t>Mem</a:t>
                </a:r>
                <a:endParaRPr lang="en-US" altLang="en-US" sz="1600" dirty="0"/>
              </a:p>
            </p:txBody>
          </p:sp>
          <p:grpSp>
            <p:nvGrpSpPr>
              <p:cNvPr id="119" name="Group 442"/>
              <p:cNvGrpSpPr>
                <a:grpSpLocks/>
              </p:cNvGrpSpPr>
              <p:nvPr/>
            </p:nvGrpSpPr>
            <p:grpSpPr bwMode="auto">
              <a:xfrm>
                <a:off x="7664455" y="2343499"/>
                <a:ext cx="147447" cy="1489901"/>
                <a:chOff x="4871" y="1519"/>
                <a:chExt cx="86" cy="869"/>
              </a:xfrm>
            </p:grpSpPr>
            <p:sp>
              <p:nvSpPr>
                <p:cNvPr id="190" name="Rectangle 207"/>
                <p:cNvSpPr>
                  <a:spLocks noChangeArrowheads="1"/>
                </p:cNvSpPr>
                <p:nvPr/>
              </p:nvSpPr>
              <p:spPr bwMode="auto">
                <a:xfrm>
                  <a:off x="4871" y="1519"/>
                  <a:ext cx="86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91" name="Rectangle 209"/>
                <p:cNvSpPr>
                  <a:spLocks noChangeArrowheads="1"/>
                </p:cNvSpPr>
                <p:nvPr/>
              </p:nvSpPr>
              <p:spPr bwMode="auto">
                <a:xfrm>
                  <a:off x="4871" y="1634"/>
                  <a:ext cx="73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92" name="Rectangle 211"/>
                <p:cNvSpPr>
                  <a:spLocks noChangeArrowheads="1"/>
                </p:cNvSpPr>
                <p:nvPr/>
              </p:nvSpPr>
              <p:spPr bwMode="auto">
                <a:xfrm>
                  <a:off x="4871" y="1749"/>
                  <a:ext cx="73" cy="63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93" name="Rectangle 213"/>
                <p:cNvSpPr>
                  <a:spLocks noChangeArrowheads="1"/>
                </p:cNvSpPr>
                <p:nvPr/>
              </p:nvSpPr>
              <p:spPr bwMode="auto">
                <a:xfrm>
                  <a:off x="4871" y="1864"/>
                  <a:ext cx="73" cy="63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94" name="Rectangle 216"/>
                <p:cNvSpPr>
                  <a:spLocks noChangeArrowheads="1"/>
                </p:cNvSpPr>
                <p:nvPr/>
              </p:nvSpPr>
              <p:spPr bwMode="auto">
                <a:xfrm>
                  <a:off x="4876" y="1984"/>
                  <a:ext cx="81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95" name="Rectangle 218"/>
                <p:cNvSpPr>
                  <a:spLocks noChangeArrowheads="1"/>
                </p:cNvSpPr>
                <p:nvPr/>
              </p:nvSpPr>
              <p:spPr bwMode="auto">
                <a:xfrm>
                  <a:off x="4876" y="2099"/>
                  <a:ext cx="68" cy="57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96" name="Rectangle 220"/>
                <p:cNvSpPr>
                  <a:spLocks noChangeArrowheads="1"/>
                </p:cNvSpPr>
                <p:nvPr/>
              </p:nvSpPr>
              <p:spPr bwMode="auto">
                <a:xfrm>
                  <a:off x="4876" y="2216"/>
                  <a:ext cx="68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97" name="Rectangle 222"/>
                <p:cNvSpPr>
                  <a:spLocks noChangeArrowheads="1"/>
                </p:cNvSpPr>
                <p:nvPr/>
              </p:nvSpPr>
              <p:spPr bwMode="auto">
                <a:xfrm>
                  <a:off x="4876" y="2328"/>
                  <a:ext cx="68" cy="60"/>
                </a:xfrm>
                <a:prstGeom prst="rect">
                  <a:avLst/>
                </a:prstGeom>
                <a:solidFill>
                  <a:srgbClr val="DFE6F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</p:grpSp>
          <p:sp>
            <p:nvSpPr>
              <p:cNvPr id="120" name="Rectangle 224"/>
              <p:cNvSpPr>
                <a:spLocks noChangeArrowheads="1"/>
              </p:cNvSpPr>
              <p:nvPr/>
            </p:nvSpPr>
            <p:spPr bwMode="auto">
              <a:xfrm>
                <a:off x="7344594" y="231092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600" dirty="0"/>
              </a:p>
            </p:txBody>
          </p:sp>
          <p:sp>
            <p:nvSpPr>
              <p:cNvPr id="121" name="Rectangle 225"/>
              <p:cNvSpPr>
                <a:spLocks noChangeArrowheads="1"/>
              </p:cNvSpPr>
              <p:nvPr/>
            </p:nvSpPr>
            <p:spPr bwMode="auto">
              <a:xfrm>
                <a:off x="7344594" y="2504662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600" dirty="0"/>
              </a:p>
            </p:txBody>
          </p:sp>
          <p:sp>
            <p:nvSpPr>
              <p:cNvPr id="122" name="Rectangle 226"/>
              <p:cNvSpPr>
                <a:spLocks noChangeArrowheads="1"/>
              </p:cNvSpPr>
              <p:nvPr/>
            </p:nvSpPr>
            <p:spPr bwMode="auto">
              <a:xfrm>
                <a:off x="7344594" y="270697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2</a:t>
                </a:r>
                <a:endParaRPr lang="en-US" altLang="en-US" sz="1600" dirty="0"/>
              </a:p>
            </p:txBody>
          </p:sp>
          <p:sp>
            <p:nvSpPr>
              <p:cNvPr id="123" name="Rectangle 227"/>
              <p:cNvSpPr>
                <a:spLocks noChangeArrowheads="1"/>
              </p:cNvSpPr>
              <p:nvPr/>
            </p:nvSpPr>
            <p:spPr bwMode="auto">
              <a:xfrm>
                <a:off x="7344594" y="2904140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3</a:t>
                </a:r>
                <a:endParaRPr lang="en-US" altLang="en-US" sz="1600" dirty="0"/>
              </a:p>
            </p:txBody>
          </p:sp>
          <p:sp>
            <p:nvSpPr>
              <p:cNvPr id="124" name="Rectangle 228"/>
              <p:cNvSpPr>
                <a:spLocks noChangeArrowheads="1"/>
              </p:cNvSpPr>
              <p:nvPr/>
            </p:nvSpPr>
            <p:spPr bwMode="auto">
              <a:xfrm>
                <a:off x="7344594" y="3106451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4</a:t>
                </a:r>
                <a:endParaRPr lang="en-US" altLang="en-US" sz="1600" dirty="0"/>
              </a:p>
            </p:txBody>
          </p:sp>
          <p:sp>
            <p:nvSpPr>
              <p:cNvPr id="125" name="Rectangle 229"/>
              <p:cNvSpPr>
                <a:spLocks noChangeArrowheads="1"/>
              </p:cNvSpPr>
              <p:nvPr/>
            </p:nvSpPr>
            <p:spPr bwMode="auto">
              <a:xfrm>
                <a:off x="7344594" y="3303619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5</a:t>
                </a:r>
                <a:endParaRPr lang="en-US" altLang="en-US" sz="1600" dirty="0"/>
              </a:p>
            </p:txBody>
          </p:sp>
          <p:sp>
            <p:nvSpPr>
              <p:cNvPr id="126" name="Rectangle 230"/>
              <p:cNvSpPr>
                <a:spLocks noChangeArrowheads="1"/>
              </p:cNvSpPr>
              <p:nvPr/>
            </p:nvSpPr>
            <p:spPr bwMode="auto">
              <a:xfrm>
                <a:off x="7344594" y="3505930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6</a:t>
                </a:r>
                <a:endParaRPr lang="en-US" altLang="en-US" sz="1600" dirty="0"/>
              </a:p>
            </p:txBody>
          </p:sp>
          <p:sp>
            <p:nvSpPr>
              <p:cNvPr id="127" name="Rectangle 231"/>
              <p:cNvSpPr>
                <a:spLocks noChangeArrowheads="1"/>
              </p:cNvSpPr>
              <p:nvPr/>
            </p:nvSpPr>
            <p:spPr bwMode="auto">
              <a:xfrm>
                <a:off x="7344594" y="3697954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7</a:t>
                </a:r>
                <a:endParaRPr lang="en-US" altLang="en-US" sz="1600" dirty="0"/>
              </a:p>
            </p:txBody>
          </p:sp>
          <p:sp>
            <p:nvSpPr>
              <p:cNvPr id="128" name="Rectangle 232"/>
              <p:cNvSpPr>
                <a:spLocks noChangeArrowheads="1"/>
              </p:cNvSpPr>
              <p:nvPr/>
            </p:nvSpPr>
            <p:spPr bwMode="auto">
              <a:xfrm>
                <a:off x="7138103" y="2977542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a2</a:t>
                </a:r>
                <a:endParaRPr lang="en-US" altLang="en-US" sz="1600" dirty="0"/>
              </a:p>
            </p:txBody>
          </p:sp>
          <p:sp>
            <p:nvSpPr>
              <p:cNvPr id="129" name="Rectangle 233"/>
              <p:cNvSpPr>
                <a:spLocks noChangeArrowheads="1"/>
              </p:cNvSpPr>
              <p:nvPr/>
            </p:nvSpPr>
            <p:spPr bwMode="auto">
              <a:xfrm>
                <a:off x="7138103" y="3166459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a1</a:t>
                </a:r>
                <a:endParaRPr lang="en-US" altLang="en-US" sz="1600" dirty="0"/>
              </a:p>
            </p:txBody>
          </p:sp>
          <p:sp>
            <p:nvSpPr>
              <p:cNvPr id="130" name="Rectangle 234"/>
              <p:cNvSpPr>
                <a:spLocks noChangeArrowheads="1"/>
              </p:cNvSpPr>
              <p:nvPr/>
            </p:nvSpPr>
            <p:spPr bwMode="auto">
              <a:xfrm>
                <a:off x="7138103" y="3343052"/>
                <a:ext cx="227626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000000"/>
                    </a:solidFill>
                    <a:latin typeface="Helvetica" pitchFamily="34" charset="0"/>
                  </a:rPr>
                  <a:t>a0</a:t>
                </a:r>
                <a:endParaRPr lang="en-US" altLang="en-US" sz="1600"/>
              </a:p>
            </p:txBody>
          </p:sp>
          <p:sp>
            <p:nvSpPr>
              <p:cNvPr id="131" name="Freeform 237"/>
              <p:cNvSpPr>
                <a:spLocks/>
              </p:cNvSpPr>
              <p:nvPr/>
            </p:nvSpPr>
            <p:spPr bwMode="auto">
              <a:xfrm>
                <a:off x="7604446" y="5016522"/>
                <a:ext cx="975550" cy="366903"/>
              </a:xfrm>
              <a:custGeom>
                <a:avLst/>
                <a:gdLst>
                  <a:gd name="T0" fmla="*/ 0 w 569"/>
                  <a:gd name="T1" fmla="*/ 0 h 214"/>
                  <a:gd name="T2" fmla="*/ 0 w 569"/>
                  <a:gd name="T3" fmla="*/ 339725 h 214"/>
                  <a:gd name="T4" fmla="*/ 903287 w 569"/>
                  <a:gd name="T5" fmla="*/ 339725 h 214"/>
                  <a:gd name="T6" fmla="*/ 0 60000 65536"/>
                  <a:gd name="T7" fmla="*/ 0 60000 65536"/>
                  <a:gd name="T8" fmla="*/ 0 60000 65536"/>
                  <a:gd name="T9" fmla="*/ 0 w 569"/>
                  <a:gd name="T10" fmla="*/ 0 h 214"/>
                  <a:gd name="T11" fmla="*/ 569 w 569"/>
                  <a:gd name="T12" fmla="*/ 214 h 2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9" h="214">
                    <a:moveTo>
                      <a:pt x="0" y="0"/>
                    </a:moveTo>
                    <a:lnTo>
                      <a:pt x="0" y="214"/>
                    </a:lnTo>
                    <a:lnTo>
                      <a:pt x="569" y="214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32" name="Freeform 238"/>
              <p:cNvSpPr>
                <a:spLocks/>
              </p:cNvSpPr>
              <p:nvPr/>
            </p:nvSpPr>
            <p:spPr bwMode="auto">
              <a:xfrm>
                <a:off x="8541770" y="5350732"/>
                <a:ext cx="142303" cy="80581"/>
              </a:xfrm>
              <a:custGeom>
                <a:avLst/>
                <a:gdLst>
                  <a:gd name="T0" fmla="*/ 0 w 83"/>
                  <a:gd name="T1" fmla="*/ 74612 h 47"/>
                  <a:gd name="T2" fmla="*/ 131762 w 83"/>
                  <a:gd name="T3" fmla="*/ 38100 h 47"/>
                  <a:gd name="T4" fmla="*/ 0 w 83"/>
                  <a:gd name="T5" fmla="*/ 0 h 47"/>
                  <a:gd name="T6" fmla="*/ 0 w 83"/>
                  <a:gd name="T7" fmla="*/ 74612 h 4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3"/>
                  <a:gd name="T13" fmla="*/ 0 h 47"/>
                  <a:gd name="T14" fmla="*/ 83 w 83"/>
                  <a:gd name="T15" fmla="*/ 47 h 4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3" h="47">
                    <a:moveTo>
                      <a:pt x="0" y="47"/>
                    </a:moveTo>
                    <a:lnTo>
                      <a:pt x="83" y="24"/>
                    </a:lnTo>
                    <a:lnTo>
                      <a:pt x="0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33" name="Freeform 239"/>
              <p:cNvSpPr>
                <a:spLocks/>
              </p:cNvSpPr>
              <p:nvPr/>
            </p:nvSpPr>
            <p:spPr bwMode="auto">
              <a:xfrm>
                <a:off x="6858640" y="1961774"/>
                <a:ext cx="1328737" cy="3224365"/>
              </a:xfrm>
              <a:custGeom>
                <a:avLst/>
                <a:gdLst>
                  <a:gd name="T0" fmla="*/ 1222375 w 775"/>
                  <a:gd name="T1" fmla="*/ 3068638 h 1939"/>
                  <a:gd name="T2" fmla="*/ 1222375 w 775"/>
                  <a:gd name="T3" fmla="*/ 3060701 h 1939"/>
                  <a:gd name="T4" fmla="*/ 15875 w 775"/>
                  <a:gd name="T5" fmla="*/ 3060701 h 1939"/>
                  <a:gd name="T6" fmla="*/ 15875 w 775"/>
                  <a:gd name="T7" fmla="*/ 15875 h 1939"/>
                  <a:gd name="T8" fmla="*/ 1214437 w 775"/>
                  <a:gd name="T9" fmla="*/ 15875 h 1939"/>
                  <a:gd name="T10" fmla="*/ 1214437 w 775"/>
                  <a:gd name="T11" fmla="*/ 3068638 h 1939"/>
                  <a:gd name="T12" fmla="*/ 1222375 w 775"/>
                  <a:gd name="T13" fmla="*/ 3068638 h 1939"/>
                  <a:gd name="T14" fmla="*/ 1222375 w 775"/>
                  <a:gd name="T15" fmla="*/ 3060701 h 1939"/>
                  <a:gd name="T16" fmla="*/ 1222375 w 775"/>
                  <a:gd name="T17" fmla="*/ 3068638 h 1939"/>
                  <a:gd name="T18" fmla="*/ 1230312 w 775"/>
                  <a:gd name="T19" fmla="*/ 3068638 h 1939"/>
                  <a:gd name="T20" fmla="*/ 1230312 w 775"/>
                  <a:gd name="T21" fmla="*/ 0 h 1939"/>
                  <a:gd name="T22" fmla="*/ 0 w 775"/>
                  <a:gd name="T23" fmla="*/ 0 h 1939"/>
                  <a:gd name="T24" fmla="*/ 0 w 775"/>
                  <a:gd name="T25" fmla="*/ 3078163 h 1939"/>
                  <a:gd name="T26" fmla="*/ 1230312 w 775"/>
                  <a:gd name="T27" fmla="*/ 3078163 h 1939"/>
                  <a:gd name="T28" fmla="*/ 1230312 w 775"/>
                  <a:gd name="T29" fmla="*/ 3068638 h 1939"/>
                  <a:gd name="T30" fmla="*/ 1222375 w 775"/>
                  <a:gd name="T31" fmla="*/ 3068638 h 1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75"/>
                  <a:gd name="T49" fmla="*/ 0 h 1939"/>
                  <a:gd name="T50" fmla="*/ 775 w 775"/>
                  <a:gd name="T51" fmla="*/ 1939 h 1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75" h="1939">
                    <a:moveTo>
                      <a:pt x="770" y="1933"/>
                    </a:moveTo>
                    <a:lnTo>
                      <a:pt x="770" y="1928"/>
                    </a:lnTo>
                    <a:lnTo>
                      <a:pt x="10" y="1928"/>
                    </a:lnTo>
                    <a:lnTo>
                      <a:pt x="10" y="10"/>
                    </a:lnTo>
                    <a:lnTo>
                      <a:pt x="765" y="10"/>
                    </a:lnTo>
                    <a:lnTo>
                      <a:pt x="765" y="1933"/>
                    </a:lnTo>
                    <a:lnTo>
                      <a:pt x="770" y="1933"/>
                    </a:lnTo>
                    <a:lnTo>
                      <a:pt x="770" y="1928"/>
                    </a:lnTo>
                    <a:lnTo>
                      <a:pt x="770" y="1933"/>
                    </a:lnTo>
                    <a:lnTo>
                      <a:pt x="775" y="1933"/>
                    </a:lnTo>
                    <a:lnTo>
                      <a:pt x="775" y="0"/>
                    </a:lnTo>
                    <a:lnTo>
                      <a:pt x="0" y="0"/>
                    </a:lnTo>
                    <a:lnTo>
                      <a:pt x="0" y="1939"/>
                    </a:lnTo>
                    <a:lnTo>
                      <a:pt x="775" y="1939"/>
                    </a:lnTo>
                    <a:lnTo>
                      <a:pt x="775" y="1933"/>
                    </a:lnTo>
                    <a:lnTo>
                      <a:pt x="770" y="1933"/>
                    </a:lnTo>
                    <a:close/>
                  </a:path>
                </a:pathLst>
              </a:custGeom>
              <a:solidFill>
                <a:srgbClr val="0079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34" name="Freeform 240"/>
              <p:cNvSpPr>
                <a:spLocks/>
              </p:cNvSpPr>
              <p:nvPr/>
            </p:nvSpPr>
            <p:spPr bwMode="auto">
              <a:xfrm>
                <a:off x="6858640" y="1861724"/>
                <a:ext cx="1328737" cy="3324416"/>
              </a:xfrm>
              <a:custGeom>
                <a:avLst/>
                <a:gdLst>
                  <a:gd name="T0" fmla="*/ 1222375 w 775"/>
                  <a:gd name="T1" fmla="*/ 3068638 h 1939"/>
                  <a:gd name="T2" fmla="*/ 1222375 w 775"/>
                  <a:gd name="T3" fmla="*/ 3060701 h 1939"/>
                  <a:gd name="T4" fmla="*/ 15875 w 775"/>
                  <a:gd name="T5" fmla="*/ 3060701 h 1939"/>
                  <a:gd name="T6" fmla="*/ 15875 w 775"/>
                  <a:gd name="T7" fmla="*/ 15875 h 1939"/>
                  <a:gd name="T8" fmla="*/ 1214437 w 775"/>
                  <a:gd name="T9" fmla="*/ 15875 h 1939"/>
                  <a:gd name="T10" fmla="*/ 1214437 w 775"/>
                  <a:gd name="T11" fmla="*/ 3068638 h 1939"/>
                  <a:gd name="T12" fmla="*/ 1222375 w 775"/>
                  <a:gd name="T13" fmla="*/ 3068638 h 1939"/>
                  <a:gd name="T14" fmla="*/ 1222375 w 775"/>
                  <a:gd name="T15" fmla="*/ 3060701 h 1939"/>
                  <a:gd name="T16" fmla="*/ 1222375 w 775"/>
                  <a:gd name="T17" fmla="*/ 3068638 h 1939"/>
                  <a:gd name="T18" fmla="*/ 1230312 w 775"/>
                  <a:gd name="T19" fmla="*/ 3068638 h 1939"/>
                  <a:gd name="T20" fmla="*/ 1230312 w 775"/>
                  <a:gd name="T21" fmla="*/ 0 h 1939"/>
                  <a:gd name="T22" fmla="*/ 0 w 775"/>
                  <a:gd name="T23" fmla="*/ 0 h 1939"/>
                  <a:gd name="T24" fmla="*/ 0 w 775"/>
                  <a:gd name="T25" fmla="*/ 3078163 h 1939"/>
                  <a:gd name="T26" fmla="*/ 1230312 w 775"/>
                  <a:gd name="T27" fmla="*/ 3078163 h 1939"/>
                  <a:gd name="T28" fmla="*/ 1230312 w 775"/>
                  <a:gd name="T29" fmla="*/ 3068638 h 1939"/>
                  <a:gd name="T30" fmla="*/ 1222375 w 775"/>
                  <a:gd name="T31" fmla="*/ 3068638 h 193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775"/>
                  <a:gd name="T49" fmla="*/ 0 h 1939"/>
                  <a:gd name="T50" fmla="*/ 775 w 775"/>
                  <a:gd name="T51" fmla="*/ 1939 h 193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775" h="1939">
                    <a:moveTo>
                      <a:pt x="770" y="1933"/>
                    </a:moveTo>
                    <a:lnTo>
                      <a:pt x="770" y="1928"/>
                    </a:lnTo>
                    <a:lnTo>
                      <a:pt x="10" y="1928"/>
                    </a:lnTo>
                    <a:lnTo>
                      <a:pt x="10" y="10"/>
                    </a:lnTo>
                    <a:lnTo>
                      <a:pt x="765" y="10"/>
                    </a:lnTo>
                    <a:lnTo>
                      <a:pt x="765" y="1933"/>
                    </a:lnTo>
                    <a:lnTo>
                      <a:pt x="770" y="1933"/>
                    </a:lnTo>
                    <a:lnTo>
                      <a:pt x="770" y="1928"/>
                    </a:lnTo>
                    <a:lnTo>
                      <a:pt x="770" y="1933"/>
                    </a:lnTo>
                    <a:lnTo>
                      <a:pt x="775" y="1933"/>
                    </a:lnTo>
                    <a:lnTo>
                      <a:pt x="775" y="0"/>
                    </a:lnTo>
                    <a:lnTo>
                      <a:pt x="0" y="0"/>
                    </a:lnTo>
                    <a:lnTo>
                      <a:pt x="0" y="1939"/>
                    </a:lnTo>
                    <a:lnTo>
                      <a:pt x="775" y="1939"/>
                    </a:lnTo>
                    <a:lnTo>
                      <a:pt x="775" y="1933"/>
                    </a:lnTo>
                    <a:lnTo>
                      <a:pt x="770" y="1933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35" name="Rectangle 256"/>
              <p:cNvSpPr>
                <a:spLocks noChangeArrowheads="1"/>
              </p:cNvSpPr>
              <p:nvPr/>
            </p:nvSpPr>
            <p:spPr bwMode="auto">
              <a:xfrm>
                <a:off x="7598520" y="3911183"/>
                <a:ext cx="261290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D1</a:t>
                </a:r>
                <a:endParaRPr lang="en-US" altLang="en-US" sz="1600" dirty="0"/>
              </a:p>
            </p:txBody>
          </p:sp>
          <p:sp>
            <p:nvSpPr>
              <p:cNvPr id="136" name="Rectangle 260"/>
              <p:cNvSpPr>
                <a:spLocks noChangeArrowheads="1"/>
              </p:cNvSpPr>
              <p:nvPr/>
            </p:nvSpPr>
            <p:spPr bwMode="auto">
              <a:xfrm>
                <a:off x="7676456" y="4872386"/>
                <a:ext cx="32576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37" name="Rectangle 262"/>
              <p:cNvSpPr>
                <a:spLocks noChangeArrowheads="1"/>
              </p:cNvSpPr>
              <p:nvPr/>
            </p:nvSpPr>
            <p:spPr bwMode="auto">
              <a:xfrm>
                <a:off x="7709032" y="4872386"/>
                <a:ext cx="58293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38" name="Freeform 266"/>
              <p:cNvSpPr>
                <a:spLocks/>
              </p:cNvSpPr>
              <p:nvPr/>
            </p:nvSpPr>
            <p:spPr bwMode="auto">
              <a:xfrm>
                <a:off x="7319840" y="4219162"/>
                <a:ext cx="3429" cy="17145"/>
              </a:xfrm>
              <a:custGeom>
                <a:avLst/>
                <a:gdLst>
                  <a:gd name="T0" fmla="*/ 3175 w 1"/>
                  <a:gd name="T1" fmla="*/ 0 h 4"/>
                  <a:gd name="T2" fmla="*/ 0 w 1"/>
                  <a:gd name="T3" fmla="*/ 0 h 4"/>
                  <a:gd name="T4" fmla="*/ 0 w 1"/>
                  <a:gd name="T5" fmla="*/ 7938 h 4"/>
                  <a:gd name="T6" fmla="*/ 0 w 1"/>
                  <a:gd name="T7" fmla="*/ 15875 h 4"/>
                  <a:gd name="T8" fmla="*/ 3175 w 1"/>
                  <a:gd name="T9" fmla="*/ 15875 h 4"/>
                  <a:gd name="T10" fmla="*/ 3175 w 1"/>
                  <a:gd name="T11" fmla="*/ 7938 h 4"/>
                  <a:gd name="T12" fmla="*/ 3175 w 1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4"/>
                  <a:gd name="T23" fmla="*/ 1 w 1"/>
                  <a:gd name="T24" fmla="*/ 4 h 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39" name="Rectangle 268"/>
              <p:cNvSpPr>
                <a:spLocks noChangeArrowheads="1"/>
              </p:cNvSpPr>
              <p:nvPr/>
            </p:nvSpPr>
            <p:spPr bwMode="auto">
              <a:xfrm>
                <a:off x="7345558" y="4219162"/>
                <a:ext cx="10287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40" name="Freeform 271"/>
              <p:cNvSpPr>
                <a:spLocks/>
              </p:cNvSpPr>
              <p:nvPr/>
            </p:nvSpPr>
            <p:spPr bwMode="auto">
              <a:xfrm>
                <a:off x="7928488" y="4219162"/>
                <a:ext cx="3429" cy="17145"/>
              </a:xfrm>
              <a:custGeom>
                <a:avLst/>
                <a:gdLst>
                  <a:gd name="T0" fmla="*/ 3175 w 1"/>
                  <a:gd name="T1" fmla="*/ 0 h 4"/>
                  <a:gd name="T2" fmla="*/ 0 w 1"/>
                  <a:gd name="T3" fmla="*/ 0 h 4"/>
                  <a:gd name="T4" fmla="*/ 0 w 1"/>
                  <a:gd name="T5" fmla="*/ 7938 h 4"/>
                  <a:gd name="T6" fmla="*/ 0 w 1"/>
                  <a:gd name="T7" fmla="*/ 15875 h 4"/>
                  <a:gd name="T8" fmla="*/ 3175 w 1"/>
                  <a:gd name="T9" fmla="*/ 15875 h 4"/>
                  <a:gd name="T10" fmla="*/ 3175 w 1"/>
                  <a:gd name="T11" fmla="*/ 7938 h 4"/>
                  <a:gd name="T12" fmla="*/ 3175 w 1"/>
                  <a:gd name="T13" fmla="*/ 0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"/>
                  <a:gd name="T22" fmla="*/ 0 h 4"/>
                  <a:gd name="T23" fmla="*/ 1 w 1"/>
                  <a:gd name="T24" fmla="*/ 4 h 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" h="4">
                    <a:moveTo>
                      <a:pt x="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41" name="Rectangle 273"/>
              <p:cNvSpPr>
                <a:spLocks noChangeArrowheads="1"/>
              </p:cNvSpPr>
              <p:nvPr/>
            </p:nvSpPr>
            <p:spPr bwMode="auto">
              <a:xfrm>
                <a:off x="7954205" y="4219162"/>
                <a:ext cx="5144" cy="1714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42" name="Rectangle 274"/>
              <p:cNvSpPr>
                <a:spLocks noChangeArrowheads="1"/>
              </p:cNvSpPr>
              <p:nvPr/>
            </p:nvSpPr>
            <p:spPr bwMode="auto">
              <a:xfrm>
                <a:off x="7954205" y="4219162"/>
                <a:ext cx="5144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43" name="Rectangle 276"/>
              <p:cNvSpPr>
                <a:spLocks noChangeArrowheads="1"/>
              </p:cNvSpPr>
              <p:nvPr/>
            </p:nvSpPr>
            <p:spPr bwMode="auto">
              <a:xfrm>
                <a:off x="7247831" y="4630642"/>
                <a:ext cx="17145" cy="111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44" name="Rectangle 278"/>
              <p:cNvSpPr>
                <a:spLocks noChangeArrowheads="1"/>
              </p:cNvSpPr>
              <p:nvPr/>
            </p:nvSpPr>
            <p:spPr bwMode="auto">
              <a:xfrm>
                <a:off x="7859908" y="4630642"/>
                <a:ext cx="18859" cy="111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45" name="Rectangle 283"/>
              <p:cNvSpPr>
                <a:spLocks noChangeArrowheads="1"/>
              </p:cNvSpPr>
              <p:nvPr/>
            </p:nvSpPr>
            <p:spPr bwMode="auto">
              <a:xfrm>
                <a:off x="7064380" y="4872386"/>
                <a:ext cx="30861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46" name="Rectangle 285"/>
              <p:cNvSpPr>
                <a:spLocks noChangeArrowheads="1"/>
              </p:cNvSpPr>
              <p:nvPr/>
            </p:nvSpPr>
            <p:spPr bwMode="auto">
              <a:xfrm>
                <a:off x="7095241" y="4872386"/>
                <a:ext cx="58293" cy="17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47" name="Freeform 314"/>
              <p:cNvSpPr>
                <a:spLocks/>
              </p:cNvSpPr>
              <p:nvPr/>
            </p:nvSpPr>
            <p:spPr bwMode="auto">
              <a:xfrm>
                <a:off x="4074293" y="4224305"/>
                <a:ext cx="13716" cy="8573"/>
              </a:xfrm>
              <a:custGeom>
                <a:avLst/>
                <a:gdLst>
                  <a:gd name="T0" fmla="*/ 12700 w 3"/>
                  <a:gd name="T1" fmla="*/ 0 h 2"/>
                  <a:gd name="T2" fmla="*/ 0 w 3"/>
                  <a:gd name="T3" fmla="*/ 0 h 2"/>
                  <a:gd name="T4" fmla="*/ 0 w 3"/>
                  <a:gd name="T5" fmla="*/ 7938 h 2"/>
                  <a:gd name="T6" fmla="*/ 12700 w 3"/>
                  <a:gd name="T7" fmla="*/ 7938 h 2"/>
                  <a:gd name="T8" fmla="*/ 12700 w 3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"/>
                  <a:gd name="T16" fmla="*/ 0 h 2"/>
                  <a:gd name="T17" fmla="*/ 3 w 3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" h="2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" y="2"/>
                      <a:pt x="3" y="2"/>
                    </a:cubicBezTo>
                    <a:cubicBezTo>
                      <a:pt x="3" y="0"/>
                      <a:pt x="3" y="0"/>
                      <a:pt x="3" y="0"/>
                    </a:cubicBezTo>
                  </a:path>
                </a:pathLst>
              </a:cu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48" name="Freeform 315"/>
              <p:cNvSpPr>
                <a:spLocks noEditPoints="1"/>
              </p:cNvSpPr>
              <p:nvPr/>
            </p:nvSpPr>
            <p:spPr bwMode="auto">
              <a:xfrm>
                <a:off x="5082419" y="4094003"/>
                <a:ext cx="250317" cy="25718"/>
              </a:xfrm>
              <a:custGeom>
                <a:avLst/>
                <a:gdLst>
                  <a:gd name="T0" fmla="*/ 194525 w 56"/>
                  <a:gd name="T1" fmla="*/ 11907 h 6"/>
                  <a:gd name="T2" fmla="*/ 115887 w 56"/>
                  <a:gd name="T3" fmla="*/ 11907 h 6"/>
                  <a:gd name="T4" fmla="*/ 0 w 56"/>
                  <a:gd name="T5" fmla="*/ 23813 h 6"/>
                  <a:gd name="T6" fmla="*/ 78638 w 56"/>
                  <a:gd name="T7" fmla="*/ 23813 h 6"/>
                  <a:gd name="T8" fmla="*/ 194525 w 56"/>
                  <a:gd name="T9" fmla="*/ 11907 h 6"/>
                  <a:gd name="T10" fmla="*/ 231775 w 56"/>
                  <a:gd name="T11" fmla="*/ 0 h 6"/>
                  <a:gd name="T12" fmla="*/ 215220 w 56"/>
                  <a:gd name="T13" fmla="*/ 0 h 6"/>
                  <a:gd name="T14" fmla="*/ 215220 w 56"/>
                  <a:gd name="T15" fmla="*/ 7938 h 6"/>
                  <a:gd name="T16" fmla="*/ 231775 w 56"/>
                  <a:gd name="T17" fmla="*/ 7938 h 6"/>
                  <a:gd name="T18" fmla="*/ 231775 w 56"/>
                  <a:gd name="T19" fmla="*/ 0 h 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6"/>
                  <a:gd name="T31" fmla="*/ 0 h 6"/>
                  <a:gd name="T32" fmla="*/ 56 w 56"/>
                  <a:gd name="T33" fmla="*/ 6 h 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6" h="6">
                    <a:moveTo>
                      <a:pt x="47" y="3"/>
                    </a:moveTo>
                    <a:cubicBezTo>
                      <a:pt x="28" y="3"/>
                      <a:pt x="28" y="3"/>
                      <a:pt x="28" y="3"/>
                    </a:cubicBezTo>
                    <a:cubicBezTo>
                      <a:pt x="19" y="4"/>
                      <a:pt x="9" y="5"/>
                      <a:pt x="0" y="6"/>
                    </a:cubicBezTo>
                    <a:cubicBezTo>
                      <a:pt x="19" y="6"/>
                      <a:pt x="19" y="6"/>
                      <a:pt x="19" y="6"/>
                    </a:cubicBezTo>
                    <a:cubicBezTo>
                      <a:pt x="28" y="5"/>
                      <a:pt x="37" y="4"/>
                      <a:pt x="47" y="3"/>
                    </a:cubicBezTo>
                    <a:moveTo>
                      <a:pt x="56" y="0"/>
                    </a:moveTo>
                    <a:cubicBezTo>
                      <a:pt x="55" y="0"/>
                      <a:pt x="53" y="0"/>
                      <a:pt x="52" y="0"/>
                    </a:cubicBezTo>
                    <a:cubicBezTo>
                      <a:pt x="52" y="2"/>
                      <a:pt x="52" y="2"/>
                      <a:pt x="52" y="2"/>
                    </a:cubicBezTo>
                    <a:cubicBezTo>
                      <a:pt x="54" y="2"/>
                      <a:pt x="54" y="2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</a:path>
                </a:pathLst>
              </a:cu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49" name="Freeform 316"/>
              <p:cNvSpPr>
                <a:spLocks/>
              </p:cNvSpPr>
              <p:nvPr/>
            </p:nvSpPr>
            <p:spPr bwMode="auto">
              <a:xfrm>
                <a:off x="6630611" y="3946556"/>
                <a:ext cx="17145" cy="8573"/>
              </a:xfrm>
              <a:custGeom>
                <a:avLst/>
                <a:gdLst>
                  <a:gd name="T0" fmla="*/ 15875 w 4"/>
                  <a:gd name="T1" fmla="*/ 0 h 2"/>
                  <a:gd name="T2" fmla="*/ 0 w 4"/>
                  <a:gd name="T3" fmla="*/ 0 h 2"/>
                  <a:gd name="T4" fmla="*/ 0 w 4"/>
                  <a:gd name="T5" fmla="*/ 7938 h 2"/>
                  <a:gd name="T6" fmla="*/ 15875 w 4"/>
                  <a:gd name="T7" fmla="*/ 7938 h 2"/>
                  <a:gd name="T8" fmla="*/ 15875 w 4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2"/>
                  <a:gd name="T17" fmla="*/ 4 w 4"/>
                  <a:gd name="T18" fmla="*/ 2 h 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2">
                    <a:moveTo>
                      <a:pt x="4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2" y="2"/>
                      <a:pt x="4" y="2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50" name="Freeform 317"/>
              <p:cNvSpPr>
                <a:spLocks/>
              </p:cNvSpPr>
              <p:nvPr/>
            </p:nvSpPr>
            <p:spPr bwMode="auto">
              <a:xfrm>
                <a:off x="6688904" y="3936269"/>
                <a:ext cx="17145" cy="13716"/>
              </a:xfrm>
              <a:custGeom>
                <a:avLst/>
                <a:gdLst>
                  <a:gd name="T0" fmla="*/ 15875 w 4"/>
                  <a:gd name="T1" fmla="*/ 0 h 3"/>
                  <a:gd name="T2" fmla="*/ 0 w 4"/>
                  <a:gd name="T3" fmla="*/ 4233 h 3"/>
                  <a:gd name="T4" fmla="*/ 0 w 4"/>
                  <a:gd name="T5" fmla="*/ 12700 h 3"/>
                  <a:gd name="T6" fmla="*/ 15875 w 4"/>
                  <a:gd name="T7" fmla="*/ 8467 h 3"/>
                  <a:gd name="T8" fmla="*/ 15875 w 4"/>
                  <a:gd name="T9" fmla="*/ 0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"/>
                  <a:gd name="T16" fmla="*/ 0 h 3"/>
                  <a:gd name="T17" fmla="*/ 4 w 4"/>
                  <a:gd name="T18" fmla="*/ 3 h 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" h="3">
                    <a:moveTo>
                      <a:pt x="4" y="0"/>
                    </a:moveTo>
                    <a:cubicBezTo>
                      <a:pt x="2" y="0"/>
                      <a:pt x="1" y="0"/>
                      <a:pt x="0" y="1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1" y="2"/>
                      <a:pt x="2" y="2"/>
                      <a:pt x="4" y="2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51" name="Freeform 319"/>
              <p:cNvSpPr>
                <a:spLocks noEditPoints="1"/>
              </p:cNvSpPr>
              <p:nvPr/>
            </p:nvSpPr>
            <p:spPr bwMode="auto">
              <a:xfrm>
                <a:off x="4132586" y="4075144"/>
                <a:ext cx="1330452" cy="152590"/>
              </a:xfrm>
              <a:custGeom>
                <a:avLst/>
                <a:gdLst>
                  <a:gd name="T0" fmla="*/ 16591 w 297"/>
                  <a:gd name="T1" fmla="*/ 132976 h 34"/>
                  <a:gd name="T2" fmla="*/ 0 w 297"/>
                  <a:gd name="T3" fmla="*/ 132976 h 34"/>
                  <a:gd name="T4" fmla="*/ 0 w 297"/>
                  <a:gd name="T5" fmla="*/ 141287 h 34"/>
                  <a:gd name="T6" fmla="*/ 16591 w 297"/>
                  <a:gd name="T7" fmla="*/ 141287 h 34"/>
                  <a:gd name="T8" fmla="*/ 16591 w 297"/>
                  <a:gd name="T9" fmla="*/ 132976 h 34"/>
                  <a:gd name="T10" fmla="*/ 1231900 w 297"/>
                  <a:gd name="T11" fmla="*/ 0 h 34"/>
                  <a:gd name="T12" fmla="*/ 1215309 w 297"/>
                  <a:gd name="T13" fmla="*/ 4156 h 34"/>
                  <a:gd name="T14" fmla="*/ 1215309 w 297"/>
                  <a:gd name="T15" fmla="*/ 12466 h 34"/>
                  <a:gd name="T16" fmla="*/ 1231900 w 297"/>
                  <a:gd name="T17" fmla="*/ 8311 h 34"/>
                  <a:gd name="T18" fmla="*/ 1231900 w 297"/>
                  <a:gd name="T19" fmla="*/ 0 h 3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7"/>
                  <a:gd name="T31" fmla="*/ 0 h 34"/>
                  <a:gd name="T32" fmla="*/ 297 w 297"/>
                  <a:gd name="T33" fmla="*/ 34 h 3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7" h="34">
                    <a:moveTo>
                      <a:pt x="4" y="32"/>
                    </a:moveTo>
                    <a:cubicBezTo>
                      <a:pt x="3" y="32"/>
                      <a:pt x="2" y="32"/>
                      <a:pt x="0" y="32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2" y="34"/>
                      <a:pt x="3" y="34"/>
                      <a:pt x="4" y="34"/>
                    </a:cubicBezTo>
                    <a:cubicBezTo>
                      <a:pt x="4" y="32"/>
                      <a:pt x="4" y="32"/>
                      <a:pt x="4" y="32"/>
                    </a:cubicBezTo>
                    <a:moveTo>
                      <a:pt x="297" y="0"/>
                    </a:moveTo>
                    <a:cubicBezTo>
                      <a:pt x="296" y="0"/>
                      <a:pt x="294" y="1"/>
                      <a:pt x="293" y="1"/>
                    </a:cubicBezTo>
                    <a:cubicBezTo>
                      <a:pt x="293" y="3"/>
                      <a:pt x="293" y="3"/>
                      <a:pt x="293" y="3"/>
                    </a:cubicBezTo>
                    <a:cubicBezTo>
                      <a:pt x="294" y="3"/>
                      <a:pt x="296" y="2"/>
                      <a:pt x="297" y="2"/>
                    </a:cubicBezTo>
                    <a:cubicBezTo>
                      <a:pt x="297" y="0"/>
                      <a:pt x="297" y="0"/>
                      <a:pt x="297" y="0"/>
                    </a:cubicBezTo>
                  </a:path>
                </a:pathLst>
              </a:custGeom>
              <a:solidFill>
                <a:srgbClr val="091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52" name="Rectangle 325"/>
              <p:cNvSpPr>
                <a:spLocks noChangeArrowheads="1"/>
              </p:cNvSpPr>
              <p:nvPr/>
            </p:nvSpPr>
            <p:spPr bwMode="auto">
              <a:xfrm>
                <a:off x="3568010" y="2982256"/>
                <a:ext cx="91600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k</a:t>
                </a:r>
                <a:endParaRPr lang="en-US" altLang="en-US" sz="1600" dirty="0"/>
              </a:p>
            </p:txBody>
          </p:sp>
          <p:sp>
            <p:nvSpPr>
              <p:cNvPr id="153" name="Rectangle 326"/>
              <p:cNvSpPr>
                <a:spLocks noChangeArrowheads="1"/>
              </p:cNvSpPr>
              <p:nvPr/>
            </p:nvSpPr>
            <p:spPr bwMode="auto">
              <a:xfrm>
                <a:off x="3579735" y="3184027"/>
                <a:ext cx="101620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p</a:t>
                </a:r>
                <a:endParaRPr lang="en-US" altLang="en-US" sz="1600" dirty="0"/>
              </a:p>
            </p:txBody>
          </p:sp>
          <p:sp>
            <p:nvSpPr>
              <p:cNvPr id="154" name="Rectangle 327"/>
              <p:cNvSpPr>
                <a:spLocks noChangeArrowheads="1"/>
              </p:cNvSpPr>
              <p:nvPr/>
            </p:nvSpPr>
            <p:spPr bwMode="auto">
              <a:xfrm>
                <a:off x="3569365" y="3337908"/>
                <a:ext cx="91600" cy="219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s</a:t>
                </a:r>
                <a:endParaRPr lang="en-US" altLang="en-US" sz="1600" dirty="0"/>
              </a:p>
            </p:txBody>
          </p:sp>
          <p:sp>
            <p:nvSpPr>
              <p:cNvPr id="155" name="Rectangle 328"/>
              <p:cNvSpPr>
                <a:spLocks noChangeArrowheads="1"/>
              </p:cNvSpPr>
              <p:nvPr/>
            </p:nvSpPr>
            <p:spPr bwMode="auto">
              <a:xfrm>
                <a:off x="3673100" y="5614163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  <a:endParaRPr lang="en-US" altLang="en-US" sz="1600" dirty="0"/>
              </a:p>
            </p:txBody>
          </p:sp>
          <p:sp>
            <p:nvSpPr>
              <p:cNvPr id="156" name="Rectangle 329"/>
              <p:cNvSpPr>
                <a:spLocks noChangeArrowheads="1"/>
              </p:cNvSpPr>
              <p:nvPr/>
            </p:nvSpPr>
            <p:spPr bwMode="auto">
              <a:xfrm>
                <a:off x="5291588" y="4152296"/>
                <a:ext cx="65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 dirty="0"/>
              </a:p>
            </p:txBody>
          </p:sp>
          <p:sp>
            <p:nvSpPr>
              <p:cNvPr id="157" name="Rectangle 336"/>
              <p:cNvSpPr>
                <a:spLocks noChangeArrowheads="1"/>
              </p:cNvSpPr>
              <p:nvPr/>
            </p:nvSpPr>
            <p:spPr bwMode="auto">
              <a:xfrm>
                <a:off x="8505597" y="5081806"/>
                <a:ext cx="12503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F</a:t>
                </a:r>
                <a:endParaRPr lang="en-US" altLang="en-US" sz="1600" dirty="0"/>
              </a:p>
            </p:txBody>
          </p:sp>
          <p:sp>
            <p:nvSpPr>
              <p:cNvPr id="158" name="Rectangle 345"/>
              <p:cNvSpPr>
                <a:spLocks noChangeArrowheads="1"/>
              </p:cNvSpPr>
              <p:nvPr/>
            </p:nvSpPr>
            <p:spPr bwMode="auto">
              <a:xfrm>
                <a:off x="6911789" y="2841561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i="1" dirty="0">
                    <a:solidFill>
                      <a:srgbClr val="000000"/>
                    </a:solidFill>
                    <a:latin typeface="Helvetica" pitchFamily="34" charset="0"/>
                  </a:rPr>
                  <a:t>x</a:t>
                </a:r>
                <a:endParaRPr lang="en-US" altLang="en-US" sz="1600" dirty="0"/>
              </a:p>
            </p:txBody>
          </p:sp>
          <p:sp>
            <p:nvSpPr>
              <p:cNvPr id="159" name="Rectangle 346"/>
              <p:cNvSpPr>
                <a:spLocks noChangeArrowheads="1"/>
              </p:cNvSpPr>
              <p:nvPr/>
            </p:nvSpPr>
            <p:spPr bwMode="auto">
              <a:xfrm>
                <a:off x="6911629" y="3066781"/>
                <a:ext cx="5770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i="1" dirty="0">
                    <a:solidFill>
                      <a:srgbClr val="000000"/>
                    </a:solidFill>
                    <a:latin typeface="Helvetica" pitchFamily="34" charset="0"/>
                  </a:rPr>
                  <a:t>t</a:t>
                </a:r>
                <a:endParaRPr lang="en-US" altLang="en-US" sz="1600" dirty="0"/>
              </a:p>
            </p:txBody>
          </p:sp>
          <p:sp>
            <p:nvSpPr>
              <p:cNvPr id="160" name="Rectangle 347"/>
              <p:cNvSpPr>
                <a:spLocks noChangeArrowheads="1"/>
              </p:cNvSpPr>
              <p:nvPr/>
            </p:nvSpPr>
            <p:spPr bwMode="auto">
              <a:xfrm>
                <a:off x="6975226" y="3221323"/>
                <a:ext cx="13716" cy="137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61" name="Rectangle 349"/>
              <p:cNvSpPr>
                <a:spLocks noChangeArrowheads="1"/>
              </p:cNvSpPr>
              <p:nvPr/>
            </p:nvSpPr>
            <p:spPr bwMode="auto">
              <a:xfrm>
                <a:off x="6908470" y="3439731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i="1" dirty="0">
                    <a:solidFill>
                      <a:srgbClr val="000000"/>
                    </a:solidFill>
                    <a:latin typeface="Helvetica" pitchFamily="34" charset="0"/>
                  </a:rPr>
                  <a:t>d</a:t>
                </a:r>
                <a:endParaRPr lang="en-US" altLang="en-US" sz="1600" dirty="0"/>
              </a:p>
            </p:txBody>
          </p:sp>
          <p:sp>
            <p:nvSpPr>
              <p:cNvPr id="162" name="Rectangle 350"/>
              <p:cNvSpPr>
                <a:spLocks noChangeArrowheads="1"/>
              </p:cNvSpPr>
              <p:nvPr/>
            </p:nvSpPr>
            <p:spPr bwMode="auto">
              <a:xfrm>
                <a:off x="6975226" y="3301904"/>
                <a:ext cx="1714" cy="17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63" name="Rectangle 352"/>
              <p:cNvSpPr>
                <a:spLocks noChangeArrowheads="1"/>
              </p:cNvSpPr>
              <p:nvPr/>
            </p:nvSpPr>
            <p:spPr bwMode="auto">
              <a:xfrm>
                <a:off x="6975226" y="3373913"/>
                <a:ext cx="8572" cy="3086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64" name="Rectangle 328"/>
              <p:cNvSpPr>
                <a:spLocks noChangeArrowheads="1"/>
              </p:cNvSpPr>
              <p:nvPr/>
            </p:nvSpPr>
            <p:spPr bwMode="auto">
              <a:xfrm>
                <a:off x="3684725" y="5440344"/>
                <a:ext cx="57708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t</a:t>
                </a:r>
                <a:endParaRPr lang="en-US" altLang="en-US" sz="1600" dirty="0"/>
              </a:p>
            </p:txBody>
          </p:sp>
          <p:sp>
            <p:nvSpPr>
              <p:cNvPr id="165" name="Rectangle 351"/>
              <p:cNvSpPr>
                <a:spLocks noChangeArrowheads="1"/>
              </p:cNvSpPr>
              <p:nvPr/>
            </p:nvSpPr>
            <p:spPr bwMode="auto">
              <a:xfrm>
                <a:off x="5120518" y="5152225"/>
                <a:ext cx="102592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x</a:t>
                </a:r>
              </a:p>
            </p:txBody>
          </p:sp>
          <p:sp>
            <p:nvSpPr>
              <p:cNvPr id="166" name="Rectangle 351"/>
              <p:cNvSpPr>
                <a:spLocks noChangeArrowheads="1"/>
              </p:cNvSpPr>
              <p:nvPr/>
            </p:nvSpPr>
            <p:spPr bwMode="auto">
              <a:xfrm>
                <a:off x="4981567" y="4134945"/>
                <a:ext cx="113814" cy="246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 dirty="0">
                    <a:solidFill>
                      <a:srgbClr val="000000"/>
                    </a:solidFill>
                    <a:latin typeface="Helvetica" pitchFamily="34" charset="0"/>
                  </a:rPr>
                  <a:t>h</a:t>
                </a:r>
              </a:p>
            </p:txBody>
          </p:sp>
          <p:sp>
            <p:nvSpPr>
              <p:cNvPr id="167" name="Freeform 92"/>
              <p:cNvSpPr>
                <a:spLocks/>
              </p:cNvSpPr>
              <p:nvPr/>
            </p:nvSpPr>
            <p:spPr bwMode="auto">
              <a:xfrm>
                <a:off x="4572000" y="4848522"/>
                <a:ext cx="130754" cy="64527"/>
              </a:xfrm>
              <a:custGeom>
                <a:avLst/>
                <a:gdLst>
                  <a:gd name="T0" fmla="*/ 122238 w 77"/>
                  <a:gd name="T1" fmla="*/ 30163 h 38"/>
                  <a:gd name="T2" fmla="*/ 0 w 77"/>
                  <a:gd name="T3" fmla="*/ 0 h 38"/>
                  <a:gd name="T4" fmla="*/ 0 w 77"/>
                  <a:gd name="T5" fmla="*/ 60325 h 38"/>
                  <a:gd name="T6" fmla="*/ 122238 w 77"/>
                  <a:gd name="T7" fmla="*/ 30163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7"/>
                  <a:gd name="T13" fmla="*/ 0 h 38"/>
                  <a:gd name="T14" fmla="*/ 77 w 77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7" h="38">
                    <a:moveTo>
                      <a:pt x="77" y="19"/>
                    </a:moveTo>
                    <a:lnTo>
                      <a:pt x="0" y="0"/>
                    </a:lnTo>
                    <a:lnTo>
                      <a:pt x="0" y="38"/>
                    </a:lnTo>
                    <a:lnTo>
                      <a:pt x="77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cxnSp>
            <p:nvCxnSpPr>
              <p:cNvPr id="168" name="Straight Connector 167"/>
              <p:cNvCxnSpPr/>
              <p:nvPr/>
            </p:nvCxnSpPr>
            <p:spPr>
              <a:xfrm>
                <a:off x="4701079" y="4627990"/>
                <a:ext cx="0" cy="12857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9" name="Group 168"/>
              <p:cNvGrpSpPr/>
              <p:nvPr/>
            </p:nvGrpSpPr>
            <p:grpSpPr>
              <a:xfrm>
                <a:off x="4355098" y="4121097"/>
                <a:ext cx="561906" cy="895302"/>
                <a:chOff x="4355098" y="4121097"/>
                <a:chExt cx="561906" cy="895302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>
                  <a:off x="4909289" y="4121097"/>
                  <a:ext cx="0" cy="648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4" name="Freeform 175"/>
                <p:cNvSpPr>
                  <a:spLocks/>
                </p:cNvSpPr>
                <p:nvPr/>
              </p:nvSpPr>
              <p:spPr bwMode="auto">
                <a:xfrm>
                  <a:off x="4572840" y="4514056"/>
                  <a:ext cx="94297" cy="99441"/>
                </a:xfrm>
                <a:custGeom>
                  <a:avLst/>
                  <a:gdLst>
                    <a:gd name="T0" fmla="*/ 0 w 55"/>
                    <a:gd name="T1" fmla="*/ 92075 h 58"/>
                    <a:gd name="T2" fmla="*/ 87312 w 55"/>
                    <a:gd name="T3" fmla="*/ 46038 h 58"/>
                    <a:gd name="T4" fmla="*/ 0 w 55"/>
                    <a:gd name="T5" fmla="*/ 0 h 58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58"/>
                    <a:gd name="T11" fmla="*/ 55 w 55"/>
                    <a:gd name="T12" fmla="*/ 58 h 5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58">
                      <a:moveTo>
                        <a:pt x="0" y="58"/>
                      </a:moveTo>
                      <a:lnTo>
                        <a:pt x="55" y="2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7938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85" name="Rectangle 177"/>
                <p:cNvSpPr>
                  <a:spLocks noChangeArrowheads="1"/>
                </p:cNvSpPr>
                <p:nvPr/>
              </p:nvSpPr>
              <p:spPr bwMode="auto">
                <a:xfrm>
                  <a:off x="4569411" y="4344320"/>
                  <a:ext cx="281178" cy="281178"/>
                </a:xfrm>
                <a:prstGeom prst="rect">
                  <a:avLst/>
                </a:prstGeom>
                <a:noFill/>
                <a:ln w="11113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86" name="Rectangle 182"/>
                <p:cNvSpPr>
                  <a:spLocks noChangeArrowheads="1"/>
                </p:cNvSpPr>
                <p:nvPr/>
              </p:nvSpPr>
              <p:spPr bwMode="auto">
                <a:xfrm>
                  <a:off x="4355098" y="4733506"/>
                  <a:ext cx="133731" cy="282893"/>
                </a:xfrm>
                <a:prstGeom prst="rect">
                  <a:avLst/>
                </a:prstGeom>
                <a:noFill/>
                <a:ln w="11113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87" name="Oval 186"/>
                <p:cNvSpPr/>
                <p:nvPr/>
              </p:nvSpPr>
              <p:spPr>
                <a:xfrm>
                  <a:off x="4871285" y="4210017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600"/>
                </a:p>
              </p:txBody>
            </p:sp>
            <p:sp>
              <p:nvSpPr>
                <p:cNvPr id="188" name="Line 93"/>
                <p:cNvSpPr>
                  <a:spLocks noChangeShapeType="1"/>
                </p:cNvSpPr>
                <p:nvPr/>
              </p:nvSpPr>
              <p:spPr bwMode="auto">
                <a:xfrm>
                  <a:off x="4476408" y="4871886"/>
                  <a:ext cx="180000" cy="0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89" name="Freeform 95"/>
                <p:cNvSpPr>
                  <a:spLocks/>
                </p:cNvSpPr>
                <p:nvPr/>
              </p:nvSpPr>
              <p:spPr bwMode="auto">
                <a:xfrm>
                  <a:off x="4701079" y="4242061"/>
                  <a:ext cx="189377" cy="101443"/>
                </a:xfrm>
                <a:custGeom>
                  <a:avLst/>
                  <a:gdLst>
                    <a:gd name="T0" fmla="*/ 0 w 134"/>
                    <a:gd name="T1" fmla="*/ 127000 h 80"/>
                    <a:gd name="T2" fmla="*/ 0 w 134"/>
                    <a:gd name="T3" fmla="*/ 0 h 80"/>
                    <a:gd name="T4" fmla="*/ 212725 w 134"/>
                    <a:gd name="T5" fmla="*/ 0 h 80"/>
                    <a:gd name="T6" fmla="*/ 0 60000 65536"/>
                    <a:gd name="T7" fmla="*/ 0 60000 65536"/>
                    <a:gd name="T8" fmla="*/ 0 60000 65536"/>
                    <a:gd name="T9" fmla="*/ 0 w 134"/>
                    <a:gd name="T10" fmla="*/ 0 h 80"/>
                    <a:gd name="T11" fmla="*/ 134 w 134"/>
                    <a:gd name="T12" fmla="*/ 80 h 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4" h="80">
                      <a:moveTo>
                        <a:pt x="0" y="80"/>
                      </a:moveTo>
                      <a:lnTo>
                        <a:pt x="0" y="0"/>
                      </a:lnTo>
                      <a:lnTo>
                        <a:pt x="134" y="0"/>
                      </a:lnTo>
                    </a:path>
                  </a:pathLst>
                </a:custGeom>
                <a:noFill/>
                <a:ln w="20638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</p:grpSp>
          <p:grpSp>
            <p:nvGrpSpPr>
              <p:cNvPr id="170" name="Group 169"/>
              <p:cNvGrpSpPr/>
              <p:nvPr/>
            </p:nvGrpSpPr>
            <p:grpSpPr>
              <a:xfrm>
                <a:off x="7161248" y="4108467"/>
                <a:ext cx="630937" cy="919506"/>
                <a:chOff x="4355098" y="4121097"/>
                <a:chExt cx="630937" cy="919506"/>
              </a:xfrm>
            </p:grpSpPr>
            <p:cxnSp>
              <p:nvCxnSpPr>
                <p:cNvPr id="172" name="Straight Connector 171"/>
                <p:cNvCxnSpPr/>
                <p:nvPr/>
              </p:nvCxnSpPr>
              <p:spPr>
                <a:xfrm>
                  <a:off x="4909289" y="4121097"/>
                  <a:ext cx="0" cy="648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3" name="Freeform 175"/>
                <p:cNvSpPr>
                  <a:spLocks/>
                </p:cNvSpPr>
                <p:nvPr/>
              </p:nvSpPr>
              <p:spPr bwMode="auto">
                <a:xfrm>
                  <a:off x="4572840" y="4514056"/>
                  <a:ext cx="94297" cy="99441"/>
                </a:xfrm>
                <a:custGeom>
                  <a:avLst/>
                  <a:gdLst>
                    <a:gd name="T0" fmla="*/ 0 w 55"/>
                    <a:gd name="T1" fmla="*/ 92075 h 58"/>
                    <a:gd name="T2" fmla="*/ 87312 w 55"/>
                    <a:gd name="T3" fmla="*/ 46038 h 58"/>
                    <a:gd name="T4" fmla="*/ 0 w 55"/>
                    <a:gd name="T5" fmla="*/ 0 h 58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58"/>
                    <a:gd name="T11" fmla="*/ 55 w 55"/>
                    <a:gd name="T12" fmla="*/ 58 h 5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58">
                      <a:moveTo>
                        <a:pt x="0" y="58"/>
                      </a:moveTo>
                      <a:lnTo>
                        <a:pt x="55" y="2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7938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74" name="Rectangle 177"/>
                <p:cNvSpPr>
                  <a:spLocks noChangeArrowheads="1"/>
                </p:cNvSpPr>
                <p:nvPr/>
              </p:nvSpPr>
              <p:spPr bwMode="auto">
                <a:xfrm>
                  <a:off x="4569411" y="4344320"/>
                  <a:ext cx="281178" cy="281178"/>
                </a:xfrm>
                <a:prstGeom prst="rect">
                  <a:avLst/>
                </a:prstGeom>
                <a:noFill/>
                <a:ln w="11113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75" name="Rectangle 178"/>
                <p:cNvSpPr>
                  <a:spLocks noChangeArrowheads="1"/>
                </p:cNvSpPr>
                <p:nvPr/>
              </p:nvSpPr>
              <p:spPr bwMode="auto">
                <a:xfrm>
                  <a:off x="4658334" y="4733766"/>
                  <a:ext cx="327701" cy="282893"/>
                </a:xfrm>
                <a:prstGeom prst="rect">
                  <a:avLst/>
                </a:prstGeom>
                <a:noFill/>
                <a:ln w="11113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76" name="Rectangle 182"/>
                <p:cNvSpPr>
                  <a:spLocks noChangeArrowheads="1"/>
                </p:cNvSpPr>
                <p:nvPr/>
              </p:nvSpPr>
              <p:spPr bwMode="auto">
                <a:xfrm>
                  <a:off x="4355098" y="4733506"/>
                  <a:ext cx="133731" cy="282893"/>
                </a:xfrm>
                <a:prstGeom prst="rect">
                  <a:avLst/>
                </a:prstGeom>
                <a:noFill/>
                <a:ln w="11113">
                  <a:solidFill>
                    <a:srgbClr val="0079C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77" name="Rectangle 183"/>
                <p:cNvSpPr>
                  <a:spLocks noChangeArrowheads="1"/>
                </p:cNvSpPr>
                <p:nvPr/>
              </p:nvSpPr>
              <p:spPr bwMode="auto">
                <a:xfrm>
                  <a:off x="4860493" y="4701549"/>
                  <a:ext cx="66281" cy="1923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r>
                    <a:rPr lang="en-US" altLang="en-US" sz="1400" dirty="0">
                      <a:solidFill>
                        <a:srgbClr val="000000"/>
                      </a:solidFill>
                      <a:latin typeface="Helvetica" pitchFamily="34" charset="0"/>
                    </a:rPr>
                    <a:t>1</a:t>
                  </a:r>
                  <a:endParaRPr lang="en-US" altLang="en-US" sz="1400" dirty="0"/>
                </a:p>
              </p:txBody>
            </p:sp>
            <p:sp>
              <p:nvSpPr>
                <p:cNvPr id="178" name="Rectangle 184"/>
                <p:cNvSpPr>
                  <a:spLocks noChangeArrowheads="1"/>
                </p:cNvSpPr>
                <p:nvPr/>
              </p:nvSpPr>
              <p:spPr bwMode="auto">
                <a:xfrm>
                  <a:off x="4715523" y="4711644"/>
                  <a:ext cx="77248" cy="19236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r>
                    <a:rPr lang="en-US" altLang="en-US" sz="1400" dirty="0">
                      <a:solidFill>
                        <a:srgbClr val="000000"/>
                      </a:solidFill>
                      <a:latin typeface="Helvetica" pitchFamily="34" charset="0"/>
                    </a:rPr>
                    <a:t>0</a:t>
                  </a:r>
                  <a:endParaRPr lang="en-US" altLang="en-US" sz="1400" dirty="0"/>
                </a:p>
              </p:txBody>
            </p:sp>
            <p:sp>
              <p:nvSpPr>
                <p:cNvPr id="179" name="Oval 178"/>
                <p:cNvSpPr/>
                <p:nvPr/>
              </p:nvSpPr>
              <p:spPr>
                <a:xfrm>
                  <a:off x="4871285" y="4210017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600"/>
                </a:p>
              </p:txBody>
            </p:sp>
            <p:sp>
              <p:nvSpPr>
                <p:cNvPr id="180" name="Line 93"/>
                <p:cNvSpPr>
                  <a:spLocks noChangeShapeType="1"/>
                </p:cNvSpPr>
                <p:nvPr/>
              </p:nvSpPr>
              <p:spPr bwMode="auto">
                <a:xfrm>
                  <a:off x="4476408" y="4871886"/>
                  <a:ext cx="180000" cy="0"/>
                </a:xfrm>
                <a:prstGeom prst="line">
                  <a:avLst/>
                </a:prstGeom>
                <a:noFill/>
                <a:ln w="20638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 sz="1600"/>
                </a:p>
              </p:txBody>
            </p:sp>
            <p:sp>
              <p:nvSpPr>
                <p:cNvPr id="181" name="Freeform 95"/>
                <p:cNvSpPr>
                  <a:spLocks/>
                </p:cNvSpPr>
                <p:nvPr/>
              </p:nvSpPr>
              <p:spPr bwMode="auto">
                <a:xfrm>
                  <a:off x="4701079" y="4242061"/>
                  <a:ext cx="189377" cy="101443"/>
                </a:xfrm>
                <a:custGeom>
                  <a:avLst/>
                  <a:gdLst>
                    <a:gd name="T0" fmla="*/ 0 w 134"/>
                    <a:gd name="T1" fmla="*/ 127000 h 80"/>
                    <a:gd name="T2" fmla="*/ 0 w 134"/>
                    <a:gd name="T3" fmla="*/ 0 h 80"/>
                    <a:gd name="T4" fmla="*/ 212725 w 134"/>
                    <a:gd name="T5" fmla="*/ 0 h 80"/>
                    <a:gd name="T6" fmla="*/ 0 60000 65536"/>
                    <a:gd name="T7" fmla="*/ 0 60000 65536"/>
                    <a:gd name="T8" fmla="*/ 0 60000 65536"/>
                    <a:gd name="T9" fmla="*/ 0 w 134"/>
                    <a:gd name="T10" fmla="*/ 0 h 80"/>
                    <a:gd name="T11" fmla="*/ 134 w 134"/>
                    <a:gd name="T12" fmla="*/ 80 h 8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4" h="80">
                      <a:moveTo>
                        <a:pt x="0" y="80"/>
                      </a:moveTo>
                      <a:lnTo>
                        <a:pt x="0" y="0"/>
                      </a:lnTo>
                      <a:lnTo>
                        <a:pt x="134" y="0"/>
                      </a:lnTo>
                    </a:path>
                  </a:pathLst>
                </a:custGeom>
                <a:noFill/>
                <a:ln w="20638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endParaRPr lang="en-US" altLang="en-US" sz="1600"/>
                </a:p>
              </p:txBody>
            </p:sp>
            <p:sp>
              <p:nvSpPr>
                <p:cNvPr id="182" name="Rectangle 290"/>
                <p:cNvSpPr>
                  <a:spLocks noChangeArrowheads="1"/>
                </p:cNvSpPr>
                <p:nvPr/>
              </p:nvSpPr>
              <p:spPr bwMode="auto">
                <a:xfrm>
                  <a:off x="4747003" y="4875723"/>
                  <a:ext cx="220412" cy="1648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 eaLnBrk="1" hangingPunct="1"/>
                  <a:r>
                    <a:rPr lang="en-US" altLang="en-US" sz="1200" dirty="0">
                      <a:solidFill>
                        <a:srgbClr val="000000"/>
                      </a:solidFill>
                      <a:latin typeface="Helvetica" pitchFamily="34" charset="0"/>
                    </a:rPr>
                    <a:t>2x1</a:t>
                  </a:r>
                  <a:endParaRPr lang="en-US" altLang="en-US" sz="1200" dirty="0"/>
                </a:p>
              </p:txBody>
            </p:sp>
          </p:grpSp>
          <p:cxnSp>
            <p:nvCxnSpPr>
              <p:cNvPr id="171" name="Straight Connector 170"/>
              <p:cNvCxnSpPr/>
              <p:nvPr/>
            </p:nvCxnSpPr>
            <p:spPr>
              <a:xfrm>
                <a:off x="7537235" y="4609317"/>
                <a:ext cx="0" cy="108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4509573" y="4769463"/>
              <a:ext cx="367025" cy="379741"/>
              <a:chOff x="5333495" y="4342794"/>
              <a:chExt cx="367025" cy="379741"/>
            </a:xfrm>
          </p:grpSpPr>
          <p:sp>
            <p:nvSpPr>
              <p:cNvPr id="11" name="Rectangle 178"/>
              <p:cNvSpPr>
                <a:spLocks noChangeArrowheads="1"/>
              </p:cNvSpPr>
              <p:nvPr/>
            </p:nvSpPr>
            <p:spPr bwMode="auto">
              <a:xfrm>
                <a:off x="5333495" y="4378877"/>
                <a:ext cx="367025" cy="316840"/>
              </a:xfrm>
              <a:prstGeom prst="rect">
                <a:avLst/>
              </a:prstGeom>
              <a:noFill/>
              <a:ln w="11113">
                <a:solidFill>
                  <a:srgbClr val="0079C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 sz="1600"/>
              </a:p>
            </p:txBody>
          </p:sp>
          <p:sp>
            <p:nvSpPr>
              <p:cNvPr id="12" name="Rectangle 183"/>
              <p:cNvSpPr>
                <a:spLocks noChangeArrowheads="1"/>
              </p:cNvSpPr>
              <p:nvPr/>
            </p:nvSpPr>
            <p:spPr bwMode="auto">
              <a:xfrm>
                <a:off x="5559913" y="4342794"/>
                <a:ext cx="74235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 dirty="0">
                    <a:solidFill>
                      <a:srgbClr val="000000"/>
                    </a:solidFill>
                    <a:latin typeface="Helvetica" pitchFamily="34" charset="0"/>
                  </a:rPr>
                  <a:t>1</a:t>
                </a:r>
                <a:endParaRPr lang="en-US" altLang="en-US" sz="1400" dirty="0"/>
              </a:p>
            </p:txBody>
          </p:sp>
          <p:sp>
            <p:nvSpPr>
              <p:cNvPr id="13" name="Rectangle 184"/>
              <p:cNvSpPr>
                <a:spLocks noChangeArrowheads="1"/>
              </p:cNvSpPr>
              <p:nvPr/>
            </p:nvSpPr>
            <p:spPr bwMode="auto">
              <a:xfrm>
                <a:off x="5397547" y="4354101"/>
                <a:ext cx="86518" cy="215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400" dirty="0">
                    <a:solidFill>
                      <a:srgbClr val="000000"/>
                    </a:solidFill>
                    <a:latin typeface="Helvetica" pitchFamily="34" charset="0"/>
                  </a:rPr>
                  <a:t>0</a:t>
                </a:r>
                <a:endParaRPr lang="en-US" altLang="en-US" sz="1400" dirty="0"/>
              </a:p>
            </p:txBody>
          </p:sp>
          <p:sp>
            <p:nvSpPr>
              <p:cNvPr id="14" name="Rectangle 290"/>
              <p:cNvSpPr>
                <a:spLocks noChangeArrowheads="1"/>
              </p:cNvSpPr>
              <p:nvPr/>
            </p:nvSpPr>
            <p:spPr bwMode="auto">
              <a:xfrm>
                <a:off x="5432804" y="4537869"/>
                <a:ext cx="246861" cy="1846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200" dirty="0">
                    <a:solidFill>
                      <a:srgbClr val="000000"/>
                    </a:solidFill>
                    <a:latin typeface="Helvetica" pitchFamily="34" charset="0"/>
                  </a:rPr>
                  <a:t>2x1</a:t>
                </a:r>
                <a:endParaRPr lang="en-US" altLang="en-US" sz="1200" dirty="0"/>
              </a:p>
            </p:txBody>
          </p:sp>
        </p:grpSp>
        <p:sp>
          <p:nvSpPr>
            <p:cNvPr id="10" name="Line 187"/>
            <p:cNvSpPr>
              <a:spLocks noChangeShapeType="1"/>
            </p:cNvSpPr>
            <p:nvPr/>
          </p:nvSpPr>
          <p:spPr bwMode="auto">
            <a:xfrm>
              <a:off x="3719103" y="3308684"/>
              <a:ext cx="3960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 sz="1600"/>
            </a:p>
          </p:txBody>
        </p:sp>
      </p:grpSp>
      <p:sp>
        <p:nvSpPr>
          <p:cNvPr id="206" name="Rectangle 419"/>
          <p:cNvSpPr>
            <a:spLocks noChangeArrowheads="1"/>
          </p:cNvSpPr>
          <p:nvPr/>
        </p:nvSpPr>
        <p:spPr bwMode="auto">
          <a:xfrm>
            <a:off x="4862473" y="2288077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07" name="Rectangle 419"/>
          <p:cNvSpPr>
            <a:spLocks noChangeArrowheads="1"/>
          </p:cNvSpPr>
          <p:nvPr/>
        </p:nvSpPr>
        <p:spPr bwMode="auto">
          <a:xfrm>
            <a:off x="4869810" y="2518879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08" name="Rectangle 419"/>
          <p:cNvSpPr>
            <a:spLocks noChangeArrowheads="1"/>
          </p:cNvSpPr>
          <p:nvPr/>
        </p:nvSpPr>
        <p:spPr bwMode="auto">
          <a:xfrm>
            <a:off x="4881228" y="2733200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09" name="Rectangle 419"/>
          <p:cNvSpPr>
            <a:spLocks noChangeArrowheads="1"/>
          </p:cNvSpPr>
          <p:nvPr/>
        </p:nvSpPr>
        <p:spPr bwMode="auto">
          <a:xfrm>
            <a:off x="4881227" y="2954183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10" name="Rectangle 419"/>
          <p:cNvSpPr>
            <a:spLocks noChangeArrowheads="1"/>
          </p:cNvSpPr>
          <p:nvPr/>
        </p:nvSpPr>
        <p:spPr bwMode="auto">
          <a:xfrm>
            <a:off x="4891607" y="3166948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11" name="Rectangle 419"/>
          <p:cNvSpPr>
            <a:spLocks noChangeArrowheads="1"/>
          </p:cNvSpPr>
          <p:nvPr/>
        </p:nvSpPr>
        <p:spPr bwMode="auto">
          <a:xfrm>
            <a:off x="4874811" y="3622270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12" name="Rectangle 419"/>
          <p:cNvSpPr>
            <a:spLocks noChangeArrowheads="1"/>
          </p:cNvSpPr>
          <p:nvPr/>
        </p:nvSpPr>
        <p:spPr bwMode="auto">
          <a:xfrm>
            <a:off x="4883530" y="3366148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13" name="Rectangle 419"/>
          <p:cNvSpPr>
            <a:spLocks noChangeArrowheads="1"/>
          </p:cNvSpPr>
          <p:nvPr/>
        </p:nvSpPr>
        <p:spPr bwMode="auto">
          <a:xfrm flipH="1">
            <a:off x="7853269" y="2261851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14" name="Rectangle 419"/>
          <p:cNvSpPr>
            <a:spLocks noChangeArrowheads="1"/>
          </p:cNvSpPr>
          <p:nvPr/>
        </p:nvSpPr>
        <p:spPr bwMode="auto">
          <a:xfrm flipH="1">
            <a:off x="7860606" y="2492653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15" name="Rectangle 419"/>
          <p:cNvSpPr>
            <a:spLocks noChangeArrowheads="1"/>
          </p:cNvSpPr>
          <p:nvPr/>
        </p:nvSpPr>
        <p:spPr bwMode="auto">
          <a:xfrm flipH="1">
            <a:off x="7872024" y="2706974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16" name="Rectangle 419"/>
          <p:cNvSpPr>
            <a:spLocks noChangeArrowheads="1"/>
          </p:cNvSpPr>
          <p:nvPr/>
        </p:nvSpPr>
        <p:spPr bwMode="auto">
          <a:xfrm flipH="1">
            <a:off x="7872023" y="2927957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17" name="Rectangle 419"/>
          <p:cNvSpPr>
            <a:spLocks noChangeArrowheads="1"/>
          </p:cNvSpPr>
          <p:nvPr/>
        </p:nvSpPr>
        <p:spPr bwMode="auto">
          <a:xfrm flipH="1">
            <a:off x="7882403" y="3140722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18" name="Rectangle 419"/>
          <p:cNvSpPr>
            <a:spLocks noChangeArrowheads="1"/>
          </p:cNvSpPr>
          <p:nvPr/>
        </p:nvSpPr>
        <p:spPr bwMode="auto">
          <a:xfrm flipH="1">
            <a:off x="7865607" y="3596044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19" name="Rectangle 419"/>
          <p:cNvSpPr>
            <a:spLocks noChangeArrowheads="1"/>
          </p:cNvSpPr>
          <p:nvPr/>
        </p:nvSpPr>
        <p:spPr bwMode="auto">
          <a:xfrm flipH="1">
            <a:off x="7873364" y="3350048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20" name="Rectangle 419"/>
          <p:cNvSpPr>
            <a:spLocks noChangeArrowheads="1"/>
          </p:cNvSpPr>
          <p:nvPr/>
        </p:nvSpPr>
        <p:spPr bwMode="auto">
          <a:xfrm flipH="1">
            <a:off x="7865343" y="2033429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21" name="Rectangle 419"/>
          <p:cNvSpPr>
            <a:spLocks noChangeArrowheads="1"/>
          </p:cNvSpPr>
          <p:nvPr/>
        </p:nvSpPr>
        <p:spPr bwMode="auto">
          <a:xfrm>
            <a:off x="4861743" y="2020172"/>
            <a:ext cx="6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22" name="Line 187"/>
          <p:cNvSpPr>
            <a:spLocks noChangeShapeType="1"/>
          </p:cNvSpPr>
          <p:nvPr/>
        </p:nvSpPr>
        <p:spPr bwMode="auto">
          <a:xfrm>
            <a:off x="3719103" y="3140722"/>
            <a:ext cx="396000" cy="0"/>
          </a:xfrm>
          <a:prstGeom prst="line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23" name="Line 187"/>
          <p:cNvSpPr>
            <a:spLocks noChangeShapeType="1"/>
          </p:cNvSpPr>
          <p:nvPr/>
        </p:nvSpPr>
        <p:spPr bwMode="auto">
          <a:xfrm>
            <a:off x="3690150" y="2977624"/>
            <a:ext cx="396000" cy="0"/>
          </a:xfrm>
          <a:prstGeom prst="line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600"/>
          </a:p>
        </p:txBody>
      </p:sp>
      <p:sp>
        <p:nvSpPr>
          <p:cNvPr id="224" name="Rectangle 168"/>
          <p:cNvSpPr>
            <a:spLocks noChangeArrowheads="1"/>
          </p:cNvSpPr>
          <p:nvPr/>
        </p:nvSpPr>
        <p:spPr bwMode="auto">
          <a:xfrm>
            <a:off x="4186502" y="4824094"/>
            <a:ext cx="127472" cy="27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  <p:sp>
        <p:nvSpPr>
          <p:cNvPr id="225" name="Rectangle 168"/>
          <p:cNvSpPr>
            <a:spLocks noChangeArrowheads="1"/>
          </p:cNvSpPr>
          <p:nvPr/>
        </p:nvSpPr>
        <p:spPr bwMode="auto">
          <a:xfrm>
            <a:off x="7327014" y="4808027"/>
            <a:ext cx="1138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b="1" dirty="0">
                <a:solidFill>
                  <a:srgbClr val="7030A0"/>
                </a:solidFill>
                <a:latin typeface="Helvetica" pitchFamily="34" charset="0"/>
              </a:rPr>
              <a:t>1</a:t>
            </a:r>
            <a:endParaRPr lang="en-US" altLang="en-US" sz="1600" dirty="0">
              <a:solidFill>
                <a:srgbClr val="7030A0"/>
              </a:solidFill>
            </a:endParaRPr>
          </a:p>
        </p:txBody>
      </p:sp>
      <p:sp>
        <p:nvSpPr>
          <p:cNvPr id="229" name="Rectangle 308"/>
          <p:cNvSpPr>
            <a:spLocks noChangeArrowheads="1"/>
          </p:cNvSpPr>
          <p:nvPr/>
        </p:nvSpPr>
        <p:spPr bwMode="auto">
          <a:xfrm>
            <a:off x="6143982" y="5505367"/>
            <a:ext cx="21480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 b="1" dirty="0">
                <a:solidFill>
                  <a:srgbClr val="FF0000"/>
                </a:solidFill>
                <a:latin typeface="Helvetica" pitchFamily="34" charset="0"/>
              </a:rPr>
              <a:t>10</a:t>
            </a:r>
            <a:endParaRPr lang="en-US" altLang="en-US" sz="1500" b="1" dirty="0">
              <a:solidFill>
                <a:srgbClr val="FF0000"/>
              </a:solidFill>
            </a:endParaRPr>
          </a:p>
        </p:txBody>
      </p:sp>
      <p:sp>
        <p:nvSpPr>
          <p:cNvPr id="232" name="Freeform 954"/>
          <p:cNvSpPr>
            <a:spLocks/>
          </p:cNvSpPr>
          <p:nvPr/>
        </p:nvSpPr>
        <p:spPr bwMode="auto">
          <a:xfrm>
            <a:off x="3984181" y="2151022"/>
            <a:ext cx="906607" cy="2305785"/>
          </a:xfrm>
          <a:custGeom>
            <a:avLst/>
            <a:gdLst>
              <a:gd name="T0" fmla="*/ 0 w 252"/>
              <a:gd name="T1" fmla="*/ 67178 h 442"/>
              <a:gd name="T2" fmla="*/ 158410 w 252"/>
              <a:gd name="T3" fmla="*/ 38387 h 442"/>
              <a:gd name="T4" fmla="*/ 326420 w 252"/>
              <a:gd name="T5" fmla="*/ 38387 h 442"/>
              <a:gd name="T6" fmla="*/ 600037 w 252"/>
              <a:gd name="T7" fmla="*/ 33589 h 442"/>
              <a:gd name="T8" fmla="*/ 873654 w 252"/>
              <a:gd name="T9" fmla="*/ 38387 h 442"/>
              <a:gd name="T10" fmla="*/ 1012863 w 252"/>
              <a:gd name="T11" fmla="*/ 508632 h 442"/>
              <a:gd name="T12" fmla="*/ 1008063 w 252"/>
              <a:gd name="T13" fmla="*/ 1108434 h 442"/>
              <a:gd name="T14" fmla="*/ 1003262 w 252"/>
              <a:gd name="T15" fmla="*/ 1386743 h 442"/>
              <a:gd name="T16" fmla="*/ 998462 w 252"/>
              <a:gd name="T17" fmla="*/ 1665051 h 442"/>
              <a:gd name="T18" fmla="*/ 984061 w 252"/>
              <a:gd name="T19" fmla="*/ 1770616 h 442"/>
              <a:gd name="T20" fmla="*/ 1046465 w 252"/>
              <a:gd name="T21" fmla="*/ 1852189 h 442"/>
              <a:gd name="T22" fmla="*/ 1104068 w 252"/>
              <a:gd name="T23" fmla="*/ 1765817 h 442"/>
              <a:gd name="T24" fmla="*/ 1089668 w 252"/>
              <a:gd name="T25" fmla="*/ 1612268 h 442"/>
              <a:gd name="T26" fmla="*/ 1094468 w 252"/>
              <a:gd name="T27" fmla="*/ 1252387 h 442"/>
              <a:gd name="T28" fmla="*/ 1104068 w 252"/>
              <a:gd name="T29" fmla="*/ 887707 h 442"/>
              <a:gd name="T30" fmla="*/ 1104068 w 252"/>
              <a:gd name="T31" fmla="*/ 618996 h 442"/>
              <a:gd name="T32" fmla="*/ 1104068 w 252"/>
              <a:gd name="T33" fmla="*/ 355083 h 442"/>
              <a:gd name="T34" fmla="*/ 1113669 w 252"/>
              <a:gd name="T35" fmla="*/ 211130 h 442"/>
              <a:gd name="T36" fmla="*/ 1142471 w 252"/>
              <a:gd name="T37" fmla="*/ 67178 h 442"/>
              <a:gd name="T38" fmla="*/ 1195274 w 252"/>
              <a:gd name="T39" fmla="*/ 177541 h 442"/>
              <a:gd name="T40" fmla="*/ 1195274 w 252"/>
              <a:gd name="T41" fmla="*/ 187138 h 442"/>
              <a:gd name="T42" fmla="*/ 1204875 w 252"/>
              <a:gd name="T43" fmla="*/ 470245 h 442"/>
              <a:gd name="T44" fmla="*/ 1200074 w 252"/>
              <a:gd name="T45" fmla="*/ 935691 h 442"/>
              <a:gd name="T46" fmla="*/ 1209675 w 252"/>
              <a:gd name="T47" fmla="*/ 1660252 h 442"/>
              <a:gd name="T48" fmla="*/ 1056066 w 252"/>
              <a:gd name="T49" fmla="*/ 2120900 h 44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252"/>
              <a:gd name="T76" fmla="*/ 0 h 442"/>
              <a:gd name="T77" fmla="*/ 252 w 252"/>
              <a:gd name="T78" fmla="*/ 442 h 442"/>
              <a:gd name="connsiteX0" fmla="*/ 0 w 10000"/>
              <a:gd name="connsiteY0" fmla="*/ 159 h 9842"/>
              <a:gd name="connsiteX1" fmla="*/ 1310 w 10000"/>
              <a:gd name="connsiteY1" fmla="*/ 23 h 9842"/>
              <a:gd name="connsiteX2" fmla="*/ 2698 w 10000"/>
              <a:gd name="connsiteY2" fmla="*/ 23 h 9842"/>
              <a:gd name="connsiteX3" fmla="*/ 4960 w 10000"/>
              <a:gd name="connsiteY3" fmla="*/ 0 h 9842"/>
              <a:gd name="connsiteX4" fmla="*/ 7222 w 10000"/>
              <a:gd name="connsiteY4" fmla="*/ 23 h 9842"/>
              <a:gd name="connsiteX5" fmla="*/ 8373 w 10000"/>
              <a:gd name="connsiteY5" fmla="*/ 2240 h 9842"/>
              <a:gd name="connsiteX6" fmla="*/ 8333 w 10000"/>
              <a:gd name="connsiteY6" fmla="*/ 5068 h 9842"/>
              <a:gd name="connsiteX7" fmla="*/ 8294 w 10000"/>
              <a:gd name="connsiteY7" fmla="*/ 6380 h 9842"/>
              <a:gd name="connsiteX8" fmla="*/ 8254 w 10000"/>
              <a:gd name="connsiteY8" fmla="*/ 7693 h 9842"/>
              <a:gd name="connsiteX9" fmla="*/ 8135 w 10000"/>
              <a:gd name="connsiteY9" fmla="*/ 8190 h 9842"/>
              <a:gd name="connsiteX10" fmla="*/ 8651 w 10000"/>
              <a:gd name="connsiteY10" fmla="*/ 8575 h 9842"/>
              <a:gd name="connsiteX11" fmla="*/ 9127 w 10000"/>
              <a:gd name="connsiteY11" fmla="*/ 8168 h 9842"/>
              <a:gd name="connsiteX12" fmla="*/ 9008 w 10000"/>
              <a:gd name="connsiteY12" fmla="*/ 7444 h 9842"/>
              <a:gd name="connsiteX13" fmla="*/ 9127 w 10000"/>
              <a:gd name="connsiteY13" fmla="*/ 4028 h 9842"/>
              <a:gd name="connsiteX14" fmla="*/ 9127 w 10000"/>
              <a:gd name="connsiteY14" fmla="*/ 2761 h 9842"/>
              <a:gd name="connsiteX15" fmla="*/ 9127 w 10000"/>
              <a:gd name="connsiteY15" fmla="*/ 1516 h 9842"/>
              <a:gd name="connsiteX16" fmla="*/ 9206 w 10000"/>
              <a:gd name="connsiteY16" fmla="*/ 837 h 9842"/>
              <a:gd name="connsiteX17" fmla="*/ 9444 w 10000"/>
              <a:gd name="connsiteY17" fmla="*/ 159 h 9842"/>
              <a:gd name="connsiteX18" fmla="*/ 9881 w 10000"/>
              <a:gd name="connsiteY18" fmla="*/ 679 h 9842"/>
              <a:gd name="connsiteX19" fmla="*/ 9881 w 10000"/>
              <a:gd name="connsiteY19" fmla="*/ 724 h 9842"/>
              <a:gd name="connsiteX20" fmla="*/ 9960 w 10000"/>
              <a:gd name="connsiteY20" fmla="*/ 2059 h 9842"/>
              <a:gd name="connsiteX21" fmla="*/ 9921 w 10000"/>
              <a:gd name="connsiteY21" fmla="*/ 4254 h 9842"/>
              <a:gd name="connsiteX22" fmla="*/ 10000 w 10000"/>
              <a:gd name="connsiteY22" fmla="*/ 7670 h 9842"/>
              <a:gd name="connsiteX23" fmla="*/ 8730 w 10000"/>
              <a:gd name="connsiteY23" fmla="*/ 9842 h 9842"/>
              <a:gd name="connsiteX0" fmla="*/ 0 w 10000"/>
              <a:gd name="connsiteY0" fmla="*/ 162 h 10000"/>
              <a:gd name="connsiteX1" fmla="*/ 1310 w 10000"/>
              <a:gd name="connsiteY1" fmla="*/ 23 h 10000"/>
              <a:gd name="connsiteX2" fmla="*/ 2698 w 10000"/>
              <a:gd name="connsiteY2" fmla="*/ 23 h 10000"/>
              <a:gd name="connsiteX3" fmla="*/ 4960 w 10000"/>
              <a:gd name="connsiteY3" fmla="*/ 0 h 10000"/>
              <a:gd name="connsiteX4" fmla="*/ 7222 w 10000"/>
              <a:gd name="connsiteY4" fmla="*/ 23 h 10000"/>
              <a:gd name="connsiteX5" fmla="*/ 8373 w 10000"/>
              <a:gd name="connsiteY5" fmla="*/ 2276 h 10000"/>
              <a:gd name="connsiteX6" fmla="*/ 8333 w 10000"/>
              <a:gd name="connsiteY6" fmla="*/ 5149 h 10000"/>
              <a:gd name="connsiteX7" fmla="*/ 8294 w 10000"/>
              <a:gd name="connsiteY7" fmla="*/ 6482 h 10000"/>
              <a:gd name="connsiteX8" fmla="*/ 8254 w 10000"/>
              <a:gd name="connsiteY8" fmla="*/ 7817 h 10000"/>
              <a:gd name="connsiteX9" fmla="*/ 8135 w 10000"/>
              <a:gd name="connsiteY9" fmla="*/ 8321 h 10000"/>
              <a:gd name="connsiteX10" fmla="*/ 8651 w 10000"/>
              <a:gd name="connsiteY10" fmla="*/ 8713 h 10000"/>
              <a:gd name="connsiteX11" fmla="*/ 9127 w 10000"/>
              <a:gd name="connsiteY11" fmla="*/ 8299 h 10000"/>
              <a:gd name="connsiteX12" fmla="*/ 9008 w 10000"/>
              <a:gd name="connsiteY12" fmla="*/ 7564 h 10000"/>
              <a:gd name="connsiteX13" fmla="*/ 9127 w 10000"/>
              <a:gd name="connsiteY13" fmla="*/ 4093 h 10000"/>
              <a:gd name="connsiteX14" fmla="*/ 9127 w 10000"/>
              <a:gd name="connsiteY14" fmla="*/ 2805 h 10000"/>
              <a:gd name="connsiteX15" fmla="*/ 9127 w 10000"/>
              <a:gd name="connsiteY15" fmla="*/ 1540 h 10000"/>
              <a:gd name="connsiteX16" fmla="*/ 9206 w 10000"/>
              <a:gd name="connsiteY16" fmla="*/ 850 h 10000"/>
              <a:gd name="connsiteX17" fmla="*/ 9444 w 10000"/>
              <a:gd name="connsiteY17" fmla="*/ 162 h 10000"/>
              <a:gd name="connsiteX18" fmla="*/ 9881 w 10000"/>
              <a:gd name="connsiteY18" fmla="*/ 690 h 10000"/>
              <a:gd name="connsiteX19" fmla="*/ 9881 w 10000"/>
              <a:gd name="connsiteY19" fmla="*/ 736 h 10000"/>
              <a:gd name="connsiteX20" fmla="*/ 9921 w 10000"/>
              <a:gd name="connsiteY20" fmla="*/ 4322 h 10000"/>
              <a:gd name="connsiteX21" fmla="*/ 10000 w 10000"/>
              <a:gd name="connsiteY21" fmla="*/ 7793 h 10000"/>
              <a:gd name="connsiteX22" fmla="*/ 8730 w 10000"/>
              <a:gd name="connsiteY22" fmla="*/ 10000 h 10000"/>
              <a:gd name="connsiteX0" fmla="*/ 0 w 9921"/>
              <a:gd name="connsiteY0" fmla="*/ 162 h 10000"/>
              <a:gd name="connsiteX1" fmla="*/ 1310 w 9921"/>
              <a:gd name="connsiteY1" fmla="*/ 23 h 10000"/>
              <a:gd name="connsiteX2" fmla="*/ 2698 w 9921"/>
              <a:gd name="connsiteY2" fmla="*/ 23 h 10000"/>
              <a:gd name="connsiteX3" fmla="*/ 4960 w 9921"/>
              <a:gd name="connsiteY3" fmla="*/ 0 h 10000"/>
              <a:gd name="connsiteX4" fmla="*/ 7222 w 9921"/>
              <a:gd name="connsiteY4" fmla="*/ 23 h 10000"/>
              <a:gd name="connsiteX5" fmla="*/ 8373 w 9921"/>
              <a:gd name="connsiteY5" fmla="*/ 2276 h 10000"/>
              <a:gd name="connsiteX6" fmla="*/ 8333 w 9921"/>
              <a:gd name="connsiteY6" fmla="*/ 5149 h 10000"/>
              <a:gd name="connsiteX7" fmla="*/ 8294 w 9921"/>
              <a:gd name="connsiteY7" fmla="*/ 6482 h 10000"/>
              <a:gd name="connsiteX8" fmla="*/ 8254 w 9921"/>
              <a:gd name="connsiteY8" fmla="*/ 7817 h 10000"/>
              <a:gd name="connsiteX9" fmla="*/ 8135 w 9921"/>
              <a:gd name="connsiteY9" fmla="*/ 8321 h 10000"/>
              <a:gd name="connsiteX10" fmla="*/ 8651 w 9921"/>
              <a:gd name="connsiteY10" fmla="*/ 8713 h 10000"/>
              <a:gd name="connsiteX11" fmla="*/ 9127 w 9921"/>
              <a:gd name="connsiteY11" fmla="*/ 8299 h 10000"/>
              <a:gd name="connsiteX12" fmla="*/ 9008 w 9921"/>
              <a:gd name="connsiteY12" fmla="*/ 7564 h 10000"/>
              <a:gd name="connsiteX13" fmla="*/ 9127 w 9921"/>
              <a:gd name="connsiteY13" fmla="*/ 4093 h 10000"/>
              <a:gd name="connsiteX14" fmla="*/ 9127 w 9921"/>
              <a:gd name="connsiteY14" fmla="*/ 2805 h 10000"/>
              <a:gd name="connsiteX15" fmla="*/ 9127 w 9921"/>
              <a:gd name="connsiteY15" fmla="*/ 1540 h 10000"/>
              <a:gd name="connsiteX16" fmla="*/ 9206 w 9921"/>
              <a:gd name="connsiteY16" fmla="*/ 850 h 10000"/>
              <a:gd name="connsiteX17" fmla="*/ 9444 w 9921"/>
              <a:gd name="connsiteY17" fmla="*/ 162 h 10000"/>
              <a:gd name="connsiteX18" fmla="*/ 9881 w 9921"/>
              <a:gd name="connsiteY18" fmla="*/ 690 h 10000"/>
              <a:gd name="connsiteX19" fmla="*/ 9881 w 9921"/>
              <a:gd name="connsiteY19" fmla="*/ 736 h 10000"/>
              <a:gd name="connsiteX20" fmla="*/ 9921 w 9921"/>
              <a:gd name="connsiteY20" fmla="*/ 4322 h 10000"/>
              <a:gd name="connsiteX21" fmla="*/ 8730 w 9921"/>
              <a:gd name="connsiteY21" fmla="*/ 10000 h 10000"/>
              <a:gd name="connsiteX0" fmla="*/ 0 w 10000"/>
              <a:gd name="connsiteY0" fmla="*/ 162 h 8733"/>
              <a:gd name="connsiteX1" fmla="*/ 1320 w 10000"/>
              <a:gd name="connsiteY1" fmla="*/ 23 h 8733"/>
              <a:gd name="connsiteX2" fmla="*/ 2719 w 10000"/>
              <a:gd name="connsiteY2" fmla="*/ 23 h 8733"/>
              <a:gd name="connsiteX3" fmla="*/ 4999 w 10000"/>
              <a:gd name="connsiteY3" fmla="*/ 0 h 8733"/>
              <a:gd name="connsiteX4" fmla="*/ 7280 w 10000"/>
              <a:gd name="connsiteY4" fmla="*/ 23 h 8733"/>
              <a:gd name="connsiteX5" fmla="*/ 8440 w 10000"/>
              <a:gd name="connsiteY5" fmla="*/ 2276 h 8733"/>
              <a:gd name="connsiteX6" fmla="*/ 8399 w 10000"/>
              <a:gd name="connsiteY6" fmla="*/ 5149 h 8733"/>
              <a:gd name="connsiteX7" fmla="*/ 8360 w 10000"/>
              <a:gd name="connsiteY7" fmla="*/ 6482 h 8733"/>
              <a:gd name="connsiteX8" fmla="*/ 8320 w 10000"/>
              <a:gd name="connsiteY8" fmla="*/ 7817 h 8733"/>
              <a:gd name="connsiteX9" fmla="*/ 8200 w 10000"/>
              <a:gd name="connsiteY9" fmla="*/ 8321 h 8733"/>
              <a:gd name="connsiteX10" fmla="*/ 8720 w 10000"/>
              <a:gd name="connsiteY10" fmla="*/ 8713 h 8733"/>
              <a:gd name="connsiteX11" fmla="*/ 9200 w 10000"/>
              <a:gd name="connsiteY11" fmla="*/ 8299 h 8733"/>
              <a:gd name="connsiteX12" fmla="*/ 9080 w 10000"/>
              <a:gd name="connsiteY12" fmla="*/ 7564 h 8733"/>
              <a:gd name="connsiteX13" fmla="*/ 9200 w 10000"/>
              <a:gd name="connsiteY13" fmla="*/ 4093 h 8733"/>
              <a:gd name="connsiteX14" fmla="*/ 9200 w 10000"/>
              <a:gd name="connsiteY14" fmla="*/ 2805 h 8733"/>
              <a:gd name="connsiteX15" fmla="*/ 9200 w 10000"/>
              <a:gd name="connsiteY15" fmla="*/ 1540 h 8733"/>
              <a:gd name="connsiteX16" fmla="*/ 9279 w 10000"/>
              <a:gd name="connsiteY16" fmla="*/ 850 h 8733"/>
              <a:gd name="connsiteX17" fmla="*/ 9519 w 10000"/>
              <a:gd name="connsiteY17" fmla="*/ 162 h 8733"/>
              <a:gd name="connsiteX18" fmla="*/ 9960 w 10000"/>
              <a:gd name="connsiteY18" fmla="*/ 690 h 8733"/>
              <a:gd name="connsiteX19" fmla="*/ 9960 w 10000"/>
              <a:gd name="connsiteY19" fmla="*/ 736 h 8733"/>
              <a:gd name="connsiteX20" fmla="*/ 10000 w 10000"/>
              <a:gd name="connsiteY20" fmla="*/ 4322 h 8733"/>
              <a:gd name="connsiteX0" fmla="*/ 0 w 9993"/>
              <a:gd name="connsiteY0" fmla="*/ 186 h 10000"/>
              <a:gd name="connsiteX1" fmla="*/ 1320 w 9993"/>
              <a:gd name="connsiteY1" fmla="*/ 26 h 10000"/>
              <a:gd name="connsiteX2" fmla="*/ 2719 w 9993"/>
              <a:gd name="connsiteY2" fmla="*/ 26 h 10000"/>
              <a:gd name="connsiteX3" fmla="*/ 4999 w 9993"/>
              <a:gd name="connsiteY3" fmla="*/ 0 h 10000"/>
              <a:gd name="connsiteX4" fmla="*/ 7280 w 9993"/>
              <a:gd name="connsiteY4" fmla="*/ 26 h 10000"/>
              <a:gd name="connsiteX5" fmla="*/ 8440 w 9993"/>
              <a:gd name="connsiteY5" fmla="*/ 2606 h 10000"/>
              <a:gd name="connsiteX6" fmla="*/ 8399 w 9993"/>
              <a:gd name="connsiteY6" fmla="*/ 5896 h 10000"/>
              <a:gd name="connsiteX7" fmla="*/ 8360 w 9993"/>
              <a:gd name="connsiteY7" fmla="*/ 7422 h 10000"/>
              <a:gd name="connsiteX8" fmla="*/ 8320 w 9993"/>
              <a:gd name="connsiteY8" fmla="*/ 8951 h 10000"/>
              <a:gd name="connsiteX9" fmla="*/ 8200 w 9993"/>
              <a:gd name="connsiteY9" fmla="*/ 9528 h 10000"/>
              <a:gd name="connsiteX10" fmla="*/ 8720 w 9993"/>
              <a:gd name="connsiteY10" fmla="*/ 9977 h 10000"/>
              <a:gd name="connsiteX11" fmla="*/ 9200 w 9993"/>
              <a:gd name="connsiteY11" fmla="*/ 9503 h 10000"/>
              <a:gd name="connsiteX12" fmla="*/ 9080 w 9993"/>
              <a:gd name="connsiteY12" fmla="*/ 8661 h 10000"/>
              <a:gd name="connsiteX13" fmla="*/ 9200 w 9993"/>
              <a:gd name="connsiteY13" fmla="*/ 4687 h 10000"/>
              <a:gd name="connsiteX14" fmla="*/ 9200 w 9993"/>
              <a:gd name="connsiteY14" fmla="*/ 3212 h 10000"/>
              <a:gd name="connsiteX15" fmla="*/ 9200 w 9993"/>
              <a:gd name="connsiteY15" fmla="*/ 1763 h 10000"/>
              <a:gd name="connsiteX16" fmla="*/ 9279 w 9993"/>
              <a:gd name="connsiteY16" fmla="*/ 973 h 10000"/>
              <a:gd name="connsiteX17" fmla="*/ 9519 w 9993"/>
              <a:gd name="connsiteY17" fmla="*/ 186 h 10000"/>
              <a:gd name="connsiteX18" fmla="*/ 9960 w 9993"/>
              <a:gd name="connsiteY18" fmla="*/ 790 h 10000"/>
              <a:gd name="connsiteX19" fmla="*/ 9960 w 9993"/>
              <a:gd name="connsiteY19" fmla="*/ 843 h 10000"/>
              <a:gd name="connsiteX0" fmla="*/ 0 w 9967"/>
              <a:gd name="connsiteY0" fmla="*/ 186 h 10000"/>
              <a:gd name="connsiteX1" fmla="*/ 1321 w 9967"/>
              <a:gd name="connsiteY1" fmla="*/ 26 h 10000"/>
              <a:gd name="connsiteX2" fmla="*/ 2721 w 9967"/>
              <a:gd name="connsiteY2" fmla="*/ 26 h 10000"/>
              <a:gd name="connsiteX3" fmla="*/ 5003 w 9967"/>
              <a:gd name="connsiteY3" fmla="*/ 0 h 10000"/>
              <a:gd name="connsiteX4" fmla="*/ 7285 w 9967"/>
              <a:gd name="connsiteY4" fmla="*/ 26 h 10000"/>
              <a:gd name="connsiteX5" fmla="*/ 8446 w 9967"/>
              <a:gd name="connsiteY5" fmla="*/ 2606 h 10000"/>
              <a:gd name="connsiteX6" fmla="*/ 8405 w 9967"/>
              <a:gd name="connsiteY6" fmla="*/ 5896 h 10000"/>
              <a:gd name="connsiteX7" fmla="*/ 8366 w 9967"/>
              <a:gd name="connsiteY7" fmla="*/ 7422 h 10000"/>
              <a:gd name="connsiteX8" fmla="*/ 8326 w 9967"/>
              <a:gd name="connsiteY8" fmla="*/ 8951 h 10000"/>
              <a:gd name="connsiteX9" fmla="*/ 8206 w 9967"/>
              <a:gd name="connsiteY9" fmla="*/ 9528 h 10000"/>
              <a:gd name="connsiteX10" fmla="*/ 8726 w 9967"/>
              <a:gd name="connsiteY10" fmla="*/ 9977 h 10000"/>
              <a:gd name="connsiteX11" fmla="*/ 9206 w 9967"/>
              <a:gd name="connsiteY11" fmla="*/ 9503 h 10000"/>
              <a:gd name="connsiteX12" fmla="*/ 9086 w 9967"/>
              <a:gd name="connsiteY12" fmla="*/ 8661 h 10000"/>
              <a:gd name="connsiteX13" fmla="*/ 9206 w 9967"/>
              <a:gd name="connsiteY13" fmla="*/ 4687 h 10000"/>
              <a:gd name="connsiteX14" fmla="*/ 9206 w 9967"/>
              <a:gd name="connsiteY14" fmla="*/ 3212 h 10000"/>
              <a:gd name="connsiteX15" fmla="*/ 9206 w 9967"/>
              <a:gd name="connsiteY15" fmla="*/ 1763 h 10000"/>
              <a:gd name="connsiteX16" fmla="*/ 9285 w 9967"/>
              <a:gd name="connsiteY16" fmla="*/ 973 h 10000"/>
              <a:gd name="connsiteX17" fmla="*/ 9526 w 9967"/>
              <a:gd name="connsiteY17" fmla="*/ 186 h 10000"/>
              <a:gd name="connsiteX18" fmla="*/ 9967 w 9967"/>
              <a:gd name="connsiteY18" fmla="*/ 790 h 10000"/>
              <a:gd name="connsiteX0" fmla="*/ 0 w 9558"/>
              <a:gd name="connsiteY0" fmla="*/ 186 h 10000"/>
              <a:gd name="connsiteX1" fmla="*/ 1325 w 9558"/>
              <a:gd name="connsiteY1" fmla="*/ 26 h 10000"/>
              <a:gd name="connsiteX2" fmla="*/ 2730 w 9558"/>
              <a:gd name="connsiteY2" fmla="*/ 26 h 10000"/>
              <a:gd name="connsiteX3" fmla="*/ 5020 w 9558"/>
              <a:gd name="connsiteY3" fmla="*/ 0 h 10000"/>
              <a:gd name="connsiteX4" fmla="*/ 7309 w 9558"/>
              <a:gd name="connsiteY4" fmla="*/ 26 h 10000"/>
              <a:gd name="connsiteX5" fmla="*/ 8474 w 9558"/>
              <a:gd name="connsiteY5" fmla="*/ 2606 h 10000"/>
              <a:gd name="connsiteX6" fmla="*/ 8433 w 9558"/>
              <a:gd name="connsiteY6" fmla="*/ 5896 h 10000"/>
              <a:gd name="connsiteX7" fmla="*/ 8394 w 9558"/>
              <a:gd name="connsiteY7" fmla="*/ 7422 h 10000"/>
              <a:gd name="connsiteX8" fmla="*/ 8354 w 9558"/>
              <a:gd name="connsiteY8" fmla="*/ 8951 h 10000"/>
              <a:gd name="connsiteX9" fmla="*/ 8233 w 9558"/>
              <a:gd name="connsiteY9" fmla="*/ 9528 h 10000"/>
              <a:gd name="connsiteX10" fmla="*/ 8755 w 9558"/>
              <a:gd name="connsiteY10" fmla="*/ 9977 h 10000"/>
              <a:gd name="connsiteX11" fmla="*/ 9236 w 9558"/>
              <a:gd name="connsiteY11" fmla="*/ 9503 h 10000"/>
              <a:gd name="connsiteX12" fmla="*/ 9116 w 9558"/>
              <a:gd name="connsiteY12" fmla="*/ 8661 h 10000"/>
              <a:gd name="connsiteX13" fmla="*/ 9236 w 9558"/>
              <a:gd name="connsiteY13" fmla="*/ 4687 h 10000"/>
              <a:gd name="connsiteX14" fmla="*/ 9236 w 9558"/>
              <a:gd name="connsiteY14" fmla="*/ 3212 h 10000"/>
              <a:gd name="connsiteX15" fmla="*/ 9236 w 9558"/>
              <a:gd name="connsiteY15" fmla="*/ 1763 h 10000"/>
              <a:gd name="connsiteX16" fmla="*/ 9316 w 9558"/>
              <a:gd name="connsiteY16" fmla="*/ 973 h 10000"/>
              <a:gd name="connsiteX17" fmla="*/ 9558 w 9558"/>
              <a:gd name="connsiteY17" fmla="*/ 186 h 10000"/>
              <a:gd name="connsiteX0" fmla="*/ 0 w 10000"/>
              <a:gd name="connsiteY0" fmla="*/ 186 h 10000"/>
              <a:gd name="connsiteX1" fmla="*/ 1386 w 10000"/>
              <a:gd name="connsiteY1" fmla="*/ 26 h 10000"/>
              <a:gd name="connsiteX2" fmla="*/ 2856 w 10000"/>
              <a:gd name="connsiteY2" fmla="*/ 26 h 10000"/>
              <a:gd name="connsiteX3" fmla="*/ 5252 w 10000"/>
              <a:gd name="connsiteY3" fmla="*/ 0 h 10000"/>
              <a:gd name="connsiteX4" fmla="*/ 7647 w 10000"/>
              <a:gd name="connsiteY4" fmla="*/ 26 h 10000"/>
              <a:gd name="connsiteX5" fmla="*/ 8866 w 10000"/>
              <a:gd name="connsiteY5" fmla="*/ 2606 h 10000"/>
              <a:gd name="connsiteX6" fmla="*/ 8823 w 10000"/>
              <a:gd name="connsiteY6" fmla="*/ 5896 h 10000"/>
              <a:gd name="connsiteX7" fmla="*/ 8782 w 10000"/>
              <a:gd name="connsiteY7" fmla="*/ 7422 h 10000"/>
              <a:gd name="connsiteX8" fmla="*/ 8740 w 10000"/>
              <a:gd name="connsiteY8" fmla="*/ 8951 h 10000"/>
              <a:gd name="connsiteX9" fmla="*/ 8614 w 10000"/>
              <a:gd name="connsiteY9" fmla="*/ 9528 h 10000"/>
              <a:gd name="connsiteX10" fmla="*/ 9160 w 10000"/>
              <a:gd name="connsiteY10" fmla="*/ 9977 h 10000"/>
              <a:gd name="connsiteX11" fmla="*/ 9663 w 10000"/>
              <a:gd name="connsiteY11" fmla="*/ 9503 h 10000"/>
              <a:gd name="connsiteX12" fmla="*/ 9538 w 10000"/>
              <a:gd name="connsiteY12" fmla="*/ 8661 h 10000"/>
              <a:gd name="connsiteX13" fmla="*/ 9663 w 10000"/>
              <a:gd name="connsiteY13" fmla="*/ 4687 h 10000"/>
              <a:gd name="connsiteX14" fmla="*/ 9663 w 10000"/>
              <a:gd name="connsiteY14" fmla="*/ 3212 h 10000"/>
              <a:gd name="connsiteX15" fmla="*/ 9663 w 10000"/>
              <a:gd name="connsiteY15" fmla="*/ 1763 h 10000"/>
              <a:gd name="connsiteX16" fmla="*/ 10000 w 10000"/>
              <a:gd name="connsiteY16" fmla="*/ 186 h 10000"/>
              <a:gd name="connsiteX0" fmla="*/ 0 w 10000"/>
              <a:gd name="connsiteY0" fmla="*/ 186 h 10000"/>
              <a:gd name="connsiteX1" fmla="*/ 1386 w 10000"/>
              <a:gd name="connsiteY1" fmla="*/ 26 h 10000"/>
              <a:gd name="connsiteX2" fmla="*/ 2856 w 10000"/>
              <a:gd name="connsiteY2" fmla="*/ 26 h 10000"/>
              <a:gd name="connsiteX3" fmla="*/ 5252 w 10000"/>
              <a:gd name="connsiteY3" fmla="*/ 0 h 10000"/>
              <a:gd name="connsiteX4" fmla="*/ 7647 w 10000"/>
              <a:gd name="connsiteY4" fmla="*/ 26 h 10000"/>
              <a:gd name="connsiteX5" fmla="*/ 8866 w 10000"/>
              <a:gd name="connsiteY5" fmla="*/ 2606 h 10000"/>
              <a:gd name="connsiteX6" fmla="*/ 8823 w 10000"/>
              <a:gd name="connsiteY6" fmla="*/ 5896 h 10000"/>
              <a:gd name="connsiteX7" fmla="*/ 8782 w 10000"/>
              <a:gd name="connsiteY7" fmla="*/ 7422 h 10000"/>
              <a:gd name="connsiteX8" fmla="*/ 8740 w 10000"/>
              <a:gd name="connsiteY8" fmla="*/ 8951 h 10000"/>
              <a:gd name="connsiteX9" fmla="*/ 8614 w 10000"/>
              <a:gd name="connsiteY9" fmla="*/ 9528 h 10000"/>
              <a:gd name="connsiteX10" fmla="*/ 9160 w 10000"/>
              <a:gd name="connsiteY10" fmla="*/ 9977 h 10000"/>
              <a:gd name="connsiteX11" fmla="*/ 9663 w 10000"/>
              <a:gd name="connsiteY11" fmla="*/ 9503 h 10000"/>
              <a:gd name="connsiteX12" fmla="*/ 9538 w 10000"/>
              <a:gd name="connsiteY12" fmla="*/ 8661 h 10000"/>
              <a:gd name="connsiteX13" fmla="*/ 9663 w 10000"/>
              <a:gd name="connsiteY13" fmla="*/ 4687 h 10000"/>
              <a:gd name="connsiteX14" fmla="*/ 9663 w 10000"/>
              <a:gd name="connsiteY14" fmla="*/ 3212 h 10000"/>
              <a:gd name="connsiteX15" fmla="*/ 10000 w 10000"/>
              <a:gd name="connsiteY15" fmla="*/ 186 h 10000"/>
              <a:gd name="connsiteX0" fmla="*/ 0 w 10000"/>
              <a:gd name="connsiteY0" fmla="*/ 186 h 10000"/>
              <a:gd name="connsiteX1" fmla="*/ 1386 w 10000"/>
              <a:gd name="connsiteY1" fmla="*/ 26 h 10000"/>
              <a:gd name="connsiteX2" fmla="*/ 2856 w 10000"/>
              <a:gd name="connsiteY2" fmla="*/ 26 h 10000"/>
              <a:gd name="connsiteX3" fmla="*/ 5252 w 10000"/>
              <a:gd name="connsiteY3" fmla="*/ 0 h 10000"/>
              <a:gd name="connsiteX4" fmla="*/ 7647 w 10000"/>
              <a:gd name="connsiteY4" fmla="*/ 26 h 10000"/>
              <a:gd name="connsiteX5" fmla="*/ 8866 w 10000"/>
              <a:gd name="connsiteY5" fmla="*/ 2606 h 10000"/>
              <a:gd name="connsiteX6" fmla="*/ 8823 w 10000"/>
              <a:gd name="connsiteY6" fmla="*/ 5896 h 10000"/>
              <a:gd name="connsiteX7" fmla="*/ 8782 w 10000"/>
              <a:gd name="connsiteY7" fmla="*/ 7422 h 10000"/>
              <a:gd name="connsiteX8" fmla="*/ 8740 w 10000"/>
              <a:gd name="connsiteY8" fmla="*/ 8951 h 10000"/>
              <a:gd name="connsiteX9" fmla="*/ 8614 w 10000"/>
              <a:gd name="connsiteY9" fmla="*/ 9528 h 10000"/>
              <a:gd name="connsiteX10" fmla="*/ 9160 w 10000"/>
              <a:gd name="connsiteY10" fmla="*/ 9977 h 10000"/>
              <a:gd name="connsiteX11" fmla="*/ 9663 w 10000"/>
              <a:gd name="connsiteY11" fmla="*/ 9503 h 10000"/>
              <a:gd name="connsiteX12" fmla="*/ 9538 w 10000"/>
              <a:gd name="connsiteY12" fmla="*/ 8661 h 10000"/>
              <a:gd name="connsiteX13" fmla="*/ 9663 w 10000"/>
              <a:gd name="connsiteY13" fmla="*/ 4687 h 10000"/>
              <a:gd name="connsiteX14" fmla="*/ 10000 w 10000"/>
              <a:gd name="connsiteY14" fmla="*/ 186 h 10000"/>
              <a:gd name="connsiteX0" fmla="*/ 0 w 10000"/>
              <a:gd name="connsiteY0" fmla="*/ 186 h 10000"/>
              <a:gd name="connsiteX1" fmla="*/ 1386 w 10000"/>
              <a:gd name="connsiteY1" fmla="*/ 26 h 10000"/>
              <a:gd name="connsiteX2" fmla="*/ 2856 w 10000"/>
              <a:gd name="connsiteY2" fmla="*/ 26 h 10000"/>
              <a:gd name="connsiteX3" fmla="*/ 5252 w 10000"/>
              <a:gd name="connsiteY3" fmla="*/ 0 h 10000"/>
              <a:gd name="connsiteX4" fmla="*/ 7647 w 10000"/>
              <a:gd name="connsiteY4" fmla="*/ 26 h 10000"/>
              <a:gd name="connsiteX5" fmla="*/ 8866 w 10000"/>
              <a:gd name="connsiteY5" fmla="*/ 2606 h 10000"/>
              <a:gd name="connsiteX6" fmla="*/ 8823 w 10000"/>
              <a:gd name="connsiteY6" fmla="*/ 5896 h 10000"/>
              <a:gd name="connsiteX7" fmla="*/ 8782 w 10000"/>
              <a:gd name="connsiteY7" fmla="*/ 7422 h 10000"/>
              <a:gd name="connsiteX8" fmla="*/ 8740 w 10000"/>
              <a:gd name="connsiteY8" fmla="*/ 8951 h 10000"/>
              <a:gd name="connsiteX9" fmla="*/ 8614 w 10000"/>
              <a:gd name="connsiteY9" fmla="*/ 9528 h 10000"/>
              <a:gd name="connsiteX10" fmla="*/ 9160 w 10000"/>
              <a:gd name="connsiteY10" fmla="*/ 9977 h 10000"/>
              <a:gd name="connsiteX11" fmla="*/ 9663 w 10000"/>
              <a:gd name="connsiteY11" fmla="*/ 9503 h 10000"/>
              <a:gd name="connsiteX12" fmla="*/ 9538 w 10000"/>
              <a:gd name="connsiteY12" fmla="*/ 8661 h 10000"/>
              <a:gd name="connsiteX13" fmla="*/ 10000 w 10000"/>
              <a:gd name="connsiteY13" fmla="*/ 186 h 10000"/>
              <a:gd name="connsiteX0" fmla="*/ 0 w 9663"/>
              <a:gd name="connsiteY0" fmla="*/ 186 h 10000"/>
              <a:gd name="connsiteX1" fmla="*/ 1386 w 9663"/>
              <a:gd name="connsiteY1" fmla="*/ 26 h 10000"/>
              <a:gd name="connsiteX2" fmla="*/ 2856 w 9663"/>
              <a:gd name="connsiteY2" fmla="*/ 26 h 10000"/>
              <a:gd name="connsiteX3" fmla="*/ 5252 w 9663"/>
              <a:gd name="connsiteY3" fmla="*/ 0 h 10000"/>
              <a:gd name="connsiteX4" fmla="*/ 7647 w 9663"/>
              <a:gd name="connsiteY4" fmla="*/ 26 h 10000"/>
              <a:gd name="connsiteX5" fmla="*/ 8866 w 9663"/>
              <a:gd name="connsiteY5" fmla="*/ 2606 h 10000"/>
              <a:gd name="connsiteX6" fmla="*/ 8823 w 9663"/>
              <a:gd name="connsiteY6" fmla="*/ 5896 h 10000"/>
              <a:gd name="connsiteX7" fmla="*/ 8782 w 9663"/>
              <a:gd name="connsiteY7" fmla="*/ 7422 h 10000"/>
              <a:gd name="connsiteX8" fmla="*/ 8740 w 9663"/>
              <a:gd name="connsiteY8" fmla="*/ 8951 h 10000"/>
              <a:gd name="connsiteX9" fmla="*/ 8614 w 9663"/>
              <a:gd name="connsiteY9" fmla="*/ 9528 h 10000"/>
              <a:gd name="connsiteX10" fmla="*/ 9160 w 9663"/>
              <a:gd name="connsiteY10" fmla="*/ 9977 h 10000"/>
              <a:gd name="connsiteX11" fmla="*/ 9663 w 9663"/>
              <a:gd name="connsiteY11" fmla="*/ 9503 h 10000"/>
              <a:gd name="connsiteX12" fmla="*/ 9538 w 9663"/>
              <a:gd name="connsiteY12" fmla="*/ 8661 h 10000"/>
              <a:gd name="connsiteX0" fmla="*/ 0 w 10000"/>
              <a:gd name="connsiteY0" fmla="*/ 186 h 10000"/>
              <a:gd name="connsiteX1" fmla="*/ 1434 w 10000"/>
              <a:gd name="connsiteY1" fmla="*/ 26 h 10000"/>
              <a:gd name="connsiteX2" fmla="*/ 2956 w 10000"/>
              <a:gd name="connsiteY2" fmla="*/ 26 h 10000"/>
              <a:gd name="connsiteX3" fmla="*/ 5435 w 10000"/>
              <a:gd name="connsiteY3" fmla="*/ 0 h 10000"/>
              <a:gd name="connsiteX4" fmla="*/ 7914 w 10000"/>
              <a:gd name="connsiteY4" fmla="*/ 26 h 10000"/>
              <a:gd name="connsiteX5" fmla="*/ 9175 w 10000"/>
              <a:gd name="connsiteY5" fmla="*/ 2606 h 10000"/>
              <a:gd name="connsiteX6" fmla="*/ 9131 w 10000"/>
              <a:gd name="connsiteY6" fmla="*/ 5896 h 10000"/>
              <a:gd name="connsiteX7" fmla="*/ 9088 w 10000"/>
              <a:gd name="connsiteY7" fmla="*/ 7422 h 10000"/>
              <a:gd name="connsiteX8" fmla="*/ 9045 w 10000"/>
              <a:gd name="connsiteY8" fmla="*/ 8951 h 10000"/>
              <a:gd name="connsiteX9" fmla="*/ 8914 w 10000"/>
              <a:gd name="connsiteY9" fmla="*/ 9528 h 10000"/>
              <a:gd name="connsiteX10" fmla="*/ 9479 w 10000"/>
              <a:gd name="connsiteY10" fmla="*/ 9977 h 10000"/>
              <a:gd name="connsiteX11" fmla="*/ 10000 w 10000"/>
              <a:gd name="connsiteY11" fmla="*/ 9503 h 10000"/>
              <a:gd name="connsiteX0" fmla="*/ 0 w 9479"/>
              <a:gd name="connsiteY0" fmla="*/ 186 h 9977"/>
              <a:gd name="connsiteX1" fmla="*/ 1434 w 9479"/>
              <a:gd name="connsiteY1" fmla="*/ 26 h 9977"/>
              <a:gd name="connsiteX2" fmla="*/ 2956 w 9479"/>
              <a:gd name="connsiteY2" fmla="*/ 26 h 9977"/>
              <a:gd name="connsiteX3" fmla="*/ 5435 w 9479"/>
              <a:gd name="connsiteY3" fmla="*/ 0 h 9977"/>
              <a:gd name="connsiteX4" fmla="*/ 7914 w 9479"/>
              <a:gd name="connsiteY4" fmla="*/ 26 h 9977"/>
              <a:gd name="connsiteX5" fmla="*/ 9175 w 9479"/>
              <a:gd name="connsiteY5" fmla="*/ 2606 h 9977"/>
              <a:gd name="connsiteX6" fmla="*/ 9131 w 9479"/>
              <a:gd name="connsiteY6" fmla="*/ 5896 h 9977"/>
              <a:gd name="connsiteX7" fmla="*/ 9088 w 9479"/>
              <a:gd name="connsiteY7" fmla="*/ 7422 h 9977"/>
              <a:gd name="connsiteX8" fmla="*/ 9045 w 9479"/>
              <a:gd name="connsiteY8" fmla="*/ 8951 h 9977"/>
              <a:gd name="connsiteX9" fmla="*/ 8914 w 9479"/>
              <a:gd name="connsiteY9" fmla="*/ 9528 h 9977"/>
              <a:gd name="connsiteX10" fmla="*/ 9479 w 9479"/>
              <a:gd name="connsiteY10" fmla="*/ 9977 h 9977"/>
              <a:gd name="connsiteX0" fmla="*/ 0 w 9679"/>
              <a:gd name="connsiteY0" fmla="*/ 186 h 9550"/>
              <a:gd name="connsiteX1" fmla="*/ 1513 w 9679"/>
              <a:gd name="connsiteY1" fmla="*/ 26 h 9550"/>
              <a:gd name="connsiteX2" fmla="*/ 3118 w 9679"/>
              <a:gd name="connsiteY2" fmla="*/ 26 h 9550"/>
              <a:gd name="connsiteX3" fmla="*/ 5734 w 9679"/>
              <a:gd name="connsiteY3" fmla="*/ 0 h 9550"/>
              <a:gd name="connsiteX4" fmla="*/ 8349 w 9679"/>
              <a:gd name="connsiteY4" fmla="*/ 26 h 9550"/>
              <a:gd name="connsiteX5" fmla="*/ 9679 w 9679"/>
              <a:gd name="connsiteY5" fmla="*/ 2612 h 9550"/>
              <a:gd name="connsiteX6" fmla="*/ 9633 w 9679"/>
              <a:gd name="connsiteY6" fmla="*/ 5910 h 9550"/>
              <a:gd name="connsiteX7" fmla="*/ 9588 w 9679"/>
              <a:gd name="connsiteY7" fmla="*/ 7439 h 9550"/>
              <a:gd name="connsiteX8" fmla="*/ 9542 w 9679"/>
              <a:gd name="connsiteY8" fmla="*/ 8972 h 9550"/>
              <a:gd name="connsiteX9" fmla="*/ 9404 w 9679"/>
              <a:gd name="connsiteY9" fmla="*/ 9550 h 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9" h="9550">
                <a:moveTo>
                  <a:pt x="0" y="186"/>
                </a:moveTo>
                <a:cubicBezTo>
                  <a:pt x="459" y="0"/>
                  <a:pt x="1010" y="54"/>
                  <a:pt x="1513" y="26"/>
                </a:cubicBezTo>
                <a:lnTo>
                  <a:pt x="3118" y="26"/>
                </a:lnTo>
                <a:lnTo>
                  <a:pt x="5734" y="0"/>
                </a:lnTo>
                <a:lnTo>
                  <a:pt x="8349" y="26"/>
                </a:lnTo>
                <a:cubicBezTo>
                  <a:pt x="9588" y="105"/>
                  <a:pt x="9679" y="1294"/>
                  <a:pt x="9679" y="2612"/>
                </a:cubicBezTo>
                <a:cubicBezTo>
                  <a:pt x="9679" y="3906"/>
                  <a:pt x="9633" y="5303"/>
                  <a:pt x="9633" y="5910"/>
                </a:cubicBezTo>
                <a:cubicBezTo>
                  <a:pt x="9633" y="6360"/>
                  <a:pt x="9633" y="6886"/>
                  <a:pt x="9588" y="7439"/>
                </a:cubicBezTo>
                <a:cubicBezTo>
                  <a:pt x="9588" y="7995"/>
                  <a:pt x="9588" y="8522"/>
                  <a:pt x="9542" y="8972"/>
                </a:cubicBezTo>
                <a:cubicBezTo>
                  <a:pt x="9542" y="9208"/>
                  <a:pt x="9404" y="9393"/>
                  <a:pt x="9404" y="9550"/>
                </a:cubicBezTo>
              </a:path>
            </a:pathLst>
          </a:custGeom>
          <a:noFill/>
          <a:ln w="14288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3" name="Freeform 955"/>
          <p:cNvSpPr>
            <a:spLocks/>
          </p:cNvSpPr>
          <p:nvPr/>
        </p:nvSpPr>
        <p:spPr bwMode="auto">
          <a:xfrm>
            <a:off x="4076519" y="4457585"/>
            <a:ext cx="2088026" cy="1043220"/>
          </a:xfrm>
          <a:custGeom>
            <a:avLst/>
            <a:gdLst>
              <a:gd name="T0" fmla="*/ 782340 w 513"/>
              <a:gd name="T1" fmla="*/ 1976877 h 755"/>
              <a:gd name="T2" fmla="*/ 542358 w 513"/>
              <a:gd name="T3" fmla="*/ 1986473 h 755"/>
              <a:gd name="T4" fmla="*/ 407969 w 513"/>
              <a:gd name="T5" fmla="*/ 1972079 h 755"/>
              <a:gd name="T6" fmla="*/ 355173 w 513"/>
              <a:gd name="T7" fmla="*/ 1981675 h 755"/>
              <a:gd name="T8" fmla="*/ 201585 w 513"/>
              <a:gd name="T9" fmla="*/ 1991272 h 755"/>
              <a:gd name="T10" fmla="*/ 81594 w 513"/>
              <a:gd name="T11" fmla="*/ 2092035 h 755"/>
              <a:gd name="T12" fmla="*/ 0 w 513"/>
              <a:gd name="T13" fmla="*/ 2360736 h 755"/>
              <a:gd name="T14" fmla="*/ 67195 w 513"/>
              <a:gd name="T15" fmla="*/ 2677421 h 755"/>
              <a:gd name="T16" fmla="*/ 268779 w 513"/>
              <a:gd name="T17" fmla="*/ 2758991 h 755"/>
              <a:gd name="T18" fmla="*/ 431967 w 513"/>
              <a:gd name="T19" fmla="*/ 2706210 h 755"/>
              <a:gd name="T20" fmla="*/ 609553 w 513"/>
              <a:gd name="T21" fmla="*/ 2696614 h 755"/>
              <a:gd name="T22" fmla="*/ 791939 w 513"/>
              <a:gd name="T23" fmla="*/ 2715807 h 755"/>
              <a:gd name="T24" fmla="*/ 1012722 w 513"/>
              <a:gd name="T25" fmla="*/ 2730202 h 755"/>
              <a:gd name="T26" fmla="*/ 1281502 w 513"/>
              <a:gd name="T27" fmla="*/ 2706210 h 755"/>
              <a:gd name="T28" fmla="*/ 1564680 w 513"/>
              <a:gd name="T29" fmla="*/ 2720605 h 755"/>
              <a:gd name="T30" fmla="*/ 1780664 w 513"/>
              <a:gd name="T31" fmla="*/ 2850158 h 755"/>
              <a:gd name="T32" fmla="*/ 1915053 w 513"/>
              <a:gd name="T33" fmla="*/ 2960517 h 755"/>
              <a:gd name="T34" fmla="*/ 1963050 w 513"/>
              <a:gd name="T35" fmla="*/ 3003702 h 755"/>
              <a:gd name="T36" fmla="*/ 2001447 w 513"/>
              <a:gd name="T37" fmla="*/ 3032491 h 755"/>
              <a:gd name="T38" fmla="*/ 2035044 w 513"/>
              <a:gd name="T39" fmla="*/ 3046886 h 755"/>
              <a:gd name="T40" fmla="*/ 2111838 w 513"/>
              <a:gd name="T41" fmla="*/ 3099666 h 755"/>
              <a:gd name="T42" fmla="*/ 2260627 w 513"/>
              <a:gd name="T43" fmla="*/ 3114061 h 755"/>
              <a:gd name="T44" fmla="*/ 2323022 w 513"/>
              <a:gd name="T45" fmla="*/ 3181237 h 755"/>
              <a:gd name="T46" fmla="*/ 2279825 w 513"/>
              <a:gd name="T47" fmla="*/ 3238816 h 755"/>
              <a:gd name="T48" fmla="*/ 2126237 w 513"/>
              <a:gd name="T49" fmla="*/ 3243614 h 755"/>
              <a:gd name="T50" fmla="*/ 2015846 w 513"/>
              <a:gd name="T51" fmla="*/ 3301193 h 755"/>
              <a:gd name="T52" fmla="*/ 2063842 w 513"/>
              <a:gd name="T53" fmla="*/ 3349175 h 755"/>
              <a:gd name="T54" fmla="*/ 2236629 w 513"/>
              <a:gd name="T55" fmla="*/ 3349175 h 755"/>
              <a:gd name="T56" fmla="*/ 2150235 w 513"/>
              <a:gd name="T57" fmla="*/ 3483526 h 755"/>
              <a:gd name="T58" fmla="*/ 2121438 w 513"/>
              <a:gd name="T59" fmla="*/ 3617877 h 755"/>
              <a:gd name="T60" fmla="*/ 2433414 w 513"/>
              <a:gd name="T61" fmla="*/ 3272403 h 755"/>
              <a:gd name="T62" fmla="*/ 2462212 w 513"/>
              <a:gd name="T63" fmla="*/ 0 h 75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513"/>
              <a:gd name="T97" fmla="*/ 0 h 755"/>
              <a:gd name="T98" fmla="*/ 513 w 513"/>
              <a:gd name="T99" fmla="*/ 755 h 755"/>
              <a:gd name="connsiteX0" fmla="*/ 3567 w 9919"/>
              <a:gd name="connsiteY0" fmla="*/ 0 h 4544"/>
              <a:gd name="connsiteX1" fmla="*/ 3177 w 9919"/>
              <a:gd name="connsiteY1" fmla="*/ 13 h 4544"/>
              <a:gd name="connsiteX2" fmla="*/ 2690 w 9919"/>
              <a:gd name="connsiteY2" fmla="*/ 26 h 4544"/>
              <a:gd name="connsiteX3" fmla="*/ 2203 w 9919"/>
              <a:gd name="connsiteY3" fmla="*/ 39 h 4544"/>
              <a:gd name="connsiteX4" fmla="*/ 1813 w 9919"/>
              <a:gd name="connsiteY4" fmla="*/ 13 h 4544"/>
              <a:gd name="connsiteX5" fmla="*/ 1657 w 9919"/>
              <a:gd name="connsiteY5" fmla="*/ 0 h 4544"/>
              <a:gd name="connsiteX6" fmla="*/ 1559 w 9919"/>
              <a:gd name="connsiteY6" fmla="*/ 13 h 4544"/>
              <a:gd name="connsiteX7" fmla="*/ 1442 w 9919"/>
              <a:gd name="connsiteY7" fmla="*/ 26 h 4544"/>
              <a:gd name="connsiteX8" fmla="*/ 1287 w 9919"/>
              <a:gd name="connsiteY8" fmla="*/ 26 h 4544"/>
              <a:gd name="connsiteX9" fmla="*/ 819 w 9919"/>
              <a:gd name="connsiteY9" fmla="*/ 53 h 4544"/>
              <a:gd name="connsiteX10" fmla="*/ 526 w 9919"/>
              <a:gd name="connsiteY10" fmla="*/ 145 h 4544"/>
              <a:gd name="connsiteX11" fmla="*/ 331 w 9919"/>
              <a:gd name="connsiteY11" fmla="*/ 331 h 4544"/>
              <a:gd name="connsiteX12" fmla="*/ 136 w 9919"/>
              <a:gd name="connsiteY12" fmla="*/ 635 h 4544"/>
              <a:gd name="connsiteX13" fmla="*/ 0 w 9919"/>
              <a:gd name="connsiteY13" fmla="*/ 1073 h 4544"/>
              <a:gd name="connsiteX14" fmla="*/ 39 w 9919"/>
              <a:gd name="connsiteY14" fmla="*/ 1549 h 4544"/>
              <a:gd name="connsiteX15" fmla="*/ 273 w 9919"/>
              <a:gd name="connsiteY15" fmla="*/ 1947 h 4544"/>
              <a:gd name="connsiteX16" fmla="*/ 741 w 9919"/>
              <a:gd name="connsiteY16" fmla="*/ 2172 h 4544"/>
              <a:gd name="connsiteX17" fmla="*/ 1092 w 9919"/>
              <a:gd name="connsiteY17" fmla="*/ 2172 h 4544"/>
              <a:gd name="connsiteX18" fmla="*/ 1423 w 9919"/>
              <a:gd name="connsiteY18" fmla="*/ 2106 h 4544"/>
              <a:gd name="connsiteX19" fmla="*/ 1754 w 9919"/>
              <a:gd name="connsiteY19" fmla="*/ 2026 h 4544"/>
              <a:gd name="connsiteX20" fmla="*/ 2105 w 9919"/>
              <a:gd name="connsiteY20" fmla="*/ 1986 h 4544"/>
              <a:gd name="connsiteX21" fmla="*/ 2476 w 9919"/>
              <a:gd name="connsiteY21" fmla="*/ 2000 h 4544"/>
              <a:gd name="connsiteX22" fmla="*/ 2846 w 9919"/>
              <a:gd name="connsiteY22" fmla="*/ 2026 h 4544"/>
              <a:gd name="connsiteX23" fmla="*/ 3216 w 9919"/>
              <a:gd name="connsiteY23" fmla="*/ 2053 h 4544"/>
              <a:gd name="connsiteX24" fmla="*/ 3567 w 9919"/>
              <a:gd name="connsiteY24" fmla="*/ 2079 h 4544"/>
              <a:gd name="connsiteX25" fmla="*/ 4113 w 9919"/>
              <a:gd name="connsiteY25" fmla="*/ 2092 h 4544"/>
              <a:gd name="connsiteX26" fmla="*/ 4659 w 9919"/>
              <a:gd name="connsiteY26" fmla="*/ 2053 h 4544"/>
              <a:gd name="connsiteX27" fmla="*/ 5205 w 9919"/>
              <a:gd name="connsiteY27" fmla="*/ 2026 h 4544"/>
              <a:gd name="connsiteX28" fmla="*/ 5750 w 9919"/>
              <a:gd name="connsiteY28" fmla="*/ 2013 h 4544"/>
              <a:gd name="connsiteX29" fmla="*/ 6355 w 9919"/>
              <a:gd name="connsiteY29" fmla="*/ 2066 h 4544"/>
              <a:gd name="connsiteX30" fmla="*/ 6823 w 9919"/>
              <a:gd name="connsiteY30" fmla="*/ 2212 h 4544"/>
              <a:gd name="connsiteX31" fmla="*/ 7232 w 9919"/>
              <a:gd name="connsiteY31" fmla="*/ 2424 h 4544"/>
              <a:gd name="connsiteX32" fmla="*/ 7680 w 9919"/>
              <a:gd name="connsiteY32" fmla="*/ 2688 h 4544"/>
              <a:gd name="connsiteX33" fmla="*/ 7778 w 9919"/>
              <a:gd name="connsiteY33" fmla="*/ 2728 h 4544"/>
              <a:gd name="connsiteX34" fmla="*/ 7875 w 9919"/>
              <a:gd name="connsiteY34" fmla="*/ 2794 h 4544"/>
              <a:gd name="connsiteX35" fmla="*/ 7973 w 9919"/>
              <a:gd name="connsiteY35" fmla="*/ 2847 h 4544"/>
              <a:gd name="connsiteX36" fmla="*/ 8070 w 9919"/>
              <a:gd name="connsiteY36" fmla="*/ 2887 h 4544"/>
              <a:gd name="connsiteX37" fmla="*/ 8129 w 9919"/>
              <a:gd name="connsiteY37" fmla="*/ 2927 h 4544"/>
              <a:gd name="connsiteX38" fmla="*/ 8187 w 9919"/>
              <a:gd name="connsiteY38" fmla="*/ 2953 h 4544"/>
              <a:gd name="connsiteX39" fmla="*/ 8265 w 9919"/>
              <a:gd name="connsiteY39" fmla="*/ 2967 h 4544"/>
              <a:gd name="connsiteX40" fmla="*/ 8382 w 9919"/>
              <a:gd name="connsiteY40" fmla="*/ 2967 h 4544"/>
              <a:gd name="connsiteX41" fmla="*/ 8577 w 9919"/>
              <a:gd name="connsiteY41" fmla="*/ 3112 h 4544"/>
              <a:gd name="connsiteX42" fmla="*/ 8869 w 9919"/>
              <a:gd name="connsiteY42" fmla="*/ 3165 h 4544"/>
              <a:gd name="connsiteX43" fmla="*/ 9181 w 9919"/>
              <a:gd name="connsiteY43" fmla="*/ 3152 h 4544"/>
              <a:gd name="connsiteX44" fmla="*/ 9474 w 9919"/>
              <a:gd name="connsiteY44" fmla="*/ 3218 h 4544"/>
              <a:gd name="connsiteX45" fmla="*/ 9435 w 9919"/>
              <a:gd name="connsiteY45" fmla="*/ 3337 h 4544"/>
              <a:gd name="connsiteX46" fmla="*/ 9435 w 9919"/>
              <a:gd name="connsiteY46" fmla="*/ 3470 h 4544"/>
              <a:gd name="connsiteX47" fmla="*/ 9259 w 9919"/>
              <a:gd name="connsiteY47" fmla="*/ 3496 h 4544"/>
              <a:gd name="connsiteX48" fmla="*/ 9064 w 9919"/>
              <a:gd name="connsiteY48" fmla="*/ 3496 h 4544"/>
              <a:gd name="connsiteX49" fmla="*/ 8635 w 9919"/>
              <a:gd name="connsiteY49" fmla="*/ 3510 h 4544"/>
              <a:gd name="connsiteX50" fmla="*/ 8226 w 9919"/>
              <a:gd name="connsiteY50" fmla="*/ 3576 h 4544"/>
              <a:gd name="connsiteX51" fmla="*/ 8187 w 9919"/>
              <a:gd name="connsiteY51" fmla="*/ 3669 h 4544"/>
              <a:gd name="connsiteX52" fmla="*/ 8129 w 9919"/>
              <a:gd name="connsiteY52" fmla="*/ 3735 h 4544"/>
              <a:gd name="connsiteX53" fmla="*/ 8382 w 9919"/>
              <a:gd name="connsiteY53" fmla="*/ 3801 h 4544"/>
              <a:gd name="connsiteX54" fmla="*/ 8713 w 9919"/>
              <a:gd name="connsiteY54" fmla="*/ 3801 h 4544"/>
              <a:gd name="connsiteX55" fmla="*/ 9084 w 9919"/>
              <a:gd name="connsiteY55" fmla="*/ 3801 h 4544"/>
              <a:gd name="connsiteX56" fmla="*/ 9298 w 9919"/>
              <a:gd name="connsiteY56" fmla="*/ 3920 h 4544"/>
              <a:gd name="connsiteX57" fmla="*/ 8733 w 9919"/>
              <a:gd name="connsiteY57" fmla="*/ 4172 h 4544"/>
              <a:gd name="connsiteX58" fmla="*/ 8207 w 9919"/>
              <a:gd name="connsiteY58" fmla="*/ 4543 h 4544"/>
              <a:gd name="connsiteX59" fmla="*/ 8616 w 9919"/>
              <a:gd name="connsiteY59" fmla="*/ 4543 h 4544"/>
              <a:gd name="connsiteX60" fmla="*/ 9162 w 9919"/>
              <a:gd name="connsiteY60" fmla="*/ 4463 h 4544"/>
              <a:gd name="connsiteX61" fmla="*/ 9883 w 9919"/>
              <a:gd name="connsiteY61" fmla="*/ 3589 h 4544"/>
              <a:gd name="connsiteX62" fmla="*/ 9883 w 9919"/>
              <a:gd name="connsiteY62" fmla="*/ 2582 h 4544"/>
              <a:gd name="connsiteX0" fmla="*/ 3596 w 9964"/>
              <a:gd name="connsiteY0" fmla="*/ 0 h 10001"/>
              <a:gd name="connsiteX1" fmla="*/ 3203 w 9964"/>
              <a:gd name="connsiteY1" fmla="*/ 29 h 10001"/>
              <a:gd name="connsiteX2" fmla="*/ 2712 w 9964"/>
              <a:gd name="connsiteY2" fmla="*/ 57 h 10001"/>
              <a:gd name="connsiteX3" fmla="*/ 2221 w 9964"/>
              <a:gd name="connsiteY3" fmla="*/ 86 h 10001"/>
              <a:gd name="connsiteX4" fmla="*/ 1828 w 9964"/>
              <a:gd name="connsiteY4" fmla="*/ 29 h 10001"/>
              <a:gd name="connsiteX5" fmla="*/ 1671 w 9964"/>
              <a:gd name="connsiteY5" fmla="*/ 0 h 10001"/>
              <a:gd name="connsiteX6" fmla="*/ 1572 w 9964"/>
              <a:gd name="connsiteY6" fmla="*/ 29 h 10001"/>
              <a:gd name="connsiteX7" fmla="*/ 1454 w 9964"/>
              <a:gd name="connsiteY7" fmla="*/ 57 h 10001"/>
              <a:gd name="connsiteX8" fmla="*/ 1298 w 9964"/>
              <a:gd name="connsiteY8" fmla="*/ 57 h 10001"/>
              <a:gd name="connsiteX9" fmla="*/ 826 w 9964"/>
              <a:gd name="connsiteY9" fmla="*/ 117 h 10001"/>
              <a:gd name="connsiteX10" fmla="*/ 530 w 9964"/>
              <a:gd name="connsiteY10" fmla="*/ 319 h 10001"/>
              <a:gd name="connsiteX11" fmla="*/ 334 w 9964"/>
              <a:gd name="connsiteY11" fmla="*/ 728 h 10001"/>
              <a:gd name="connsiteX12" fmla="*/ 137 w 9964"/>
              <a:gd name="connsiteY12" fmla="*/ 1397 h 10001"/>
              <a:gd name="connsiteX13" fmla="*/ 0 w 9964"/>
              <a:gd name="connsiteY13" fmla="*/ 2361 h 10001"/>
              <a:gd name="connsiteX14" fmla="*/ 39 w 9964"/>
              <a:gd name="connsiteY14" fmla="*/ 3409 h 10001"/>
              <a:gd name="connsiteX15" fmla="*/ 275 w 9964"/>
              <a:gd name="connsiteY15" fmla="*/ 4285 h 10001"/>
              <a:gd name="connsiteX16" fmla="*/ 747 w 9964"/>
              <a:gd name="connsiteY16" fmla="*/ 4780 h 10001"/>
              <a:gd name="connsiteX17" fmla="*/ 1101 w 9964"/>
              <a:gd name="connsiteY17" fmla="*/ 4780 h 10001"/>
              <a:gd name="connsiteX18" fmla="*/ 1435 w 9964"/>
              <a:gd name="connsiteY18" fmla="*/ 4635 h 10001"/>
              <a:gd name="connsiteX19" fmla="*/ 1768 w 9964"/>
              <a:gd name="connsiteY19" fmla="*/ 4459 h 10001"/>
              <a:gd name="connsiteX20" fmla="*/ 2122 w 9964"/>
              <a:gd name="connsiteY20" fmla="*/ 4371 h 10001"/>
              <a:gd name="connsiteX21" fmla="*/ 2496 w 9964"/>
              <a:gd name="connsiteY21" fmla="*/ 4401 h 10001"/>
              <a:gd name="connsiteX22" fmla="*/ 2869 w 9964"/>
              <a:gd name="connsiteY22" fmla="*/ 4459 h 10001"/>
              <a:gd name="connsiteX23" fmla="*/ 3242 w 9964"/>
              <a:gd name="connsiteY23" fmla="*/ 4518 h 10001"/>
              <a:gd name="connsiteX24" fmla="*/ 3596 w 9964"/>
              <a:gd name="connsiteY24" fmla="*/ 4575 h 10001"/>
              <a:gd name="connsiteX25" fmla="*/ 4147 w 9964"/>
              <a:gd name="connsiteY25" fmla="*/ 4604 h 10001"/>
              <a:gd name="connsiteX26" fmla="*/ 4697 w 9964"/>
              <a:gd name="connsiteY26" fmla="*/ 4518 h 10001"/>
              <a:gd name="connsiteX27" fmla="*/ 5248 w 9964"/>
              <a:gd name="connsiteY27" fmla="*/ 4459 h 10001"/>
              <a:gd name="connsiteX28" fmla="*/ 5797 w 9964"/>
              <a:gd name="connsiteY28" fmla="*/ 4430 h 10001"/>
              <a:gd name="connsiteX29" fmla="*/ 6407 w 9964"/>
              <a:gd name="connsiteY29" fmla="*/ 4547 h 10001"/>
              <a:gd name="connsiteX30" fmla="*/ 6879 w 9964"/>
              <a:gd name="connsiteY30" fmla="*/ 4868 h 10001"/>
              <a:gd name="connsiteX31" fmla="*/ 7291 w 9964"/>
              <a:gd name="connsiteY31" fmla="*/ 5335 h 10001"/>
              <a:gd name="connsiteX32" fmla="*/ 7743 w 9964"/>
              <a:gd name="connsiteY32" fmla="*/ 5915 h 10001"/>
              <a:gd name="connsiteX33" fmla="*/ 7842 w 9964"/>
              <a:gd name="connsiteY33" fmla="*/ 6004 h 10001"/>
              <a:gd name="connsiteX34" fmla="*/ 7939 w 9964"/>
              <a:gd name="connsiteY34" fmla="*/ 6149 h 10001"/>
              <a:gd name="connsiteX35" fmla="*/ 8038 w 9964"/>
              <a:gd name="connsiteY35" fmla="*/ 6265 h 10001"/>
              <a:gd name="connsiteX36" fmla="*/ 8136 w 9964"/>
              <a:gd name="connsiteY36" fmla="*/ 6353 h 10001"/>
              <a:gd name="connsiteX37" fmla="*/ 8195 w 9964"/>
              <a:gd name="connsiteY37" fmla="*/ 6441 h 10001"/>
              <a:gd name="connsiteX38" fmla="*/ 8254 w 9964"/>
              <a:gd name="connsiteY38" fmla="*/ 6499 h 10001"/>
              <a:gd name="connsiteX39" fmla="*/ 8332 w 9964"/>
              <a:gd name="connsiteY39" fmla="*/ 6529 h 10001"/>
              <a:gd name="connsiteX40" fmla="*/ 8450 w 9964"/>
              <a:gd name="connsiteY40" fmla="*/ 6529 h 10001"/>
              <a:gd name="connsiteX41" fmla="*/ 8647 w 9964"/>
              <a:gd name="connsiteY41" fmla="*/ 6849 h 10001"/>
              <a:gd name="connsiteX42" fmla="*/ 8941 w 9964"/>
              <a:gd name="connsiteY42" fmla="*/ 6965 h 10001"/>
              <a:gd name="connsiteX43" fmla="*/ 9256 w 9964"/>
              <a:gd name="connsiteY43" fmla="*/ 6937 h 10001"/>
              <a:gd name="connsiteX44" fmla="*/ 9551 w 9964"/>
              <a:gd name="connsiteY44" fmla="*/ 7082 h 10001"/>
              <a:gd name="connsiteX45" fmla="*/ 9512 w 9964"/>
              <a:gd name="connsiteY45" fmla="*/ 7344 h 10001"/>
              <a:gd name="connsiteX46" fmla="*/ 9512 w 9964"/>
              <a:gd name="connsiteY46" fmla="*/ 7636 h 10001"/>
              <a:gd name="connsiteX47" fmla="*/ 9335 w 9964"/>
              <a:gd name="connsiteY47" fmla="*/ 7694 h 10001"/>
              <a:gd name="connsiteX48" fmla="*/ 9138 w 9964"/>
              <a:gd name="connsiteY48" fmla="*/ 7694 h 10001"/>
              <a:gd name="connsiteX49" fmla="*/ 8706 w 9964"/>
              <a:gd name="connsiteY49" fmla="*/ 7724 h 10001"/>
              <a:gd name="connsiteX50" fmla="*/ 8293 w 9964"/>
              <a:gd name="connsiteY50" fmla="*/ 7870 h 10001"/>
              <a:gd name="connsiteX51" fmla="*/ 8254 w 9964"/>
              <a:gd name="connsiteY51" fmla="*/ 8074 h 10001"/>
              <a:gd name="connsiteX52" fmla="*/ 8195 w 9964"/>
              <a:gd name="connsiteY52" fmla="*/ 8220 h 10001"/>
              <a:gd name="connsiteX53" fmla="*/ 8450 w 9964"/>
              <a:gd name="connsiteY53" fmla="*/ 8365 h 10001"/>
              <a:gd name="connsiteX54" fmla="*/ 8784 w 9964"/>
              <a:gd name="connsiteY54" fmla="*/ 8365 h 10001"/>
              <a:gd name="connsiteX55" fmla="*/ 9158 w 9964"/>
              <a:gd name="connsiteY55" fmla="*/ 8365 h 10001"/>
              <a:gd name="connsiteX56" fmla="*/ 9374 w 9964"/>
              <a:gd name="connsiteY56" fmla="*/ 8627 h 10001"/>
              <a:gd name="connsiteX57" fmla="*/ 8804 w 9964"/>
              <a:gd name="connsiteY57" fmla="*/ 9181 h 10001"/>
              <a:gd name="connsiteX58" fmla="*/ 8274 w 9964"/>
              <a:gd name="connsiteY58" fmla="*/ 9998 h 10001"/>
              <a:gd name="connsiteX59" fmla="*/ 8686 w 9964"/>
              <a:gd name="connsiteY59" fmla="*/ 9998 h 10001"/>
              <a:gd name="connsiteX60" fmla="*/ 9237 w 9964"/>
              <a:gd name="connsiteY60" fmla="*/ 9822 h 10001"/>
              <a:gd name="connsiteX61" fmla="*/ 9964 w 9964"/>
              <a:gd name="connsiteY61" fmla="*/ 7898 h 10001"/>
              <a:gd name="connsiteX0" fmla="*/ 3609 w 10000"/>
              <a:gd name="connsiteY0" fmla="*/ 0 h 10000"/>
              <a:gd name="connsiteX1" fmla="*/ 3215 w 10000"/>
              <a:gd name="connsiteY1" fmla="*/ 29 h 10000"/>
              <a:gd name="connsiteX2" fmla="*/ 2722 w 10000"/>
              <a:gd name="connsiteY2" fmla="*/ 57 h 10000"/>
              <a:gd name="connsiteX3" fmla="*/ 2229 w 10000"/>
              <a:gd name="connsiteY3" fmla="*/ 86 h 10000"/>
              <a:gd name="connsiteX4" fmla="*/ 1835 w 10000"/>
              <a:gd name="connsiteY4" fmla="*/ 29 h 10000"/>
              <a:gd name="connsiteX5" fmla="*/ 1677 w 10000"/>
              <a:gd name="connsiteY5" fmla="*/ 0 h 10000"/>
              <a:gd name="connsiteX6" fmla="*/ 1578 w 10000"/>
              <a:gd name="connsiteY6" fmla="*/ 29 h 10000"/>
              <a:gd name="connsiteX7" fmla="*/ 1459 w 10000"/>
              <a:gd name="connsiteY7" fmla="*/ 57 h 10000"/>
              <a:gd name="connsiteX8" fmla="*/ 1303 w 10000"/>
              <a:gd name="connsiteY8" fmla="*/ 57 h 10000"/>
              <a:gd name="connsiteX9" fmla="*/ 829 w 10000"/>
              <a:gd name="connsiteY9" fmla="*/ 117 h 10000"/>
              <a:gd name="connsiteX10" fmla="*/ 532 w 10000"/>
              <a:gd name="connsiteY10" fmla="*/ 319 h 10000"/>
              <a:gd name="connsiteX11" fmla="*/ 335 w 10000"/>
              <a:gd name="connsiteY11" fmla="*/ 728 h 10000"/>
              <a:gd name="connsiteX12" fmla="*/ 137 w 10000"/>
              <a:gd name="connsiteY12" fmla="*/ 1397 h 10000"/>
              <a:gd name="connsiteX13" fmla="*/ 0 w 10000"/>
              <a:gd name="connsiteY13" fmla="*/ 2361 h 10000"/>
              <a:gd name="connsiteX14" fmla="*/ 39 w 10000"/>
              <a:gd name="connsiteY14" fmla="*/ 3409 h 10000"/>
              <a:gd name="connsiteX15" fmla="*/ 276 w 10000"/>
              <a:gd name="connsiteY15" fmla="*/ 4285 h 10000"/>
              <a:gd name="connsiteX16" fmla="*/ 750 w 10000"/>
              <a:gd name="connsiteY16" fmla="*/ 4780 h 10000"/>
              <a:gd name="connsiteX17" fmla="*/ 1105 w 10000"/>
              <a:gd name="connsiteY17" fmla="*/ 4780 h 10000"/>
              <a:gd name="connsiteX18" fmla="*/ 1440 w 10000"/>
              <a:gd name="connsiteY18" fmla="*/ 4635 h 10000"/>
              <a:gd name="connsiteX19" fmla="*/ 1774 w 10000"/>
              <a:gd name="connsiteY19" fmla="*/ 4459 h 10000"/>
              <a:gd name="connsiteX20" fmla="*/ 2130 w 10000"/>
              <a:gd name="connsiteY20" fmla="*/ 4371 h 10000"/>
              <a:gd name="connsiteX21" fmla="*/ 2505 w 10000"/>
              <a:gd name="connsiteY21" fmla="*/ 4401 h 10000"/>
              <a:gd name="connsiteX22" fmla="*/ 2879 w 10000"/>
              <a:gd name="connsiteY22" fmla="*/ 4459 h 10000"/>
              <a:gd name="connsiteX23" fmla="*/ 3254 w 10000"/>
              <a:gd name="connsiteY23" fmla="*/ 4518 h 10000"/>
              <a:gd name="connsiteX24" fmla="*/ 3609 w 10000"/>
              <a:gd name="connsiteY24" fmla="*/ 4575 h 10000"/>
              <a:gd name="connsiteX25" fmla="*/ 4162 w 10000"/>
              <a:gd name="connsiteY25" fmla="*/ 4604 h 10000"/>
              <a:gd name="connsiteX26" fmla="*/ 4714 w 10000"/>
              <a:gd name="connsiteY26" fmla="*/ 4518 h 10000"/>
              <a:gd name="connsiteX27" fmla="*/ 5267 w 10000"/>
              <a:gd name="connsiteY27" fmla="*/ 4459 h 10000"/>
              <a:gd name="connsiteX28" fmla="*/ 5818 w 10000"/>
              <a:gd name="connsiteY28" fmla="*/ 4430 h 10000"/>
              <a:gd name="connsiteX29" fmla="*/ 6430 w 10000"/>
              <a:gd name="connsiteY29" fmla="*/ 4547 h 10000"/>
              <a:gd name="connsiteX30" fmla="*/ 6904 w 10000"/>
              <a:gd name="connsiteY30" fmla="*/ 4868 h 10000"/>
              <a:gd name="connsiteX31" fmla="*/ 7317 w 10000"/>
              <a:gd name="connsiteY31" fmla="*/ 5334 h 10000"/>
              <a:gd name="connsiteX32" fmla="*/ 7771 w 10000"/>
              <a:gd name="connsiteY32" fmla="*/ 5914 h 10000"/>
              <a:gd name="connsiteX33" fmla="*/ 7870 w 10000"/>
              <a:gd name="connsiteY33" fmla="*/ 6003 h 10000"/>
              <a:gd name="connsiteX34" fmla="*/ 7968 w 10000"/>
              <a:gd name="connsiteY34" fmla="*/ 6148 h 10000"/>
              <a:gd name="connsiteX35" fmla="*/ 8067 w 10000"/>
              <a:gd name="connsiteY35" fmla="*/ 6264 h 10000"/>
              <a:gd name="connsiteX36" fmla="*/ 8165 w 10000"/>
              <a:gd name="connsiteY36" fmla="*/ 6352 h 10000"/>
              <a:gd name="connsiteX37" fmla="*/ 8225 w 10000"/>
              <a:gd name="connsiteY37" fmla="*/ 6440 h 10000"/>
              <a:gd name="connsiteX38" fmla="*/ 8284 w 10000"/>
              <a:gd name="connsiteY38" fmla="*/ 6498 h 10000"/>
              <a:gd name="connsiteX39" fmla="*/ 8362 w 10000"/>
              <a:gd name="connsiteY39" fmla="*/ 6528 h 10000"/>
              <a:gd name="connsiteX40" fmla="*/ 8481 w 10000"/>
              <a:gd name="connsiteY40" fmla="*/ 6528 h 10000"/>
              <a:gd name="connsiteX41" fmla="*/ 8678 w 10000"/>
              <a:gd name="connsiteY41" fmla="*/ 6848 h 10000"/>
              <a:gd name="connsiteX42" fmla="*/ 8973 w 10000"/>
              <a:gd name="connsiteY42" fmla="*/ 6964 h 10000"/>
              <a:gd name="connsiteX43" fmla="*/ 9289 w 10000"/>
              <a:gd name="connsiteY43" fmla="*/ 6936 h 10000"/>
              <a:gd name="connsiteX44" fmla="*/ 9586 w 10000"/>
              <a:gd name="connsiteY44" fmla="*/ 7081 h 10000"/>
              <a:gd name="connsiteX45" fmla="*/ 9546 w 10000"/>
              <a:gd name="connsiteY45" fmla="*/ 7343 h 10000"/>
              <a:gd name="connsiteX46" fmla="*/ 9546 w 10000"/>
              <a:gd name="connsiteY46" fmla="*/ 7635 h 10000"/>
              <a:gd name="connsiteX47" fmla="*/ 9369 w 10000"/>
              <a:gd name="connsiteY47" fmla="*/ 7693 h 10000"/>
              <a:gd name="connsiteX48" fmla="*/ 8737 w 10000"/>
              <a:gd name="connsiteY48" fmla="*/ 7723 h 10000"/>
              <a:gd name="connsiteX49" fmla="*/ 8323 w 10000"/>
              <a:gd name="connsiteY49" fmla="*/ 7869 h 10000"/>
              <a:gd name="connsiteX50" fmla="*/ 8284 w 10000"/>
              <a:gd name="connsiteY50" fmla="*/ 8073 h 10000"/>
              <a:gd name="connsiteX51" fmla="*/ 8225 w 10000"/>
              <a:gd name="connsiteY51" fmla="*/ 8219 h 10000"/>
              <a:gd name="connsiteX52" fmla="*/ 8481 w 10000"/>
              <a:gd name="connsiteY52" fmla="*/ 8364 h 10000"/>
              <a:gd name="connsiteX53" fmla="*/ 8816 w 10000"/>
              <a:gd name="connsiteY53" fmla="*/ 8364 h 10000"/>
              <a:gd name="connsiteX54" fmla="*/ 9191 w 10000"/>
              <a:gd name="connsiteY54" fmla="*/ 8364 h 10000"/>
              <a:gd name="connsiteX55" fmla="*/ 9408 w 10000"/>
              <a:gd name="connsiteY55" fmla="*/ 8626 h 10000"/>
              <a:gd name="connsiteX56" fmla="*/ 8836 w 10000"/>
              <a:gd name="connsiteY56" fmla="*/ 9180 h 10000"/>
              <a:gd name="connsiteX57" fmla="*/ 8304 w 10000"/>
              <a:gd name="connsiteY57" fmla="*/ 9997 h 10000"/>
              <a:gd name="connsiteX58" fmla="*/ 8717 w 10000"/>
              <a:gd name="connsiteY58" fmla="*/ 9997 h 10000"/>
              <a:gd name="connsiteX59" fmla="*/ 9270 w 10000"/>
              <a:gd name="connsiteY59" fmla="*/ 9821 h 10000"/>
              <a:gd name="connsiteX60" fmla="*/ 10000 w 10000"/>
              <a:gd name="connsiteY60" fmla="*/ 7897 h 10000"/>
              <a:gd name="connsiteX0" fmla="*/ 3609 w 9591"/>
              <a:gd name="connsiteY0" fmla="*/ 0 h 10000"/>
              <a:gd name="connsiteX1" fmla="*/ 3215 w 9591"/>
              <a:gd name="connsiteY1" fmla="*/ 29 h 10000"/>
              <a:gd name="connsiteX2" fmla="*/ 2722 w 9591"/>
              <a:gd name="connsiteY2" fmla="*/ 57 h 10000"/>
              <a:gd name="connsiteX3" fmla="*/ 2229 w 9591"/>
              <a:gd name="connsiteY3" fmla="*/ 86 h 10000"/>
              <a:gd name="connsiteX4" fmla="*/ 1835 w 9591"/>
              <a:gd name="connsiteY4" fmla="*/ 29 h 10000"/>
              <a:gd name="connsiteX5" fmla="*/ 1677 w 9591"/>
              <a:gd name="connsiteY5" fmla="*/ 0 h 10000"/>
              <a:gd name="connsiteX6" fmla="*/ 1578 w 9591"/>
              <a:gd name="connsiteY6" fmla="*/ 29 h 10000"/>
              <a:gd name="connsiteX7" fmla="*/ 1459 w 9591"/>
              <a:gd name="connsiteY7" fmla="*/ 57 h 10000"/>
              <a:gd name="connsiteX8" fmla="*/ 1303 w 9591"/>
              <a:gd name="connsiteY8" fmla="*/ 57 h 10000"/>
              <a:gd name="connsiteX9" fmla="*/ 829 w 9591"/>
              <a:gd name="connsiteY9" fmla="*/ 117 h 10000"/>
              <a:gd name="connsiteX10" fmla="*/ 532 w 9591"/>
              <a:gd name="connsiteY10" fmla="*/ 319 h 10000"/>
              <a:gd name="connsiteX11" fmla="*/ 335 w 9591"/>
              <a:gd name="connsiteY11" fmla="*/ 728 h 10000"/>
              <a:gd name="connsiteX12" fmla="*/ 137 w 9591"/>
              <a:gd name="connsiteY12" fmla="*/ 1397 h 10000"/>
              <a:gd name="connsiteX13" fmla="*/ 0 w 9591"/>
              <a:gd name="connsiteY13" fmla="*/ 2361 h 10000"/>
              <a:gd name="connsiteX14" fmla="*/ 39 w 9591"/>
              <a:gd name="connsiteY14" fmla="*/ 3409 h 10000"/>
              <a:gd name="connsiteX15" fmla="*/ 276 w 9591"/>
              <a:gd name="connsiteY15" fmla="*/ 4285 h 10000"/>
              <a:gd name="connsiteX16" fmla="*/ 750 w 9591"/>
              <a:gd name="connsiteY16" fmla="*/ 4780 h 10000"/>
              <a:gd name="connsiteX17" fmla="*/ 1105 w 9591"/>
              <a:gd name="connsiteY17" fmla="*/ 4780 h 10000"/>
              <a:gd name="connsiteX18" fmla="*/ 1440 w 9591"/>
              <a:gd name="connsiteY18" fmla="*/ 4635 h 10000"/>
              <a:gd name="connsiteX19" fmla="*/ 1774 w 9591"/>
              <a:gd name="connsiteY19" fmla="*/ 4459 h 10000"/>
              <a:gd name="connsiteX20" fmla="*/ 2130 w 9591"/>
              <a:gd name="connsiteY20" fmla="*/ 4371 h 10000"/>
              <a:gd name="connsiteX21" fmla="*/ 2505 w 9591"/>
              <a:gd name="connsiteY21" fmla="*/ 4401 h 10000"/>
              <a:gd name="connsiteX22" fmla="*/ 2879 w 9591"/>
              <a:gd name="connsiteY22" fmla="*/ 4459 h 10000"/>
              <a:gd name="connsiteX23" fmla="*/ 3254 w 9591"/>
              <a:gd name="connsiteY23" fmla="*/ 4518 h 10000"/>
              <a:gd name="connsiteX24" fmla="*/ 3609 w 9591"/>
              <a:gd name="connsiteY24" fmla="*/ 4575 h 10000"/>
              <a:gd name="connsiteX25" fmla="*/ 4162 w 9591"/>
              <a:gd name="connsiteY25" fmla="*/ 4604 h 10000"/>
              <a:gd name="connsiteX26" fmla="*/ 4714 w 9591"/>
              <a:gd name="connsiteY26" fmla="*/ 4518 h 10000"/>
              <a:gd name="connsiteX27" fmla="*/ 5267 w 9591"/>
              <a:gd name="connsiteY27" fmla="*/ 4459 h 10000"/>
              <a:gd name="connsiteX28" fmla="*/ 5818 w 9591"/>
              <a:gd name="connsiteY28" fmla="*/ 4430 h 10000"/>
              <a:gd name="connsiteX29" fmla="*/ 6430 w 9591"/>
              <a:gd name="connsiteY29" fmla="*/ 4547 h 10000"/>
              <a:gd name="connsiteX30" fmla="*/ 6904 w 9591"/>
              <a:gd name="connsiteY30" fmla="*/ 4868 h 10000"/>
              <a:gd name="connsiteX31" fmla="*/ 7317 w 9591"/>
              <a:gd name="connsiteY31" fmla="*/ 5334 h 10000"/>
              <a:gd name="connsiteX32" fmla="*/ 7771 w 9591"/>
              <a:gd name="connsiteY32" fmla="*/ 5914 h 10000"/>
              <a:gd name="connsiteX33" fmla="*/ 7870 w 9591"/>
              <a:gd name="connsiteY33" fmla="*/ 6003 h 10000"/>
              <a:gd name="connsiteX34" fmla="*/ 7968 w 9591"/>
              <a:gd name="connsiteY34" fmla="*/ 6148 h 10000"/>
              <a:gd name="connsiteX35" fmla="*/ 8067 w 9591"/>
              <a:gd name="connsiteY35" fmla="*/ 6264 h 10000"/>
              <a:gd name="connsiteX36" fmla="*/ 8165 w 9591"/>
              <a:gd name="connsiteY36" fmla="*/ 6352 h 10000"/>
              <a:gd name="connsiteX37" fmla="*/ 8225 w 9591"/>
              <a:gd name="connsiteY37" fmla="*/ 6440 h 10000"/>
              <a:gd name="connsiteX38" fmla="*/ 8284 w 9591"/>
              <a:gd name="connsiteY38" fmla="*/ 6498 h 10000"/>
              <a:gd name="connsiteX39" fmla="*/ 8362 w 9591"/>
              <a:gd name="connsiteY39" fmla="*/ 6528 h 10000"/>
              <a:gd name="connsiteX40" fmla="*/ 8481 w 9591"/>
              <a:gd name="connsiteY40" fmla="*/ 6528 h 10000"/>
              <a:gd name="connsiteX41" fmla="*/ 8678 w 9591"/>
              <a:gd name="connsiteY41" fmla="*/ 6848 h 10000"/>
              <a:gd name="connsiteX42" fmla="*/ 8973 w 9591"/>
              <a:gd name="connsiteY42" fmla="*/ 6964 h 10000"/>
              <a:gd name="connsiteX43" fmla="*/ 9289 w 9591"/>
              <a:gd name="connsiteY43" fmla="*/ 6936 h 10000"/>
              <a:gd name="connsiteX44" fmla="*/ 9586 w 9591"/>
              <a:gd name="connsiteY44" fmla="*/ 7081 h 10000"/>
              <a:gd name="connsiteX45" fmla="*/ 9546 w 9591"/>
              <a:gd name="connsiteY45" fmla="*/ 7343 h 10000"/>
              <a:gd name="connsiteX46" fmla="*/ 9546 w 9591"/>
              <a:gd name="connsiteY46" fmla="*/ 7635 h 10000"/>
              <a:gd name="connsiteX47" fmla="*/ 9369 w 9591"/>
              <a:gd name="connsiteY47" fmla="*/ 7693 h 10000"/>
              <a:gd name="connsiteX48" fmla="*/ 8737 w 9591"/>
              <a:gd name="connsiteY48" fmla="*/ 7723 h 10000"/>
              <a:gd name="connsiteX49" fmla="*/ 8323 w 9591"/>
              <a:gd name="connsiteY49" fmla="*/ 7869 h 10000"/>
              <a:gd name="connsiteX50" fmla="*/ 8284 w 9591"/>
              <a:gd name="connsiteY50" fmla="*/ 8073 h 10000"/>
              <a:gd name="connsiteX51" fmla="*/ 8225 w 9591"/>
              <a:gd name="connsiteY51" fmla="*/ 8219 h 10000"/>
              <a:gd name="connsiteX52" fmla="*/ 8481 w 9591"/>
              <a:gd name="connsiteY52" fmla="*/ 8364 h 10000"/>
              <a:gd name="connsiteX53" fmla="*/ 8816 w 9591"/>
              <a:gd name="connsiteY53" fmla="*/ 8364 h 10000"/>
              <a:gd name="connsiteX54" fmla="*/ 9191 w 9591"/>
              <a:gd name="connsiteY54" fmla="*/ 8364 h 10000"/>
              <a:gd name="connsiteX55" fmla="*/ 9408 w 9591"/>
              <a:gd name="connsiteY55" fmla="*/ 8626 h 10000"/>
              <a:gd name="connsiteX56" fmla="*/ 8836 w 9591"/>
              <a:gd name="connsiteY56" fmla="*/ 9180 h 10000"/>
              <a:gd name="connsiteX57" fmla="*/ 8304 w 9591"/>
              <a:gd name="connsiteY57" fmla="*/ 9997 h 10000"/>
              <a:gd name="connsiteX58" fmla="*/ 8717 w 9591"/>
              <a:gd name="connsiteY58" fmla="*/ 9997 h 10000"/>
              <a:gd name="connsiteX59" fmla="*/ 9270 w 9591"/>
              <a:gd name="connsiteY59" fmla="*/ 9821 h 10000"/>
              <a:gd name="connsiteX0" fmla="*/ 3763 w 10000"/>
              <a:gd name="connsiteY0" fmla="*/ 0 h 9997"/>
              <a:gd name="connsiteX1" fmla="*/ 3352 w 10000"/>
              <a:gd name="connsiteY1" fmla="*/ 29 h 9997"/>
              <a:gd name="connsiteX2" fmla="*/ 2838 w 10000"/>
              <a:gd name="connsiteY2" fmla="*/ 57 h 9997"/>
              <a:gd name="connsiteX3" fmla="*/ 2324 w 10000"/>
              <a:gd name="connsiteY3" fmla="*/ 86 h 9997"/>
              <a:gd name="connsiteX4" fmla="*/ 1913 w 10000"/>
              <a:gd name="connsiteY4" fmla="*/ 29 h 9997"/>
              <a:gd name="connsiteX5" fmla="*/ 1749 w 10000"/>
              <a:gd name="connsiteY5" fmla="*/ 0 h 9997"/>
              <a:gd name="connsiteX6" fmla="*/ 1645 w 10000"/>
              <a:gd name="connsiteY6" fmla="*/ 29 h 9997"/>
              <a:gd name="connsiteX7" fmla="*/ 1521 w 10000"/>
              <a:gd name="connsiteY7" fmla="*/ 57 h 9997"/>
              <a:gd name="connsiteX8" fmla="*/ 1359 w 10000"/>
              <a:gd name="connsiteY8" fmla="*/ 57 h 9997"/>
              <a:gd name="connsiteX9" fmla="*/ 864 w 10000"/>
              <a:gd name="connsiteY9" fmla="*/ 117 h 9997"/>
              <a:gd name="connsiteX10" fmla="*/ 555 w 10000"/>
              <a:gd name="connsiteY10" fmla="*/ 319 h 9997"/>
              <a:gd name="connsiteX11" fmla="*/ 349 w 10000"/>
              <a:gd name="connsiteY11" fmla="*/ 728 h 9997"/>
              <a:gd name="connsiteX12" fmla="*/ 143 w 10000"/>
              <a:gd name="connsiteY12" fmla="*/ 1397 h 9997"/>
              <a:gd name="connsiteX13" fmla="*/ 0 w 10000"/>
              <a:gd name="connsiteY13" fmla="*/ 2361 h 9997"/>
              <a:gd name="connsiteX14" fmla="*/ 41 w 10000"/>
              <a:gd name="connsiteY14" fmla="*/ 3409 h 9997"/>
              <a:gd name="connsiteX15" fmla="*/ 288 w 10000"/>
              <a:gd name="connsiteY15" fmla="*/ 4285 h 9997"/>
              <a:gd name="connsiteX16" fmla="*/ 782 w 10000"/>
              <a:gd name="connsiteY16" fmla="*/ 4780 h 9997"/>
              <a:gd name="connsiteX17" fmla="*/ 1152 w 10000"/>
              <a:gd name="connsiteY17" fmla="*/ 4780 h 9997"/>
              <a:gd name="connsiteX18" fmla="*/ 1501 w 10000"/>
              <a:gd name="connsiteY18" fmla="*/ 4635 h 9997"/>
              <a:gd name="connsiteX19" fmla="*/ 1850 w 10000"/>
              <a:gd name="connsiteY19" fmla="*/ 4459 h 9997"/>
              <a:gd name="connsiteX20" fmla="*/ 2221 w 10000"/>
              <a:gd name="connsiteY20" fmla="*/ 4371 h 9997"/>
              <a:gd name="connsiteX21" fmla="*/ 2612 w 10000"/>
              <a:gd name="connsiteY21" fmla="*/ 4401 h 9997"/>
              <a:gd name="connsiteX22" fmla="*/ 3002 w 10000"/>
              <a:gd name="connsiteY22" fmla="*/ 4459 h 9997"/>
              <a:gd name="connsiteX23" fmla="*/ 3393 w 10000"/>
              <a:gd name="connsiteY23" fmla="*/ 4518 h 9997"/>
              <a:gd name="connsiteX24" fmla="*/ 3763 w 10000"/>
              <a:gd name="connsiteY24" fmla="*/ 4575 h 9997"/>
              <a:gd name="connsiteX25" fmla="*/ 4339 w 10000"/>
              <a:gd name="connsiteY25" fmla="*/ 4604 h 9997"/>
              <a:gd name="connsiteX26" fmla="*/ 4915 w 10000"/>
              <a:gd name="connsiteY26" fmla="*/ 4518 h 9997"/>
              <a:gd name="connsiteX27" fmla="*/ 5492 w 10000"/>
              <a:gd name="connsiteY27" fmla="*/ 4459 h 9997"/>
              <a:gd name="connsiteX28" fmla="*/ 6066 w 10000"/>
              <a:gd name="connsiteY28" fmla="*/ 4430 h 9997"/>
              <a:gd name="connsiteX29" fmla="*/ 6704 w 10000"/>
              <a:gd name="connsiteY29" fmla="*/ 4547 h 9997"/>
              <a:gd name="connsiteX30" fmla="*/ 7198 w 10000"/>
              <a:gd name="connsiteY30" fmla="*/ 4868 h 9997"/>
              <a:gd name="connsiteX31" fmla="*/ 7629 w 10000"/>
              <a:gd name="connsiteY31" fmla="*/ 5334 h 9997"/>
              <a:gd name="connsiteX32" fmla="*/ 8102 w 10000"/>
              <a:gd name="connsiteY32" fmla="*/ 5914 h 9997"/>
              <a:gd name="connsiteX33" fmla="*/ 8206 w 10000"/>
              <a:gd name="connsiteY33" fmla="*/ 6003 h 9997"/>
              <a:gd name="connsiteX34" fmla="*/ 8308 w 10000"/>
              <a:gd name="connsiteY34" fmla="*/ 6148 h 9997"/>
              <a:gd name="connsiteX35" fmla="*/ 8411 w 10000"/>
              <a:gd name="connsiteY35" fmla="*/ 6264 h 9997"/>
              <a:gd name="connsiteX36" fmla="*/ 8513 w 10000"/>
              <a:gd name="connsiteY36" fmla="*/ 6352 h 9997"/>
              <a:gd name="connsiteX37" fmla="*/ 8576 w 10000"/>
              <a:gd name="connsiteY37" fmla="*/ 6440 h 9997"/>
              <a:gd name="connsiteX38" fmla="*/ 8637 w 10000"/>
              <a:gd name="connsiteY38" fmla="*/ 6498 h 9997"/>
              <a:gd name="connsiteX39" fmla="*/ 8719 w 10000"/>
              <a:gd name="connsiteY39" fmla="*/ 6528 h 9997"/>
              <a:gd name="connsiteX40" fmla="*/ 8843 w 10000"/>
              <a:gd name="connsiteY40" fmla="*/ 6528 h 9997"/>
              <a:gd name="connsiteX41" fmla="*/ 9048 w 10000"/>
              <a:gd name="connsiteY41" fmla="*/ 6848 h 9997"/>
              <a:gd name="connsiteX42" fmla="*/ 9356 w 10000"/>
              <a:gd name="connsiteY42" fmla="*/ 6964 h 9997"/>
              <a:gd name="connsiteX43" fmla="*/ 9685 w 10000"/>
              <a:gd name="connsiteY43" fmla="*/ 6936 h 9997"/>
              <a:gd name="connsiteX44" fmla="*/ 9995 w 10000"/>
              <a:gd name="connsiteY44" fmla="*/ 7081 h 9997"/>
              <a:gd name="connsiteX45" fmla="*/ 9953 w 10000"/>
              <a:gd name="connsiteY45" fmla="*/ 7343 h 9997"/>
              <a:gd name="connsiteX46" fmla="*/ 9953 w 10000"/>
              <a:gd name="connsiteY46" fmla="*/ 7635 h 9997"/>
              <a:gd name="connsiteX47" fmla="*/ 9769 w 10000"/>
              <a:gd name="connsiteY47" fmla="*/ 7693 h 9997"/>
              <a:gd name="connsiteX48" fmla="*/ 9110 w 10000"/>
              <a:gd name="connsiteY48" fmla="*/ 7723 h 9997"/>
              <a:gd name="connsiteX49" fmla="*/ 8678 w 10000"/>
              <a:gd name="connsiteY49" fmla="*/ 7869 h 9997"/>
              <a:gd name="connsiteX50" fmla="*/ 8637 w 10000"/>
              <a:gd name="connsiteY50" fmla="*/ 8073 h 9997"/>
              <a:gd name="connsiteX51" fmla="*/ 8576 w 10000"/>
              <a:gd name="connsiteY51" fmla="*/ 8219 h 9997"/>
              <a:gd name="connsiteX52" fmla="*/ 8843 w 10000"/>
              <a:gd name="connsiteY52" fmla="*/ 8364 h 9997"/>
              <a:gd name="connsiteX53" fmla="*/ 9192 w 10000"/>
              <a:gd name="connsiteY53" fmla="*/ 8364 h 9997"/>
              <a:gd name="connsiteX54" fmla="*/ 9583 w 10000"/>
              <a:gd name="connsiteY54" fmla="*/ 8364 h 9997"/>
              <a:gd name="connsiteX55" fmla="*/ 9809 w 10000"/>
              <a:gd name="connsiteY55" fmla="*/ 8626 h 9997"/>
              <a:gd name="connsiteX56" fmla="*/ 9213 w 10000"/>
              <a:gd name="connsiteY56" fmla="*/ 9180 h 9997"/>
              <a:gd name="connsiteX57" fmla="*/ 8658 w 10000"/>
              <a:gd name="connsiteY57" fmla="*/ 9997 h 9997"/>
              <a:gd name="connsiteX58" fmla="*/ 9089 w 10000"/>
              <a:gd name="connsiteY58" fmla="*/ 9997 h 9997"/>
              <a:gd name="connsiteX0" fmla="*/ 3763 w 10000"/>
              <a:gd name="connsiteY0" fmla="*/ 0 h 10101"/>
              <a:gd name="connsiteX1" fmla="*/ 3352 w 10000"/>
              <a:gd name="connsiteY1" fmla="*/ 29 h 10101"/>
              <a:gd name="connsiteX2" fmla="*/ 2838 w 10000"/>
              <a:gd name="connsiteY2" fmla="*/ 57 h 10101"/>
              <a:gd name="connsiteX3" fmla="*/ 2324 w 10000"/>
              <a:gd name="connsiteY3" fmla="*/ 86 h 10101"/>
              <a:gd name="connsiteX4" fmla="*/ 1913 w 10000"/>
              <a:gd name="connsiteY4" fmla="*/ 29 h 10101"/>
              <a:gd name="connsiteX5" fmla="*/ 1749 w 10000"/>
              <a:gd name="connsiteY5" fmla="*/ 0 h 10101"/>
              <a:gd name="connsiteX6" fmla="*/ 1645 w 10000"/>
              <a:gd name="connsiteY6" fmla="*/ 29 h 10101"/>
              <a:gd name="connsiteX7" fmla="*/ 1521 w 10000"/>
              <a:gd name="connsiteY7" fmla="*/ 57 h 10101"/>
              <a:gd name="connsiteX8" fmla="*/ 1359 w 10000"/>
              <a:gd name="connsiteY8" fmla="*/ 57 h 10101"/>
              <a:gd name="connsiteX9" fmla="*/ 864 w 10000"/>
              <a:gd name="connsiteY9" fmla="*/ 117 h 10101"/>
              <a:gd name="connsiteX10" fmla="*/ 555 w 10000"/>
              <a:gd name="connsiteY10" fmla="*/ 319 h 10101"/>
              <a:gd name="connsiteX11" fmla="*/ 349 w 10000"/>
              <a:gd name="connsiteY11" fmla="*/ 728 h 10101"/>
              <a:gd name="connsiteX12" fmla="*/ 143 w 10000"/>
              <a:gd name="connsiteY12" fmla="*/ 1397 h 10101"/>
              <a:gd name="connsiteX13" fmla="*/ 0 w 10000"/>
              <a:gd name="connsiteY13" fmla="*/ 2362 h 10101"/>
              <a:gd name="connsiteX14" fmla="*/ 41 w 10000"/>
              <a:gd name="connsiteY14" fmla="*/ 3410 h 10101"/>
              <a:gd name="connsiteX15" fmla="*/ 288 w 10000"/>
              <a:gd name="connsiteY15" fmla="*/ 4286 h 10101"/>
              <a:gd name="connsiteX16" fmla="*/ 782 w 10000"/>
              <a:gd name="connsiteY16" fmla="*/ 4781 h 10101"/>
              <a:gd name="connsiteX17" fmla="*/ 1152 w 10000"/>
              <a:gd name="connsiteY17" fmla="*/ 4781 h 10101"/>
              <a:gd name="connsiteX18" fmla="*/ 1501 w 10000"/>
              <a:gd name="connsiteY18" fmla="*/ 4636 h 10101"/>
              <a:gd name="connsiteX19" fmla="*/ 1850 w 10000"/>
              <a:gd name="connsiteY19" fmla="*/ 4460 h 10101"/>
              <a:gd name="connsiteX20" fmla="*/ 2221 w 10000"/>
              <a:gd name="connsiteY20" fmla="*/ 4372 h 10101"/>
              <a:gd name="connsiteX21" fmla="*/ 2612 w 10000"/>
              <a:gd name="connsiteY21" fmla="*/ 4402 h 10101"/>
              <a:gd name="connsiteX22" fmla="*/ 3002 w 10000"/>
              <a:gd name="connsiteY22" fmla="*/ 4460 h 10101"/>
              <a:gd name="connsiteX23" fmla="*/ 3393 w 10000"/>
              <a:gd name="connsiteY23" fmla="*/ 4519 h 10101"/>
              <a:gd name="connsiteX24" fmla="*/ 3763 w 10000"/>
              <a:gd name="connsiteY24" fmla="*/ 4576 h 10101"/>
              <a:gd name="connsiteX25" fmla="*/ 4339 w 10000"/>
              <a:gd name="connsiteY25" fmla="*/ 4605 h 10101"/>
              <a:gd name="connsiteX26" fmla="*/ 4915 w 10000"/>
              <a:gd name="connsiteY26" fmla="*/ 4519 h 10101"/>
              <a:gd name="connsiteX27" fmla="*/ 5492 w 10000"/>
              <a:gd name="connsiteY27" fmla="*/ 4460 h 10101"/>
              <a:gd name="connsiteX28" fmla="*/ 6066 w 10000"/>
              <a:gd name="connsiteY28" fmla="*/ 4431 h 10101"/>
              <a:gd name="connsiteX29" fmla="*/ 6704 w 10000"/>
              <a:gd name="connsiteY29" fmla="*/ 4548 h 10101"/>
              <a:gd name="connsiteX30" fmla="*/ 7198 w 10000"/>
              <a:gd name="connsiteY30" fmla="*/ 4869 h 10101"/>
              <a:gd name="connsiteX31" fmla="*/ 7629 w 10000"/>
              <a:gd name="connsiteY31" fmla="*/ 5336 h 10101"/>
              <a:gd name="connsiteX32" fmla="*/ 8102 w 10000"/>
              <a:gd name="connsiteY32" fmla="*/ 5916 h 10101"/>
              <a:gd name="connsiteX33" fmla="*/ 8206 w 10000"/>
              <a:gd name="connsiteY33" fmla="*/ 6005 h 10101"/>
              <a:gd name="connsiteX34" fmla="*/ 8308 w 10000"/>
              <a:gd name="connsiteY34" fmla="*/ 6150 h 10101"/>
              <a:gd name="connsiteX35" fmla="*/ 8411 w 10000"/>
              <a:gd name="connsiteY35" fmla="*/ 6266 h 10101"/>
              <a:gd name="connsiteX36" fmla="*/ 8513 w 10000"/>
              <a:gd name="connsiteY36" fmla="*/ 6354 h 10101"/>
              <a:gd name="connsiteX37" fmla="*/ 8576 w 10000"/>
              <a:gd name="connsiteY37" fmla="*/ 6442 h 10101"/>
              <a:gd name="connsiteX38" fmla="*/ 8637 w 10000"/>
              <a:gd name="connsiteY38" fmla="*/ 6500 h 10101"/>
              <a:gd name="connsiteX39" fmla="*/ 8719 w 10000"/>
              <a:gd name="connsiteY39" fmla="*/ 6530 h 10101"/>
              <a:gd name="connsiteX40" fmla="*/ 8843 w 10000"/>
              <a:gd name="connsiteY40" fmla="*/ 6530 h 10101"/>
              <a:gd name="connsiteX41" fmla="*/ 9048 w 10000"/>
              <a:gd name="connsiteY41" fmla="*/ 6850 h 10101"/>
              <a:gd name="connsiteX42" fmla="*/ 9356 w 10000"/>
              <a:gd name="connsiteY42" fmla="*/ 6966 h 10101"/>
              <a:gd name="connsiteX43" fmla="*/ 9685 w 10000"/>
              <a:gd name="connsiteY43" fmla="*/ 6938 h 10101"/>
              <a:gd name="connsiteX44" fmla="*/ 9995 w 10000"/>
              <a:gd name="connsiteY44" fmla="*/ 7083 h 10101"/>
              <a:gd name="connsiteX45" fmla="*/ 9953 w 10000"/>
              <a:gd name="connsiteY45" fmla="*/ 7345 h 10101"/>
              <a:gd name="connsiteX46" fmla="*/ 9953 w 10000"/>
              <a:gd name="connsiteY46" fmla="*/ 7637 h 10101"/>
              <a:gd name="connsiteX47" fmla="*/ 9769 w 10000"/>
              <a:gd name="connsiteY47" fmla="*/ 7695 h 10101"/>
              <a:gd name="connsiteX48" fmla="*/ 9110 w 10000"/>
              <a:gd name="connsiteY48" fmla="*/ 7725 h 10101"/>
              <a:gd name="connsiteX49" fmla="*/ 8678 w 10000"/>
              <a:gd name="connsiteY49" fmla="*/ 7871 h 10101"/>
              <a:gd name="connsiteX50" fmla="*/ 8637 w 10000"/>
              <a:gd name="connsiteY50" fmla="*/ 8075 h 10101"/>
              <a:gd name="connsiteX51" fmla="*/ 8576 w 10000"/>
              <a:gd name="connsiteY51" fmla="*/ 8221 h 10101"/>
              <a:gd name="connsiteX52" fmla="*/ 8843 w 10000"/>
              <a:gd name="connsiteY52" fmla="*/ 8367 h 10101"/>
              <a:gd name="connsiteX53" fmla="*/ 9192 w 10000"/>
              <a:gd name="connsiteY53" fmla="*/ 8367 h 10101"/>
              <a:gd name="connsiteX54" fmla="*/ 9583 w 10000"/>
              <a:gd name="connsiteY54" fmla="*/ 8367 h 10101"/>
              <a:gd name="connsiteX55" fmla="*/ 9809 w 10000"/>
              <a:gd name="connsiteY55" fmla="*/ 8629 h 10101"/>
              <a:gd name="connsiteX56" fmla="*/ 8658 w 10000"/>
              <a:gd name="connsiteY56" fmla="*/ 10000 h 10101"/>
              <a:gd name="connsiteX57" fmla="*/ 9089 w 10000"/>
              <a:gd name="connsiteY57" fmla="*/ 10000 h 10101"/>
              <a:gd name="connsiteX0" fmla="*/ 3763 w 10000"/>
              <a:gd name="connsiteY0" fmla="*/ 0 h 10000"/>
              <a:gd name="connsiteX1" fmla="*/ 3352 w 10000"/>
              <a:gd name="connsiteY1" fmla="*/ 29 h 10000"/>
              <a:gd name="connsiteX2" fmla="*/ 2838 w 10000"/>
              <a:gd name="connsiteY2" fmla="*/ 57 h 10000"/>
              <a:gd name="connsiteX3" fmla="*/ 2324 w 10000"/>
              <a:gd name="connsiteY3" fmla="*/ 86 h 10000"/>
              <a:gd name="connsiteX4" fmla="*/ 1913 w 10000"/>
              <a:gd name="connsiteY4" fmla="*/ 29 h 10000"/>
              <a:gd name="connsiteX5" fmla="*/ 1749 w 10000"/>
              <a:gd name="connsiteY5" fmla="*/ 0 h 10000"/>
              <a:gd name="connsiteX6" fmla="*/ 1645 w 10000"/>
              <a:gd name="connsiteY6" fmla="*/ 29 h 10000"/>
              <a:gd name="connsiteX7" fmla="*/ 1521 w 10000"/>
              <a:gd name="connsiteY7" fmla="*/ 57 h 10000"/>
              <a:gd name="connsiteX8" fmla="*/ 1359 w 10000"/>
              <a:gd name="connsiteY8" fmla="*/ 57 h 10000"/>
              <a:gd name="connsiteX9" fmla="*/ 864 w 10000"/>
              <a:gd name="connsiteY9" fmla="*/ 117 h 10000"/>
              <a:gd name="connsiteX10" fmla="*/ 555 w 10000"/>
              <a:gd name="connsiteY10" fmla="*/ 319 h 10000"/>
              <a:gd name="connsiteX11" fmla="*/ 349 w 10000"/>
              <a:gd name="connsiteY11" fmla="*/ 728 h 10000"/>
              <a:gd name="connsiteX12" fmla="*/ 143 w 10000"/>
              <a:gd name="connsiteY12" fmla="*/ 1397 h 10000"/>
              <a:gd name="connsiteX13" fmla="*/ 0 w 10000"/>
              <a:gd name="connsiteY13" fmla="*/ 2362 h 10000"/>
              <a:gd name="connsiteX14" fmla="*/ 41 w 10000"/>
              <a:gd name="connsiteY14" fmla="*/ 3410 h 10000"/>
              <a:gd name="connsiteX15" fmla="*/ 288 w 10000"/>
              <a:gd name="connsiteY15" fmla="*/ 4286 h 10000"/>
              <a:gd name="connsiteX16" fmla="*/ 782 w 10000"/>
              <a:gd name="connsiteY16" fmla="*/ 4781 h 10000"/>
              <a:gd name="connsiteX17" fmla="*/ 1152 w 10000"/>
              <a:gd name="connsiteY17" fmla="*/ 4781 h 10000"/>
              <a:gd name="connsiteX18" fmla="*/ 1501 w 10000"/>
              <a:gd name="connsiteY18" fmla="*/ 4636 h 10000"/>
              <a:gd name="connsiteX19" fmla="*/ 1850 w 10000"/>
              <a:gd name="connsiteY19" fmla="*/ 4460 h 10000"/>
              <a:gd name="connsiteX20" fmla="*/ 2221 w 10000"/>
              <a:gd name="connsiteY20" fmla="*/ 4372 h 10000"/>
              <a:gd name="connsiteX21" fmla="*/ 2612 w 10000"/>
              <a:gd name="connsiteY21" fmla="*/ 4402 h 10000"/>
              <a:gd name="connsiteX22" fmla="*/ 3002 w 10000"/>
              <a:gd name="connsiteY22" fmla="*/ 4460 h 10000"/>
              <a:gd name="connsiteX23" fmla="*/ 3393 w 10000"/>
              <a:gd name="connsiteY23" fmla="*/ 4519 h 10000"/>
              <a:gd name="connsiteX24" fmla="*/ 3763 w 10000"/>
              <a:gd name="connsiteY24" fmla="*/ 4576 h 10000"/>
              <a:gd name="connsiteX25" fmla="*/ 4339 w 10000"/>
              <a:gd name="connsiteY25" fmla="*/ 4605 h 10000"/>
              <a:gd name="connsiteX26" fmla="*/ 4915 w 10000"/>
              <a:gd name="connsiteY26" fmla="*/ 4519 h 10000"/>
              <a:gd name="connsiteX27" fmla="*/ 5492 w 10000"/>
              <a:gd name="connsiteY27" fmla="*/ 4460 h 10000"/>
              <a:gd name="connsiteX28" fmla="*/ 6066 w 10000"/>
              <a:gd name="connsiteY28" fmla="*/ 4431 h 10000"/>
              <a:gd name="connsiteX29" fmla="*/ 6704 w 10000"/>
              <a:gd name="connsiteY29" fmla="*/ 4548 h 10000"/>
              <a:gd name="connsiteX30" fmla="*/ 7198 w 10000"/>
              <a:gd name="connsiteY30" fmla="*/ 4869 h 10000"/>
              <a:gd name="connsiteX31" fmla="*/ 7629 w 10000"/>
              <a:gd name="connsiteY31" fmla="*/ 5336 h 10000"/>
              <a:gd name="connsiteX32" fmla="*/ 8102 w 10000"/>
              <a:gd name="connsiteY32" fmla="*/ 5916 h 10000"/>
              <a:gd name="connsiteX33" fmla="*/ 8206 w 10000"/>
              <a:gd name="connsiteY33" fmla="*/ 6005 h 10000"/>
              <a:gd name="connsiteX34" fmla="*/ 8308 w 10000"/>
              <a:gd name="connsiteY34" fmla="*/ 6150 h 10000"/>
              <a:gd name="connsiteX35" fmla="*/ 8411 w 10000"/>
              <a:gd name="connsiteY35" fmla="*/ 6266 h 10000"/>
              <a:gd name="connsiteX36" fmla="*/ 8513 w 10000"/>
              <a:gd name="connsiteY36" fmla="*/ 6354 h 10000"/>
              <a:gd name="connsiteX37" fmla="*/ 8576 w 10000"/>
              <a:gd name="connsiteY37" fmla="*/ 6442 h 10000"/>
              <a:gd name="connsiteX38" fmla="*/ 8637 w 10000"/>
              <a:gd name="connsiteY38" fmla="*/ 6500 h 10000"/>
              <a:gd name="connsiteX39" fmla="*/ 8719 w 10000"/>
              <a:gd name="connsiteY39" fmla="*/ 6530 h 10000"/>
              <a:gd name="connsiteX40" fmla="*/ 8843 w 10000"/>
              <a:gd name="connsiteY40" fmla="*/ 6530 h 10000"/>
              <a:gd name="connsiteX41" fmla="*/ 9048 w 10000"/>
              <a:gd name="connsiteY41" fmla="*/ 6850 h 10000"/>
              <a:gd name="connsiteX42" fmla="*/ 9356 w 10000"/>
              <a:gd name="connsiteY42" fmla="*/ 6966 h 10000"/>
              <a:gd name="connsiteX43" fmla="*/ 9685 w 10000"/>
              <a:gd name="connsiteY43" fmla="*/ 6938 h 10000"/>
              <a:gd name="connsiteX44" fmla="*/ 9995 w 10000"/>
              <a:gd name="connsiteY44" fmla="*/ 7083 h 10000"/>
              <a:gd name="connsiteX45" fmla="*/ 9953 w 10000"/>
              <a:gd name="connsiteY45" fmla="*/ 7345 h 10000"/>
              <a:gd name="connsiteX46" fmla="*/ 9953 w 10000"/>
              <a:gd name="connsiteY46" fmla="*/ 7637 h 10000"/>
              <a:gd name="connsiteX47" fmla="*/ 9769 w 10000"/>
              <a:gd name="connsiteY47" fmla="*/ 7695 h 10000"/>
              <a:gd name="connsiteX48" fmla="*/ 9110 w 10000"/>
              <a:gd name="connsiteY48" fmla="*/ 7725 h 10000"/>
              <a:gd name="connsiteX49" fmla="*/ 8678 w 10000"/>
              <a:gd name="connsiteY49" fmla="*/ 7871 h 10000"/>
              <a:gd name="connsiteX50" fmla="*/ 8637 w 10000"/>
              <a:gd name="connsiteY50" fmla="*/ 8075 h 10000"/>
              <a:gd name="connsiteX51" fmla="*/ 8576 w 10000"/>
              <a:gd name="connsiteY51" fmla="*/ 8221 h 10000"/>
              <a:gd name="connsiteX52" fmla="*/ 8843 w 10000"/>
              <a:gd name="connsiteY52" fmla="*/ 8367 h 10000"/>
              <a:gd name="connsiteX53" fmla="*/ 9192 w 10000"/>
              <a:gd name="connsiteY53" fmla="*/ 8367 h 10000"/>
              <a:gd name="connsiteX54" fmla="*/ 9583 w 10000"/>
              <a:gd name="connsiteY54" fmla="*/ 8367 h 10000"/>
              <a:gd name="connsiteX55" fmla="*/ 9809 w 10000"/>
              <a:gd name="connsiteY55" fmla="*/ 8629 h 10000"/>
              <a:gd name="connsiteX56" fmla="*/ 8658 w 10000"/>
              <a:gd name="connsiteY56" fmla="*/ 10000 h 10000"/>
              <a:gd name="connsiteX0" fmla="*/ 3763 w 10000"/>
              <a:gd name="connsiteY0" fmla="*/ 0 h 8629"/>
              <a:gd name="connsiteX1" fmla="*/ 3352 w 10000"/>
              <a:gd name="connsiteY1" fmla="*/ 29 h 8629"/>
              <a:gd name="connsiteX2" fmla="*/ 2838 w 10000"/>
              <a:gd name="connsiteY2" fmla="*/ 57 h 8629"/>
              <a:gd name="connsiteX3" fmla="*/ 2324 w 10000"/>
              <a:gd name="connsiteY3" fmla="*/ 86 h 8629"/>
              <a:gd name="connsiteX4" fmla="*/ 1913 w 10000"/>
              <a:gd name="connsiteY4" fmla="*/ 29 h 8629"/>
              <a:gd name="connsiteX5" fmla="*/ 1749 w 10000"/>
              <a:gd name="connsiteY5" fmla="*/ 0 h 8629"/>
              <a:gd name="connsiteX6" fmla="*/ 1645 w 10000"/>
              <a:gd name="connsiteY6" fmla="*/ 29 h 8629"/>
              <a:gd name="connsiteX7" fmla="*/ 1521 w 10000"/>
              <a:gd name="connsiteY7" fmla="*/ 57 h 8629"/>
              <a:gd name="connsiteX8" fmla="*/ 1359 w 10000"/>
              <a:gd name="connsiteY8" fmla="*/ 57 h 8629"/>
              <a:gd name="connsiteX9" fmla="*/ 864 w 10000"/>
              <a:gd name="connsiteY9" fmla="*/ 117 h 8629"/>
              <a:gd name="connsiteX10" fmla="*/ 555 w 10000"/>
              <a:gd name="connsiteY10" fmla="*/ 319 h 8629"/>
              <a:gd name="connsiteX11" fmla="*/ 349 w 10000"/>
              <a:gd name="connsiteY11" fmla="*/ 728 h 8629"/>
              <a:gd name="connsiteX12" fmla="*/ 143 w 10000"/>
              <a:gd name="connsiteY12" fmla="*/ 1397 h 8629"/>
              <a:gd name="connsiteX13" fmla="*/ 0 w 10000"/>
              <a:gd name="connsiteY13" fmla="*/ 2362 h 8629"/>
              <a:gd name="connsiteX14" fmla="*/ 41 w 10000"/>
              <a:gd name="connsiteY14" fmla="*/ 3410 h 8629"/>
              <a:gd name="connsiteX15" fmla="*/ 288 w 10000"/>
              <a:gd name="connsiteY15" fmla="*/ 4286 h 8629"/>
              <a:gd name="connsiteX16" fmla="*/ 782 w 10000"/>
              <a:gd name="connsiteY16" fmla="*/ 4781 h 8629"/>
              <a:gd name="connsiteX17" fmla="*/ 1152 w 10000"/>
              <a:gd name="connsiteY17" fmla="*/ 4781 h 8629"/>
              <a:gd name="connsiteX18" fmla="*/ 1501 w 10000"/>
              <a:gd name="connsiteY18" fmla="*/ 4636 h 8629"/>
              <a:gd name="connsiteX19" fmla="*/ 1850 w 10000"/>
              <a:gd name="connsiteY19" fmla="*/ 4460 h 8629"/>
              <a:gd name="connsiteX20" fmla="*/ 2221 w 10000"/>
              <a:gd name="connsiteY20" fmla="*/ 4372 h 8629"/>
              <a:gd name="connsiteX21" fmla="*/ 2612 w 10000"/>
              <a:gd name="connsiteY21" fmla="*/ 4402 h 8629"/>
              <a:gd name="connsiteX22" fmla="*/ 3002 w 10000"/>
              <a:gd name="connsiteY22" fmla="*/ 4460 h 8629"/>
              <a:gd name="connsiteX23" fmla="*/ 3393 w 10000"/>
              <a:gd name="connsiteY23" fmla="*/ 4519 h 8629"/>
              <a:gd name="connsiteX24" fmla="*/ 3763 w 10000"/>
              <a:gd name="connsiteY24" fmla="*/ 4576 h 8629"/>
              <a:gd name="connsiteX25" fmla="*/ 4339 w 10000"/>
              <a:gd name="connsiteY25" fmla="*/ 4605 h 8629"/>
              <a:gd name="connsiteX26" fmla="*/ 4915 w 10000"/>
              <a:gd name="connsiteY26" fmla="*/ 4519 h 8629"/>
              <a:gd name="connsiteX27" fmla="*/ 5492 w 10000"/>
              <a:gd name="connsiteY27" fmla="*/ 4460 h 8629"/>
              <a:gd name="connsiteX28" fmla="*/ 6066 w 10000"/>
              <a:gd name="connsiteY28" fmla="*/ 4431 h 8629"/>
              <a:gd name="connsiteX29" fmla="*/ 6704 w 10000"/>
              <a:gd name="connsiteY29" fmla="*/ 4548 h 8629"/>
              <a:gd name="connsiteX30" fmla="*/ 7198 w 10000"/>
              <a:gd name="connsiteY30" fmla="*/ 4869 h 8629"/>
              <a:gd name="connsiteX31" fmla="*/ 7629 w 10000"/>
              <a:gd name="connsiteY31" fmla="*/ 5336 h 8629"/>
              <a:gd name="connsiteX32" fmla="*/ 8102 w 10000"/>
              <a:gd name="connsiteY32" fmla="*/ 5916 h 8629"/>
              <a:gd name="connsiteX33" fmla="*/ 8206 w 10000"/>
              <a:gd name="connsiteY33" fmla="*/ 6005 h 8629"/>
              <a:gd name="connsiteX34" fmla="*/ 8308 w 10000"/>
              <a:gd name="connsiteY34" fmla="*/ 6150 h 8629"/>
              <a:gd name="connsiteX35" fmla="*/ 8411 w 10000"/>
              <a:gd name="connsiteY35" fmla="*/ 6266 h 8629"/>
              <a:gd name="connsiteX36" fmla="*/ 8513 w 10000"/>
              <a:gd name="connsiteY36" fmla="*/ 6354 h 8629"/>
              <a:gd name="connsiteX37" fmla="*/ 8576 w 10000"/>
              <a:gd name="connsiteY37" fmla="*/ 6442 h 8629"/>
              <a:gd name="connsiteX38" fmla="*/ 8637 w 10000"/>
              <a:gd name="connsiteY38" fmla="*/ 6500 h 8629"/>
              <a:gd name="connsiteX39" fmla="*/ 8719 w 10000"/>
              <a:gd name="connsiteY39" fmla="*/ 6530 h 8629"/>
              <a:gd name="connsiteX40" fmla="*/ 8843 w 10000"/>
              <a:gd name="connsiteY40" fmla="*/ 6530 h 8629"/>
              <a:gd name="connsiteX41" fmla="*/ 9048 w 10000"/>
              <a:gd name="connsiteY41" fmla="*/ 6850 h 8629"/>
              <a:gd name="connsiteX42" fmla="*/ 9356 w 10000"/>
              <a:gd name="connsiteY42" fmla="*/ 6966 h 8629"/>
              <a:gd name="connsiteX43" fmla="*/ 9685 w 10000"/>
              <a:gd name="connsiteY43" fmla="*/ 6938 h 8629"/>
              <a:gd name="connsiteX44" fmla="*/ 9995 w 10000"/>
              <a:gd name="connsiteY44" fmla="*/ 7083 h 8629"/>
              <a:gd name="connsiteX45" fmla="*/ 9953 w 10000"/>
              <a:gd name="connsiteY45" fmla="*/ 7345 h 8629"/>
              <a:gd name="connsiteX46" fmla="*/ 9953 w 10000"/>
              <a:gd name="connsiteY46" fmla="*/ 7637 h 8629"/>
              <a:gd name="connsiteX47" fmla="*/ 9769 w 10000"/>
              <a:gd name="connsiteY47" fmla="*/ 7695 h 8629"/>
              <a:gd name="connsiteX48" fmla="*/ 9110 w 10000"/>
              <a:gd name="connsiteY48" fmla="*/ 7725 h 8629"/>
              <a:gd name="connsiteX49" fmla="*/ 8678 w 10000"/>
              <a:gd name="connsiteY49" fmla="*/ 7871 h 8629"/>
              <a:gd name="connsiteX50" fmla="*/ 8637 w 10000"/>
              <a:gd name="connsiteY50" fmla="*/ 8075 h 8629"/>
              <a:gd name="connsiteX51" fmla="*/ 8576 w 10000"/>
              <a:gd name="connsiteY51" fmla="*/ 8221 h 8629"/>
              <a:gd name="connsiteX52" fmla="*/ 8843 w 10000"/>
              <a:gd name="connsiteY52" fmla="*/ 8367 h 8629"/>
              <a:gd name="connsiteX53" fmla="*/ 9192 w 10000"/>
              <a:gd name="connsiteY53" fmla="*/ 8367 h 8629"/>
              <a:gd name="connsiteX54" fmla="*/ 9583 w 10000"/>
              <a:gd name="connsiteY54" fmla="*/ 8367 h 8629"/>
              <a:gd name="connsiteX55" fmla="*/ 9809 w 10000"/>
              <a:gd name="connsiteY55" fmla="*/ 8629 h 8629"/>
              <a:gd name="connsiteX0" fmla="*/ 3763 w 10000"/>
              <a:gd name="connsiteY0" fmla="*/ 0 h 9696"/>
              <a:gd name="connsiteX1" fmla="*/ 3352 w 10000"/>
              <a:gd name="connsiteY1" fmla="*/ 34 h 9696"/>
              <a:gd name="connsiteX2" fmla="*/ 2838 w 10000"/>
              <a:gd name="connsiteY2" fmla="*/ 66 h 9696"/>
              <a:gd name="connsiteX3" fmla="*/ 2324 w 10000"/>
              <a:gd name="connsiteY3" fmla="*/ 100 h 9696"/>
              <a:gd name="connsiteX4" fmla="*/ 1913 w 10000"/>
              <a:gd name="connsiteY4" fmla="*/ 34 h 9696"/>
              <a:gd name="connsiteX5" fmla="*/ 1749 w 10000"/>
              <a:gd name="connsiteY5" fmla="*/ 0 h 9696"/>
              <a:gd name="connsiteX6" fmla="*/ 1645 w 10000"/>
              <a:gd name="connsiteY6" fmla="*/ 34 h 9696"/>
              <a:gd name="connsiteX7" fmla="*/ 1521 w 10000"/>
              <a:gd name="connsiteY7" fmla="*/ 66 h 9696"/>
              <a:gd name="connsiteX8" fmla="*/ 1359 w 10000"/>
              <a:gd name="connsiteY8" fmla="*/ 66 h 9696"/>
              <a:gd name="connsiteX9" fmla="*/ 864 w 10000"/>
              <a:gd name="connsiteY9" fmla="*/ 136 h 9696"/>
              <a:gd name="connsiteX10" fmla="*/ 555 w 10000"/>
              <a:gd name="connsiteY10" fmla="*/ 370 h 9696"/>
              <a:gd name="connsiteX11" fmla="*/ 349 w 10000"/>
              <a:gd name="connsiteY11" fmla="*/ 844 h 9696"/>
              <a:gd name="connsiteX12" fmla="*/ 143 w 10000"/>
              <a:gd name="connsiteY12" fmla="*/ 1619 h 9696"/>
              <a:gd name="connsiteX13" fmla="*/ 0 w 10000"/>
              <a:gd name="connsiteY13" fmla="*/ 2737 h 9696"/>
              <a:gd name="connsiteX14" fmla="*/ 41 w 10000"/>
              <a:gd name="connsiteY14" fmla="*/ 3952 h 9696"/>
              <a:gd name="connsiteX15" fmla="*/ 288 w 10000"/>
              <a:gd name="connsiteY15" fmla="*/ 4967 h 9696"/>
              <a:gd name="connsiteX16" fmla="*/ 782 w 10000"/>
              <a:gd name="connsiteY16" fmla="*/ 5541 h 9696"/>
              <a:gd name="connsiteX17" fmla="*/ 1152 w 10000"/>
              <a:gd name="connsiteY17" fmla="*/ 5541 h 9696"/>
              <a:gd name="connsiteX18" fmla="*/ 1501 w 10000"/>
              <a:gd name="connsiteY18" fmla="*/ 5373 h 9696"/>
              <a:gd name="connsiteX19" fmla="*/ 1850 w 10000"/>
              <a:gd name="connsiteY19" fmla="*/ 5169 h 9696"/>
              <a:gd name="connsiteX20" fmla="*/ 2221 w 10000"/>
              <a:gd name="connsiteY20" fmla="*/ 5067 h 9696"/>
              <a:gd name="connsiteX21" fmla="*/ 2612 w 10000"/>
              <a:gd name="connsiteY21" fmla="*/ 5101 h 9696"/>
              <a:gd name="connsiteX22" fmla="*/ 3002 w 10000"/>
              <a:gd name="connsiteY22" fmla="*/ 5169 h 9696"/>
              <a:gd name="connsiteX23" fmla="*/ 3393 w 10000"/>
              <a:gd name="connsiteY23" fmla="*/ 5237 h 9696"/>
              <a:gd name="connsiteX24" fmla="*/ 3763 w 10000"/>
              <a:gd name="connsiteY24" fmla="*/ 5303 h 9696"/>
              <a:gd name="connsiteX25" fmla="*/ 4339 w 10000"/>
              <a:gd name="connsiteY25" fmla="*/ 5337 h 9696"/>
              <a:gd name="connsiteX26" fmla="*/ 4915 w 10000"/>
              <a:gd name="connsiteY26" fmla="*/ 5237 h 9696"/>
              <a:gd name="connsiteX27" fmla="*/ 5492 w 10000"/>
              <a:gd name="connsiteY27" fmla="*/ 5169 h 9696"/>
              <a:gd name="connsiteX28" fmla="*/ 6066 w 10000"/>
              <a:gd name="connsiteY28" fmla="*/ 5135 h 9696"/>
              <a:gd name="connsiteX29" fmla="*/ 6704 w 10000"/>
              <a:gd name="connsiteY29" fmla="*/ 5271 h 9696"/>
              <a:gd name="connsiteX30" fmla="*/ 7198 w 10000"/>
              <a:gd name="connsiteY30" fmla="*/ 5643 h 9696"/>
              <a:gd name="connsiteX31" fmla="*/ 7629 w 10000"/>
              <a:gd name="connsiteY31" fmla="*/ 6184 h 9696"/>
              <a:gd name="connsiteX32" fmla="*/ 8102 w 10000"/>
              <a:gd name="connsiteY32" fmla="*/ 6856 h 9696"/>
              <a:gd name="connsiteX33" fmla="*/ 8206 w 10000"/>
              <a:gd name="connsiteY33" fmla="*/ 6959 h 9696"/>
              <a:gd name="connsiteX34" fmla="*/ 8308 w 10000"/>
              <a:gd name="connsiteY34" fmla="*/ 7127 h 9696"/>
              <a:gd name="connsiteX35" fmla="*/ 8411 w 10000"/>
              <a:gd name="connsiteY35" fmla="*/ 7262 h 9696"/>
              <a:gd name="connsiteX36" fmla="*/ 8513 w 10000"/>
              <a:gd name="connsiteY36" fmla="*/ 7364 h 9696"/>
              <a:gd name="connsiteX37" fmla="*/ 8576 w 10000"/>
              <a:gd name="connsiteY37" fmla="*/ 7466 h 9696"/>
              <a:gd name="connsiteX38" fmla="*/ 8637 w 10000"/>
              <a:gd name="connsiteY38" fmla="*/ 7533 h 9696"/>
              <a:gd name="connsiteX39" fmla="*/ 8719 w 10000"/>
              <a:gd name="connsiteY39" fmla="*/ 7568 h 9696"/>
              <a:gd name="connsiteX40" fmla="*/ 8843 w 10000"/>
              <a:gd name="connsiteY40" fmla="*/ 7568 h 9696"/>
              <a:gd name="connsiteX41" fmla="*/ 9048 w 10000"/>
              <a:gd name="connsiteY41" fmla="*/ 7938 h 9696"/>
              <a:gd name="connsiteX42" fmla="*/ 9356 w 10000"/>
              <a:gd name="connsiteY42" fmla="*/ 8073 h 9696"/>
              <a:gd name="connsiteX43" fmla="*/ 9685 w 10000"/>
              <a:gd name="connsiteY43" fmla="*/ 8040 h 9696"/>
              <a:gd name="connsiteX44" fmla="*/ 9995 w 10000"/>
              <a:gd name="connsiteY44" fmla="*/ 8208 h 9696"/>
              <a:gd name="connsiteX45" fmla="*/ 9953 w 10000"/>
              <a:gd name="connsiteY45" fmla="*/ 8512 h 9696"/>
              <a:gd name="connsiteX46" fmla="*/ 9953 w 10000"/>
              <a:gd name="connsiteY46" fmla="*/ 8850 h 9696"/>
              <a:gd name="connsiteX47" fmla="*/ 9769 w 10000"/>
              <a:gd name="connsiteY47" fmla="*/ 8918 h 9696"/>
              <a:gd name="connsiteX48" fmla="*/ 9110 w 10000"/>
              <a:gd name="connsiteY48" fmla="*/ 8952 h 9696"/>
              <a:gd name="connsiteX49" fmla="*/ 8678 w 10000"/>
              <a:gd name="connsiteY49" fmla="*/ 9122 h 9696"/>
              <a:gd name="connsiteX50" fmla="*/ 8637 w 10000"/>
              <a:gd name="connsiteY50" fmla="*/ 9358 h 9696"/>
              <a:gd name="connsiteX51" fmla="*/ 8576 w 10000"/>
              <a:gd name="connsiteY51" fmla="*/ 9527 h 9696"/>
              <a:gd name="connsiteX52" fmla="*/ 8843 w 10000"/>
              <a:gd name="connsiteY52" fmla="*/ 9696 h 9696"/>
              <a:gd name="connsiteX53" fmla="*/ 9192 w 10000"/>
              <a:gd name="connsiteY53" fmla="*/ 9696 h 9696"/>
              <a:gd name="connsiteX54" fmla="*/ 9583 w 10000"/>
              <a:gd name="connsiteY54" fmla="*/ 9696 h 9696"/>
              <a:gd name="connsiteX0" fmla="*/ 3763 w 10000"/>
              <a:gd name="connsiteY0" fmla="*/ 0 h 10000"/>
              <a:gd name="connsiteX1" fmla="*/ 3352 w 10000"/>
              <a:gd name="connsiteY1" fmla="*/ 35 h 10000"/>
              <a:gd name="connsiteX2" fmla="*/ 2838 w 10000"/>
              <a:gd name="connsiteY2" fmla="*/ 68 h 10000"/>
              <a:gd name="connsiteX3" fmla="*/ 2324 w 10000"/>
              <a:gd name="connsiteY3" fmla="*/ 103 h 10000"/>
              <a:gd name="connsiteX4" fmla="*/ 1913 w 10000"/>
              <a:gd name="connsiteY4" fmla="*/ 35 h 10000"/>
              <a:gd name="connsiteX5" fmla="*/ 1749 w 10000"/>
              <a:gd name="connsiteY5" fmla="*/ 0 h 10000"/>
              <a:gd name="connsiteX6" fmla="*/ 1645 w 10000"/>
              <a:gd name="connsiteY6" fmla="*/ 35 h 10000"/>
              <a:gd name="connsiteX7" fmla="*/ 1521 w 10000"/>
              <a:gd name="connsiteY7" fmla="*/ 68 h 10000"/>
              <a:gd name="connsiteX8" fmla="*/ 1359 w 10000"/>
              <a:gd name="connsiteY8" fmla="*/ 68 h 10000"/>
              <a:gd name="connsiteX9" fmla="*/ 864 w 10000"/>
              <a:gd name="connsiteY9" fmla="*/ 140 h 10000"/>
              <a:gd name="connsiteX10" fmla="*/ 555 w 10000"/>
              <a:gd name="connsiteY10" fmla="*/ 382 h 10000"/>
              <a:gd name="connsiteX11" fmla="*/ 349 w 10000"/>
              <a:gd name="connsiteY11" fmla="*/ 870 h 10000"/>
              <a:gd name="connsiteX12" fmla="*/ 143 w 10000"/>
              <a:gd name="connsiteY12" fmla="*/ 1670 h 10000"/>
              <a:gd name="connsiteX13" fmla="*/ 0 w 10000"/>
              <a:gd name="connsiteY13" fmla="*/ 2823 h 10000"/>
              <a:gd name="connsiteX14" fmla="*/ 41 w 10000"/>
              <a:gd name="connsiteY14" fmla="*/ 4076 h 10000"/>
              <a:gd name="connsiteX15" fmla="*/ 288 w 10000"/>
              <a:gd name="connsiteY15" fmla="*/ 5123 h 10000"/>
              <a:gd name="connsiteX16" fmla="*/ 782 w 10000"/>
              <a:gd name="connsiteY16" fmla="*/ 5715 h 10000"/>
              <a:gd name="connsiteX17" fmla="*/ 1152 w 10000"/>
              <a:gd name="connsiteY17" fmla="*/ 5715 h 10000"/>
              <a:gd name="connsiteX18" fmla="*/ 1501 w 10000"/>
              <a:gd name="connsiteY18" fmla="*/ 5541 h 10000"/>
              <a:gd name="connsiteX19" fmla="*/ 1850 w 10000"/>
              <a:gd name="connsiteY19" fmla="*/ 5331 h 10000"/>
              <a:gd name="connsiteX20" fmla="*/ 2221 w 10000"/>
              <a:gd name="connsiteY20" fmla="*/ 5226 h 10000"/>
              <a:gd name="connsiteX21" fmla="*/ 2612 w 10000"/>
              <a:gd name="connsiteY21" fmla="*/ 5261 h 10000"/>
              <a:gd name="connsiteX22" fmla="*/ 3002 w 10000"/>
              <a:gd name="connsiteY22" fmla="*/ 5331 h 10000"/>
              <a:gd name="connsiteX23" fmla="*/ 3393 w 10000"/>
              <a:gd name="connsiteY23" fmla="*/ 5401 h 10000"/>
              <a:gd name="connsiteX24" fmla="*/ 3763 w 10000"/>
              <a:gd name="connsiteY24" fmla="*/ 5469 h 10000"/>
              <a:gd name="connsiteX25" fmla="*/ 4339 w 10000"/>
              <a:gd name="connsiteY25" fmla="*/ 5504 h 10000"/>
              <a:gd name="connsiteX26" fmla="*/ 4915 w 10000"/>
              <a:gd name="connsiteY26" fmla="*/ 5401 h 10000"/>
              <a:gd name="connsiteX27" fmla="*/ 5492 w 10000"/>
              <a:gd name="connsiteY27" fmla="*/ 5331 h 10000"/>
              <a:gd name="connsiteX28" fmla="*/ 6066 w 10000"/>
              <a:gd name="connsiteY28" fmla="*/ 5296 h 10000"/>
              <a:gd name="connsiteX29" fmla="*/ 6704 w 10000"/>
              <a:gd name="connsiteY29" fmla="*/ 5436 h 10000"/>
              <a:gd name="connsiteX30" fmla="*/ 7198 w 10000"/>
              <a:gd name="connsiteY30" fmla="*/ 5820 h 10000"/>
              <a:gd name="connsiteX31" fmla="*/ 7629 w 10000"/>
              <a:gd name="connsiteY31" fmla="*/ 6378 h 10000"/>
              <a:gd name="connsiteX32" fmla="*/ 8102 w 10000"/>
              <a:gd name="connsiteY32" fmla="*/ 7071 h 10000"/>
              <a:gd name="connsiteX33" fmla="*/ 8206 w 10000"/>
              <a:gd name="connsiteY33" fmla="*/ 7177 h 10000"/>
              <a:gd name="connsiteX34" fmla="*/ 8308 w 10000"/>
              <a:gd name="connsiteY34" fmla="*/ 7350 h 10000"/>
              <a:gd name="connsiteX35" fmla="*/ 8411 w 10000"/>
              <a:gd name="connsiteY35" fmla="*/ 7490 h 10000"/>
              <a:gd name="connsiteX36" fmla="*/ 8513 w 10000"/>
              <a:gd name="connsiteY36" fmla="*/ 7595 h 10000"/>
              <a:gd name="connsiteX37" fmla="*/ 8576 w 10000"/>
              <a:gd name="connsiteY37" fmla="*/ 7700 h 10000"/>
              <a:gd name="connsiteX38" fmla="*/ 8637 w 10000"/>
              <a:gd name="connsiteY38" fmla="*/ 7769 h 10000"/>
              <a:gd name="connsiteX39" fmla="*/ 8719 w 10000"/>
              <a:gd name="connsiteY39" fmla="*/ 7805 h 10000"/>
              <a:gd name="connsiteX40" fmla="*/ 8843 w 10000"/>
              <a:gd name="connsiteY40" fmla="*/ 7805 h 10000"/>
              <a:gd name="connsiteX41" fmla="*/ 9048 w 10000"/>
              <a:gd name="connsiteY41" fmla="*/ 8187 h 10000"/>
              <a:gd name="connsiteX42" fmla="*/ 9356 w 10000"/>
              <a:gd name="connsiteY42" fmla="*/ 8326 h 10000"/>
              <a:gd name="connsiteX43" fmla="*/ 9685 w 10000"/>
              <a:gd name="connsiteY43" fmla="*/ 8292 h 10000"/>
              <a:gd name="connsiteX44" fmla="*/ 9995 w 10000"/>
              <a:gd name="connsiteY44" fmla="*/ 8465 h 10000"/>
              <a:gd name="connsiteX45" fmla="*/ 9953 w 10000"/>
              <a:gd name="connsiteY45" fmla="*/ 8779 h 10000"/>
              <a:gd name="connsiteX46" fmla="*/ 9953 w 10000"/>
              <a:gd name="connsiteY46" fmla="*/ 9127 h 10000"/>
              <a:gd name="connsiteX47" fmla="*/ 9769 w 10000"/>
              <a:gd name="connsiteY47" fmla="*/ 9198 h 10000"/>
              <a:gd name="connsiteX48" fmla="*/ 9110 w 10000"/>
              <a:gd name="connsiteY48" fmla="*/ 9233 h 10000"/>
              <a:gd name="connsiteX49" fmla="*/ 8678 w 10000"/>
              <a:gd name="connsiteY49" fmla="*/ 9408 h 10000"/>
              <a:gd name="connsiteX50" fmla="*/ 8637 w 10000"/>
              <a:gd name="connsiteY50" fmla="*/ 9651 h 10000"/>
              <a:gd name="connsiteX51" fmla="*/ 8576 w 10000"/>
              <a:gd name="connsiteY51" fmla="*/ 9826 h 10000"/>
              <a:gd name="connsiteX52" fmla="*/ 8843 w 10000"/>
              <a:gd name="connsiteY52" fmla="*/ 10000 h 10000"/>
              <a:gd name="connsiteX53" fmla="*/ 9192 w 10000"/>
              <a:gd name="connsiteY53" fmla="*/ 10000 h 10000"/>
              <a:gd name="connsiteX0" fmla="*/ 3763 w 10000"/>
              <a:gd name="connsiteY0" fmla="*/ 0 h 10000"/>
              <a:gd name="connsiteX1" fmla="*/ 3352 w 10000"/>
              <a:gd name="connsiteY1" fmla="*/ 35 h 10000"/>
              <a:gd name="connsiteX2" fmla="*/ 2838 w 10000"/>
              <a:gd name="connsiteY2" fmla="*/ 68 h 10000"/>
              <a:gd name="connsiteX3" fmla="*/ 2324 w 10000"/>
              <a:gd name="connsiteY3" fmla="*/ 103 h 10000"/>
              <a:gd name="connsiteX4" fmla="*/ 1913 w 10000"/>
              <a:gd name="connsiteY4" fmla="*/ 35 h 10000"/>
              <a:gd name="connsiteX5" fmla="*/ 1749 w 10000"/>
              <a:gd name="connsiteY5" fmla="*/ 0 h 10000"/>
              <a:gd name="connsiteX6" fmla="*/ 1645 w 10000"/>
              <a:gd name="connsiteY6" fmla="*/ 35 h 10000"/>
              <a:gd name="connsiteX7" fmla="*/ 1521 w 10000"/>
              <a:gd name="connsiteY7" fmla="*/ 68 h 10000"/>
              <a:gd name="connsiteX8" fmla="*/ 1359 w 10000"/>
              <a:gd name="connsiteY8" fmla="*/ 68 h 10000"/>
              <a:gd name="connsiteX9" fmla="*/ 864 w 10000"/>
              <a:gd name="connsiteY9" fmla="*/ 140 h 10000"/>
              <a:gd name="connsiteX10" fmla="*/ 555 w 10000"/>
              <a:gd name="connsiteY10" fmla="*/ 382 h 10000"/>
              <a:gd name="connsiteX11" fmla="*/ 349 w 10000"/>
              <a:gd name="connsiteY11" fmla="*/ 870 h 10000"/>
              <a:gd name="connsiteX12" fmla="*/ 143 w 10000"/>
              <a:gd name="connsiteY12" fmla="*/ 1670 h 10000"/>
              <a:gd name="connsiteX13" fmla="*/ 0 w 10000"/>
              <a:gd name="connsiteY13" fmla="*/ 2823 h 10000"/>
              <a:gd name="connsiteX14" fmla="*/ 41 w 10000"/>
              <a:gd name="connsiteY14" fmla="*/ 4076 h 10000"/>
              <a:gd name="connsiteX15" fmla="*/ 288 w 10000"/>
              <a:gd name="connsiteY15" fmla="*/ 5123 h 10000"/>
              <a:gd name="connsiteX16" fmla="*/ 782 w 10000"/>
              <a:gd name="connsiteY16" fmla="*/ 5715 h 10000"/>
              <a:gd name="connsiteX17" fmla="*/ 1152 w 10000"/>
              <a:gd name="connsiteY17" fmla="*/ 5715 h 10000"/>
              <a:gd name="connsiteX18" fmla="*/ 1501 w 10000"/>
              <a:gd name="connsiteY18" fmla="*/ 5541 h 10000"/>
              <a:gd name="connsiteX19" fmla="*/ 1850 w 10000"/>
              <a:gd name="connsiteY19" fmla="*/ 5331 h 10000"/>
              <a:gd name="connsiteX20" fmla="*/ 2221 w 10000"/>
              <a:gd name="connsiteY20" fmla="*/ 5226 h 10000"/>
              <a:gd name="connsiteX21" fmla="*/ 2612 w 10000"/>
              <a:gd name="connsiteY21" fmla="*/ 5261 h 10000"/>
              <a:gd name="connsiteX22" fmla="*/ 3002 w 10000"/>
              <a:gd name="connsiteY22" fmla="*/ 5331 h 10000"/>
              <a:gd name="connsiteX23" fmla="*/ 3393 w 10000"/>
              <a:gd name="connsiteY23" fmla="*/ 5401 h 10000"/>
              <a:gd name="connsiteX24" fmla="*/ 3763 w 10000"/>
              <a:gd name="connsiteY24" fmla="*/ 5469 h 10000"/>
              <a:gd name="connsiteX25" fmla="*/ 4339 w 10000"/>
              <a:gd name="connsiteY25" fmla="*/ 5504 h 10000"/>
              <a:gd name="connsiteX26" fmla="*/ 4915 w 10000"/>
              <a:gd name="connsiteY26" fmla="*/ 5401 h 10000"/>
              <a:gd name="connsiteX27" fmla="*/ 5492 w 10000"/>
              <a:gd name="connsiteY27" fmla="*/ 5331 h 10000"/>
              <a:gd name="connsiteX28" fmla="*/ 6066 w 10000"/>
              <a:gd name="connsiteY28" fmla="*/ 5296 h 10000"/>
              <a:gd name="connsiteX29" fmla="*/ 6704 w 10000"/>
              <a:gd name="connsiteY29" fmla="*/ 5436 h 10000"/>
              <a:gd name="connsiteX30" fmla="*/ 7198 w 10000"/>
              <a:gd name="connsiteY30" fmla="*/ 5820 h 10000"/>
              <a:gd name="connsiteX31" fmla="*/ 7629 w 10000"/>
              <a:gd name="connsiteY31" fmla="*/ 6378 h 10000"/>
              <a:gd name="connsiteX32" fmla="*/ 8102 w 10000"/>
              <a:gd name="connsiteY32" fmla="*/ 7071 h 10000"/>
              <a:gd name="connsiteX33" fmla="*/ 8206 w 10000"/>
              <a:gd name="connsiteY33" fmla="*/ 7177 h 10000"/>
              <a:gd name="connsiteX34" fmla="*/ 8308 w 10000"/>
              <a:gd name="connsiteY34" fmla="*/ 7350 h 10000"/>
              <a:gd name="connsiteX35" fmla="*/ 8411 w 10000"/>
              <a:gd name="connsiteY35" fmla="*/ 7490 h 10000"/>
              <a:gd name="connsiteX36" fmla="*/ 8513 w 10000"/>
              <a:gd name="connsiteY36" fmla="*/ 7595 h 10000"/>
              <a:gd name="connsiteX37" fmla="*/ 8576 w 10000"/>
              <a:gd name="connsiteY37" fmla="*/ 7700 h 10000"/>
              <a:gd name="connsiteX38" fmla="*/ 8637 w 10000"/>
              <a:gd name="connsiteY38" fmla="*/ 7769 h 10000"/>
              <a:gd name="connsiteX39" fmla="*/ 8719 w 10000"/>
              <a:gd name="connsiteY39" fmla="*/ 7805 h 10000"/>
              <a:gd name="connsiteX40" fmla="*/ 8843 w 10000"/>
              <a:gd name="connsiteY40" fmla="*/ 7805 h 10000"/>
              <a:gd name="connsiteX41" fmla="*/ 9048 w 10000"/>
              <a:gd name="connsiteY41" fmla="*/ 8187 h 10000"/>
              <a:gd name="connsiteX42" fmla="*/ 9356 w 10000"/>
              <a:gd name="connsiteY42" fmla="*/ 8326 h 10000"/>
              <a:gd name="connsiteX43" fmla="*/ 9685 w 10000"/>
              <a:gd name="connsiteY43" fmla="*/ 8292 h 10000"/>
              <a:gd name="connsiteX44" fmla="*/ 9995 w 10000"/>
              <a:gd name="connsiteY44" fmla="*/ 8465 h 10000"/>
              <a:gd name="connsiteX45" fmla="*/ 9953 w 10000"/>
              <a:gd name="connsiteY45" fmla="*/ 8779 h 10000"/>
              <a:gd name="connsiteX46" fmla="*/ 9953 w 10000"/>
              <a:gd name="connsiteY46" fmla="*/ 9127 h 10000"/>
              <a:gd name="connsiteX47" fmla="*/ 9769 w 10000"/>
              <a:gd name="connsiteY47" fmla="*/ 9198 h 10000"/>
              <a:gd name="connsiteX48" fmla="*/ 9110 w 10000"/>
              <a:gd name="connsiteY48" fmla="*/ 9233 h 10000"/>
              <a:gd name="connsiteX49" fmla="*/ 8678 w 10000"/>
              <a:gd name="connsiteY49" fmla="*/ 9408 h 10000"/>
              <a:gd name="connsiteX50" fmla="*/ 8637 w 10000"/>
              <a:gd name="connsiteY50" fmla="*/ 9651 h 10000"/>
              <a:gd name="connsiteX51" fmla="*/ 8576 w 10000"/>
              <a:gd name="connsiteY51" fmla="*/ 9826 h 10000"/>
              <a:gd name="connsiteX52" fmla="*/ 8843 w 10000"/>
              <a:gd name="connsiteY52" fmla="*/ 10000 h 10000"/>
              <a:gd name="connsiteX0" fmla="*/ 3763 w 10000"/>
              <a:gd name="connsiteY0" fmla="*/ 0 h 9826"/>
              <a:gd name="connsiteX1" fmla="*/ 3352 w 10000"/>
              <a:gd name="connsiteY1" fmla="*/ 35 h 9826"/>
              <a:gd name="connsiteX2" fmla="*/ 2838 w 10000"/>
              <a:gd name="connsiteY2" fmla="*/ 68 h 9826"/>
              <a:gd name="connsiteX3" fmla="*/ 2324 w 10000"/>
              <a:gd name="connsiteY3" fmla="*/ 103 h 9826"/>
              <a:gd name="connsiteX4" fmla="*/ 1913 w 10000"/>
              <a:gd name="connsiteY4" fmla="*/ 35 h 9826"/>
              <a:gd name="connsiteX5" fmla="*/ 1749 w 10000"/>
              <a:gd name="connsiteY5" fmla="*/ 0 h 9826"/>
              <a:gd name="connsiteX6" fmla="*/ 1645 w 10000"/>
              <a:gd name="connsiteY6" fmla="*/ 35 h 9826"/>
              <a:gd name="connsiteX7" fmla="*/ 1521 w 10000"/>
              <a:gd name="connsiteY7" fmla="*/ 68 h 9826"/>
              <a:gd name="connsiteX8" fmla="*/ 1359 w 10000"/>
              <a:gd name="connsiteY8" fmla="*/ 68 h 9826"/>
              <a:gd name="connsiteX9" fmla="*/ 864 w 10000"/>
              <a:gd name="connsiteY9" fmla="*/ 140 h 9826"/>
              <a:gd name="connsiteX10" fmla="*/ 555 w 10000"/>
              <a:gd name="connsiteY10" fmla="*/ 382 h 9826"/>
              <a:gd name="connsiteX11" fmla="*/ 349 w 10000"/>
              <a:gd name="connsiteY11" fmla="*/ 870 h 9826"/>
              <a:gd name="connsiteX12" fmla="*/ 143 w 10000"/>
              <a:gd name="connsiteY12" fmla="*/ 1670 h 9826"/>
              <a:gd name="connsiteX13" fmla="*/ 0 w 10000"/>
              <a:gd name="connsiteY13" fmla="*/ 2823 h 9826"/>
              <a:gd name="connsiteX14" fmla="*/ 41 w 10000"/>
              <a:gd name="connsiteY14" fmla="*/ 4076 h 9826"/>
              <a:gd name="connsiteX15" fmla="*/ 288 w 10000"/>
              <a:gd name="connsiteY15" fmla="*/ 5123 h 9826"/>
              <a:gd name="connsiteX16" fmla="*/ 782 w 10000"/>
              <a:gd name="connsiteY16" fmla="*/ 5715 h 9826"/>
              <a:gd name="connsiteX17" fmla="*/ 1152 w 10000"/>
              <a:gd name="connsiteY17" fmla="*/ 5715 h 9826"/>
              <a:gd name="connsiteX18" fmla="*/ 1501 w 10000"/>
              <a:gd name="connsiteY18" fmla="*/ 5541 h 9826"/>
              <a:gd name="connsiteX19" fmla="*/ 1850 w 10000"/>
              <a:gd name="connsiteY19" fmla="*/ 5331 h 9826"/>
              <a:gd name="connsiteX20" fmla="*/ 2221 w 10000"/>
              <a:gd name="connsiteY20" fmla="*/ 5226 h 9826"/>
              <a:gd name="connsiteX21" fmla="*/ 2612 w 10000"/>
              <a:gd name="connsiteY21" fmla="*/ 5261 h 9826"/>
              <a:gd name="connsiteX22" fmla="*/ 3002 w 10000"/>
              <a:gd name="connsiteY22" fmla="*/ 5331 h 9826"/>
              <a:gd name="connsiteX23" fmla="*/ 3393 w 10000"/>
              <a:gd name="connsiteY23" fmla="*/ 5401 h 9826"/>
              <a:gd name="connsiteX24" fmla="*/ 3763 w 10000"/>
              <a:gd name="connsiteY24" fmla="*/ 5469 h 9826"/>
              <a:gd name="connsiteX25" fmla="*/ 4339 w 10000"/>
              <a:gd name="connsiteY25" fmla="*/ 5504 h 9826"/>
              <a:gd name="connsiteX26" fmla="*/ 4915 w 10000"/>
              <a:gd name="connsiteY26" fmla="*/ 5401 h 9826"/>
              <a:gd name="connsiteX27" fmla="*/ 5492 w 10000"/>
              <a:gd name="connsiteY27" fmla="*/ 5331 h 9826"/>
              <a:gd name="connsiteX28" fmla="*/ 6066 w 10000"/>
              <a:gd name="connsiteY28" fmla="*/ 5296 h 9826"/>
              <a:gd name="connsiteX29" fmla="*/ 6704 w 10000"/>
              <a:gd name="connsiteY29" fmla="*/ 5436 h 9826"/>
              <a:gd name="connsiteX30" fmla="*/ 7198 w 10000"/>
              <a:gd name="connsiteY30" fmla="*/ 5820 h 9826"/>
              <a:gd name="connsiteX31" fmla="*/ 7629 w 10000"/>
              <a:gd name="connsiteY31" fmla="*/ 6378 h 9826"/>
              <a:gd name="connsiteX32" fmla="*/ 8102 w 10000"/>
              <a:gd name="connsiteY32" fmla="*/ 7071 h 9826"/>
              <a:gd name="connsiteX33" fmla="*/ 8206 w 10000"/>
              <a:gd name="connsiteY33" fmla="*/ 7177 h 9826"/>
              <a:gd name="connsiteX34" fmla="*/ 8308 w 10000"/>
              <a:gd name="connsiteY34" fmla="*/ 7350 h 9826"/>
              <a:gd name="connsiteX35" fmla="*/ 8411 w 10000"/>
              <a:gd name="connsiteY35" fmla="*/ 7490 h 9826"/>
              <a:gd name="connsiteX36" fmla="*/ 8513 w 10000"/>
              <a:gd name="connsiteY36" fmla="*/ 7595 h 9826"/>
              <a:gd name="connsiteX37" fmla="*/ 8576 w 10000"/>
              <a:gd name="connsiteY37" fmla="*/ 7700 h 9826"/>
              <a:gd name="connsiteX38" fmla="*/ 8637 w 10000"/>
              <a:gd name="connsiteY38" fmla="*/ 7769 h 9826"/>
              <a:gd name="connsiteX39" fmla="*/ 8719 w 10000"/>
              <a:gd name="connsiteY39" fmla="*/ 7805 h 9826"/>
              <a:gd name="connsiteX40" fmla="*/ 8843 w 10000"/>
              <a:gd name="connsiteY40" fmla="*/ 7805 h 9826"/>
              <a:gd name="connsiteX41" fmla="*/ 9048 w 10000"/>
              <a:gd name="connsiteY41" fmla="*/ 8187 h 9826"/>
              <a:gd name="connsiteX42" fmla="*/ 9356 w 10000"/>
              <a:gd name="connsiteY42" fmla="*/ 8326 h 9826"/>
              <a:gd name="connsiteX43" fmla="*/ 9685 w 10000"/>
              <a:gd name="connsiteY43" fmla="*/ 8292 h 9826"/>
              <a:gd name="connsiteX44" fmla="*/ 9995 w 10000"/>
              <a:gd name="connsiteY44" fmla="*/ 8465 h 9826"/>
              <a:gd name="connsiteX45" fmla="*/ 9953 w 10000"/>
              <a:gd name="connsiteY45" fmla="*/ 8779 h 9826"/>
              <a:gd name="connsiteX46" fmla="*/ 9953 w 10000"/>
              <a:gd name="connsiteY46" fmla="*/ 9127 h 9826"/>
              <a:gd name="connsiteX47" fmla="*/ 9769 w 10000"/>
              <a:gd name="connsiteY47" fmla="*/ 9198 h 9826"/>
              <a:gd name="connsiteX48" fmla="*/ 9110 w 10000"/>
              <a:gd name="connsiteY48" fmla="*/ 9233 h 9826"/>
              <a:gd name="connsiteX49" fmla="*/ 8678 w 10000"/>
              <a:gd name="connsiteY49" fmla="*/ 9408 h 9826"/>
              <a:gd name="connsiteX50" fmla="*/ 8637 w 10000"/>
              <a:gd name="connsiteY50" fmla="*/ 9651 h 9826"/>
              <a:gd name="connsiteX51" fmla="*/ 8576 w 10000"/>
              <a:gd name="connsiteY51" fmla="*/ 9826 h 9826"/>
              <a:gd name="connsiteX0" fmla="*/ 3763 w 10000"/>
              <a:gd name="connsiteY0" fmla="*/ 0 h 9822"/>
              <a:gd name="connsiteX1" fmla="*/ 3352 w 10000"/>
              <a:gd name="connsiteY1" fmla="*/ 36 h 9822"/>
              <a:gd name="connsiteX2" fmla="*/ 2838 w 10000"/>
              <a:gd name="connsiteY2" fmla="*/ 69 h 9822"/>
              <a:gd name="connsiteX3" fmla="*/ 2324 w 10000"/>
              <a:gd name="connsiteY3" fmla="*/ 105 h 9822"/>
              <a:gd name="connsiteX4" fmla="*/ 1913 w 10000"/>
              <a:gd name="connsiteY4" fmla="*/ 36 h 9822"/>
              <a:gd name="connsiteX5" fmla="*/ 1749 w 10000"/>
              <a:gd name="connsiteY5" fmla="*/ 0 h 9822"/>
              <a:gd name="connsiteX6" fmla="*/ 1645 w 10000"/>
              <a:gd name="connsiteY6" fmla="*/ 36 h 9822"/>
              <a:gd name="connsiteX7" fmla="*/ 1521 w 10000"/>
              <a:gd name="connsiteY7" fmla="*/ 69 h 9822"/>
              <a:gd name="connsiteX8" fmla="*/ 1359 w 10000"/>
              <a:gd name="connsiteY8" fmla="*/ 69 h 9822"/>
              <a:gd name="connsiteX9" fmla="*/ 864 w 10000"/>
              <a:gd name="connsiteY9" fmla="*/ 142 h 9822"/>
              <a:gd name="connsiteX10" fmla="*/ 555 w 10000"/>
              <a:gd name="connsiteY10" fmla="*/ 389 h 9822"/>
              <a:gd name="connsiteX11" fmla="*/ 349 w 10000"/>
              <a:gd name="connsiteY11" fmla="*/ 885 h 9822"/>
              <a:gd name="connsiteX12" fmla="*/ 143 w 10000"/>
              <a:gd name="connsiteY12" fmla="*/ 1700 h 9822"/>
              <a:gd name="connsiteX13" fmla="*/ 0 w 10000"/>
              <a:gd name="connsiteY13" fmla="*/ 2873 h 9822"/>
              <a:gd name="connsiteX14" fmla="*/ 41 w 10000"/>
              <a:gd name="connsiteY14" fmla="*/ 4148 h 9822"/>
              <a:gd name="connsiteX15" fmla="*/ 288 w 10000"/>
              <a:gd name="connsiteY15" fmla="*/ 5214 h 9822"/>
              <a:gd name="connsiteX16" fmla="*/ 782 w 10000"/>
              <a:gd name="connsiteY16" fmla="*/ 5816 h 9822"/>
              <a:gd name="connsiteX17" fmla="*/ 1152 w 10000"/>
              <a:gd name="connsiteY17" fmla="*/ 5816 h 9822"/>
              <a:gd name="connsiteX18" fmla="*/ 1501 w 10000"/>
              <a:gd name="connsiteY18" fmla="*/ 5639 h 9822"/>
              <a:gd name="connsiteX19" fmla="*/ 1850 w 10000"/>
              <a:gd name="connsiteY19" fmla="*/ 5425 h 9822"/>
              <a:gd name="connsiteX20" fmla="*/ 2221 w 10000"/>
              <a:gd name="connsiteY20" fmla="*/ 5319 h 9822"/>
              <a:gd name="connsiteX21" fmla="*/ 2612 w 10000"/>
              <a:gd name="connsiteY21" fmla="*/ 5354 h 9822"/>
              <a:gd name="connsiteX22" fmla="*/ 3002 w 10000"/>
              <a:gd name="connsiteY22" fmla="*/ 5425 h 9822"/>
              <a:gd name="connsiteX23" fmla="*/ 3393 w 10000"/>
              <a:gd name="connsiteY23" fmla="*/ 5497 h 9822"/>
              <a:gd name="connsiteX24" fmla="*/ 3763 w 10000"/>
              <a:gd name="connsiteY24" fmla="*/ 5566 h 9822"/>
              <a:gd name="connsiteX25" fmla="*/ 4339 w 10000"/>
              <a:gd name="connsiteY25" fmla="*/ 5601 h 9822"/>
              <a:gd name="connsiteX26" fmla="*/ 4915 w 10000"/>
              <a:gd name="connsiteY26" fmla="*/ 5497 h 9822"/>
              <a:gd name="connsiteX27" fmla="*/ 5492 w 10000"/>
              <a:gd name="connsiteY27" fmla="*/ 5425 h 9822"/>
              <a:gd name="connsiteX28" fmla="*/ 6066 w 10000"/>
              <a:gd name="connsiteY28" fmla="*/ 5390 h 9822"/>
              <a:gd name="connsiteX29" fmla="*/ 6704 w 10000"/>
              <a:gd name="connsiteY29" fmla="*/ 5532 h 9822"/>
              <a:gd name="connsiteX30" fmla="*/ 7198 w 10000"/>
              <a:gd name="connsiteY30" fmla="*/ 5923 h 9822"/>
              <a:gd name="connsiteX31" fmla="*/ 7629 w 10000"/>
              <a:gd name="connsiteY31" fmla="*/ 6491 h 9822"/>
              <a:gd name="connsiteX32" fmla="*/ 8102 w 10000"/>
              <a:gd name="connsiteY32" fmla="*/ 7196 h 9822"/>
              <a:gd name="connsiteX33" fmla="*/ 8206 w 10000"/>
              <a:gd name="connsiteY33" fmla="*/ 7304 h 9822"/>
              <a:gd name="connsiteX34" fmla="*/ 8308 w 10000"/>
              <a:gd name="connsiteY34" fmla="*/ 7480 h 9822"/>
              <a:gd name="connsiteX35" fmla="*/ 8411 w 10000"/>
              <a:gd name="connsiteY35" fmla="*/ 7623 h 9822"/>
              <a:gd name="connsiteX36" fmla="*/ 8513 w 10000"/>
              <a:gd name="connsiteY36" fmla="*/ 7729 h 9822"/>
              <a:gd name="connsiteX37" fmla="*/ 8576 w 10000"/>
              <a:gd name="connsiteY37" fmla="*/ 7836 h 9822"/>
              <a:gd name="connsiteX38" fmla="*/ 8637 w 10000"/>
              <a:gd name="connsiteY38" fmla="*/ 7907 h 9822"/>
              <a:gd name="connsiteX39" fmla="*/ 8719 w 10000"/>
              <a:gd name="connsiteY39" fmla="*/ 7943 h 9822"/>
              <a:gd name="connsiteX40" fmla="*/ 8843 w 10000"/>
              <a:gd name="connsiteY40" fmla="*/ 7943 h 9822"/>
              <a:gd name="connsiteX41" fmla="*/ 9048 w 10000"/>
              <a:gd name="connsiteY41" fmla="*/ 8332 h 9822"/>
              <a:gd name="connsiteX42" fmla="*/ 9356 w 10000"/>
              <a:gd name="connsiteY42" fmla="*/ 8473 h 9822"/>
              <a:gd name="connsiteX43" fmla="*/ 9685 w 10000"/>
              <a:gd name="connsiteY43" fmla="*/ 8439 h 9822"/>
              <a:gd name="connsiteX44" fmla="*/ 9995 w 10000"/>
              <a:gd name="connsiteY44" fmla="*/ 8615 h 9822"/>
              <a:gd name="connsiteX45" fmla="*/ 9953 w 10000"/>
              <a:gd name="connsiteY45" fmla="*/ 8934 h 9822"/>
              <a:gd name="connsiteX46" fmla="*/ 9953 w 10000"/>
              <a:gd name="connsiteY46" fmla="*/ 9289 h 9822"/>
              <a:gd name="connsiteX47" fmla="*/ 9769 w 10000"/>
              <a:gd name="connsiteY47" fmla="*/ 9361 h 9822"/>
              <a:gd name="connsiteX48" fmla="*/ 9110 w 10000"/>
              <a:gd name="connsiteY48" fmla="*/ 9396 h 9822"/>
              <a:gd name="connsiteX49" fmla="*/ 8678 w 10000"/>
              <a:gd name="connsiteY49" fmla="*/ 9575 h 9822"/>
              <a:gd name="connsiteX50" fmla="*/ 8637 w 10000"/>
              <a:gd name="connsiteY50" fmla="*/ 9822 h 9822"/>
              <a:gd name="connsiteX0" fmla="*/ 3763 w 10000"/>
              <a:gd name="connsiteY0" fmla="*/ 0 h 9749"/>
              <a:gd name="connsiteX1" fmla="*/ 3352 w 10000"/>
              <a:gd name="connsiteY1" fmla="*/ 37 h 9749"/>
              <a:gd name="connsiteX2" fmla="*/ 2838 w 10000"/>
              <a:gd name="connsiteY2" fmla="*/ 70 h 9749"/>
              <a:gd name="connsiteX3" fmla="*/ 2324 w 10000"/>
              <a:gd name="connsiteY3" fmla="*/ 107 h 9749"/>
              <a:gd name="connsiteX4" fmla="*/ 1913 w 10000"/>
              <a:gd name="connsiteY4" fmla="*/ 37 h 9749"/>
              <a:gd name="connsiteX5" fmla="*/ 1749 w 10000"/>
              <a:gd name="connsiteY5" fmla="*/ 0 h 9749"/>
              <a:gd name="connsiteX6" fmla="*/ 1645 w 10000"/>
              <a:gd name="connsiteY6" fmla="*/ 37 h 9749"/>
              <a:gd name="connsiteX7" fmla="*/ 1521 w 10000"/>
              <a:gd name="connsiteY7" fmla="*/ 70 h 9749"/>
              <a:gd name="connsiteX8" fmla="*/ 1359 w 10000"/>
              <a:gd name="connsiteY8" fmla="*/ 70 h 9749"/>
              <a:gd name="connsiteX9" fmla="*/ 864 w 10000"/>
              <a:gd name="connsiteY9" fmla="*/ 145 h 9749"/>
              <a:gd name="connsiteX10" fmla="*/ 555 w 10000"/>
              <a:gd name="connsiteY10" fmla="*/ 396 h 9749"/>
              <a:gd name="connsiteX11" fmla="*/ 349 w 10000"/>
              <a:gd name="connsiteY11" fmla="*/ 901 h 9749"/>
              <a:gd name="connsiteX12" fmla="*/ 143 w 10000"/>
              <a:gd name="connsiteY12" fmla="*/ 1731 h 9749"/>
              <a:gd name="connsiteX13" fmla="*/ 0 w 10000"/>
              <a:gd name="connsiteY13" fmla="*/ 2925 h 9749"/>
              <a:gd name="connsiteX14" fmla="*/ 41 w 10000"/>
              <a:gd name="connsiteY14" fmla="*/ 4223 h 9749"/>
              <a:gd name="connsiteX15" fmla="*/ 288 w 10000"/>
              <a:gd name="connsiteY15" fmla="*/ 5308 h 9749"/>
              <a:gd name="connsiteX16" fmla="*/ 782 w 10000"/>
              <a:gd name="connsiteY16" fmla="*/ 5921 h 9749"/>
              <a:gd name="connsiteX17" fmla="*/ 1152 w 10000"/>
              <a:gd name="connsiteY17" fmla="*/ 5921 h 9749"/>
              <a:gd name="connsiteX18" fmla="*/ 1501 w 10000"/>
              <a:gd name="connsiteY18" fmla="*/ 5741 h 9749"/>
              <a:gd name="connsiteX19" fmla="*/ 1850 w 10000"/>
              <a:gd name="connsiteY19" fmla="*/ 5523 h 9749"/>
              <a:gd name="connsiteX20" fmla="*/ 2221 w 10000"/>
              <a:gd name="connsiteY20" fmla="*/ 5415 h 9749"/>
              <a:gd name="connsiteX21" fmla="*/ 2612 w 10000"/>
              <a:gd name="connsiteY21" fmla="*/ 5451 h 9749"/>
              <a:gd name="connsiteX22" fmla="*/ 3002 w 10000"/>
              <a:gd name="connsiteY22" fmla="*/ 5523 h 9749"/>
              <a:gd name="connsiteX23" fmla="*/ 3393 w 10000"/>
              <a:gd name="connsiteY23" fmla="*/ 5597 h 9749"/>
              <a:gd name="connsiteX24" fmla="*/ 3763 w 10000"/>
              <a:gd name="connsiteY24" fmla="*/ 5667 h 9749"/>
              <a:gd name="connsiteX25" fmla="*/ 4339 w 10000"/>
              <a:gd name="connsiteY25" fmla="*/ 5703 h 9749"/>
              <a:gd name="connsiteX26" fmla="*/ 4915 w 10000"/>
              <a:gd name="connsiteY26" fmla="*/ 5597 h 9749"/>
              <a:gd name="connsiteX27" fmla="*/ 5492 w 10000"/>
              <a:gd name="connsiteY27" fmla="*/ 5523 h 9749"/>
              <a:gd name="connsiteX28" fmla="*/ 6066 w 10000"/>
              <a:gd name="connsiteY28" fmla="*/ 5488 h 9749"/>
              <a:gd name="connsiteX29" fmla="*/ 6704 w 10000"/>
              <a:gd name="connsiteY29" fmla="*/ 5632 h 9749"/>
              <a:gd name="connsiteX30" fmla="*/ 7198 w 10000"/>
              <a:gd name="connsiteY30" fmla="*/ 6030 h 9749"/>
              <a:gd name="connsiteX31" fmla="*/ 7629 w 10000"/>
              <a:gd name="connsiteY31" fmla="*/ 6609 h 9749"/>
              <a:gd name="connsiteX32" fmla="*/ 8102 w 10000"/>
              <a:gd name="connsiteY32" fmla="*/ 7326 h 9749"/>
              <a:gd name="connsiteX33" fmla="*/ 8206 w 10000"/>
              <a:gd name="connsiteY33" fmla="*/ 7436 h 9749"/>
              <a:gd name="connsiteX34" fmla="*/ 8308 w 10000"/>
              <a:gd name="connsiteY34" fmla="*/ 7616 h 9749"/>
              <a:gd name="connsiteX35" fmla="*/ 8411 w 10000"/>
              <a:gd name="connsiteY35" fmla="*/ 7761 h 9749"/>
              <a:gd name="connsiteX36" fmla="*/ 8513 w 10000"/>
              <a:gd name="connsiteY36" fmla="*/ 7869 h 9749"/>
              <a:gd name="connsiteX37" fmla="*/ 8576 w 10000"/>
              <a:gd name="connsiteY37" fmla="*/ 7978 h 9749"/>
              <a:gd name="connsiteX38" fmla="*/ 8637 w 10000"/>
              <a:gd name="connsiteY38" fmla="*/ 8050 h 9749"/>
              <a:gd name="connsiteX39" fmla="*/ 8719 w 10000"/>
              <a:gd name="connsiteY39" fmla="*/ 8087 h 9749"/>
              <a:gd name="connsiteX40" fmla="*/ 8843 w 10000"/>
              <a:gd name="connsiteY40" fmla="*/ 8087 h 9749"/>
              <a:gd name="connsiteX41" fmla="*/ 9048 w 10000"/>
              <a:gd name="connsiteY41" fmla="*/ 8483 h 9749"/>
              <a:gd name="connsiteX42" fmla="*/ 9356 w 10000"/>
              <a:gd name="connsiteY42" fmla="*/ 8627 h 9749"/>
              <a:gd name="connsiteX43" fmla="*/ 9685 w 10000"/>
              <a:gd name="connsiteY43" fmla="*/ 8592 h 9749"/>
              <a:gd name="connsiteX44" fmla="*/ 9995 w 10000"/>
              <a:gd name="connsiteY44" fmla="*/ 8771 h 9749"/>
              <a:gd name="connsiteX45" fmla="*/ 9953 w 10000"/>
              <a:gd name="connsiteY45" fmla="*/ 9096 h 9749"/>
              <a:gd name="connsiteX46" fmla="*/ 9953 w 10000"/>
              <a:gd name="connsiteY46" fmla="*/ 9457 h 9749"/>
              <a:gd name="connsiteX47" fmla="*/ 9769 w 10000"/>
              <a:gd name="connsiteY47" fmla="*/ 9531 h 9749"/>
              <a:gd name="connsiteX48" fmla="*/ 9110 w 10000"/>
              <a:gd name="connsiteY48" fmla="*/ 9566 h 9749"/>
              <a:gd name="connsiteX49" fmla="*/ 8678 w 10000"/>
              <a:gd name="connsiteY49" fmla="*/ 9749 h 9749"/>
              <a:gd name="connsiteX0" fmla="*/ 3763 w 10000"/>
              <a:gd name="connsiteY0" fmla="*/ 0 h 9812"/>
              <a:gd name="connsiteX1" fmla="*/ 3352 w 10000"/>
              <a:gd name="connsiteY1" fmla="*/ 38 h 9812"/>
              <a:gd name="connsiteX2" fmla="*/ 2838 w 10000"/>
              <a:gd name="connsiteY2" fmla="*/ 72 h 9812"/>
              <a:gd name="connsiteX3" fmla="*/ 2324 w 10000"/>
              <a:gd name="connsiteY3" fmla="*/ 110 h 9812"/>
              <a:gd name="connsiteX4" fmla="*/ 1913 w 10000"/>
              <a:gd name="connsiteY4" fmla="*/ 38 h 9812"/>
              <a:gd name="connsiteX5" fmla="*/ 1749 w 10000"/>
              <a:gd name="connsiteY5" fmla="*/ 0 h 9812"/>
              <a:gd name="connsiteX6" fmla="*/ 1645 w 10000"/>
              <a:gd name="connsiteY6" fmla="*/ 38 h 9812"/>
              <a:gd name="connsiteX7" fmla="*/ 1521 w 10000"/>
              <a:gd name="connsiteY7" fmla="*/ 72 h 9812"/>
              <a:gd name="connsiteX8" fmla="*/ 1359 w 10000"/>
              <a:gd name="connsiteY8" fmla="*/ 72 h 9812"/>
              <a:gd name="connsiteX9" fmla="*/ 864 w 10000"/>
              <a:gd name="connsiteY9" fmla="*/ 149 h 9812"/>
              <a:gd name="connsiteX10" fmla="*/ 555 w 10000"/>
              <a:gd name="connsiteY10" fmla="*/ 406 h 9812"/>
              <a:gd name="connsiteX11" fmla="*/ 349 w 10000"/>
              <a:gd name="connsiteY11" fmla="*/ 924 h 9812"/>
              <a:gd name="connsiteX12" fmla="*/ 143 w 10000"/>
              <a:gd name="connsiteY12" fmla="*/ 1776 h 9812"/>
              <a:gd name="connsiteX13" fmla="*/ 0 w 10000"/>
              <a:gd name="connsiteY13" fmla="*/ 3000 h 9812"/>
              <a:gd name="connsiteX14" fmla="*/ 41 w 10000"/>
              <a:gd name="connsiteY14" fmla="*/ 4332 h 9812"/>
              <a:gd name="connsiteX15" fmla="*/ 288 w 10000"/>
              <a:gd name="connsiteY15" fmla="*/ 5445 h 9812"/>
              <a:gd name="connsiteX16" fmla="*/ 782 w 10000"/>
              <a:gd name="connsiteY16" fmla="*/ 6073 h 9812"/>
              <a:gd name="connsiteX17" fmla="*/ 1152 w 10000"/>
              <a:gd name="connsiteY17" fmla="*/ 6073 h 9812"/>
              <a:gd name="connsiteX18" fmla="*/ 1501 w 10000"/>
              <a:gd name="connsiteY18" fmla="*/ 5889 h 9812"/>
              <a:gd name="connsiteX19" fmla="*/ 1850 w 10000"/>
              <a:gd name="connsiteY19" fmla="*/ 5665 h 9812"/>
              <a:gd name="connsiteX20" fmla="*/ 2221 w 10000"/>
              <a:gd name="connsiteY20" fmla="*/ 5554 h 9812"/>
              <a:gd name="connsiteX21" fmla="*/ 2612 w 10000"/>
              <a:gd name="connsiteY21" fmla="*/ 5591 h 9812"/>
              <a:gd name="connsiteX22" fmla="*/ 3002 w 10000"/>
              <a:gd name="connsiteY22" fmla="*/ 5665 h 9812"/>
              <a:gd name="connsiteX23" fmla="*/ 3393 w 10000"/>
              <a:gd name="connsiteY23" fmla="*/ 5741 h 9812"/>
              <a:gd name="connsiteX24" fmla="*/ 3763 w 10000"/>
              <a:gd name="connsiteY24" fmla="*/ 5813 h 9812"/>
              <a:gd name="connsiteX25" fmla="*/ 4339 w 10000"/>
              <a:gd name="connsiteY25" fmla="*/ 5850 h 9812"/>
              <a:gd name="connsiteX26" fmla="*/ 4915 w 10000"/>
              <a:gd name="connsiteY26" fmla="*/ 5741 h 9812"/>
              <a:gd name="connsiteX27" fmla="*/ 5492 w 10000"/>
              <a:gd name="connsiteY27" fmla="*/ 5665 h 9812"/>
              <a:gd name="connsiteX28" fmla="*/ 6066 w 10000"/>
              <a:gd name="connsiteY28" fmla="*/ 5629 h 9812"/>
              <a:gd name="connsiteX29" fmla="*/ 6704 w 10000"/>
              <a:gd name="connsiteY29" fmla="*/ 5777 h 9812"/>
              <a:gd name="connsiteX30" fmla="*/ 7198 w 10000"/>
              <a:gd name="connsiteY30" fmla="*/ 6185 h 9812"/>
              <a:gd name="connsiteX31" fmla="*/ 7629 w 10000"/>
              <a:gd name="connsiteY31" fmla="*/ 6779 h 9812"/>
              <a:gd name="connsiteX32" fmla="*/ 8102 w 10000"/>
              <a:gd name="connsiteY32" fmla="*/ 7515 h 9812"/>
              <a:gd name="connsiteX33" fmla="*/ 8206 w 10000"/>
              <a:gd name="connsiteY33" fmla="*/ 7627 h 9812"/>
              <a:gd name="connsiteX34" fmla="*/ 8308 w 10000"/>
              <a:gd name="connsiteY34" fmla="*/ 7812 h 9812"/>
              <a:gd name="connsiteX35" fmla="*/ 8411 w 10000"/>
              <a:gd name="connsiteY35" fmla="*/ 7961 h 9812"/>
              <a:gd name="connsiteX36" fmla="*/ 8513 w 10000"/>
              <a:gd name="connsiteY36" fmla="*/ 8072 h 9812"/>
              <a:gd name="connsiteX37" fmla="*/ 8576 w 10000"/>
              <a:gd name="connsiteY37" fmla="*/ 8183 h 9812"/>
              <a:gd name="connsiteX38" fmla="*/ 8637 w 10000"/>
              <a:gd name="connsiteY38" fmla="*/ 8257 h 9812"/>
              <a:gd name="connsiteX39" fmla="*/ 8719 w 10000"/>
              <a:gd name="connsiteY39" fmla="*/ 8295 h 9812"/>
              <a:gd name="connsiteX40" fmla="*/ 8843 w 10000"/>
              <a:gd name="connsiteY40" fmla="*/ 8295 h 9812"/>
              <a:gd name="connsiteX41" fmla="*/ 9048 w 10000"/>
              <a:gd name="connsiteY41" fmla="*/ 8701 h 9812"/>
              <a:gd name="connsiteX42" fmla="*/ 9356 w 10000"/>
              <a:gd name="connsiteY42" fmla="*/ 8849 h 9812"/>
              <a:gd name="connsiteX43" fmla="*/ 9685 w 10000"/>
              <a:gd name="connsiteY43" fmla="*/ 8813 h 9812"/>
              <a:gd name="connsiteX44" fmla="*/ 9995 w 10000"/>
              <a:gd name="connsiteY44" fmla="*/ 8997 h 9812"/>
              <a:gd name="connsiteX45" fmla="*/ 9953 w 10000"/>
              <a:gd name="connsiteY45" fmla="*/ 9330 h 9812"/>
              <a:gd name="connsiteX46" fmla="*/ 9953 w 10000"/>
              <a:gd name="connsiteY46" fmla="*/ 9700 h 9812"/>
              <a:gd name="connsiteX47" fmla="*/ 9769 w 10000"/>
              <a:gd name="connsiteY47" fmla="*/ 9776 h 9812"/>
              <a:gd name="connsiteX48" fmla="*/ 9110 w 10000"/>
              <a:gd name="connsiteY48" fmla="*/ 9812 h 9812"/>
              <a:gd name="connsiteX0" fmla="*/ 3763 w 10000"/>
              <a:gd name="connsiteY0" fmla="*/ 0 h 10090"/>
              <a:gd name="connsiteX1" fmla="*/ 3352 w 10000"/>
              <a:gd name="connsiteY1" fmla="*/ 39 h 10090"/>
              <a:gd name="connsiteX2" fmla="*/ 2838 w 10000"/>
              <a:gd name="connsiteY2" fmla="*/ 73 h 10090"/>
              <a:gd name="connsiteX3" fmla="*/ 2324 w 10000"/>
              <a:gd name="connsiteY3" fmla="*/ 112 h 10090"/>
              <a:gd name="connsiteX4" fmla="*/ 1913 w 10000"/>
              <a:gd name="connsiteY4" fmla="*/ 39 h 10090"/>
              <a:gd name="connsiteX5" fmla="*/ 1749 w 10000"/>
              <a:gd name="connsiteY5" fmla="*/ 0 h 10090"/>
              <a:gd name="connsiteX6" fmla="*/ 1645 w 10000"/>
              <a:gd name="connsiteY6" fmla="*/ 39 h 10090"/>
              <a:gd name="connsiteX7" fmla="*/ 1521 w 10000"/>
              <a:gd name="connsiteY7" fmla="*/ 73 h 10090"/>
              <a:gd name="connsiteX8" fmla="*/ 1359 w 10000"/>
              <a:gd name="connsiteY8" fmla="*/ 73 h 10090"/>
              <a:gd name="connsiteX9" fmla="*/ 864 w 10000"/>
              <a:gd name="connsiteY9" fmla="*/ 152 h 10090"/>
              <a:gd name="connsiteX10" fmla="*/ 555 w 10000"/>
              <a:gd name="connsiteY10" fmla="*/ 414 h 10090"/>
              <a:gd name="connsiteX11" fmla="*/ 349 w 10000"/>
              <a:gd name="connsiteY11" fmla="*/ 942 h 10090"/>
              <a:gd name="connsiteX12" fmla="*/ 143 w 10000"/>
              <a:gd name="connsiteY12" fmla="*/ 1810 h 10090"/>
              <a:gd name="connsiteX13" fmla="*/ 0 w 10000"/>
              <a:gd name="connsiteY13" fmla="*/ 3057 h 10090"/>
              <a:gd name="connsiteX14" fmla="*/ 41 w 10000"/>
              <a:gd name="connsiteY14" fmla="*/ 4415 h 10090"/>
              <a:gd name="connsiteX15" fmla="*/ 288 w 10000"/>
              <a:gd name="connsiteY15" fmla="*/ 5549 h 10090"/>
              <a:gd name="connsiteX16" fmla="*/ 782 w 10000"/>
              <a:gd name="connsiteY16" fmla="*/ 6189 h 10090"/>
              <a:gd name="connsiteX17" fmla="*/ 1152 w 10000"/>
              <a:gd name="connsiteY17" fmla="*/ 6189 h 10090"/>
              <a:gd name="connsiteX18" fmla="*/ 1501 w 10000"/>
              <a:gd name="connsiteY18" fmla="*/ 6002 h 10090"/>
              <a:gd name="connsiteX19" fmla="*/ 1850 w 10000"/>
              <a:gd name="connsiteY19" fmla="*/ 5774 h 10090"/>
              <a:gd name="connsiteX20" fmla="*/ 2221 w 10000"/>
              <a:gd name="connsiteY20" fmla="*/ 5660 h 10090"/>
              <a:gd name="connsiteX21" fmla="*/ 2612 w 10000"/>
              <a:gd name="connsiteY21" fmla="*/ 5698 h 10090"/>
              <a:gd name="connsiteX22" fmla="*/ 3002 w 10000"/>
              <a:gd name="connsiteY22" fmla="*/ 5774 h 10090"/>
              <a:gd name="connsiteX23" fmla="*/ 3393 w 10000"/>
              <a:gd name="connsiteY23" fmla="*/ 5851 h 10090"/>
              <a:gd name="connsiteX24" fmla="*/ 3763 w 10000"/>
              <a:gd name="connsiteY24" fmla="*/ 5924 h 10090"/>
              <a:gd name="connsiteX25" fmla="*/ 4339 w 10000"/>
              <a:gd name="connsiteY25" fmla="*/ 5962 h 10090"/>
              <a:gd name="connsiteX26" fmla="*/ 4915 w 10000"/>
              <a:gd name="connsiteY26" fmla="*/ 5851 h 10090"/>
              <a:gd name="connsiteX27" fmla="*/ 5492 w 10000"/>
              <a:gd name="connsiteY27" fmla="*/ 5774 h 10090"/>
              <a:gd name="connsiteX28" fmla="*/ 6066 w 10000"/>
              <a:gd name="connsiteY28" fmla="*/ 5737 h 10090"/>
              <a:gd name="connsiteX29" fmla="*/ 6704 w 10000"/>
              <a:gd name="connsiteY29" fmla="*/ 5888 h 10090"/>
              <a:gd name="connsiteX30" fmla="*/ 7198 w 10000"/>
              <a:gd name="connsiteY30" fmla="*/ 6304 h 10090"/>
              <a:gd name="connsiteX31" fmla="*/ 7629 w 10000"/>
              <a:gd name="connsiteY31" fmla="*/ 6909 h 10090"/>
              <a:gd name="connsiteX32" fmla="*/ 8102 w 10000"/>
              <a:gd name="connsiteY32" fmla="*/ 7659 h 10090"/>
              <a:gd name="connsiteX33" fmla="*/ 8206 w 10000"/>
              <a:gd name="connsiteY33" fmla="*/ 7773 h 10090"/>
              <a:gd name="connsiteX34" fmla="*/ 8308 w 10000"/>
              <a:gd name="connsiteY34" fmla="*/ 7962 h 10090"/>
              <a:gd name="connsiteX35" fmla="*/ 8411 w 10000"/>
              <a:gd name="connsiteY35" fmla="*/ 8114 h 10090"/>
              <a:gd name="connsiteX36" fmla="*/ 8513 w 10000"/>
              <a:gd name="connsiteY36" fmla="*/ 8227 h 10090"/>
              <a:gd name="connsiteX37" fmla="*/ 8576 w 10000"/>
              <a:gd name="connsiteY37" fmla="*/ 8340 h 10090"/>
              <a:gd name="connsiteX38" fmla="*/ 8637 w 10000"/>
              <a:gd name="connsiteY38" fmla="*/ 8415 h 10090"/>
              <a:gd name="connsiteX39" fmla="*/ 8719 w 10000"/>
              <a:gd name="connsiteY39" fmla="*/ 8454 h 10090"/>
              <a:gd name="connsiteX40" fmla="*/ 8843 w 10000"/>
              <a:gd name="connsiteY40" fmla="*/ 8454 h 10090"/>
              <a:gd name="connsiteX41" fmla="*/ 9048 w 10000"/>
              <a:gd name="connsiteY41" fmla="*/ 8868 h 10090"/>
              <a:gd name="connsiteX42" fmla="*/ 9356 w 10000"/>
              <a:gd name="connsiteY42" fmla="*/ 9019 h 10090"/>
              <a:gd name="connsiteX43" fmla="*/ 9685 w 10000"/>
              <a:gd name="connsiteY43" fmla="*/ 8982 h 10090"/>
              <a:gd name="connsiteX44" fmla="*/ 9995 w 10000"/>
              <a:gd name="connsiteY44" fmla="*/ 9169 h 10090"/>
              <a:gd name="connsiteX45" fmla="*/ 9953 w 10000"/>
              <a:gd name="connsiteY45" fmla="*/ 9509 h 10090"/>
              <a:gd name="connsiteX46" fmla="*/ 9953 w 10000"/>
              <a:gd name="connsiteY46" fmla="*/ 9886 h 10090"/>
              <a:gd name="connsiteX47" fmla="*/ 9769 w 10000"/>
              <a:gd name="connsiteY47" fmla="*/ 9963 h 10090"/>
              <a:gd name="connsiteX48" fmla="*/ 9110 w 10000"/>
              <a:gd name="connsiteY48" fmla="*/ 10000 h 10090"/>
              <a:gd name="connsiteX49" fmla="*/ 9199 w 10000"/>
              <a:gd name="connsiteY49" fmla="*/ 10090 h 10090"/>
              <a:gd name="connsiteX0" fmla="*/ 3763 w 10000"/>
              <a:gd name="connsiteY0" fmla="*/ 0 h 10000"/>
              <a:gd name="connsiteX1" fmla="*/ 3352 w 10000"/>
              <a:gd name="connsiteY1" fmla="*/ 39 h 10000"/>
              <a:gd name="connsiteX2" fmla="*/ 2838 w 10000"/>
              <a:gd name="connsiteY2" fmla="*/ 73 h 10000"/>
              <a:gd name="connsiteX3" fmla="*/ 2324 w 10000"/>
              <a:gd name="connsiteY3" fmla="*/ 112 h 10000"/>
              <a:gd name="connsiteX4" fmla="*/ 1913 w 10000"/>
              <a:gd name="connsiteY4" fmla="*/ 39 h 10000"/>
              <a:gd name="connsiteX5" fmla="*/ 1749 w 10000"/>
              <a:gd name="connsiteY5" fmla="*/ 0 h 10000"/>
              <a:gd name="connsiteX6" fmla="*/ 1645 w 10000"/>
              <a:gd name="connsiteY6" fmla="*/ 39 h 10000"/>
              <a:gd name="connsiteX7" fmla="*/ 1521 w 10000"/>
              <a:gd name="connsiteY7" fmla="*/ 73 h 10000"/>
              <a:gd name="connsiteX8" fmla="*/ 1359 w 10000"/>
              <a:gd name="connsiteY8" fmla="*/ 73 h 10000"/>
              <a:gd name="connsiteX9" fmla="*/ 864 w 10000"/>
              <a:gd name="connsiteY9" fmla="*/ 152 h 10000"/>
              <a:gd name="connsiteX10" fmla="*/ 555 w 10000"/>
              <a:gd name="connsiteY10" fmla="*/ 414 h 10000"/>
              <a:gd name="connsiteX11" fmla="*/ 349 w 10000"/>
              <a:gd name="connsiteY11" fmla="*/ 942 h 10000"/>
              <a:gd name="connsiteX12" fmla="*/ 143 w 10000"/>
              <a:gd name="connsiteY12" fmla="*/ 1810 h 10000"/>
              <a:gd name="connsiteX13" fmla="*/ 0 w 10000"/>
              <a:gd name="connsiteY13" fmla="*/ 3057 h 10000"/>
              <a:gd name="connsiteX14" fmla="*/ 41 w 10000"/>
              <a:gd name="connsiteY14" fmla="*/ 4415 h 10000"/>
              <a:gd name="connsiteX15" fmla="*/ 288 w 10000"/>
              <a:gd name="connsiteY15" fmla="*/ 5549 h 10000"/>
              <a:gd name="connsiteX16" fmla="*/ 782 w 10000"/>
              <a:gd name="connsiteY16" fmla="*/ 6189 h 10000"/>
              <a:gd name="connsiteX17" fmla="*/ 1152 w 10000"/>
              <a:gd name="connsiteY17" fmla="*/ 6189 h 10000"/>
              <a:gd name="connsiteX18" fmla="*/ 1501 w 10000"/>
              <a:gd name="connsiteY18" fmla="*/ 6002 h 10000"/>
              <a:gd name="connsiteX19" fmla="*/ 1850 w 10000"/>
              <a:gd name="connsiteY19" fmla="*/ 5774 h 10000"/>
              <a:gd name="connsiteX20" fmla="*/ 2221 w 10000"/>
              <a:gd name="connsiteY20" fmla="*/ 5660 h 10000"/>
              <a:gd name="connsiteX21" fmla="*/ 2612 w 10000"/>
              <a:gd name="connsiteY21" fmla="*/ 5698 h 10000"/>
              <a:gd name="connsiteX22" fmla="*/ 3002 w 10000"/>
              <a:gd name="connsiteY22" fmla="*/ 5774 h 10000"/>
              <a:gd name="connsiteX23" fmla="*/ 3393 w 10000"/>
              <a:gd name="connsiteY23" fmla="*/ 5851 h 10000"/>
              <a:gd name="connsiteX24" fmla="*/ 3763 w 10000"/>
              <a:gd name="connsiteY24" fmla="*/ 5924 h 10000"/>
              <a:gd name="connsiteX25" fmla="*/ 4339 w 10000"/>
              <a:gd name="connsiteY25" fmla="*/ 5962 h 10000"/>
              <a:gd name="connsiteX26" fmla="*/ 4915 w 10000"/>
              <a:gd name="connsiteY26" fmla="*/ 5851 h 10000"/>
              <a:gd name="connsiteX27" fmla="*/ 5492 w 10000"/>
              <a:gd name="connsiteY27" fmla="*/ 5774 h 10000"/>
              <a:gd name="connsiteX28" fmla="*/ 6066 w 10000"/>
              <a:gd name="connsiteY28" fmla="*/ 5737 h 10000"/>
              <a:gd name="connsiteX29" fmla="*/ 6704 w 10000"/>
              <a:gd name="connsiteY29" fmla="*/ 5888 h 10000"/>
              <a:gd name="connsiteX30" fmla="*/ 7198 w 10000"/>
              <a:gd name="connsiteY30" fmla="*/ 6304 h 10000"/>
              <a:gd name="connsiteX31" fmla="*/ 7629 w 10000"/>
              <a:gd name="connsiteY31" fmla="*/ 6909 h 10000"/>
              <a:gd name="connsiteX32" fmla="*/ 8102 w 10000"/>
              <a:gd name="connsiteY32" fmla="*/ 7659 h 10000"/>
              <a:gd name="connsiteX33" fmla="*/ 8206 w 10000"/>
              <a:gd name="connsiteY33" fmla="*/ 7773 h 10000"/>
              <a:gd name="connsiteX34" fmla="*/ 8308 w 10000"/>
              <a:gd name="connsiteY34" fmla="*/ 7962 h 10000"/>
              <a:gd name="connsiteX35" fmla="*/ 8411 w 10000"/>
              <a:gd name="connsiteY35" fmla="*/ 8114 h 10000"/>
              <a:gd name="connsiteX36" fmla="*/ 8513 w 10000"/>
              <a:gd name="connsiteY36" fmla="*/ 8227 h 10000"/>
              <a:gd name="connsiteX37" fmla="*/ 8576 w 10000"/>
              <a:gd name="connsiteY37" fmla="*/ 8340 h 10000"/>
              <a:gd name="connsiteX38" fmla="*/ 8637 w 10000"/>
              <a:gd name="connsiteY38" fmla="*/ 8415 h 10000"/>
              <a:gd name="connsiteX39" fmla="*/ 8719 w 10000"/>
              <a:gd name="connsiteY39" fmla="*/ 8454 h 10000"/>
              <a:gd name="connsiteX40" fmla="*/ 8843 w 10000"/>
              <a:gd name="connsiteY40" fmla="*/ 8454 h 10000"/>
              <a:gd name="connsiteX41" fmla="*/ 9048 w 10000"/>
              <a:gd name="connsiteY41" fmla="*/ 8868 h 10000"/>
              <a:gd name="connsiteX42" fmla="*/ 9356 w 10000"/>
              <a:gd name="connsiteY42" fmla="*/ 9019 h 10000"/>
              <a:gd name="connsiteX43" fmla="*/ 9685 w 10000"/>
              <a:gd name="connsiteY43" fmla="*/ 8982 h 10000"/>
              <a:gd name="connsiteX44" fmla="*/ 9995 w 10000"/>
              <a:gd name="connsiteY44" fmla="*/ 9169 h 10000"/>
              <a:gd name="connsiteX45" fmla="*/ 9953 w 10000"/>
              <a:gd name="connsiteY45" fmla="*/ 9509 h 10000"/>
              <a:gd name="connsiteX46" fmla="*/ 9953 w 10000"/>
              <a:gd name="connsiteY46" fmla="*/ 9886 h 10000"/>
              <a:gd name="connsiteX47" fmla="*/ 9769 w 10000"/>
              <a:gd name="connsiteY47" fmla="*/ 9963 h 10000"/>
              <a:gd name="connsiteX48" fmla="*/ 9110 w 10000"/>
              <a:gd name="connsiteY48" fmla="*/ 10000 h 10000"/>
              <a:gd name="connsiteX0" fmla="*/ 3763 w 10000"/>
              <a:gd name="connsiteY0" fmla="*/ 0 h 9963"/>
              <a:gd name="connsiteX1" fmla="*/ 3352 w 10000"/>
              <a:gd name="connsiteY1" fmla="*/ 39 h 9963"/>
              <a:gd name="connsiteX2" fmla="*/ 2838 w 10000"/>
              <a:gd name="connsiteY2" fmla="*/ 73 h 9963"/>
              <a:gd name="connsiteX3" fmla="*/ 2324 w 10000"/>
              <a:gd name="connsiteY3" fmla="*/ 112 h 9963"/>
              <a:gd name="connsiteX4" fmla="*/ 1913 w 10000"/>
              <a:gd name="connsiteY4" fmla="*/ 39 h 9963"/>
              <a:gd name="connsiteX5" fmla="*/ 1749 w 10000"/>
              <a:gd name="connsiteY5" fmla="*/ 0 h 9963"/>
              <a:gd name="connsiteX6" fmla="*/ 1645 w 10000"/>
              <a:gd name="connsiteY6" fmla="*/ 39 h 9963"/>
              <a:gd name="connsiteX7" fmla="*/ 1521 w 10000"/>
              <a:gd name="connsiteY7" fmla="*/ 73 h 9963"/>
              <a:gd name="connsiteX8" fmla="*/ 1359 w 10000"/>
              <a:gd name="connsiteY8" fmla="*/ 73 h 9963"/>
              <a:gd name="connsiteX9" fmla="*/ 864 w 10000"/>
              <a:gd name="connsiteY9" fmla="*/ 152 h 9963"/>
              <a:gd name="connsiteX10" fmla="*/ 555 w 10000"/>
              <a:gd name="connsiteY10" fmla="*/ 414 h 9963"/>
              <a:gd name="connsiteX11" fmla="*/ 349 w 10000"/>
              <a:gd name="connsiteY11" fmla="*/ 942 h 9963"/>
              <a:gd name="connsiteX12" fmla="*/ 143 w 10000"/>
              <a:gd name="connsiteY12" fmla="*/ 1810 h 9963"/>
              <a:gd name="connsiteX13" fmla="*/ 0 w 10000"/>
              <a:gd name="connsiteY13" fmla="*/ 3057 h 9963"/>
              <a:gd name="connsiteX14" fmla="*/ 41 w 10000"/>
              <a:gd name="connsiteY14" fmla="*/ 4415 h 9963"/>
              <a:gd name="connsiteX15" fmla="*/ 288 w 10000"/>
              <a:gd name="connsiteY15" fmla="*/ 5549 h 9963"/>
              <a:gd name="connsiteX16" fmla="*/ 782 w 10000"/>
              <a:gd name="connsiteY16" fmla="*/ 6189 h 9963"/>
              <a:gd name="connsiteX17" fmla="*/ 1152 w 10000"/>
              <a:gd name="connsiteY17" fmla="*/ 6189 h 9963"/>
              <a:gd name="connsiteX18" fmla="*/ 1501 w 10000"/>
              <a:gd name="connsiteY18" fmla="*/ 6002 h 9963"/>
              <a:gd name="connsiteX19" fmla="*/ 1850 w 10000"/>
              <a:gd name="connsiteY19" fmla="*/ 5774 h 9963"/>
              <a:gd name="connsiteX20" fmla="*/ 2221 w 10000"/>
              <a:gd name="connsiteY20" fmla="*/ 5660 h 9963"/>
              <a:gd name="connsiteX21" fmla="*/ 2612 w 10000"/>
              <a:gd name="connsiteY21" fmla="*/ 5698 h 9963"/>
              <a:gd name="connsiteX22" fmla="*/ 3002 w 10000"/>
              <a:gd name="connsiteY22" fmla="*/ 5774 h 9963"/>
              <a:gd name="connsiteX23" fmla="*/ 3393 w 10000"/>
              <a:gd name="connsiteY23" fmla="*/ 5851 h 9963"/>
              <a:gd name="connsiteX24" fmla="*/ 3763 w 10000"/>
              <a:gd name="connsiteY24" fmla="*/ 5924 h 9963"/>
              <a:gd name="connsiteX25" fmla="*/ 4339 w 10000"/>
              <a:gd name="connsiteY25" fmla="*/ 5962 h 9963"/>
              <a:gd name="connsiteX26" fmla="*/ 4915 w 10000"/>
              <a:gd name="connsiteY26" fmla="*/ 5851 h 9963"/>
              <a:gd name="connsiteX27" fmla="*/ 5492 w 10000"/>
              <a:gd name="connsiteY27" fmla="*/ 5774 h 9963"/>
              <a:gd name="connsiteX28" fmla="*/ 6066 w 10000"/>
              <a:gd name="connsiteY28" fmla="*/ 5737 h 9963"/>
              <a:gd name="connsiteX29" fmla="*/ 6704 w 10000"/>
              <a:gd name="connsiteY29" fmla="*/ 5888 h 9963"/>
              <a:gd name="connsiteX30" fmla="*/ 7198 w 10000"/>
              <a:gd name="connsiteY30" fmla="*/ 6304 h 9963"/>
              <a:gd name="connsiteX31" fmla="*/ 7629 w 10000"/>
              <a:gd name="connsiteY31" fmla="*/ 6909 h 9963"/>
              <a:gd name="connsiteX32" fmla="*/ 8102 w 10000"/>
              <a:gd name="connsiteY32" fmla="*/ 7659 h 9963"/>
              <a:gd name="connsiteX33" fmla="*/ 8206 w 10000"/>
              <a:gd name="connsiteY33" fmla="*/ 7773 h 9963"/>
              <a:gd name="connsiteX34" fmla="*/ 8308 w 10000"/>
              <a:gd name="connsiteY34" fmla="*/ 7962 h 9963"/>
              <a:gd name="connsiteX35" fmla="*/ 8411 w 10000"/>
              <a:gd name="connsiteY35" fmla="*/ 8114 h 9963"/>
              <a:gd name="connsiteX36" fmla="*/ 8513 w 10000"/>
              <a:gd name="connsiteY36" fmla="*/ 8227 h 9963"/>
              <a:gd name="connsiteX37" fmla="*/ 8576 w 10000"/>
              <a:gd name="connsiteY37" fmla="*/ 8340 h 9963"/>
              <a:gd name="connsiteX38" fmla="*/ 8637 w 10000"/>
              <a:gd name="connsiteY38" fmla="*/ 8415 h 9963"/>
              <a:gd name="connsiteX39" fmla="*/ 8719 w 10000"/>
              <a:gd name="connsiteY39" fmla="*/ 8454 h 9963"/>
              <a:gd name="connsiteX40" fmla="*/ 8843 w 10000"/>
              <a:gd name="connsiteY40" fmla="*/ 8454 h 9963"/>
              <a:gd name="connsiteX41" fmla="*/ 9048 w 10000"/>
              <a:gd name="connsiteY41" fmla="*/ 8868 h 9963"/>
              <a:gd name="connsiteX42" fmla="*/ 9356 w 10000"/>
              <a:gd name="connsiteY42" fmla="*/ 9019 h 9963"/>
              <a:gd name="connsiteX43" fmla="*/ 9685 w 10000"/>
              <a:gd name="connsiteY43" fmla="*/ 8982 h 9963"/>
              <a:gd name="connsiteX44" fmla="*/ 9995 w 10000"/>
              <a:gd name="connsiteY44" fmla="*/ 9169 h 9963"/>
              <a:gd name="connsiteX45" fmla="*/ 9953 w 10000"/>
              <a:gd name="connsiteY45" fmla="*/ 9509 h 9963"/>
              <a:gd name="connsiteX46" fmla="*/ 9953 w 10000"/>
              <a:gd name="connsiteY46" fmla="*/ 9886 h 9963"/>
              <a:gd name="connsiteX47" fmla="*/ 9769 w 10000"/>
              <a:gd name="connsiteY47" fmla="*/ 9963 h 9963"/>
              <a:gd name="connsiteX0" fmla="*/ 3763 w 10000"/>
              <a:gd name="connsiteY0" fmla="*/ 0 h 9923"/>
              <a:gd name="connsiteX1" fmla="*/ 3352 w 10000"/>
              <a:gd name="connsiteY1" fmla="*/ 39 h 9923"/>
              <a:gd name="connsiteX2" fmla="*/ 2838 w 10000"/>
              <a:gd name="connsiteY2" fmla="*/ 73 h 9923"/>
              <a:gd name="connsiteX3" fmla="*/ 2324 w 10000"/>
              <a:gd name="connsiteY3" fmla="*/ 112 h 9923"/>
              <a:gd name="connsiteX4" fmla="*/ 1913 w 10000"/>
              <a:gd name="connsiteY4" fmla="*/ 39 h 9923"/>
              <a:gd name="connsiteX5" fmla="*/ 1749 w 10000"/>
              <a:gd name="connsiteY5" fmla="*/ 0 h 9923"/>
              <a:gd name="connsiteX6" fmla="*/ 1645 w 10000"/>
              <a:gd name="connsiteY6" fmla="*/ 39 h 9923"/>
              <a:gd name="connsiteX7" fmla="*/ 1521 w 10000"/>
              <a:gd name="connsiteY7" fmla="*/ 73 h 9923"/>
              <a:gd name="connsiteX8" fmla="*/ 1359 w 10000"/>
              <a:gd name="connsiteY8" fmla="*/ 73 h 9923"/>
              <a:gd name="connsiteX9" fmla="*/ 864 w 10000"/>
              <a:gd name="connsiteY9" fmla="*/ 153 h 9923"/>
              <a:gd name="connsiteX10" fmla="*/ 555 w 10000"/>
              <a:gd name="connsiteY10" fmla="*/ 416 h 9923"/>
              <a:gd name="connsiteX11" fmla="*/ 349 w 10000"/>
              <a:gd name="connsiteY11" fmla="*/ 945 h 9923"/>
              <a:gd name="connsiteX12" fmla="*/ 143 w 10000"/>
              <a:gd name="connsiteY12" fmla="*/ 1817 h 9923"/>
              <a:gd name="connsiteX13" fmla="*/ 0 w 10000"/>
              <a:gd name="connsiteY13" fmla="*/ 3068 h 9923"/>
              <a:gd name="connsiteX14" fmla="*/ 41 w 10000"/>
              <a:gd name="connsiteY14" fmla="*/ 4431 h 9923"/>
              <a:gd name="connsiteX15" fmla="*/ 288 w 10000"/>
              <a:gd name="connsiteY15" fmla="*/ 5570 h 9923"/>
              <a:gd name="connsiteX16" fmla="*/ 782 w 10000"/>
              <a:gd name="connsiteY16" fmla="*/ 6212 h 9923"/>
              <a:gd name="connsiteX17" fmla="*/ 1152 w 10000"/>
              <a:gd name="connsiteY17" fmla="*/ 6212 h 9923"/>
              <a:gd name="connsiteX18" fmla="*/ 1501 w 10000"/>
              <a:gd name="connsiteY18" fmla="*/ 6024 h 9923"/>
              <a:gd name="connsiteX19" fmla="*/ 1850 w 10000"/>
              <a:gd name="connsiteY19" fmla="*/ 5795 h 9923"/>
              <a:gd name="connsiteX20" fmla="*/ 2221 w 10000"/>
              <a:gd name="connsiteY20" fmla="*/ 5681 h 9923"/>
              <a:gd name="connsiteX21" fmla="*/ 2612 w 10000"/>
              <a:gd name="connsiteY21" fmla="*/ 5719 h 9923"/>
              <a:gd name="connsiteX22" fmla="*/ 3002 w 10000"/>
              <a:gd name="connsiteY22" fmla="*/ 5795 h 9923"/>
              <a:gd name="connsiteX23" fmla="*/ 3393 w 10000"/>
              <a:gd name="connsiteY23" fmla="*/ 5873 h 9923"/>
              <a:gd name="connsiteX24" fmla="*/ 3763 w 10000"/>
              <a:gd name="connsiteY24" fmla="*/ 5946 h 9923"/>
              <a:gd name="connsiteX25" fmla="*/ 4339 w 10000"/>
              <a:gd name="connsiteY25" fmla="*/ 5984 h 9923"/>
              <a:gd name="connsiteX26" fmla="*/ 4915 w 10000"/>
              <a:gd name="connsiteY26" fmla="*/ 5873 h 9923"/>
              <a:gd name="connsiteX27" fmla="*/ 5492 w 10000"/>
              <a:gd name="connsiteY27" fmla="*/ 5795 h 9923"/>
              <a:gd name="connsiteX28" fmla="*/ 6066 w 10000"/>
              <a:gd name="connsiteY28" fmla="*/ 5758 h 9923"/>
              <a:gd name="connsiteX29" fmla="*/ 6704 w 10000"/>
              <a:gd name="connsiteY29" fmla="*/ 5910 h 9923"/>
              <a:gd name="connsiteX30" fmla="*/ 7198 w 10000"/>
              <a:gd name="connsiteY30" fmla="*/ 6327 h 9923"/>
              <a:gd name="connsiteX31" fmla="*/ 7629 w 10000"/>
              <a:gd name="connsiteY31" fmla="*/ 6935 h 9923"/>
              <a:gd name="connsiteX32" fmla="*/ 8102 w 10000"/>
              <a:gd name="connsiteY32" fmla="*/ 7687 h 9923"/>
              <a:gd name="connsiteX33" fmla="*/ 8206 w 10000"/>
              <a:gd name="connsiteY33" fmla="*/ 7802 h 9923"/>
              <a:gd name="connsiteX34" fmla="*/ 8308 w 10000"/>
              <a:gd name="connsiteY34" fmla="*/ 7992 h 9923"/>
              <a:gd name="connsiteX35" fmla="*/ 8411 w 10000"/>
              <a:gd name="connsiteY35" fmla="*/ 8144 h 9923"/>
              <a:gd name="connsiteX36" fmla="*/ 8513 w 10000"/>
              <a:gd name="connsiteY36" fmla="*/ 8258 h 9923"/>
              <a:gd name="connsiteX37" fmla="*/ 8576 w 10000"/>
              <a:gd name="connsiteY37" fmla="*/ 8371 h 9923"/>
              <a:gd name="connsiteX38" fmla="*/ 8637 w 10000"/>
              <a:gd name="connsiteY38" fmla="*/ 8446 h 9923"/>
              <a:gd name="connsiteX39" fmla="*/ 8719 w 10000"/>
              <a:gd name="connsiteY39" fmla="*/ 8485 h 9923"/>
              <a:gd name="connsiteX40" fmla="*/ 8843 w 10000"/>
              <a:gd name="connsiteY40" fmla="*/ 8485 h 9923"/>
              <a:gd name="connsiteX41" fmla="*/ 9048 w 10000"/>
              <a:gd name="connsiteY41" fmla="*/ 8901 h 9923"/>
              <a:gd name="connsiteX42" fmla="*/ 9356 w 10000"/>
              <a:gd name="connsiteY42" fmla="*/ 9052 h 9923"/>
              <a:gd name="connsiteX43" fmla="*/ 9685 w 10000"/>
              <a:gd name="connsiteY43" fmla="*/ 9015 h 9923"/>
              <a:gd name="connsiteX44" fmla="*/ 9995 w 10000"/>
              <a:gd name="connsiteY44" fmla="*/ 9203 h 9923"/>
              <a:gd name="connsiteX45" fmla="*/ 9953 w 10000"/>
              <a:gd name="connsiteY45" fmla="*/ 9544 h 9923"/>
              <a:gd name="connsiteX46" fmla="*/ 9953 w 10000"/>
              <a:gd name="connsiteY46" fmla="*/ 9923 h 9923"/>
              <a:gd name="connsiteX0" fmla="*/ 3763 w 10000"/>
              <a:gd name="connsiteY0" fmla="*/ 0 h 9618"/>
              <a:gd name="connsiteX1" fmla="*/ 3352 w 10000"/>
              <a:gd name="connsiteY1" fmla="*/ 39 h 9618"/>
              <a:gd name="connsiteX2" fmla="*/ 2838 w 10000"/>
              <a:gd name="connsiteY2" fmla="*/ 74 h 9618"/>
              <a:gd name="connsiteX3" fmla="*/ 2324 w 10000"/>
              <a:gd name="connsiteY3" fmla="*/ 113 h 9618"/>
              <a:gd name="connsiteX4" fmla="*/ 1913 w 10000"/>
              <a:gd name="connsiteY4" fmla="*/ 39 h 9618"/>
              <a:gd name="connsiteX5" fmla="*/ 1749 w 10000"/>
              <a:gd name="connsiteY5" fmla="*/ 0 h 9618"/>
              <a:gd name="connsiteX6" fmla="*/ 1645 w 10000"/>
              <a:gd name="connsiteY6" fmla="*/ 39 h 9618"/>
              <a:gd name="connsiteX7" fmla="*/ 1521 w 10000"/>
              <a:gd name="connsiteY7" fmla="*/ 74 h 9618"/>
              <a:gd name="connsiteX8" fmla="*/ 1359 w 10000"/>
              <a:gd name="connsiteY8" fmla="*/ 74 h 9618"/>
              <a:gd name="connsiteX9" fmla="*/ 864 w 10000"/>
              <a:gd name="connsiteY9" fmla="*/ 154 h 9618"/>
              <a:gd name="connsiteX10" fmla="*/ 555 w 10000"/>
              <a:gd name="connsiteY10" fmla="*/ 419 h 9618"/>
              <a:gd name="connsiteX11" fmla="*/ 349 w 10000"/>
              <a:gd name="connsiteY11" fmla="*/ 952 h 9618"/>
              <a:gd name="connsiteX12" fmla="*/ 143 w 10000"/>
              <a:gd name="connsiteY12" fmla="*/ 1831 h 9618"/>
              <a:gd name="connsiteX13" fmla="*/ 0 w 10000"/>
              <a:gd name="connsiteY13" fmla="*/ 3092 h 9618"/>
              <a:gd name="connsiteX14" fmla="*/ 41 w 10000"/>
              <a:gd name="connsiteY14" fmla="*/ 4465 h 9618"/>
              <a:gd name="connsiteX15" fmla="*/ 288 w 10000"/>
              <a:gd name="connsiteY15" fmla="*/ 5613 h 9618"/>
              <a:gd name="connsiteX16" fmla="*/ 782 w 10000"/>
              <a:gd name="connsiteY16" fmla="*/ 6260 h 9618"/>
              <a:gd name="connsiteX17" fmla="*/ 1152 w 10000"/>
              <a:gd name="connsiteY17" fmla="*/ 6260 h 9618"/>
              <a:gd name="connsiteX18" fmla="*/ 1501 w 10000"/>
              <a:gd name="connsiteY18" fmla="*/ 6071 h 9618"/>
              <a:gd name="connsiteX19" fmla="*/ 1850 w 10000"/>
              <a:gd name="connsiteY19" fmla="*/ 5840 h 9618"/>
              <a:gd name="connsiteX20" fmla="*/ 2221 w 10000"/>
              <a:gd name="connsiteY20" fmla="*/ 5725 h 9618"/>
              <a:gd name="connsiteX21" fmla="*/ 2612 w 10000"/>
              <a:gd name="connsiteY21" fmla="*/ 5763 h 9618"/>
              <a:gd name="connsiteX22" fmla="*/ 3002 w 10000"/>
              <a:gd name="connsiteY22" fmla="*/ 5840 h 9618"/>
              <a:gd name="connsiteX23" fmla="*/ 3393 w 10000"/>
              <a:gd name="connsiteY23" fmla="*/ 5919 h 9618"/>
              <a:gd name="connsiteX24" fmla="*/ 3763 w 10000"/>
              <a:gd name="connsiteY24" fmla="*/ 5992 h 9618"/>
              <a:gd name="connsiteX25" fmla="*/ 4339 w 10000"/>
              <a:gd name="connsiteY25" fmla="*/ 6030 h 9618"/>
              <a:gd name="connsiteX26" fmla="*/ 4915 w 10000"/>
              <a:gd name="connsiteY26" fmla="*/ 5919 h 9618"/>
              <a:gd name="connsiteX27" fmla="*/ 5492 w 10000"/>
              <a:gd name="connsiteY27" fmla="*/ 5840 h 9618"/>
              <a:gd name="connsiteX28" fmla="*/ 6066 w 10000"/>
              <a:gd name="connsiteY28" fmla="*/ 5803 h 9618"/>
              <a:gd name="connsiteX29" fmla="*/ 6704 w 10000"/>
              <a:gd name="connsiteY29" fmla="*/ 5956 h 9618"/>
              <a:gd name="connsiteX30" fmla="*/ 7198 w 10000"/>
              <a:gd name="connsiteY30" fmla="*/ 6376 h 9618"/>
              <a:gd name="connsiteX31" fmla="*/ 7629 w 10000"/>
              <a:gd name="connsiteY31" fmla="*/ 6989 h 9618"/>
              <a:gd name="connsiteX32" fmla="*/ 8102 w 10000"/>
              <a:gd name="connsiteY32" fmla="*/ 7747 h 9618"/>
              <a:gd name="connsiteX33" fmla="*/ 8206 w 10000"/>
              <a:gd name="connsiteY33" fmla="*/ 7863 h 9618"/>
              <a:gd name="connsiteX34" fmla="*/ 8308 w 10000"/>
              <a:gd name="connsiteY34" fmla="*/ 8054 h 9618"/>
              <a:gd name="connsiteX35" fmla="*/ 8411 w 10000"/>
              <a:gd name="connsiteY35" fmla="*/ 8207 h 9618"/>
              <a:gd name="connsiteX36" fmla="*/ 8513 w 10000"/>
              <a:gd name="connsiteY36" fmla="*/ 8322 h 9618"/>
              <a:gd name="connsiteX37" fmla="*/ 8576 w 10000"/>
              <a:gd name="connsiteY37" fmla="*/ 8436 h 9618"/>
              <a:gd name="connsiteX38" fmla="*/ 8637 w 10000"/>
              <a:gd name="connsiteY38" fmla="*/ 8512 h 9618"/>
              <a:gd name="connsiteX39" fmla="*/ 8719 w 10000"/>
              <a:gd name="connsiteY39" fmla="*/ 8551 h 9618"/>
              <a:gd name="connsiteX40" fmla="*/ 8843 w 10000"/>
              <a:gd name="connsiteY40" fmla="*/ 8551 h 9618"/>
              <a:gd name="connsiteX41" fmla="*/ 9048 w 10000"/>
              <a:gd name="connsiteY41" fmla="*/ 8970 h 9618"/>
              <a:gd name="connsiteX42" fmla="*/ 9356 w 10000"/>
              <a:gd name="connsiteY42" fmla="*/ 9122 h 9618"/>
              <a:gd name="connsiteX43" fmla="*/ 9685 w 10000"/>
              <a:gd name="connsiteY43" fmla="*/ 9085 h 9618"/>
              <a:gd name="connsiteX44" fmla="*/ 9995 w 10000"/>
              <a:gd name="connsiteY44" fmla="*/ 9274 h 9618"/>
              <a:gd name="connsiteX45" fmla="*/ 9953 w 10000"/>
              <a:gd name="connsiteY45" fmla="*/ 9618 h 9618"/>
              <a:gd name="connsiteX0" fmla="*/ 3763 w 9995"/>
              <a:gd name="connsiteY0" fmla="*/ 0 h 9642"/>
              <a:gd name="connsiteX1" fmla="*/ 3352 w 9995"/>
              <a:gd name="connsiteY1" fmla="*/ 41 h 9642"/>
              <a:gd name="connsiteX2" fmla="*/ 2838 w 9995"/>
              <a:gd name="connsiteY2" fmla="*/ 77 h 9642"/>
              <a:gd name="connsiteX3" fmla="*/ 2324 w 9995"/>
              <a:gd name="connsiteY3" fmla="*/ 117 h 9642"/>
              <a:gd name="connsiteX4" fmla="*/ 1913 w 9995"/>
              <a:gd name="connsiteY4" fmla="*/ 41 h 9642"/>
              <a:gd name="connsiteX5" fmla="*/ 1749 w 9995"/>
              <a:gd name="connsiteY5" fmla="*/ 0 h 9642"/>
              <a:gd name="connsiteX6" fmla="*/ 1645 w 9995"/>
              <a:gd name="connsiteY6" fmla="*/ 41 h 9642"/>
              <a:gd name="connsiteX7" fmla="*/ 1521 w 9995"/>
              <a:gd name="connsiteY7" fmla="*/ 77 h 9642"/>
              <a:gd name="connsiteX8" fmla="*/ 1359 w 9995"/>
              <a:gd name="connsiteY8" fmla="*/ 77 h 9642"/>
              <a:gd name="connsiteX9" fmla="*/ 864 w 9995"/>
              <a:gd name="connsiteY9" fmla="*/ 160 h 9642"/>
              <a:gd name="connsiteX10" fmla="*/ 555 w 9995"/>
              <a:gd name="connsiteY10" fmla="*/ 436 h 9642"/>
              <a:gd name="connsiteX11" fmla="*/ 349 w 9995"/>
              <a:gd name="connsiteY11" fmla="*/ 990 h 9642"/>
              <a:gd name="connsiteX12" fmla="*/ 143 w 9995"/>
              <a:gd name="connsiteY12" fmla="*/ 1904 h 9642"/>
              <a:gd name="connsiteX13" fmla="*/ 0 w 9995"/>
              <a:gd name="connsiteY13" fmla="*/ 3215 h 9642"/>
              <a:gd name="connsiteX14" fmla="*/ 41 w 9995"/>
              <a:gd name="connsiteY14" fmla="*/ 4642 h 9642"/>
              <a:gd name="connsiteX15" fmla="*/ 288 w 9995"/>
              <a:gd name="connsiteY15" fmla="*/ 5836 h 9642"/>
              <a:gd name="connsiteX16" fmla="*/ 782 w 9995"/>
              <a:gd name="connsiteY16" fmla="*/ 6509 h 9642"/>
              <a:gd name="connsiteX17" fmla="*/ 1152 w 9995"/>
              <a:gd name="connsiteY17" fmla="*/ 6509 h 9642"/>
              <a:gd name="connsiteX18" fmla="*/ 1501 w 9995"/>
              <a:gd name="connsiteY18" fmla="*/ 6312 h 9642"/>
              <a:gd name="connsiteX19" fmla="*/ 1850 w 9995"/>
              <a:gd name="connsiteY19" fmla="*/ 6072 h 9642"/>
              <a:gd name="connsiteX20" fmla="*/ 2221 w 9995"/>
              <a:gd name="connsiteY20" fmla="*/ 5952 h 9642"/>
              <a:gd name="connsiteX21" fmla="*/ 2612 w 9995"/>
              <a:gd name="connsiteY21" fmla="*/ 5992 h 9642"/>
              <a:gd name="connsiteX22" fmla="*/ 3002 w 9995"/>
              <a:gd name="connsiteY22" fmla="*/ 6072 h 9642"/>
              <a:gd name="connsiteX23" fmla="*/ 3393 w 9995"/>
              <a:gd name="connsiteY23" fmla="*/ 6154 h 9642"/>
              <a:gd name="connsiteX24" fmla="*/ 3763 w 9995"/>
              <a:gd name="connsiteY24" fmla="*/ 6230 h 9642"/>
              <a:gd name="connsiteX25" fmla="*/ 4339 w 9995"/>
              <a:gd name="connsiteY25" fmla="*/ 6269 h 9642"/>
              <a:gd name="connsiteX26" fmla="*/ 4915 w 9995"/>
              <a:gd name="connsiteY26" fmla="*/ 6154 h 9642"/>
              <a:gd name="connsiteX27" fmla="*/ 5492 w 9995"/>
              <a:gd name="connsiteY27" fmla="*/ 6072 h 9642"/>
              <a:gd name="connsiteX28" fmla="*/ 6066 w 9995"/>
              <a:gd name="connsiteY28" fmla="*/ 6033 h 9642"/>
              <a:gd name="connsiteX29" fmla="*/ 6704 w 9995"/>
              <a:gd name="connsiteY29" fmla="*/ 6193 h 9642"/>
              <a:gd name="connsiteX30" fmla="*/ 7198 w 9995"/>
              <a:gd name="connsiteY30" fmla="*/ 6629 h 9642"/>
              <a:gd name="connsiteX31" fmla="*/ 7629 w 9995"/>
              <a:gd name="connsiteY31" fmla="*/ 7267 h 9642"/>
              <a:gd name="connsiteX32" fmla="*/ 8102 w 9995"/>
              <a:gd name="connsiteY32" fmla="*/ 8055 h 9642"/>
              <a:gd name="connsiteX33" fmla="*/ 8206 w 9995"/>
              <a:gd name="connsiteY33" fmla="*/ 8175 h 9642"/>
              <a:gd name="connsiteX34" fmla="*/ 8308 w 9995"/>
              <a:gd name="connsiteY34" fmla="*/ 8374 h 9642"/>
              <a:gd name="connsiteX35" fmla="*/ 8411 w 9995"/>
              <a:gd name="connsiteY35" fmla="*/ 8533 h 9642"/>
              <a:gd name="connsiteX36" fmla="*/ 8513 w 9995"/>
              <a:gd name="connsiteY36" fmla="*/ 8653 h 9642"/>
              <a:gd name="connsiteX37" fmla="*/ 8576 w 9995"/>
              <a:gd name="connsiteY37" fmla="*/ 8771 h 9642"/>
              <a:gd name="connsiteX38" fmla="*/ 8637 w 9995"/>
              <a:gd name="connsiteY38" fmla="*/ 8850 h 9642"/>
              <a:gd name="connsiteX39" fmla="*/ 8719 w 9995"/>
              <a:gd name="connsiteY39" fmla="*/ 8891 h 9642"/>
              <a:gd name="connsiteX40" fmla="*/ 8843 w 9995"/>
              <a:gd name="connsiteY40" fmla="*/ 8891 h 9642"/>
              <a:gd name="connsiteX41" fmla="*/ 9048 w 9995"/>
              <a:gd name="connsiteY41" fmla="*/ 9326 h 9642"/>
              <a:gd name="connsiteX42" fmla="*/ 9356 w 9995"/>
              <a:gd name="connsiteY42" fmla="*/ 9484 h 9642"/>
              <a:gd name="connsiteX43" fmla="*/ 9685 w 9995"/>
              <a:gd name="connsiteY43" fmla="*/ 9446 h 9642"/>
              <a:gd name="connsiteX44" fmla="*/ 9995 w 9995"/>
              <a:gd name="connsiteY44" fmla="*/ 9642 h 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9995" h="9642">
                <a:moveTo>
                  <a:pt x="3763" y="0"/>
                </a:moveTo>
                <a:cubicBezTo>
                  <a:pt x="3661" y="0"/>
                  <a:pt x="3516" y="0"/>
                  <a:pt x="3352" y="41"/>
                </a:cubicBezTo>
                <a:cubicBezTo>
                  <a:pt x="3187" y="77"/>
                  <a:pt x="3022" y="77"/>
                  <a:pt x="2838" y="77"/>
                </a:cubicBezTo>
                <a:cubicBezTo>
                  <a:pt x="2654" y="117"/>
                  <a:pt x="2468" y="117"/>
                  <a:pt x="2324" y="117"/>
                </a:cubicBezTo>
                <a:cubicBezTo>
                  <a:pt x="2159" y="117"/>
                  <a:pt x="2015" y="77"/>
                  <a:pt x="1913" y="41"/>
                </a:cubicBezTo>
                <a:cubicBezTo>
                  <a:pt x="1850" y="0"/>
                  <a:pt x="1789" y="0"/>
                  <a:pt x="1749" y="0"/>
                </a:cubicBezTo>
                <a:cubicBezTo>
                  <a:pt x="1707" y="0"/>
                  <a:pt x="1686" y="0"/>
                  <a:pt x="1645" y="41"/>
                </a:cubicBezTo>
                <a:cubicBezTo>
                  <a:pt x="1604" y="41"/>
                  <a:pt x="1562" y="41"/>
                  <a:pt x="1521" y="77"/>
                </a:cubicBezTo>
                <a:lnTo>
                  <a:pt x="1359" y="77"/>
                </a:lnTo>
                <a:cubicBezTo>
                  <a:pt x="1172" y="77"/>
                  <a:pt x="1007" y="117"/>
                  <a:pt x="864" y="160"/>
                </a:cubicBezTo>
                <a:cubicBezTo>
                  <a:pt x="741" y="238"/>
                  <a:pt x="637" y="316"/>
                  <a:pt x="555" y="436"/>
                </a:cubicBezTo>
                <a:cubicBezTo>
                  <a:pt x="473" y="555"/>
                  <a:pt x="411" y="753"/>
                  <a:pt x="349" y="990"/>
                </a:cubicBezTo>
                <a:cubicBezTo>
                  <a:pt x="288" y="1228"/>
                  <a:pt x="226" y="1506"/>
                  <a:pt x="143" y="1904"/>
                </a:cubicBezTo>
                <a:cubicBezTo>
                  <a:pt x="82" y="2302"/>
                  <a:pt x="20" y="2740"/>
                  <a:pt x="0" y="3215"/>
                </a:cubicBezTo>
                <a:cubicBezTo>
                  <a:pt x="0" y="3689"/>
                  <a:pt x="0" y="4208"/>
                  <a:pt x="41" y="4642"/>
                </a:cubicBezTo>
                <a:cubicBezTo>
                  <a:pt x="82" y="5121"/>
                  <a:pt x="165" y="5517"/>
                  <a:pt x="288" y="5836"/>
                </a:cubicBezTo>
                <a:cubicBezTo>
                  <a:pt x="411" y="6154"/>
                  <a:pt x="576" y="6390"/>
                  <a:pt x="782" y="6509"/>
                </a:cubicBezTo>
                <a:cubicBezTo>
                  <a:pt x="905" y="6548"/>
                  <a:pt x="1029" y="6548"/>
                  <a:pt x="1152" y="6509"/>
                </a:cubicBezTo>
                <a:cubicBezTo>
                  <a:pt x="1275" y="6472"/>
                  <a:pt x="1378" y="6390"/>
                  <a:pt x="1501" y="6312"/>
                </a:cubicBezTo>
                <a:cubicBezTo>
                  <a:pt x="1604" y="6230"/>
                  <a:pt x="1727" y="6154"/>
                  <a:pt x="1850" y="6072"/>
                </a:cubicBezTo>
                <a:cubicBezTo>
                  <a:pt x="1974" y="5992"/>
                  <a:pt x="2097" y="5952"/>
                  <a:pt x="2221" y="5952"/>
                </a:cubicBezTo>
                <a:cubicBezTo>
                  <a:pt x="2365" y="5952"/>
                  <a:pt x="2489" y="5992"/>
                  <a:pt x="2612" y="5992"/>
                </a:cubicBezTo>
                <a:cubicBezTo>
                  <a:pt x="2756" y="6033"/>
                  <a:pt x="2879" y="6033"/>
                  <a:pt x="3002" y="6072"/>
                </a:cubicBezTo>
                <a:cubicBezTo>
                  <a:pt x="3126" y="6072"/>
                  <a:pt x="3249" y="6110"/>
                  <a:pt x="3393" y="6154"/>
                </a:cubicBezTo>
                <a:cubicBezTo>
                  <a:pt x="3516" y="6193"/>
                  <a:pt x="3640" y="6193"/>
                  <a:pt x="3763" y="6230"/>
                </a:cubicBezTo>
                <a:cubicBezTo>
                  <a:pt x="3969" y="6269"/>
                  <a:pt x="4154" y="6269"/>
                  <a:pt x="4339" y="6269"/>
                </a:cubicBezTo>
                <a:lnTo>
                  <a:pt x="4915" y="6154"/>
                </a:lnTo>
                <a:cubicBezTo>
                  <a:pt x="5121" y="6110"/>
                  <a:pt x="5305" y="6072"/>
                  <a:pt x="5492" y="6072"/>
                </a:cubicBezTo>
                <a:cubicBezTo>
                  <a:pt x="5697" y="6033"/>
                  <a:pt x="5882" y="5992"/>
                  <a:pt x="6066" y="6033"/>
                </a:cubicBezTo>
                <a:cubicBezTo>
                  <a:pt x="6313" y="6033"/>
                  <a:pt x="6519" y="6072"/>
                  <a:pt x="6704" y="6193"/>
                </a:cubicBezTo>
                <a:cubicBezTo>
                  <a:pt x="6869" y="6312"/>
                  <a:pt x="7033" y="6472"/>
                  <a:pt x="7198" y="6629"/>
                </a:cubicBezTo>
                <a:cubicBezTo>
                  <a:pt x="7341" y="6828"/>
                  <a:pt x="7486" y="7024"/>
                  <a:pt x="7629" y="7267"/>
                </a:cubicBezTo>
                <a:lnTo>
                  <a:pt x="8102" y="8055"/>
                </a:lnTo>
                <a:cubicBezTo>
                  <a:pt x="8143" y="8098"/>
                  <a:pt x="8164" y="8136"/>
                  <a:pt x="8206" y="8175"/>
                </a:cubicBezTo>
                <a:cubicBezTo>
                  <a:pt x="8246" y="8255"/>
                  <a:pt x="8288" y="8294"/>
                  <a:pt x="8308" y="8374"/>
                </a:cubicBezTo>
                <a:cubicBezTo>
                  <a:pt x="8349" y="8415"/>
                  <a:pt x="8390" y="8455"/>
                  <a:pt x="8411" y="8533"/>
                </a:cubicBezTo>
                <a:cubicBezTo>
                  <a:pt x="8452" y="8572"/>
                  <a:pt x="8493" y="8613"/>
                  <a:pt x="8513" y="8653"/>
                </a:cubicBezTo>
                <a:cubicBezTo>
                  <a:pt x="8534" y="8691"/>
                  <a:pt x="8555" y="8734"/>
                  <a:pt x="8576" y="8771"/>
                </a:cubicBezTo>
                <a:cubicBezTo>
                  <a:pt x="8597" y="8810"/>
                  <a:pt x="8617" y="8810"/>
                  <a:pt x="8637" y="8850"/>
                </a:cubicBezTo>
                <a:cubicBezTo>
                  <a:pt x="8658" y="8850"/>
                  <a:pt x="8678" y="8850"/>
                  <a:pt x="8719" y="8891"/>
                </a:cubicBezTo>
                <a:lnTo>
                  <a:pt x="8843" y="8891"/>
                </a:lnTo>
                <a:cubicBezTo>
                  <a:pt x="8884" y="9129"/>
                  <a:pt x="8966" y="9248"/>
                  <a:pt x="9048" y="9326"/>
                </a:cubicBezTo>
                <a:cubicBezTo>
                  <a:pt x="9131" y="9446"/>
                  <a:pt x="9233" y="9446"/>
                  <a:pt x="9356" y="9484"/>
                </a:cubicBezTo>
                <a:cubicBezTo>
                  <a:pt x="9419" y="9484"/>
                  <a:pt x="9562" y="9446"/>
                  <a:pt x="9685" y="9446"/>
                </a:cubicBezTo>
                <a:cubicBezTo>
                  <a:pt x="9830" y="9446"/>
                  <a:pt x="9953" y="9484"/>
                  <a:pt x="9995" y="9642"/>
                </a:cubicBezTo>
              </a:path>
            </a:pathLst>
          </a:custGeom>
          <a:noFill/>
          <a:ln w="14288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4" name="Freeform 955"/>
          <p:cNvSpPr>
            <a:spLocks/>
          </p:cNvSpPr>
          <p:nvPr/>
        </p:nvSpPr>
        <p:spPr bwMode="auto">
          <a:xfrm>
            <a:off x="6040662" y="2185732"/>
            <a:ext cx="2019394" cy="3846602"/>
          </a:xfrm>
          <a:custGeom>
            <a:avLst/>
            <a:gdLst>
              <a:gd name="T0" fmla="*/ 782340 w 513"/>
              <a:gd name="T1" fmla="*/ 1976877 h 755"/>
              <a:gd name="T2" fmla="*/ 542358 w 513"/>
              <a:gd name="T3" fmla="*/ 1986473 h 755"/>
              <a:gd name="T4" fmla="*/ 407969 w 513"/>
              <a:gd name="T5" fmla="*/ 1972079 h 755"/>
              <a:gd name="T6" fmla="*/ 355173 w 513"/>
              <a:gd name="T7" fmla="*/ 1981675 h 755"/>
              <a:gd name="T8" fmla="*/ 201585 w 513"/>
              <a:gd name="T9" fmla="*/ 1991272 h 755"/>
              <a:gd name="T10" fmla="*/ 81594 w 513"/>
              <a:gd name="T11" fmla="*/ 2092035 h 755"/>
              <a:gd name="T12" fmla="*/ 0 w 513"/>
              <a:gd name="T13" fmla="*/ 2360736 h 755"/>
              <a:gd name="T14" fmla="*/ 67195 w 513"/>
              <a:gd name="T15" fmla="*/ 2677421 h 755"/>
              <a:gd name="T16" fmla="*/ 268779 w 513"/>
              <a:gd name="T17" fmla="*/ 2758991 h 755"/>
              <a:gd name="T18" fmla="*/ 431967 w 513"/>
              <a:gd name="T19" fmla="*/ 2706210 h 755"/>
              <a:gd name="T20" fmla="*/ 609553 w 513"/>
              <a:gd name="T21" fmla="*/ 2696614 h 755"/>
              <a:gd name="T22" fmla="*/ 791939 w 513"/>
              <a:gd name="T23" fmla="*/ 2715807 h 755"/>
              <a:gd name="T24" fmla="*/ 1012722 w 513"/>
              <a:gd name="T25" fmla="*/ 2730202 h 755"/>
              <a:gd name="T26" fmla="*/ 1281502 w 513"/>
              <a:gd name="T27" fmla="*/ 2706210 h 755"/>
              <a:gd name="T28" fmla="*/ 1564680 w 513"/>
              <a:gd name="T29" fmla="*/ 2720605 h 755"/>
              <a:gd name="T30" fmla="*/ 1780664 w 513"/>
              <a:gd name="T31" fmla="*/ 2850158 h 755"/>
              <a:gd name="T32" fmla="*/ 1915053 w 513"/>
              <a:gd name="T33" fmla="*/ 2960517 h 755"/>
              <a:gd name="T34" fmla="*/ 1963050 w 513"/>
              <a:gd name="T35" fmla="*/ 3003702 h 755"/>
              <a:gd name="T36" fmla="*/ 2001447 w 513"/>
              <a:gd name="T37" fmla="*/ 3032491 h 755"/>
              <a:gd name="T38" fmla="*/ 2035044 w 513"/>
              <a:gd name="T39" fmla="*/ 3046886 h 755"/>
              <a:gd name="T40" fmla="*/ 2111838 w 513"/>
              <a:gd name="T41" fmla="*/ 3099666 h 755"/>
              <a:gd name="T42" fmla="*/ 2260627 w 513"/>
              <a:gd name="T43" fmla="*/ 3114061 h 755"/>
              <a:gd name="T44" fmla="*/ 2323022 w 513"/>
              <a:gd name="T45" fmla="*/ 3181237 h 755"/>
              <a:gd name="T46" fmla="*/ 2279825 w 513"/>
              <a:gd name="T47" fmla="*/ 3238816 h 755"/>
              <a:gd name="T48" fmla="*/ 2126237 w 513"/>
              <a:gd name="T49" fmla="*/ 3243614 h 755"/>
              <a:gd name="T50" fmla="*/ 2015846 w 513"/>
              <a:gd name="T51" fmla="*/ 3301193 h 755"/>
              <a:gd name="T52" fmla="*/ 2063842 w 513"/>
              <a:gd name="T53" fmla="*/ 3349175 h 755"/>
              <a:gd name="T54" fmla="*/ 2236629 w 513"/>
              <a:gd name="T55" fmla="*/ 3349175 h 755"/>
              <a:gd name="T56" fmla="*/ 2150235 w 513"/>
              <a:gd name="T57" fmla="*/ 3483526 h 755"/>
              <a:gd name="T58" fmla="*/ 2121438 w 513"/>
              <a:gd name="T59" fmla="*/ 3617877 h 755"/>
              <a:gd name="T60" fmla="*/ 2433414 w 513"/>
              <a:gd name="T61" fmla="*/ 3272403 h 755"/>
              <a:gd name="T62" fmla="*/ 2462212 w 513"/>
              <a:gd name="T63" fmla="*/ 0 h 755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513"/>
              <a:gd name="T97" fmla="*/ 0 h 755"/>
              <a:gd name="T98" fmla="*/ 513 w 513"/>
              <a:gd name="T99" fmla="*/ 755 h 755"/>
              <a:gd name="connsiteX0" fmla="*/ 3567 w 10000"/>
              <a:gd name="connsiteY0" fmla="*/ 5444 h 9988"/>
              <a:gd name="connsiteX1" fmla="*/ 2690 w 10000"/>
              <a:gd name="connsiteY1" fmla="*/ 5470 h 9988"/>
              <a:gd name="connsiteX2" fmla="*/ 2203 w 10000"/>
              <a:gd name="connsiteY2" fmla="*/ 5483 h 9988"/>
              <a:gd name="connsiteX3" fmla="*/ 1813 w 10000"/>
              <a:gd name="connsiteY3" fmla="*/ 5457 h 9988"/>
              <a:gd name="connsiteX4" fmla="*/ 1657 w 10000"/>
              <a:gd name="connsiteY4" fmla="*/ 5444 h 9988"/>
              <a:gd name="connsiteX5" fmla="*/ 1559 w 10000"/>
              <a:gd name="connsiteY5" fmla="*/ 5457 h 9988"/>
              <a:gd name="connsiteX6" fmla="*/ 1442 w 10000"/>
              <a:gd name="connsiteY6" fmla="*/ 5470 h 9988"/>
              <a:gd name="connsiteX7" fmla="*/ 1287 w 10000"/>
              <a:gd name="connsiteY7" fmla="*/ 5470 h 9988"/>
              <a:gd name="connsiteX8" fmla="*/ 819 w 10000"/>
              <a:gd name="connsiteY8" fmla="*/ 5497 h 9988"/>
              <a:gd name="connsiteX9" fmla="*/ 526 w 10000"/>
              <a:gd name="connsiteY9" fmla="*/ 5589 h 9988"/>
              <a:gd name="connsiteX10" fmla="*/ 331 w 10000"/>
              <a:gd name="connsiteY10" fmla="*/ 5775 h 9988"/>
              <a:gd name="connsiteX11" fmla="*/ 136 w 10000"/>
              <a:gd name="connsiteY11" fmla="*/ 6079 h 9988"/>
              <a:gd name="connsiteX12" fmla="*/ 0 w 10000"/>
              <a:gd name="connsiteY12" fmla="*/ 6517 h 9988"/>
              <a:gd name="connsiteX13" fmla="*/ 39 w 10000"/>
              <a:gd name="connsiteY13" fmla="*/ 6993 h 9988"/>
              <a:gd name="connsiteX14" fmla="*/ 273 w 10000"/>
              <a:gd name="connsiteY14" fmla="*/ 7391 h 9988"/>
              <a:gd name="connsiteX15" fmla="*/ 741 w 10000"/>
              <a:gd name="connsiteY15" fmla="*/ 7616 h 9988"/>
              <a:gd name="connsiteX16" fmla="*/ 1092 w 10000"/>
              <a:gd name="connsiteY16" fmla="*/ 7616 h 9988"/>
              <a:gd name="connsiteX17" fmla="*/ 1423 w 10000"/>
              <a:gd name="connsiteY17" fmla="*/ 7550 h 9988"/>
              <a:gd name="connsiteX18" fmla="*/ 1754 w 10000"/>
              <a:gd name="connsiteY18" fmla="*/ 7470 h 9988"/>
              <a:gd name="connsiteX19" fmla="*/ 2105 w 10000"/>
              <a:gd name="connsiteY19" fmla="*/ 7430 h 9988"/>
              <a:gd name="connsiteX20" fmla="*/ 2476 w 10000"/>
              <a:gd name="connsiteY20" fmla="*/ 7444 h 9988"/>
              <a:gd name="connsiteX21" fmla="*/ 2846 w 10000"/>
              <a:gd name="connsiteY21" fmla="*/ 7470 h 9988"/>
              <a:gd name="connsiteX22" fmla="*/ 3216 w 10000"/>
              <a:gd name="connsiteY22" fmla="*/ 7497 h 9988"/>
              <a:gd name="connsiteX23" fmla="*/ 3567 w 10000"/>
              <a:gd name="connsiteY23" fmla="*/ 7523 h 9988"/>
              <a:gd name="connsiteX24" fmla="*/ 4113 w 10000"/>
              <a:gd name="connsiteY24" fmla="*/ 7536 h 9988"/>
              <a:gd name="connsiteX25" fmla="*/ 4659 w 10000"/>
              <a:gd name="connsiteY25" fmla="*/ 7497 h 9988"/>
              <a:gd name="connsiteX26" fmla="*/ 5205 w 10000"/>
              <a:gd name="connsiteY26" fmla="*/ 7470 h 9988"/>
              <a:gd name="connsiteX27" fmla="*/ 5750 w 10000"/>
              <a:gd name="connsiteY27" fmla="*/ 7457 h 9988"/>
              <a:gd name="connsiteX28" fmla="*/ 6355 w 10000"/>
              <a:gd name="connsiteY28" fmla="*/ 7510 h 9988"/>
              <a:gd name="connsiteX29" fmla="*/ 6823 w 10000"/>
              <a:gd name="connsiteY29" fmla="*/ 7656 h 9988"/>
              <a:gd name="connsiteX30" fmla="*/ 7232 w 10000"/>
              <a:gd name="connsiteY30" fmla="*/ 7868 h 9988"/>
              <a:gd name="connsiteX31" fmla="*/ 7680 w 10000"/>
              <a:gd name="connsiteY31" fmla="*/ 8132 h 9988"/>
              <a:gd name="connsiteX32" fmla="*/ 7778 w 10000"/>
              <a:gd name="connsiteY32" fmla="*/ 8172 h 9988"/>
              <a:gd name="connsiteX33" fmla="*/ 7875 w 10000"/>
              <a:gd name="connsiteY33" fmla="*/ 8238 h 9988"/>
              <a:gd name="connsiteX34" fmla="*/ 7973 w 10000"/>
              <a:gd name="connsiteY34" fmla="*/ 8291 h 9988"/>
              <a:gd name="connsiteX35" fmla="*/ 8070 w 10000"/>
              <a:gd name="connsiteY35" fmla="*/ 8331 h 9988"/>
              <a:gd name="connsiteX36" fmla="*/ 8129 w 10000"/>
              <a:gd name="connsiteY36" fmla="*/ 8371 h 9988"/>
              <a:gd name="connsiteX37" fmla="*/ 8187 w 10000"/>
              <a:gd name="connsiteY37" fmla="*/ 8397 h 9988"/>
              <a:gd name="connsiteX38" fmla="*/ 8265 w 10000"/>
              <a:gd name="connsiteY38" fmla="*/ 8411 h 9988"/>
              <a:gd name="connsiteX39" fmla="*/ 8382 w 10000"/>
              <a:gd name="connsiteY39" fmla="*/ 8411 h 9988"/>
              <a:gd name="connsiteX40" fmla="*/ 8577 w 10000"/>
              <a:gd name="connsiteY40" fmla="*/ 8556 h 9988"/>
              <a:gd name="connsiteX41" fmla="*/ 8869 w 10000"/>
              <a:gd name="connsiteY41" fmla="*/ 8609 h 9988"/>
              <a:gd name="connsiteX42" fmla="*/ 9181 w 10000"/>
              <a:gd name="connsiteY42" fmla="*/ 8596 h 9988"/>
              <a:gd name="connsiteX43" fmla="*/ 9474 w 10000"/>
              <a:gd name="connsiteY43" fmla="*/ 8662 h 9988"/>
              <a:gd name="connsiteX44" fmla="*/ 9435 w 10000"/>
              <a:gd name="connsiteY44" fmla="*/ 8781 h 9988"/>
              <a:gd name="connsiteX45" fmla="*/ 9435 w 10000"/>
              <a:gd name="connsiteY45" fmla="*/ 8914 h 9988"/>
              <a:gd name="connsiteX46" fmla="*/ 9259 w 10000"/>
              <a:gd name="connsiteY46" fmla="*/ 8940 h 9988"/>
              <a:gd name="connsiteX47" fmla="*/ 9064 w 10000"/>
              <a:gd name="connsiteY47" fmla="*/ 8940 h 9988"/>
              <a:gd name="connsiteX48" fmla="*/ 8635 w 10000"/>
              <a:gd name="connsiteY48" fmla="*/ 8954 h 9988"/>
              <a:gd name="connsiteX49" fmla="*/ 8226 w 10000"/>
              <a:gd name="connsiteY49" fmla="*/ 9020 h 9988"/>
              <a:gd name="connsiteX50" fmla="*/ 8187 w 10000"/>
              <a:gd name="connsiteY50" fmla="*/ 9113 h 9988"/>
              <a:gd name="connsiteX51" fmla="*/ 8129 w 10000"/>
              <a:gd name="connsiteY51" fmla="*/ 9179 h 9988"/>
              <a:gd name="connsiteX52" fmla="*/ 8382 w 10000"/>
              <a:gd name="connsiteY52" fmla="*/ 9245 h 9988"/>
              <a:gd name="connsiteX53" fmla="*/ 8713 w 10000"/>
              <a:gd name="connsiteY53" fmla="*/ 9245 h 9988"/>
              <a:gd name="connsiteX54" fmla="*/ 9084 w 10000"/>
              <a:gd name="connsiteY54" fmla="*/ 9245 h 9988"/>
              <a:gd name="connsiteX55" fmla="*/ 9298 w 10000"/>
              <a:gd name="connsiteY55" fmla="*/ 9364 h 9988"/>
              <a:gd name="connsiteX56" fmla="*/ 8733 w 10000"/>
              <a:gd name="connsiteY56" fmla="*/ 9616 h 9988"/>
              <a:gd name="connsiteX57" fmla="*/ 8207 w 10000"/>
              <a:gd name="connsiteY57" fmla="*/ 9987 h 9988"/>
              <a:gd name="connsiteX58" fmla="*/ 8616 w 10000"/>
              <a:gd name="connsiteY58" fmla="*/ 9987 h 9988"/>
              <a:gd name="connsiteX59" fmla="*/ 9162 w 10000"/>
              <a:gd name="connsiteY59" fmla="*/ 9907 h 9988"/>
              <a:gd name="connsiteX60" fmla="*/ 9883 w 10000"/>
              <a:gd name="connsiteY60" fmla="*/ 9033 h 9988"/>
              <a:gd name="connsiteX61" fmla="*/ 9883 w 10000"/>
              <a:gd name="connsiteY61" fmla="*/ 8026 h 9988"/>
              <a:gd name="connsiteX62" fmla="*/ 10000 w 10000"/>
              <a:gd name="connsiteY62" fmla="*/ 0 h 9988"/>
              <a:gd name="connsiteX0" fmla="*/ 3567 w 10000"/>
              <a:gd name="connsiteY0" fmla="*/ 5451 h 10000"/>
              <a:gd name="connsiteX1" fmla="*/ 2690 w 10000"/>
              <a:gd name="connsiteY1" fmla="*/ 5477 h 10000"/>
              <a:gd name="connsiteX2" fmla="*/ 2203 w 10000"/>
              <a:gd name="connsiteY2" fmla="*/ 5490 h 10000"/>
              <a:gd name="connsiteX3" fmla="*/ 1813 w 10000"/>
              <a:gd name="connsiteY3" fmla="*/ 5464 h 10000"/>
              <a:gd name="connsiteX4" fmla="*/ 1657 w 10000"/>
              <a:gd name="connsiteY4" fmla="*/ 5451 h 10000"/>
              <a:gd name="connsiteX5" fmla="*/ 1559 w 10000"/>
              <a:gd name="connsiteY5" fmla="*/ 5464 h 10000"/>
              <a:gd name="connsiteX6" fmla="*/ 1442 w 10000"/>
              <a:gd name="connsiteY6" fmla="*/ 5477 h 10000"/>
              <a:gd name="connsiteX7" fmla="*/ 1287 w 10000"/>
              <a:gd name="connsiteY7" fmla="*/ 5477 h 10000"/>
              <a:gd name="connsiteX8" fmla="*/ 819 w 10000"/>
              <a:gd name="connsiteY8" fmla="*/ 5504 h 10000"/>
              <a:gd name="connsiteX9" fmla="*/ 526 w 10000"/>
              <a:gd name="connsiteY9" fmla="*/ 5596 h 10000"/>
              <a:gd name="connsiteX10" fmla="*/ 331 w 10000"/>
              <a:gd name="connsiteY10" fmla="*/ 5782 h 10000"/>
              <a:gd name="connsiteX11" fmla="*/ 136 w 10000"/>
              <a:gd name="connsiteY11" fmla="*/ 6086 h 10000"/>
              <a:gd name="connsiteX12" fmla="*/ 0 w 10000"/>
              <a:gd name="connsiteY12" fmla="*/ 6525 h 10000"/>
              <a:gd name="connsiteX13" fmla="*/ 39 w 10000"/>
              <a:gd name="connsiteY13" fmla="*/ 7001 h 10000"/>
              <a:gd name="connsiteX14" fmla="*/ 273 w 10000"/>
              <a:gd name="connsiteY14" fmla="*/ 7400 h 10000"/>
              <a:gd name="connsiteX15" fmla="*/ 741 w 10000"/>
              <a:gd name="connsiteY15" fmla="*/ 7625 h 10000"/>
              <a:gd name="connsiteX16" fmla="*/ 1092 w 10000"/>
              <a:gd name="connsiteY16" fmla="*/ 7625 h 10000"/>
              <a:gd name="connsiteX17" fmla="*/ 1423 w 10000"/>
              <a:gd name="connsiteY17" fmla="*/ 7559 h 10000"/>
              <a:gd name="connsiteX18" fmla="*/ 1754 w 10000"/>
              <a:gd name="connsiteY18" fmla="*/ 7479 h 10000"/>
              <a:gd name="connsiteX19" fmla="*/ 2105 w 10000"/>
              <a:gd name="connsiteY19" fmla="*/ 7439 h 10000"/>
              <a:gd name="connsiteX20" fmla="*/ 2476 w 10000"/>
              <a:gd name="connsiteY20" fmla="*/ 7453 h 10000"/>
              <a:gd name="connsiteX21" fmla="*/ 2846 w 10000"/>
              <a:gd name="connsiteY21" fmla="*/ 7479 h 10000"/>
              <a:gd name="connsiteX22" fmla="*/ 3216 w 10000"/>
              <a:gd name="connsiteY22" fmla="*/ 7506 h 10000"/>
              <a:gd name="connsiteX23" fmla="*/ 4113 w 10000"/>
              <a:gd name="connsiteY23" fmla="*/ 7545 h 10000"/>
              <a:gd name="connsiteX24" fmla="*/ 4659 w 10000"/>
              <a:gd name="connsiteY24" fmla="*/ 7506 h 10000"/>
              <a:gd name="connsiteX25" fmla="*/ 5205 w 10000"/>
              <a:gd name="connsiteY25" fmla="*/ 7479 h 10000"/>
              <a:gd name="connsiteX26" fmla="*/ 5750 w 10000"/>
              <a:gd name="connsiteY26" fmla="*/ 7466 h 10000"/>
              <a:gd name="connsiteX27" fmla="*/ 6355 w 10000"/>
              <a:gd name="connsiteY27" fmla="*/ 7519 h 10000"/>
              <a:gd name="connsiteX28" fmla="*/ 6823 w 10000"/>
              <a:gd name="connsiteY28" fmla="*/ 7665 h 10000"/>
              <a:gd name="connsiteX29" fmla="*/ 7232 w 10000"/>
              <a:gd name="connsiteY29" fmla="*/ 7877 h 10000"/>
              <a:gd name="connsiteX30" fmla="*/ 7680 w 10000"/>
              <a:gd name="connsiteY30" fmla="*/ 8142 h 10000"/>
              <a:gd name="connsiteX31" fmla="*/ 7778 w 10000"/>
              <a:gd name="connsiteY31" fmla="*/ 8182 h 10000"/>
              <a:gd name="connsiteX32" fmla="*/ 7875 w 10000"/>
              <a:gd name="connsiteY32" fmla="*/ 8248 h 10000"/>
              <a:gd name="connsiteX33" fmla="*/ 7973 w 10000"/>
              <a:gd name="connsiteY33" fmla="*/ 8301 h 10000"/>
              <a:gd name="connsiteX34" fmla="*/ 8070 w 10000"/>
              <a:gd name="connsiteY34" fmla="*/ 8341 h 10000"/>
              <a:gd name="connsiteX35" fmla="*/ 8129 w 10000"/>
              <a:gd name="connsiteY35" fmla="*/ 8381 h 10000"/>
              <a:gd name="connsiteX36" fmla="*/ 8187 w 10000"/>
              <a:gd name="connsiteY36" fmla="*/ 8407 h 10000"/>
              <a:gd name="connsiteX37" fmla="*/ 8265 w 10000"/>
              <a:gd name="connsiteY37" fmla="*/ 8421 h 10000"/>
              <a:gd name="connsiteX38" fmla="*/ 8382 w 10000"/>
              <a:gd name="connsiteY38" fmla="*/ 8421 h 10000"/>
              <a:gd name="connsiteX39" fmla="*/ 8577 w 10000"/>
              <a:gd name="connsiteY39" fmla="*/ 8566 h 10000"/>
              <a:gd name="connsiteX40" fmla="*/ 8869 w 10000"/>
              <a:gd name="connsiteY40" fmla="*/ 8619 h 10000"/>
              <a:gd name="connsiteX41" fmla="*/ 9181 w 10000"/>
              <a:gd name="connsiteY41" fmla="*/ 8606 h 10000"/>
              <a:gd name="connsiteX42" fmla="*/ 9474 w 10000"/>
              <a:gd name="connsiteY42" fmla="*/ 8672 h 10000"/>
              <a:gd name="connsiteX43" fmla="*/ 9435 w 10000"/>
              <a:gd name="connsiteY43" fmla="*/ 8792 h 10000"/>
              <a:gd name="connsiteX44" fmla="*/ 9435 w 10000"/>
              <a:gd name="connsiteY44" fmla="*/ 8925 h 10000"/>
              <a:gd name="connsiteX45" fmla="*/ 9259 w 10000"/>
              <a:gd name="connsiteY45" fmla="*/ 8951 h 10000"/>
              <a:gd name="connsiteX46" fmla="*/ 9064 w 10000"/>
              <a:gd name="connsiteY46" fmla="*/ 8951 h 10000"/>
              <a:gd name="connsiteX47" fmla="*/ 8635 w 10000"/>
              <a:gd name="connsiteY47" fmla="*/ 8965 h 10000"/>
              <a:gd name="connsiteX48" fmla="*/ 8226 w 10000"/>
              <a:gd name="connsiteY48" fmla="*/ 9031 h 10000"/>
              <a:gd name="connsiteX49" fmla="*/ 8187 w 10000"/>
              <a:gd name="connsiteY49" fmla="*/ 9124 h 10000"/>
              <a:gd name="connsiteX50" fmla="*/ 8129 w 10000"/>
              <a:gd name="connsiteY50" fmla="*/ 9190 h 10000"/>
              <a:gd name="connsiteX51" fmla="*/ 8382 w 10000"/>
              <a:gd name="connsiteY51" fmla="*/ 9256 h 10000"/>
              <a:gd name="connsiteX52" fmla="*/ 8713 w 10000"/>
              <a:gd name="connsiteY52" fmla="*/ 9256 h 10000"/>
              <a:gd name="connsiteX53" fmla="*/ 9084 w 10000"/>
              <a:gd name="connsiteY53" fmla="*/ 9256 h 10000"/>
              <a:gd name="connsiteX54" fmla="*/ 9298 w 10000"/>
              <a:gd name="connsiteY54" fmla="*/ 9375 h 10000"/>
              <a:gd name="connsiteX55" fmla="*/ 8733 w 10000"/>
              <a:gd name="connsiteY55" fmla="*/ 9628 h 10000"/>
              <a:gd name="connsiteX56" fmla="*/ 8207 w 10000"/>
              <a:gd name="connsiteY56" fmla="*/ 9999 h 10000"/>
              <a:gd name="connsiteX57" fmla="*/ 8616 w 10000"/>
              <a:gd name="connsiteY57" fmla="*/ 9999 h 10000"/>
              <a:gd name="connsiteX58" fmla="*/ 9162 w 10000"/>
              <a:gd name="connsiteY58" fmla="*/ 9919 h 10000"/>
              <a:gd name="connsiteX59" fmla="*/ 9883 w 10000"/>
              <a:gd name="connsiteY59" fmla="*/ 9044 h 10000"/>
              <a:gd name="connsiteX60" fmla="*/ 9883 w 10000"/>
              <a:gd name="connsiteY60" fmla="*/ 8036 h 10000"/>
              <a:gd name="connsiteX61" fmla="*/ 10000 w 10000"/>
              <a:gd name="connsiteY61" fmla="*/ 0 h 10000"/>
              <a:gd name="connsiteX0" fmla="*/ 3567 w 10000"/>
              <a:gd name="connsiteY0" fmla="*/ 5451 h 10000"/>
              <a:gd name="connsiteX1" fmla="*/ 2690 w 10000"/>
              <a:gd name="connsiteY1" fmla="*/ 5477 h 10000"/>
              <a:gd name="connsiteX2" fmla="*/ 2203 w 10000"/>
              <a:gd name="connsiteY2" fmla="*/ 5490 h 10000"/>
              <a:gd name="connsiteX3" fmla="*/ 1813 w 10000"/>
              <a:gd name="connsiteY3" fmla="*/ 5464 h 10000"/>
              <a:gd name="connsiteX4" fmla="*/ 1657 w 10000"/>
              <a:gd name="connsiteY4" fmla="*/ 5451 h 10000"/>
              <a:gd name="connsiteX5" fmla="*/ 1559 w 10000"/>
              <a:gd name="connsiteY5" fmla="*/ 5464 h 10000"/>
              <a:gd name="connsiteX6" fmla="*/ 1442 w 10000"/>
              <a:gd name="connsiteY6" fmla="*/ 5477 h 10000"/>
              <a:gd name="connsiteX7" fmla="*/ 1287 w 10000"/>
              <a:gd name="connsiteY7" fmla="*/ 5477 h 10000"/>
              <a:gd name="connsiteX8" fmla="*/ 819 w 10000"/>
              <a:gd name="connsiteY8" fmla="*/ 5504 h 10000"/>
              <a:gd name="connsiteX9" fmla="*/ 526 w 10000"/>
              <a:gd name="connsiteY9" fmla="*/ 5596 h 10000"/>
              <a:gd name="connsiteX10" fmla="*/ 331 w 10000"/>
              <a:gd name="connsiteY10" fmla="*/ 5782 h 10000"/>
              <a:gd name="connsiteX11" fmla="*/ 136 w 10000"/>
              <a:gd name="connsiteY11" fmla="*/ 6086 h 10000"/>
              <a:gd name="connsiteX12" fmla="*/ 0 w 10000"/>
              <a:gd name="connsiteY12" fmla="*/ 6525 h 10000"/>
              <a:gd name="connsiteX13" fmla="*/ 39 w 10000"/>
              <a:gd name="connsiteY13" fmla="*/ 7001 h 10000"/>
              <a:gd name="connsiteX14" fmla="*/ 273 w 10000"/>
              <a:gd name="connsiteY14" fmla="*/ 7400 h 10000"/>
              <a:gd name="connsiteX15" fmla="*/ 741 w 10000"/>
              <a:gd name="connsiteY15" fmla="*/ 7625 h 10000"/>
              <a:gd name="connsiteX16" fmla="*/ 1092 w 10000"/>
              <a:gd name="connsiteY16" fmla="*/ 7625 h 10000"/>
              <a:gd name="connsiteX17" fmla="*/ 1423 w 10000"/>
              <a:gd name="connsiteY17" fmla="*/ 7559 h 10000"/>
              <a:gd name="connsiteX18" fmla="*/ 1754 w 10000"/>
              <a:gd name="connsiteY18" fmla="*/ 7479 h 10000"/>
              <a:gd name="connsiteX19" fmla="*/ 2105 w 10000"/>
              <a:gd name="connsiteY19" fmla="*/ 7439 h 10000"/>
              <a:gd name="connsiteX20" fmla="*/ 2476 w 10000"/>
              <a:gd name="connsiteY20" fmla="*/ 7453 h 10000"/>
              <a:gd name="connsiteX21" fmla="*/ 3216 w 10000"/>
              <a:gd name="connsiteY21" fmla="*/ 7506 h 10000"/>
              <a:gd name="connsiteX22" fmla="*/ 4113 w 10000"/>
              <a:gd name="connsiteY22" fmla="*/ 7545 h 10000"/>
              <a:gd name="connsiteX23" fmla="*/ 4659 w 10000"/>
              <a:gd name="connsiteY23" fmla="*/ 7506 h 10000"/>
              <a:gd name="connsiteX24" fmla="*/ 5205 w 10000"/>
              <a:gd name="connsiteY24" fmla="*/ 7479 h 10000"/>
              <a:gd name="connsiteX25" fmla="*/ 5750 w 10000"/>
              <a:gd name="connsiteY25" fmla="*/ 7466 h 10000"/>
              <a:gd name="connsiteX26" fmla="*/ 6355 w 10000"/>
              <a:gd name="connsiteY26" fmla="*/ 7519 h 10000"/>
              <a:gd name="connsiteX27" fmla="*/ 6823 w 10000"/>
              <a:gd name="connsiteY27" fmla="*/ 7665 h 10000"/>
              <a:gd name="connsiteX28" fmla="*/ 7232 w 10000"/>
              <a:gd name="connsiteY28" fmla="*/ 7877 h 10000"/>
              <a:gd name="connsiteX29" fmla="*/ 7680 w 10000"/>
              <a:gd name="connsiteY29" fmla="*/ 8142 h 10000"/>
              <a:gd name="connsiteX30" fmla="*/ 7778 w 10000"/>
              <a:gd name="connsiteY30" fmla="*/ 8182 h 10000"/>
              <a:gd name="connsiteX31" fmla="*/ 7875 w 10000"/>
              <a:gd name="connsiteY31" fmla="*/ 8248 h 10000"/>
              <a:gd name="connsiteX32" fmla="*/ 7973 w 10000"/>
              <a:gd name="connsiteY32" fmla="*/ 8301 h 10000"/>
              <a:gd name="connsiteX33" fmla="*/ 8070 w 10000"/>
              <a:gd name="connsiteY33" fmla="*/ 8341 h 10000"/>
              <a:gd name="connsiteX34" fmla="*/ 8129 w 10000"/>
              <a:gd name="connsiteY34" fmla="*/ 8381 h 10000"/>
              <a:gd name="connsiteX35" fmla="*/ 8187 w 10000"/>
              <a:gd name="connsiteY35" fmla="*/ 8407 h 10000"/>
              <a:gd name="connsiteX36" fmla="*/ 8265 w 10000"/>
              <a:gd name="connsiteY36" fmla="*/ 8421 h 10000"/>
              <a:gd name="connsiteX37" fmla="*/ 8382 w 10000"/>
              <a:gd name="connsiteY37" fmla="*/ 8421 h 10000"/>
              <a:gd name="connsiteX38" fmla="*/ 8577 w 10000"/>
              <a:gd name="connsiteY38" fmla="*/ 8566 h 10000"/>
              <a:gd name="connsiteX39" fmla="*/ 8869 w 10000"/>
              <a:gd name="connsiteY39" fmla="*/ 8619 h 10000"/>
              <a:gd name="connsiteX40" fmla="*/ 9181 w 10000"/>
              <a:gd name="connsiteY40" fmla="*/ 8606 h 10000"/>
              <a:gd name="connsiteX41" fmla="*/ 9474 w 10000"/>
              <a:gd name="connsiteY41" fmla="*/ 8672 h 10000"/>
              <a:gd name="connsiteX42" fmla="*/ 9435 w 10000"/>
              <a:gd name="connsiteY42" fmla="*/ 8792 h 10000"/>
              <a:gd name="connsiteX43" fmla="*/ 9435 w 10000"/>
              <a:gd name="connsiteY43" fmla="*/ 8925 h 10000"/>
              <a:gd name="connsiteX44" fmla="*/ 9259 w 10000"/>
              <a:gd name="connsiteY44" fmla="*/ 8951 h 10000"/>
              <a:gd name="connsiteX45" fmla="*/ 9064 w 10000"/>
              <a:gd name="connsiteY45" fmla="*/ 8951 h 10000"/>
              <a:gd name="connsiteX46" fmla="*/ 8635 w 10000"/>
              <a:gd name="connsiteY46" fmla="*/ 8965 h 10000"/>
              <a:gd name="connsiteX47" fmla="*/ 8226 w 10000"/>
              <a:gd name="connsiteY47" fmla="*/ 9031 h 10000"/>
              <a:gd name="connsiteX48" fmla="*/ 8187 w 10000"/>
              <a:gd name="connsiteY48" fmla="*/ 9124 h 10000"/>
              <a:gd name="connsiteX49" fmla="*/ 8129 w 10000"/>
              <a:gd name="connsiteY49" fmla="*/ 9190 h 10000"/>
              <a:gd name="connsiteX50" fmla="*/ 8382 w 10000"/>
              <a:gd name="connsiteY50" fmla="*/ 9256 h 10000"/>
              <a:gd name="connsiteX51" fmla="*/ 8713 w 10000"/>
              <a:gd name="connsiteY51" fmla="*/ 9256 h 10000"/>
              <a:gd name="connsiteX52" fmla="*/ 9084 w 10000"/>
              <a:gd name="connsiteY52" fmla="*/ 9256 h 10000"/>
              <a:gd name="connsiteX53" fmla="*/ 9298 w 10000"/>
              <a:gd name="connsiteY53" fmla="*/ 9375 h 10000"/>
              <a:gd name="connsiteX54" fmla="*/ 8733 w 10000"/>
              <a:gd name="connsiteY54" fmla="*/ 9628 h 10000"/>
              <a:gd name="connsiteX55" fmla="*/ 8207 w 10000"/>
              <a:gd name="connsiteY55" fmla="*/ 9999 h 10000"/>
              <a:gd name="connsiteX56" fmla="*/ 8616 w 10000"/>
              <a:gd name="connsiteY56" fmla="*/ 9999 h 10000"/>
              <a:gd name="connsiteX57" fmla="*/ 9162 w 10000"/>
              <a:gd name="connsiteY57" fmla="*/ 9919 h 10000"/>
              <a:gd name="connsiteX58" fmla="*/ 9883 w 10000"/>
              <a:gd name="connsiteY58" fmla="*/ 9044 h 10000"/>
              <a:gd name="connsiteX59" fmla="*/ 9883 w 10000"/>
              <a:gd name="connsiteY59" fmla="*/ 8036 h 10000"/>
              <a:gd name="connsiteX60" fmla="*/ 10000 w 10000"/>
              <a:gd name="connsiteY60" fmla="*/ 0 h 10000"/>
              <a:gd name="connsiteX0" fmla="*/ 3567 w 10000"/>
              <a:gd name="connsiteY0" fmla="*/ 5451 h 10000"/>
              <a:gd name="connsiteX1" fmla="*/ 2203 w 10000"/>
              <a:gd name="connsiteY1" fmla="*/ 5490 h 10000"/>
              <a:gd name="connsiteX2" fmla="*/ 1813 w 10000"/>
              <a:gd name="connsiteY2" fmla="*/ 5464 h 10000"/>
              <a:gd name="connsiteX3" fmla="*/ 1657 w 10000"/>
              <a:gd name="connsiteY3" fmla="*/ 5451 h 10000"/>
              <a:gd name="connsiteX4" fmla="*/ 1559 w 10000"/>
              <a:gd name="connsiteY4" fmla="*/ 5464 h 10000"/>
              <a:gd name="connsiteX5" fmla="*/ 1442 w 10000"/>
              <a:gd name="connsiteY5" fmla="*/ 5477 h 10000"/>
              <a:gd name="connsiteX6" fmla="*/ 1287 w 10000"/>
              <a:gd name="connsiteY6" fmla="*/ 5477 h 10000"/>
              <a:gd name="connsiteX7" fmla="*/ 819 w 10000"/>
              <a:gd name="connsiteY7" fmla="*/ 5504 h 10000"/>
              <a:gd name="connsiteX8" fmla="*/ 526 w 10000"/>
              <a:gd name="connsiteY8" fmla="*/ 5596 h 10000"/>
              <a:gd name="connsiteX9" fmla="*/ 331 w 10000"/>
              <a:gd name="connsiteY9" fmla="*/ 5782 h 10000"/>
              <a:gd name="connsiteX10" fmla="*/ 136 w 10000"/>
              <a:gd name="connsiteY10" fmla="*/ 6086 h 10000"/>
              <a:gd name="connsiteX11" fmla="*/ 0 w 10000"/>
              <a:gd name="connsiteY11" fmla="*/ 6525 h 10000"/>
              <a:gd name="connsiteX12" fmla="*/ 39 w 10000"/>
              <a:gd name="connsiteY12" fmla="*/ 7001 h 10000"/>
              <a:gd name="connsiteX13" fmla="*/ 273 w 10000"/>
              <a:gd name="connsiteY13" fmla="*/ 7400 h 10000"/>
              <a:gd name="connsiteX14" fmla="*/ 741 w 10000"/>
              <a:gd name="connsiteY14" fmla="*/ 7625 h 10000"/>
              <a:gd name="connsiteX15" fmla="*/ 1092 w 10000"/>
              <a:gd name="connsiteY15" fmla="*/ 7625 h 10000"/>
              <a:gd name="connsiteX16" fmla="*/ 1423 w 10000"/>
              <a:gd name="connsiteY16" fmla="*/ 7559 h 10000"/>
              <a:gd name="connsiteX17" fmla="*/ 1754 w 10000"/>
              <a:gd name="connsiteY17" fmla="*/ 7479 h 10000"/>
              <a:gd name="connsiteX18" fmla="*/ 2105 w 10000"/>
              <a:gd name="connsiteY18" fmla="*/ 7439 h 10000"/>
              <a:gd name="connsiteX19" fmla="*/ 2476 w 10000"/>
              <a:gd name="connsiteY19" fmla="*/ 7453 h 10000"/>
              <a:gd name="connsiteX20" fmla="*/ 3216 w 10000"/>
              <a:gd name="connsiteY20" fmla="*/ 7506 h 10000"/>
              <a:gd name="connsiteX21" fmla="*/ 4113 w 10000"/>
              <a:gd name="connsiteY21" fmla="*/ 7545 h 10000"/>
              <a:gd name="connsiteX22" fmla="*/ 4659 w 10000"/>
              <a:gd name="connsiteY22" fmla="*/ 7506 h 10000"/>
              <a:gd name="connsiteX23" fmla="*/ 5205 w 10000"/>
              <a:gd name="connsiteY23" fmla="*/ 7479 h 10000"/>
              <a:gd name="connsiteX24" fmla="*/ 5750 w 10000"/>
              <a:gd name="connsiteY24" fmla="*/ 7466 h 10000"/>
              <a:gd name="connsiteX25" fmla="*/ 6355 w 10000"/>
              <a:gd name="connsiteY25" fmla="*/ 7519 h 10000"/>
              <a:gd name="connsiteX26" fmla="*/ 6823 w 10000"/>
              <a:gd name="connsiteY26" fmla="*/ 7665 h 10000"/>
              <a:gd name="connsiteX27" fmla="*/ 7232 w 10000"/>
              <a:gd name="connsiteY27" fmla="*/ 7877 h 10000"/>
              <a:gd name="connsiteX28" fmla="*/ 7680 w 10000"/>
              <a:gd name="connsiteY28" fmla="*/ 8142 h 10000"/>
              <a:gd name="connsiteX29" fmla="*/ 7778 w 10000"/>
              <a:gd name="connsiteY29" fmla="*/ 8182 h 10000"/>
              <a:gd name="connsiteX30" fmla="*/ 7875 w 10000"/>
              <a:gd name="connsiteY30" fmla="*/ 8248 h 10000"/>
              <a:gd name="connsiteX31" fmla="*/ 7973 w 10000"/>
              <a:gd name="connsiteY31" fmla="*/ 8301 h 10000"/>
              <a:gd name="connsiteX32" fmla="*/ 8070 w 10000"/>
              <a:gd name="connsiteY32" fmla="*/ 8341 h 10000"/>
              <a:gd name="connsiteX33" fmla="*/ 8129 w 10000"/>
              <a:gd name="connsiteY33" fmla="*/ 8381 h 10000"/>
              <a:gd name="connsiteX34" fmla="*/ 8187 w 10000"/>
              <a:gd name="connsiteY34" fmla="*/ 8407 h 10000"/>
              <a:gd name="connsiteX35" fmla="*/ 8265 w 10000"/>
              <a:gd name="connsiteY35" fmla="*/ 8421 h 10000"/>
              <a:gd name="connsiteX36" fmla="*/ 8382 w 10000"/>
              <a:gd name="connsiteY36" fmla="*/ 8421 h 10000"/>
              <a:gd name="connsiteX37" fmla="*/ 8577 w 10000"/>
              <a:gd name="connsiteY37" fmla="*/ 8566 h 10000"/>
              <a:gd name="connsiteX38" fmla="*/ 8869 w 10000"/>
              <a:gd name="connsiteY38" fmla="*/ 8619 h 10000"/>
              <a:gd name="connsiteX39" fmla="*/ 9181 w 10000"/>
              <a:gd name="connsiteY39" fmla="*/ 8606 h 10000"/>
              <a:gd name="connsiteX40" fmla="*/ 9474 w 10000"/>
              <a:gd name="connsiteY40" fmla="*/ 8672 h 10000"/>
              <a:gd name="connsiteX41" fmla="*/ 9435 w 10000"/>
              <a:gd name="connsiteY41" fmla="*/ 8792 h 10000"/>
              <a:gd name="connsiteX42" fmla="*/ 9435 w 10000"/>
              <a:gd name="connsiteY42" fmla="*/ 8925 h 10000"/>
              <a:gd name="connsiteX43" fmla="*/ 9259 w 10000"/>
              <a:gd name="connsiteY43" fmla="*/ 8951 h 10000"/>
              <a:gd name="connsiteX44" fmla="*/ 9064 w 10000"/>
              <a:gd name="connsiteY44" fmla="*/ 8951 h 10000"/>
              <a:gd name="connsiteX45" fmla="*/ 8635 w 10000"/>
              <a:gd name="connsiteY45" fmla="*/ 8965 h 10000"/>
              <a:gd name="connsiteX46" fmla="*/ 8226 w 10000"/>
              <a:gd name="connsiteY46" fmla="*/ 9031 h 10000"/>
              <a:gd name="connsiteX47" fmla="*/ 8187 w 10000"/>
              <a:gd name="connsiteY47" fmla="*/ 9124 h 10000"/>
              <a:gd name="connsiteX48" fmla="*/ 8129 w 10000"/>
              <a:gd name="connsiteY48" fmla="*/ 9190 h 10000"/>
              <a:gd name="connsiteX49" fmla="*/ 8382 w 10000"/>
              <a:gd name="connsiteY49" fmla="*/ 9256 h 10000"/>
              <a:gd name="connsiteX50" fmla="*/ 8713 w 10000"/>
              <a:gd name="connsiteY50" fmla="*/ 9256 h 10000"/>
              <a:gd name="connsiteX51" fmla="*/ 9084 w 10000"/>
              <a:gd name="connsiteY51" fmla="*/ 9256 h 10000"/>
              <a:gd name="connsiteX52" fmla="*/ 9298 w 10000"/>
              <a:gd name="connsiteY52" fmla="*/ 9375 h 10000"/>
              <a:gd name="connsiteX53" fmla="*/ 8733 w 10000"/>
              <a:gd name="connsiteY53" fmla="*/ 9628 h 10000"/>
              <a:gd name="connsiteX54" fmla="*/ 8207 w 10000"/>
              <a:gd name="connsiteY54" fmla="*/ 9999 h 10000"/>
              <a:gd name="connsiteX55" fmla="*/ 8616 w 10000"/>
              <a:gd name="connsiteY55" fmla="*/ 9999 h 10000"/>
              <a:gd name="connsiteX56" fmla="*/ 9162 w 10000"/>
              <a:gd name="connsiteY56" fmla="*/ 9919 h 10000"/>
              <a:gd name="connsiteX57" fmla="*/ 9883 w 10000"/>
              <a:gd name="connsiteY57" fmla="*/ 9044 h 10000"/>
              <a:gd name="connsiteX58" fmla="*/ 9883 w 10000"/>
              <a:gd name="connsiteY58" fmla="*/ 8036 h 10000"/>
              <a:gd name="connsiteX59" fmla="*/ 10000 w 10000"/>
              <a:gd name="connsiteY59" fmla="*/ 0 h 10000"/>
              <a:gd name="connsiteX0" fmla="*/ 2203 w 10000"/>
              <a:gd name="connsiteY0" fmla="*/ 5490 h 10000"/>
              <a:gd name="connsiteX1" fmla="*/ 1813 w 10000"/>
              <a:gd name="connsiteY1" fmla="*/ 5464 h 10000"/>
              <a:gd name="connsiteX2" fmla="*/ 1657 w 10000"/>
              <a:gd name="connsiteY2" fmla="*/ 5451 h 10000"/>
              <a:gd name="connsiteX3" fmla="*/ 1559 w 10000"/>
              <a:gd name="connsiteY3" fmla="*/ 5464 h 10000"/>
              <a:gd name="connsiteX4" fmla="*/ 1442 w 10000"/>
              <a:gd name="connsiteY4" fmla="*/ 5477 h 10000"/>
              <a:gd name="connsiteX5" fmla="*/ 1287 w 10000"/>
              <a:gd name="connsiteY5" fmla="*/ 5477 h 10000"/>
              <a:gd name="connsiteX6" fmla="*/ 819 w 10000"/>
              <a:gd name="connsiteY6" fmla="*/ 5504 h 10000"/>
              <a:gd name="connsiteX7" fmla="*/ 526 w 10000"/>
              <a:gd name="connsiteY7" fmla="*/ 5596 h 10000"/>
              <a:gd name="connsiteX8" fmla="*/ 331 w 10000"/>
              <a:gd name="connsiteY8" fmla="*/ 5782 h 10000"/>
              <a:gd name="connsiteX9" fmla="*/ 136 w 10000"/>
              <a:gd name="connsiteY9" fmla="*/ 6086 h 10000"/>
              <a:gd name="connsiteX10" fmla="*/ 0 w 10000"/>
              <a:gd name="connsiteY10" fmla="*/ 6525 h 10000"/>
              <a:gd name="connsiteX11" fmla="*/ 39 w 10000"/>
              <a:gd name="connsiteY11" fmla="*/ 7001 h 10000"/>
              <a:gd name="connsiteX12" fmla="*/ 273 w 10000"/>
              <a:gd name="connsiteY12" fmla="*/ 7400 h 10000"/>
              <a:gd name="connsiteX13" fmla="*/ 741 w 10000"/>
              <a:gd name="connsiteY13" fmla="*/ 7625 h 10000"/>
              <a:gd name="connsiteX14" fmla="*/ 1092 w 10000"/>
              <a:gd name="connsiteY14" fmla="*/ 7625 h 10000"/>
              <a:gd name="connsiteX15" fmla="*/ 1423 w 10000"/>
              <a:gd name="connsiteY15" fmla="*/ 7559 h 10000"/>
              <a:gd name="connsiteX16" fmla="*/ 1754 w 10000"/>
              <a:gd name="connsiteY16" fmla="*/ 7479 h 10000"/>
              <a:gd name="connsiteX17" fmla="*/ 2105 w 10000"/>
              <a:gd name="connsiteY17" fmla="*/ 7439 h 10000"/>
              <a:gd name="connsiteX18" fmla="*/ 2476 w 10000"/>
              <a:gd name="connsiteY18" fmla="*/ 7453 h 10000"/>
              <a:gd name="connsiteX19" fmla="*/ 3216 w 10000"/>
              <a:gd name="connsiteY19" fmla="*/ 7506 h 10000"/>
              <a:gd name="connsiteX20" fmla="*/ 4113 w 10000"/>
              <a:gd name="connsiteY20" fmla="*/ 7545 h 10000"/>
              <a:gd name="connsiteX21" fmla="*/ 4659 w 10000"/>
              <a:gd name="connsiteY21" fmla="*/ 7506 h 10000"/>
              <a:gd name="connsiteX22" fmla="*/ 5205 w 10000"/>
              <a:gd name="connsiteY22" fmla="*/ 7479 h 10000"/>
              <a:gd name="connsiteX23" fmla="*/ 5750 w 10000"/>
              <a:gd name="connsiteY23" fmla="*/ 7466 h 10000"/>
              <a:gd name="connsiteX24" fmla="*/ 6355 w 10000"/>
              <a:gd name="connsiteY24" fmla="*/ 7519 h 10000"/>
              <a:gd name="connsiteX25" fmla="*/ 6823 w 10000"/>
              <a:gd name="connsiteY25" fmla="*/ 7665 h 10000"/>
              <a:gd name="connsiteX26" fmla="*/ 7232 w 10000"/>
              <a:gd name="connsiteY26" fmla="*/ 7877 h 10000"/>
              <a:gd name="connsiteX27" fmla="*/ 7680 w 10000"/>
              <a:gd name="connsiteY27" fmla="*/ 8142 h 10000"/>
              <a:gd name="connsiteX28" fmla="*/ 7778 w 10000"/>
              <a:gd name="connsiteY28" fmla="*/ 8182 h 10000"/>
              <a:gd name="connsiteX29" fmla="*/ 7875 w 10000"/>
              <a:gd name="connsiteY29" fmla="*/ 8248 h 10000"/>
              <a:gd name="connsiteX30" fmla="*/ 7973 w 10000"/>
              <a:gd name="connsiteY30" fmla="*/ 8301 h 10000"/>
              <a:gd name="connsiteX31" fmla="*/ 8070 w 10000"/>
              <a:gd name="connsiteY31" fmla="*/ 8341 h 10000"/>
              <a:gd name="connsiteX32" fmla="*/ 8129 w 10000"/>
              <a:gd name="connsiteY32" fmla="*/ 8381 h 10000"/>
              <a:gd name="connsiteX33" fmla="*/ 8187 w 10000"/>
              <a:gd name="connsiteY33" fmla="*/ 8407 h 10000"/>
              <a:gd name="connsiteX34" fmla="*/ 8265 w 10000"/>
              <a:gd name="connsiteY34" fmla="*/ 8421 h 10000"/>
              <a:gd name="connsiteX35" fmla="*/ 8382 w 10000"/>
              <a:gd name="connsiteY35" fmla="*/ 8421 h 10000"/>
              <a:gd name="connsiteX36" fmla="*/ 8577 w 10000"/>
              <a:gd name="connsiteY36" fmla="*/ 8566 h 10000"/>
              <a:gd name="connsiteX37" fmla="*/ 8869 w 10000"/>
              <a:gd name="connsiteY37" fmla="*/ 8619 h 10000"/>
              <a:gd name="connsiteX38" fmla="*/ 9181 w 10000"/>
              <a:gd name="connsiteY38" fmla="*/ 8606 h 10000"/>
              <a:gd name="connsiteX39" fmla="*/ 9474 w 10000"/>
              <a:gd name="connsiteY39" fmla="*/ 8672 h 10000"/>
              <a:gd name="connsiteX40" fmla="*/ 9435 w 10000"/>
              <a:gd name="connsiteY40" fmla="*/ 8792 h 10000"/>
              <a:gd name="connsiteX41" fmla="*/ 9435 w 10000"/>
              <a:gd name="connsiteY41" fmla="*/ 8925 h 10000"/>
              <a:gd name="connsiteX42" fmla="*/ 9259 w 10000"/>
              <a:gd name="connsiteY42" fmla="*/ 8951 h 10000"/>
              <a:gd name="connsiteX43" fmla="*/ 9064 w 10000"/>
              <a:gd name="connsiteY43" fmla="*/ 8951 h 10000"/>
              <a:gd name="connsiteX44" fmla="*/ 8635 w 10000"/>
              <a:gd name="connsiteY44" fmla="*/ 8965 h 10000"/>
              <a:gd name="connsiteX45" fmla="*/ 8226 w 10000"/>
              <a:gd name="connsiteY45" fmla="*/ 9031 h 10000"/>
              <a:gd name="connsiteX46" fmla="*/ 8187 w 10000"/>
              <a:gd name="connsiteY46" fmla="*/ 9124 h 10000"/>
              <a:gd name="connsiteX47" fmla="*/ 8129 w 10000"/>
              <a:gd name="connsiteY47" fmla="*/ 9190 h 10000"/>
              <a:gd name="connsiteX48" fmla="*/ 8382 w 10000"/>
              <a:gd name="connsiteY48" fmla="*/ 9256 h 10000"/>
              <a:gd name="connsiteX49" fmla="*/ 8713 w 10000"/>
              <a:gd name="connsiteY49" fmla="*/ 9256 h 10000"/>
              <a:gd name="connsiteX50" fmla="*/ 9084 w 10000"/>
              <a:gd name="connsiteY50" fmla="*/ 9256 h 10000"/>
              <a:gd name="connsiteX51" fmla="*/ 9298 w 10000"/>
              <a:gd name="connsiteY51" fmla="*/ 9375 h 10000"/>
              <a:gd name="connsiteX52" fmla="*/ 8733 w 10000"/>
              <a:gd name="connsiteY52" fmla="*/ 9628 h 10000"/>
              <a:gd name="connsiteX53" fmla="*/ 8207 w 10000"/>
              <a:gd name="connsiteY53" fmla="*/ 9999 h 10000"/>
              <a:gd name="connsiteX54" fmla="*/ 8616 w 10000"/>
              <a:gd name="connsiteY54" fmla="*/ 9999 h 10000"/>
              <a:gd name="connsiteX55" fmla="*/ 9162 w 10000"/>
              <a:gd name="connsiteY55" fmla="*/ 9919 h 10000"/>
              <a:gd name="connsiteX56" fmla="*/ 9883 w 10000"/>
              <a:gd name="connsiteY56" fmla="*/ 9044 h 10000"/>
              <a:gd name="connsiteX57" fmla="*/ 9883 w 10000"/>
              <a:gd name="connsiteY57" fmla="*/ 8036 h 10000"/>
              <a:gd name="connsiteX58" fmla="*/ 10000 w 10000"/>
              <a:gd name="connsiteY58" fmla="*/ 0 h 10000"/>
              <a:gd name="connsiteX0" fmla="*/ 1813 w 10000"/>
              <a:gd name="connsiteY0" fmla="*/ 5464 h 10000"/>
              <a:gd name="connsiteX1" fmla="*/ 1657 w 10000"/>
              <a:gd name="connsiteY1" fmla="*/ 5451 h 10000"/>
              <a:gd name="connsiteX2" fmla="*/ 1559 w 10000"/>
              <a:gd name="connsiteY2" fmla="*/ 5464 h 10000"/>
              <a:gd name="connsiteX3" fmla="*/ 1442 w 10000"/>
              <a:gd name="connsiteY3" fmla="*/ 5477 h 10000"/>
              <a:gd name="connsiteX4" fmla="*/ 1287 w 10000"/>
              <a:gd name="connsiteY4" fmla="*/ 5477 h 10000"/>
              <a:gd name="connsiteX5" fmla="*/ 819 w 10000"/>
              <a:gd name="connsiteY5" fmla="*/ 5504 h 10000"/>
              <a:gd name="connsiteX6" fmla="*/ 526 w 10000"/>
              <a:gd name="connsiteY6" fmla="*/ 5596 h 10000"/>
              <a:gd name="connsiteX7" fmla="*/ 331 w 10000"/>
              <a:gd name="connsiteY7" fmla="*/ 5782 h 10000"/>
              <a:gd name="connsiteX8" fmla="*/ 136 w 10000"/>
              <a:gd name="connsiteY8" fmla="*/ 6086 h 10000"/>
              <a:gd name="connsiteX9" fmla="*/ 0 w 10000"/>
              <a:gd name="connsiteY9" fmla="*/ 6525 h 10000"/>
              <a:gd name="connsiteX10" fmla="*/ 39 w 10000"/>
              <a:gd name="connsiteY10" fmla="*/ 7001 h 10000"/>
              <a:gd name="connsiteX11" fmla="*/ 273 w 10000"/>
              <a:gd name="connsiteY11" fmla="*/ 7400 h 10000"/>
              <a:gd name="connsiteX12" fmla="*/ 741 w 10000"/>
              <a:gd name="connsiteY12" fmla="*/ 7625 h 10000"/>
              <a:gd name="connsiteX13" fmla="*/ 1092 w 10000"/>
              <a:gd name="connsiteY13" fmla="*/ 7625 h 10000"/>
              <a:gd name="connsiteX14" fmla="*/ 1423 w 10000"/>
              <a:gd name="connsiteY14" fmla="*/ 7559 h 10000"/>
              <a:gd name="connsiteX15" fmla="*/ 1754 w 10000"/>
              <a:gd name="connsiteY15" fmla="*/ 7479 h 10000"/>
              <a:gd name="connsiteX16" fmla="*/ 2105 w 10000"/>
              <a:gd name="connsiteY16" fmla="*/ 7439 h 10000"/>
              <a:gd name="connsiteX17" fmla="*/ 2476 w 10000"/>
              <a:gd name="connsiteY17" fmla="*/ 7453 h 10000"/>
              <a:gd name="connsiteX18" fmla="*/ 3216 w 10000"/>
              <a:gd name="connsiteY18" fmla="*/ 7506 h 10000"/>
              <a:gd name="connsiteX19" fmla="*/ 4113 w 10000"/>
              <a:gd name="connsiteY19" fmla="*/ 7545 h 10000"/>
              <a:gd name="connsiteX20" fmla="*/ 4659 w 10000"/>
              <a:gd name="connsiteY20" fmla="*/ 7506 h 10000"/>
              <a:gd name="connsiteX21" fmla="*/ 5205 w 10000"/>
              <a:gd name="connsiteY21" fmla="*/ 7479 h 10000"/>
              <a:gd name="connsiteX22" fmla="*/ 5750 w 10000"/>
              <a:gd name="connsiteY22" fmla="*/ 7466 h 10000"/>
              <a:gd name="connsiteX23" fmla="*/ 6355 w 10000"/>
              <a:gd name="connsiteY23" fmla="*/ 7519 h 10000"/>
              <a:gd name="connsiteX24" fmla="*/ 6823 w 10000"/>
              <a:gd name="connsiteY24" fmla="*/ 7665 h 10000"/>
              <a:gd name="connsiteX25" fmla="*/ 7232 w 10000"/>
              <a:gd name="connsiteY25" fmla="*/ 7877 h 10000"/>
              <a:gd name="connsiteX26" fmla="*/ 7680 w 10000"/>
              <a:gd name="connsiteY26" fmla="*/ 8142 h 10000"/>
              <a:gd name="connsiteX27" fmla="*/ 7778 w 10000"/>
              <a:gd name="connsiteY27" fmla="*/ 8182 h 10000"/>
              <a:gd name="connsiteX28" fmla="*/ 7875 w 10000"/>
              <a:gd name="connsiteY28" fmla="*/ 8248 h 10000"/>
              <a:gd name="connsiteX29" fmla="*/ 7973 w 10000"/>
              <a:gd name="connsiteY29" fmla="*/ 8301 h 10000"/>
              <a:gd name="connsiteX30" fmla="*/ 8070 w 10000"/>
              <a:gd name="connsiteY30" fmla="*/ 8341 h 10000"/>
              <a:gd name="connsiteX31" fmla="*/ 8129 w 10000"/>
              <a:gd name="connsiteY31" fmla="*/ 8381 h 10000"/>
              <a:gd name="connsiteX32" fmla="*/ 8187 w 10000"/>
              <a:gd name="connsiteY32" fmla="*/ 8407 h 10000"/>
              <a:gd name="connsiteX33" fmla="*/ 8265 w 10000"/>
              <a:gd name="connsiteY33" fmla="*/ 8421 h 10000"/>
              <a:gd name="connsiteX34" fmla="*/ 8382 w 10000"/>
              <a:gd name="connsiteY34" fmla="*/ 8421 h 10000"/>
              <a:gd name="connsiteX35" fmla="*/ 8577 w 10000"/>
              <a:gd name="connsiteY35" fmla="*/ 8566 h 10000"/>
              <a:gd name="connsiteX36" fmla="*/ 8869 w 10000"/>
              <a:gd name="connsiteY36" fmla="*/ 8619 h 10000"/>
              <a:gd name="connsiteX37" fmla="*/ 9181 w 10000"/>
              <a:gd name="connsiteY37" fmla="*/ 8606 h 10000"/>
              <a:gd name="connsiteX38" fmla="*/ 9474 w 10000"/>
              <a:gd name="connsiteY38" fmla="*/ 8672 h 10000"/>
              <a:gd name="connsiteX39" fmla="*/ 9435 w 10000"/>
              <a:gd name="connsiteY39" fmla="*/ 8792 h 10000"/>
              <a:gd name="connsiteX40" fmla="*/ 9435 w 10000"/>
              <a:gd name="connsiteY40" fmla="*/ 8925 h 10000"/>
              <a:gd name="connsiteX41" fmla="*/ 9259 w 10000"/>
              <a:gd name="connsiteY41" fmla="*/ 8951 h 10000"/>
              <a:gd name="connsiteX42" fmla="*/ 9064 w 10000"/>
              <a:gd name="connsiteY42" fmla="*/ 8951 h 10000"/>
              <a:gd name="connsiteX43" fmla="*/ 8635 w 10000"/>
              <a:gd name="connsiteY43" fmla="*/ 8965 h 10000"/>
              <a:gd name="connsiteX44" fmla="*/ 8226 w 10000"/>
              <a:gd name="connsiteY44" fmla="*/ 9031 h 10000"/>
              <a:gd name="connsiteX45" fmla="*/ 8187 w 10000"/>
              <a:gd name="connsiteY45" fmla="*/ 9124 h 10000"/>
              <a:gd name="connsiteX46" fmla="*/ 8129 w 10000"/>
              <a:gd name="connsiteY46" fmla="*/ 9190 h 10000"/>
              <a:gd name="connsiteX47" fmla="*/ 8382 w 10000"/>
              <a:gd name="connsiteY47" fmla="*/ 9256 h 10000"/>
              <a:gd name="connsiteX48" fmla="*/ 8713 w 10000"/>
              <a:gd name="connsiteY48" fmla="*/ 9256 h 10000"/>
              <a:gd name="connsiteX49" fmla="*/ 9084 w 10000"/>
              <a:gd name="connsiteY49" fmla="*/ 9256 h 10000"/>
              <a:gd name="connsiteX50" fmla="*/ 9298 w 10000"/>
              <a:gd name="connsiteY50" fmla="*/ 9375 h 10000"/>
              <a:gd name="connsiteX51" fmla="*/ 8733 w 10000"/>
              <a:gd name="connsiteY51" fmla="*/ 9628 h 10000"/>
              <a:gd name="connsiteX52" fmla="*/ 8207 w 10000"/>
              <a:gd name="connsiteY52" fmla="*/ 9999 h 10000"/>
              <a:gd name="connsiteX53" fmla="*/ 8616 w 10000"/>
              <a:gd name="connsiteY53" fmla="*/ 9999 h 10000"/>
              <a:gd name="connsiteX54" fmla="*/ 9162 w 10000"/>
              <a:gd name="connsiteY54" fmla="*/ 9919 h 10000"/>
              <a:gd name="connsiteX55" fmla="*/ 9883 w 10000"/>
              <a:gd name="connsiteY55" fmla="*/ 9044 h 10000"/>
              <a:gd name="connsiteX56" fmla="*/ 9883 w 10000"/>
              <a:gd name="connsiteY56" fmla="*/ 8036 h 10000"/>
              <a:gd name="connsiteX57" fmla="*/ 10000 w 10000"/>
              <a:gd name="connsiteY57" fmla="*/ 0 h 10000"/>
              <a:gd name="connsiteX0" fmla="*/ 1813 w 10000"/>
              <a:gd name="connsiteY0" fmla="*/ 5464 h 10000"/>
              <a:gd name="connsiteX1" fmla="*/ 1657 w 10000"/>
              <a:gd name="connsiteY1" fmla="*/ 5451 h 10000"/>
              <a:gd name="connsiteX2" fmla="*/ 1559 w 10000"/>
              <a:gd name="connsiteY2" fmla="*/ 5464 h 10000"/>
              <a:gd name="connsiteX3" fmla="*/ 1442 w 10000"/>
              <a:gd name="connsiteY3" fmla="*/ 5477 h 10000"/>
              <a:gd name="connsiteX4" fmla="*/ 819 w 10000"/>
              <a:gd name="connsiteY4" fmla="*/ 5504 h 10000"/>
              <a:gd name="connsiteX5" fmla="*/ 526 w 10000"/>
              <a:gd name="connsiteY5" fmla="*/ 5596 h 10000"/>
              <a:gd name="connsiteX6" fmla="*/ 331 w 10000"/>
              <a:gd name="connsiteY6" fmla="*/ 5782 h 10000"/>
              <a:gd name="connsiteX7" fmla="*/ 136 w 10000"/>
              <a:gd name="connsiteY7" fmla="*/ 6086 h 10000"/>
              <a:gd name="connsiteX8" fmla="*/ 0 w 10000"/>
              <a:gd name="connsiteY8" fmla="*/ 6525 h 10000"/>
              <a:gd name="connsiteX9" fmla="*/ 39 w 10000"/>
              <a:gd name="connsiteY9" fmla="*/ 7001 h 10000"/>
              <a:gd name="connsiteX10" fmla="*/ 273 w 10000"/>
              <a:gd name="connsiteY10" fmla="*/ 7400 h 10000"/>
              <a:gd name="connsiteX11" fmla="*/ 741 w 10000"/>
              <a:gd name="connsiteY11" fmla="*/ 7625 h 10000"/>
              <a:gd name="connsiteX12" fmla="*/ 1092 w 10000"/>
              <a:gd name="connsiteY12" fmla="*/ 7625 h 10000"/>
              <a:gd name="connsiteX13" fmla="*/ 1423 w 10000"/>
              <a:gd name="connsiteY13" fmla="*/ 7559 h 10000"/>
              <a:gd name="connsiteX14" fmla="*/ 1754 w 10000"/>
              <a:gd name="connsiteY14" fmla="*/ 7479 h 10000"/>
              <a:gd name="connsiteX15" fmla="*/ 2105 w 10000"/>
              <a:gd name="connsiteY15" fmla="*/ 7439 h 10000"/>
              <a:gd name="connsiteX16" fmla="*/ 2476 w 10000"/>
              <a:gd name="connsiteY16" fmla="*/ 7453 h 10000"/>
              <a:gd name="connsiteX17" fmla="*/ 3216 w 10000"/>
              <a:gd name="connsiteY17" fmla="*/ 7506 h 10000"/>
              <a:gd name="connsiteX18" fmla="*/ 4113 w 10000"/>
              <a:gd name="connsiteY18" fmla="*/ 7545 h 10000"/>
              <a:gd name="connsiteX19" fmla="*/ 4659 w 10000"/>
              <a:gd name="connsiteY19" fmla="*/ 7506 h 10000"/>
              <a:gd name="connsiteX20" fmla="*/ 5205 w 10000"/>
              <a:gd name="connsiteY20" fmla="*/ 7479 h 10000"/>
              <a:gd name="connsiteX21" fmla="*/ 5750 w 10000"/>
              <a:gd name="connsiteY21" fmla="*/ 7466 h 10000"/>
              <a:gd name="connsiteX22" fmla="*/ 6355 w 10000"/>
              <a:gd name="connsiteY22" fmla="*/ 7519 h 10000"/>
              <a:gd name="connsiteX23" fmla="*/ 6823 w 10000"/>
              <a:gd name="connsiteY23" fmla="*/ 7665 h 10000"/>
              <a:gd name="connsiteX24" fmla="*/ 7232 w 10000"/>
              <a:gd name="connsiteY24" fmla="*/ 7877 h 10000"/>
              <a:gd name="connsiteX25" fmla="*/ 7680 w 10000"/>
              <a:gd name="connsiteY25" fmla="*/ 8142 h 10000"/>
              <a:gd name="connsiteX26" fmla="*/ 7778 w 10000"/>
              <a:gd name="connsiteY26" fmla="*/ 8182 h 10000"/>
              <a:gd name="connsiteX27" fmla="*/ 7875 w 10000"/>
              <a:gd name="connsiteY27" fmla="*/ 8248 h 10000"/>
              <a:gd name="connsiteX28" fmla="*/ 7973 w 10000"/>
              <a:gd name="connsiteY28" fmla="*/ 8301 h 10000"/>
              <a:gd name="connsiteX29" fmla="*/ 8070 w 10000"/>
              <a:gd name="connsiteY29" fmla="*/ 8341 h 10000"/>
              <a:gd name="connsiteX30" fmla="*/ 8129 w 10000"/>
              <a:gd name="connsiteY30" fmla="*/ 8381 h 10000"/>
              <a:gd name="connsiteX31" fmla="*/ 8187 w 10000"/>
              <a:gd name="connsiteY31" fmla="*/ 8407 h 10000"/>
              <a:gd name="connsiteX32" fmla="*/ 8265 w 10000"/>
              <a:gd name="connsiteY32" fmla="*/ 8421 h 10000"/>
              <a:gd name="connsiteX33" fmla="*/ 8382 w 10000"/>
              <a:gd name="connsiteY33" fmla="*/ 8421 h 10000"/>
              <a:gd name="connsiteX34" fmla="*/ 8577 w 10000"/>
              <a:gd name="connsiteY34" fmla="*/ 8566 h 10000"/>
              <a:gd name="connsiteX35" fmla="*/ 8869 w 10000"/>
              <a:gd name="connsiteY35" fmla="*/ 8619 h 10000"/>
              <a:gd name="connsiteX36" fmla="*/ 9181 w 10000"/>
              <a:gd name="connsiteY36" fmla="*/ 8606 h 10000"/>
              <a:gd name="connsiteX37" fmla="*/ 9474 w 10000"/>
              <a:gd name="connsiteY37" fmla="*/ 8672 h 10000"/>
              <a:gd name="connsiteX38" fmla="*/ 9435 w 10000"/>
              <a:gd name="connsiteY38" fmla="*/ 8792 h 10000"/>
              <a:gd name="connsiteX39" fmla="*/ 9435 w 10000"/>
              <a:gd name="connsiteY39" fmla="*/ 8925 h 10000"/>
              <a:gd name="connsiteX40" fmla="*/ 9259 w 10000"/>
              <a:gd name="connsiteY40" fmla="*/ 8951 h 10000"/>
              <a:gd name="connsiteX41" fmla="*/ 9064 w 10000"/>
              <a:gd name="connsiteY41" fmla="*/ 8951 h 10000"/>
              <a:gd name="connsiteX42" fmla="*/ 8635 w 10000"/>
              <a:gd name="connsiteY42" fmla="*/ 8965 h 10000"/>
              <a:gd name="connsiteX43" fmla="*/ 8226 w 10000"/>
              <a:gd name="connsiteY43" fmla="*/ 9031 h 10000"/>
              <a:gd name="connsiteX44" fmla="*/ 8187 w 10000"/>
              <a:gd name="connsiteY44" fmla="*/ 9124 h 10000"/>
              <a:gd name="connsiteX45" fmla="*/ 8129 w 10000"/>
              <a:gd name="connsiteY45" fmla="*/ 9190 h 10000"/>
              <a:gd name="connsiteX46" fmla="*/ 8382 w 10000"/>
              <a:gd name="connsiteY46" fmla="*/ 9256 h 10000"/>
              <a:gd name="connsiteX47" fmla="*/ 8713 w 10000"/>
              <a:gd name="connsiteY47" fmla="*/ 9256 h 10000"/>
              <a:gd name="connsiteX48" fmla="*/ 9084 w 10000"/>
              <a:gd name="connsiteY48" fmla="*/ 9256 h 10000"/>
              <a:gd name="connsiteX49" fmla="*/ 9298 w 10000"/>
              <a:gd name="connsiteY49" fmla="*/ 9375 h 10000"/>
              <a:gd name="connsiteX50" fmla="*/ 8733 w 10000"/>
              <a:gd name="connsiteY50" fmla="*/ 9628 h 10000"/>
              <a:gd name="connsiteX51" fmla="*/ 8207 w 10000"/>
              <a:gd name="connsiteY51" fmla="*/ 9999 h 10000"/>
              <a:gd name="connsiteX52" fmla="*/ 8616 w 10000"/>
              <a:gd name="connsiteY52" fmla="*/ 9999 h 10000"/>
              <a:gd name="connsiteX53" fmla="*/ 9162 w 10000"/>
              <a:gd name="connsiteY53" fmla="*/ 9919 h 10000"/>
              <a:gd name="connsiteX54" fmla="*/ 9883 w 10000"/>
              <a:gd name="connsiteY54" fmla="*/ 9044 h 10000"/>
              <a:gd name="connsiteX55" fmla="*/ 9883 w 10000"/>
              <a:gd name="connsiteY55" fmla="*/ 8036 h 10000"/>
              <a:gd name="connsiteX56" fmla="*/ 10000 w 10000"/>
              <a:gd name="connsiteY56" fmla="*/ 0 h 10000"/>
              <a:gd name="connsiteX0" fmla="*/ 1813 w 10000"/>
              <a:gd name="connsiteY0" fmla="*/ 5464 h 10000"/>
              <a:gd name="connsiteX1" fmla="*/ 1657 w 10000"/>
              <a:gd name="connsiteY1" fmla="*/ 5451 h 10000"/>
              <a:gd name="connsiteX2" fmla="*/ 1559 w 10000"/>
              <a:gd name="connsiteY2" fmla="*/ 5464 h 10000"/>
              <a:gd name="connsiteX3" fmla="*/ 819 w 10000"/>
              <a:gd name="connsiteY3" fmla="*/ 5504 h 10000"/>
              <a:gd name="connsiteX4" fmla="*/ 526 w 10000"/>
              <a:gd name="connsiteY4" fmla="*/ 5596 h 10000"/>
              <a:gd name="connsiteX5" fmla="*/ 331 w 10000"/>
              <a:gd name="connsiteY5" fmla="*/ 5782 h 10000"/>
              <a:gd name="connsiteX6" fmla="*/ 136 w 10000"/>
              <a:gd name="connsiteY6" fmla="*/ 6086 h 10000"/>
              <a:gd name="connsiteX7" fmla="*/ 0 w 10000"/>
              <a:gd name="connsiteY7" fmla="*/ 6525 h 10000"/>
              <a:gd name="connsiteX8" fmla="*/ 39 w 10000"/>
              <a:gd name="connsiteY8" fmla="*/ 7001 h 10000"/>
              <a:gd name="connsiteX9" fmla="*/ 273 w 10000"/>
              <a:gd name="connsiteY9" fmla="*/ 7400 h 10000"/>
              <a:gd name="connsiteX10" fmla="*/ 741 w 10000"/>
              <a:gd name="connsiteY10" fmla="*/ 7625 h 10000"/>
              <a:gd name="connsiteX11" fmla="*/ 1092 w 10000"/>
              <a:gd name="connsiteY11" fmla="*/ 7625 h 10000"/>
              <a:gd name="connsiteX12" fmla="*/ 1423 w 10000"/>
              <a:gd name="connsiteY12" fmla="*/ 7559 h 10000"/>
              <a:gd name="connsiteX13" fmla="*/ 1754 w 10000"/>
              <a:gd name="connsiteY13" fmla="*/ 7479 h 10000"/>
              <a:gd name="connsiteX14" fmla="*/ 2105 w 10000"/>
              <a:gd name="connsiteY14" fmla="*/ 7439 h 10000"/>
              <a:gd name="connsiteX15" fmla="*/ 2476 w 10000"/>
              <a:gd name="connsiteY15" fmla="*/ 7453 h 10000"/>
              <a:gd name="connsiteX16" fmla="*/ 3216 w 10000"/>
              <a:gd name="connsiteY16" fmla="*/ 7506 h 10000"/>
              <a:gd name="connsiteX17" fmla="*/ 4113 w 10000"/>
              <a:gd name="connsiteY17" fmla="*/ 7545 h 10000"/>
              <a:gd name="connsiteX18" fmla="*/ 4659 w 10000"/>
              <a:gd name="connsiteY18" fmla="*/ 7506 h 10000"/>
              <a:gd name="connsiteX19" fmla="*/ 5205 w 10000"/>
              <a:gd name="connsiteY19" fmla="*/ 7479 h 10000"/>
              <a:gd name="connsiteX20" fmla="*/ 5750 w 10000"/>
              <a:gd name="connsiteY20" fmla="*/ 7466 h 10000"/>
              <a:gd name="connsiteX21" fmla="*/ 6355 w 10000"/>
              <a:gd name="connsiteY21" fmla="*/ 7519 h 10000"/>
              <a:gd name="connsiteX22" fmla="*/ 6823 w 10000"/>
              <a:gd name="connsiteY22" fmla="*/ 7665 h 10000"/>
              <a:gd name="connsiteX23" fmla="*/ 7232 w 10000"/>
              <a:gd name="connsiteY23" fmla="*/ 7877 h 10000"/>
              <a:gd name="connsiteX24" fmla="*/ 7680 w 10000"/>
              <a:gd name="connsiteY24" fmla="*/ 8142 h 10000"/>
              <a:gd name="connsiteX25" fmla="*/ 7778 w 10000"/>
              <a:gd name="connsiteY25" fmla="*/ 8182 h 10000"/>
              <a:gd name="connsiteX26" fmla="*/ 7875 w 10000"/>
              <a:gd name="connsiteY26" fmla="*/ 8248 h 10000"/>
              <a:gd name="connsiteX27" fmla="*/ 7973 w 10000"/>
              <a:gd name="connsiteY27" fmla="*/ 8301 h 10000"/>
              <a:gd name="connsiteX28" fmla="*/ 8070 w 10000"/>
              <a:gd name="connsiteY28" fmla="*/ 8341 h 10000"/>
              <a:gd name="connsiteX29" fmla="*/ 8129 w 10000"/>
              <a:gd name="connsiteY29" fmla="*/ 8381 h 10000"/>
              <a:gd name="connsiteX30" fmla="*/ 8187 w 10000"/>
              <a:gd name="connsiteY30" fmla="*/ 8407 h 10000"/>
              <a:gd name="connsiteX31" fmla="*/ 8265 w 10000"/>
              <a:gd name="connsiteY31" fmla="*/ 8421 h 10000"/>
              <a:gd name="connsiteX32" fmla="*/ 8382 w 10000"/>
              <a:gd name="connsiteY32" fmla="*/ 8421 h 10000"/>
              <a:gd name="connsiteX33" fmla="*/ 8577 w 10000"/>
              <a:gd name="connsiteY33" fmla="*/ 8566 h 10000"/>
              <a:gd name="connsiteX34" fmla="*/ 8869 w 10000"/>
              <a:gd name="connsiteY34" fmla="*/ 8619 h 10000"/>
              <a:gd name="connsiteX35" fmla="*/ 9181 w 10000"/>
              <a:gd name="connsiteY35" fmla="*/ 8606 h 10000"/>
              <a:gd name="connsiteX36" fmla="*/ 9474 w 10000"/>
              <a:gd name="connsiteY36" fmla="*/ 8672 h 10000"/>
              <a:gd name="connsiteX37" fmla="*/ 9435 w 10000"/>
              <a:gd name="connsiteY37" fmla="*/ 8792 h 10000"/>
              <a:gd name="connsiteX38" fmla="*/ 9435 w 10000"/>
              <a:gd name="connsiteY38" fmla="*/ 8925 h 10000"/>
              <a:gd name="connsiteX39" fmla="*/ 9259 w 10000"/>
              <a:gd name="connsiteY39" fmla="*/ 8951 h 10000"/>
              <a:gd name="connsiteX40" fmla="*/ 9064 w 10000"/>
              <a:gd name="connsiteY40" fmla="*/ 8951 h 10000"/>
              <a:gd name="connsiteX41" fmla="*/ 8635 w 10000"/>
              <a:gd name="connsiteY41" fmla="*/ 8965 h 10000"/>
              <a:gd name="connsiteX42" fmla="*/ 8226 w 10000"/>
              <a:gd name="connsiteY42" fmla="*/ 9031 h 10000"/>
              <a:gd name="connsiteX43" fmla="*/ 8187 w 10000"/>
              <a:gd name="connsiteY43" fmla="*/ 9124 h 10000"/>
              <a:gd name="connsiteX44" fmla="*/ 8129 w 10000"/>
              <a:gd name="connsiteY44" fmla="*/ 9190 h 10000"/>
              <a:gd name="connsiteX45" fmla="*/ 8382 w 10000"/>
              <a:gd name="connsiteY45" fmla="*/ 9256 h 10000"/>
              <a:gd name="connsiteX46" fmla="*/ 8713 w 10000"/>
              <a:gd name="connsiteY46" fmla="*/ 9256 h 10000"/>
              <a:gd name="connsiteX47" fmla="*/ 9084 w 10000"/>
              <a:gd name="connsiteY47" fmla="*/ 9256 h 10000"/>
              <a:gd name="connsiteX48" fmla="*/ 9298 w 10000"/>
              <a:gd name="connsiteY48" fmla="*/ 9375 h 10000"/>
              <a:gd name="connsiteX49" fmla="*/ 8733 w 10000"/>
              <a:gd name="connsiteY49" fmla="*/ 9628 h 10000"/>
              <a:gd name="connsiteX50" fmla="*/ 8207 w 10000"/>
              <a:gd name="connsiteY50" fmla="*/ 9999 h 10000"/>
              <a:gd name="connsiteX51" fmla="*/ 8616 w 10000"/>
              <a:gd name="connsiteY51" fmla="*/ 9999 h 10000"/>
              <a:gd name="connsiteX52" fmla="*/ 9162 w 10000"/>
              <a:gd name="connsiteY52" fmla="*/ 9919 h 10000"/>
              <a:gd name="connsiteX53" fmla="*/ 9883 w 10000"/>
              <a:gd name="connsiteY53" fmla="*/ 9044 h 10000"/>
              <a:gd name="connsiteX54" fmla="*/ 9883 w 10000"/>
              <a:gd name="connsiteY54" fmla="*/ 8036 h 10000"/>
              <a:gd name="connsiteX55" fmla="*/ 10000 w 10000"/>
              <a:gd name="connsiteY55" fmla="*/ 0 h 10000"/>
              <a:gd name="connsiteX0" fmla="*/ 1813 w 10000"/>
              <a:gd name="connsiteY0" fmla="*/ 5464 h 10000"/>
              <a:gd name="connsiteX1" fmla="*/ 1657 w 10000"/>
              <a:gd name="connsiteY1" fmla="*/ 5451 h 10000"/>
              <a:gd name="connsiteX2" fmla="*/ 819 w 10000"/>
              <a:gd name="connsiteY2" fmla="*/ 5504 h 10000"/>
              <a:gd name="connsiteX3" fmla="*/ 526 w 10000"/>
              <a:gd name="connsiteY3" fmla="*/ 5596 h 10000"/>
              <a:gd name="connsiteX4" fmla="*/ 331 w 10000"/>
              <a:gd name="connsiteY4" fmla="*/ 5782 h 10000"/>
              <a:gd name="connsiteX5" fmla="*/ 136 w 10000"/>
              <a:gd name="connsiteY5" fmla="*/ 6086 h 10000"/>
              <a:gd name="connsiteX6" fmla="*/ 0 w 10000"/>
              <a:gd name="connsiteY6" fmla="*/ 6525 h 10000"/>
              <a:gd name="connsiteX7" fmla="*/ 39 w 10000"/>
              <a:gd name="connsiteY7" fmla="*/ 7001 h 10000"/>
              <a:gd name="connsiteX8" fmla="*/ 273 w 10000"/>
              <a:gd name="connsiteY8" fmla="*/ 7400 h 10000"/>
              <a:gd name="connsiteX9" fmla="*/ 741 w 10000"/>
              <a:gd name="connsiteY9" fmla="*/ 7625 h 10000"/>
              <a:gd name="connsiteX10" fmla="*/ 1092 w 10000"/>
              <a:gd name="connsiteY10" fmla="*/ 7625 h 10000"/>
              <a:gd name="connsiteX11" fmla="*/ 1423 w 10000"/>
              <a:gd name="connsiteY11" fmla="*/ 7559 h 10000"/>
              <a:gd name="connsiteX12" fmla="*/ 1754 w 10000"/>
              <a:gd name="connsiteY12" fmla="*/ 7479 h 10000"/>
              <a:gd name="connsiteX13" fmla="*/ 2105 w 10000"/>
              <a:gd name="connsiteY13" fmla="*/ 7439 h 10000"/>
              <a:gd name="connsiteX14" fmla="*/ 2476 w 10000"/>
              <a:gd name="connsiteY14" fmla="*/ 7453 h 10000"/>
              <a:gd name="connsiteX15" fmla="*/ 3216 w 10000"/>
              <a:gd name="connsiteY15" fmla="*/ 7506 h 10000"/>
              <a:gd name="connsiteX16" fmla="*/ 4113 w 10000"/>
              <a:gd name="connsiteY16" fmla="*/ 7545 h 10000"/>
              <a:gd name="connsiteX17" fmla="*/ 4659 w 10000"/>
              <a:gd name="connsiteY17" fmla="*/ 7506 h 10000"/>
              <a:gd name="connsiteX18" fmla="*/ 5205 w 10000"/>
              <a:gd name="connsiteY18" fmla="*/ 7479 h 10000"/>
              <a:gd name="connsiteX19" fmla="*/ 5750 w 10000"/>
              <a:gd name="connsiteY19" fmla="*/ 7466 h 10000"/>
              <a:gd name="connsiteX20" fmla="*/ 6355 w 10000"/>
              <a:gd name="connsiteY20" fmla="*/ 7519 h 10000"/>
              <a:gd name="connsiteX21" fmla="*/ 6823 w 10000"/>
              <a:gd name="connsiteY21" fmla="*/ 7665 h 10000"/>
              <a:gd name="connsiteX22" fmla="*/ 7232 w 10000"/>
              <a:gd name="connsiteY22" fmla="*/ 7877 h 10000"/>
              <a:gd name="connsiteX23" fmla="*/ 7680 w 10000"/>
              <a:gd name="connsiteY23" fmla="*/ 8142 h 10000"/>
              <a:gd name="connsiteX24" fmla="*/ 7778 w 10000"/>
              <a:gd name="connsiteY24" fmla="*/ 8182 h 10000"/>
              <a:gd name="connsiteX25" fmla="*/ 7875 w 10000"/>
              <a:gd name="connsiteY25" fmla="*/ 8248 h 10000"/>
              <a:gd name="connsiteX26" fmla="*/ 7973 w 10000"/>
              <a:gd name="connsiteY26" fmla="*/ 8301 h 10000"/>
              <a:gd name="connsiteX27" fmla="*/ 8070 w 10000"/>
              <a:gd name="connsiteY27" fmla="*/ 8341 h 10000"/>
              <a:gd name="connsiteX28" fmla="*/ 8129 w 10000"/>
              <a:gd name="connsiteY28" fmla="*/ 8381 h 10000"/>
              <a:gd name="connsiteX29" fmla="*/ 8187 w 10000"/>
              <a:gd name="connsiteY29" fmla="*/ 8407 h 10000"/>
              <a:gd name="connsiteX30" fmla="*/ 8265 w 10000"/>
              <a:gd name="connsiteY30" fmla="*/ 8421 h 10000"/>
              <a:gd name="connsiteX31" fmla="*/ 8382 w 10000"/>
              <a:gd name="connsiteY31" fmla="*/ 8421 h 10000"/>
              <a:gd name="connsiteX32" fmla="*/ 8577 w 10000"/>
              <a:gd name="connsiteY32" fmla="*/ 8566 h 10000"/>
              <a:gd name="connsiteX33" fmla="*/ 8869 w 10000"/>
              <a:gd name="connsiteY33" fmla="*/ 8619 h 10000"/>
              <a:gd name="connsiteX34" fmla="*/ 9181 w 10000"/>
              <a:gd name="connsiteY34" fmla="*/ 8606 h 10000"/>
              <a:gd name="connsiteX35" fmla="*/ 9474 w 10000"/>
              <a:gd name="connsiteY35" fmla="*/ 8672 h 10000"/>
              <a:gd name="connsiteX36" fmla="*/ 9435 w 10000"/>
              <a:gd name="connsiteY36" fmla="*/ 8792 h 10000"/>
              <a:gd name="connsiteX37" fmla="*/ 9435 w 10000"/>
              <a:gd name="connsiteY37" fmla="*/ 8925 h 10000"/>
              <a:gd name="connsiteX38" fmla="*/ 9259 w 10000"/>
              <a:gd name="connsiteY38" fmla="*/ 8951 h 10000"/>
              <a:gd name="connsiteX39" fmla="*/ 9064 w 10000"/>
              <a:gd name="connsiteY39" fmla="*/ 8951 h 10000"/>
              <a:gd name="connsiteX40" fmla="*/ 8635 w 10000"/>
              <a:gd name="connsiteY40" fmla="*/ 8965 h 10000"/>
              <a:gd name="connsiteX41" fmla="*/ 8226 w 10000"/>
              <a:gd name="connsiteY41" fmla="*/ 9031 h 10000"/>
              <a:gd name="connsiteX42" fmla="*/ 8187 w 10000"/>
              <a:gd name="connsiteY42" fmla="*/ 9124 h 10000"/>
              <a:gd name="connsiteX43" fmla="*/ 8129 w 10000"/>
              <a:gd name="connsiteY43" fmla="*/ 9190 h 10000"/>
              <a:gd name="connsiteX44" fmla="*/ 8382 w 10000"/>
              <a:gd name="connsiteY44" fmla="*/ 9256 h 10000"/>
              <a:gd name="connsiteX45" fmla="*/ 8713 w 10000"/>
              <a:gd name="connsiteY45" fmla="*/ 9256 h 10000"/>
              <a:gd name="connsiteX46" fmla="*/ 9084 w 10000"/>
              <a:gd name="connsiteY46" fmla="*/ 9256 h 10000"/>
              <a:gd name="connsiteX47" fmla="*/ 9298 w 10000"/>
              <a:gd name="connsiteY47" fmla="*/ 9375 h 10000"/>
              <a:gd name="connsiteX48" fmla="*/ 8733 w 10000"/>
              <a:gd name="connsiteY48" fmla="*/ 9628 h 10000"/>
              <a:gd name="connsiteX49" fmla="*/ 8207 w 10000"/>
              <a:gd name="connsiteY49" fmla="*/ 9999 h 10000"/>
              <a:gd name="connsiteX50" fmla="*/ 8616 w 10000"/>
              <a:gd name="connsiteY50" fmla="*/ 9999 h 10000"/>
              <a:gd name="connsiteX51" fmla="*/ 9162 w 10000"/>
              <a:gd name="connsiteY51" fmla="*/ 9919 h 10000"/>
              <a:gd name="connsiteX52" fmla="*/ 9883 w 10000"/>
              <a:gd name="connsiteY52" fmla="*/ 9044 h 10000"/>
              <a:gd name="connsiteX53" fmla="*/ 9883 w 10000"/>
              <a:gd name="connsiteY53" fmla="*/ 8036 h 10000"/>
              <a:gd name="connsiteX54" fmla="*/ 10000 w 10000"/>
              <a:gd name="connsiteY54" fmla="*/ 0 h 10000"/>
              <a:gd name="connsiteX0" fmla="*/ 1813 w 10000"/>
              <a:gd name="connsiteY0" fmla="*/ 5464 h 10000"/>
              <a:gd name="connsiteX1" fmla="*/ 819 w 10000"/>
              <a:gd name="connsiteY1" fmla="*/ 5504 h 10000"/>
              <a:gd name="connsiteX2" fmla="*/ 526 w 10000"/>
              <a:gd name="connsiteY2" fmla="*/ 5596 h 10000"/>
              <a:gd name="connsiteX3" fmla="*/ 331 w 10000"/>
              <a:gd name="connsiteY3" fmla="*/ 5782 h 10000"/>
              <a:gd name="connsiteX4" fmla="*/ 136 w 10000"/>
              <a:gd name="connsiteY4" fmla="*/ 6086 h 10000"/>
              <a:gd name="connsiteX5" fmla="*/ 0 w 10000"/>
              <a:gd name="connsiteY5" fmla="*/ 6525 h 10000"/>
              <a:gd name="connsiteX6" fmla="*/ 39 w 10000"/>
              <a:gd name="connsiteY6" fmla="*/ 7001 h 10000"/>
              <a:gd name="connsiteX7" fmla="*/ 273 w 10000"/>
              <a:gd name="connsiteY7" fmla="*/ 7400 h 10000"/>
              <a:gd name="connsiteX8" fmla="*/ 741 w 10000"/>
              <a:gd name="connsiteY8" fmla="*/ 7625 h 10000"/>
              <a:gd name="connsiteX9" fmla="*/ 1092 w 10000"/>
              <a:gd name="connsiteY9" fmla="*/ 7625 h 10000"/>
              <a:gd name="connsiteX10" fmla="*/ 1423 w 10000"/>
              <a:gd name="connsiteY10" fmla="*/ 7559 h 10000"/>
              <a:gd name="connsiteX11" fmla="*/ 1754 w 10000"/>
              <a:gd name="connsiteY11" fmla="*/ 7479 h 10000"/>
              <a:gd name="connsiteX12" fmla="*/ 2105 w 10000"/>
              <a:gd name="connsiteY12" fmla="*/ 7439 h 10000"/>
              <a:gd name="connsiteX13" fmla="*/ 2476 w 10000"/>
              <a:gd name="connsiteY13" fmla="*/ 7453 h 10000"/>
              <a:gd name="connsiteX14" fmla="*/ 3216 w 10000"/>
              <a:gd name="connsiteY14" fmla="*/ 7506 h 10000"/>
              <a:gd name="connsiteX15" fmla="*/ 4113 w 10000"/>
              <a:gd name="connsiteY15" fmla="*/ 7545 h 10000"/>
              <a:gd name="connsiteX16" fmla="*/ 4659 w 10000"/>
              <a:gd name="connsiteY16" fmla="*/ 7506 h 10000"/>
              <a:gd name="connsiteX17" fmla="*/ 5205 w 10000"/>
              <a:gd name="connsiteY17" fmla="*/ 7479 h 10000"/>
              <a:gd name="connsiteX18" fmla="*/ 5750 w 10000"/>
              <a:gd name="connsiteY18" fmla="*/ 7466 h 10000"/>
              <a:gd name="connsiteX19" fmla="*/ 6355 w 10000"/>
              <a:gd name="connsiteY19" fmla="*/ 7519 h 10000"/>
              <a:gd name="connsiteX20" fmla="*/ 6823 w 10000"/>
              <a:gd name="connsiteY20" fmla="*/ 7665 h 10000"/>
              <a:gd name="connsiteX21" fmla="*/ 7232 w 10000"/>
              <a:gd name="connsiteY21" fmla="*/ 7877 h 10000"/>
              <a:gd name="connsiteX22" fmla="*/ 7680 w 10000"/>
              <a:gd name="connsiteY22" fmla="*/ 8142 h 10000"/>
              <a:gd name="connsiteX23" fmla="*/ 7778 w 10000"/>
              <a:gd name="connsiteY23" fmla="*/ 8182 h 10000"/>
              <a:gd name="connsiteX24" fmla="*/ 7875 w 10000"/>
              <a:gd name="connsiteY24" fmla="*/ 8248 h 10000"/>
              <a:gd name="connsiteX25" fmla="*/ 7973 w 10000"/>
              <a:gd name="connsiteY25" fmla="*/ 8301 h 10000"/>
              <a:gd name="connsiteX26" fmla="*/ 8070 w 10000"/>
              <a:gd name="connsiteY26" fmla="*/ 8341 h 10000"/>
              <a:gd name="connsiteX27" fmla="*/ 8129 w 10000"/>
              <a:gd name="connsiteY27" fmla="*/ 8381 h 10000"/>
              <a:gd name="connsiteX28" fmla="*/ 8187 w 10000"/>
              <a:gd name="connsiteY28" fmla="*/ 8407 h 10000"/>
              <a:gd name="connsiteX29" fmla="*/ 8265 w 10000"/>
              <a:gd name="connsiteY29" fmla="*/ 8421 h 10000"/>
              <a:gd name="connsiteX30" fmla="*/ 8382 w 10000"/>
              <a:gd name="connsiteY30" fmla="*/ 8421 h 10000"/>
              <a:gd name="connsiteX31" fmla="*/ 8577 w 10000"/>
              <a:gd name="connsiteY31" fmla="*/ 8566 h 10000"/>
              <a:gd name="connsiteX32" fmla="*/ 8869 w 10000"/>
              <a:gd name="connsiteY32" fmla="*/ 8619 h 10000"/>
              <a:gd name="connsiteX33" fmla="*/ 9181 w 10000"/>
              <a:gd name="connsiteY33" fmla="*/ 8606 h 10000"/>
              <a:gd name="connsiteX34" fmla="*/ 9474 w 10000"/>
              <a:gd name="connsiteY34" fmla="*/ 8672 h 10000"/>
              <a:gd name="connsiteX35" fmla="*/ 9435 w 10000"/>
              <a:gd name="connsiteY35" fmla="*/ 8792 h 10000"/>
              <a:gd name="connsiteX36" fmla="*/ 9435 w 10000"/>
              <a:gd name="connsiteY36" fmla="*/ 8925 h 10000"/>
              <a:gd name="connsiteX37" fmla="*/ 9259 w 10000"/>
              <a:gd name="connsiteY37" fmla="*/ 8951 h 10000"/>
              <a:gd name="connsiteX38" fmla="*/ 9064 w 10000"/>
              <a:gd name="connsiteY38" fmla="*/ 8951 h 10000"/>
              <a:gd name="connsiteX39" fmla="*/ 8635 w 10000"/>
              <a:gd name="connsiteY39" fmla="*/ 8965 h 10000"/>
              <a:gd name="connsiteX40" fmla="*/ 8226 w 10000"/>
              <a:gd name="connsiteY40" fmla="*/ 9031 h 10000"/>
              <a:gd name="connsiteX41" fmla="*/ 8187 w 10000"/>
              <a:gd name="connsiteY41" fmla="*/ 9124 h 10000"/>
              <a:gd name="connsiteX42" fmla="*/ 8129 w 10000"/>
              <a:gd name="connsiteY42" fmla="*/ 9190 h 10000"/>
              <a:gd name="connsiteX43" fmla="*/ 8382 w 10000"/>
              <a:gd name="connsiteY43" fmla="*/ 9256 h 10000"/>
              <a:gd name="connsiteX44" fmla="*/ 8713 w 10000"/>
              <a:gd name="connsiteY44" fmla="*/ 9256 h 10000"/>
              <a:gd name="connsiteX45" fmla="*/ 9084 w 10000"/>
              <a:gd name="connsiteY45" fmla="*/ 9256 h 10000"/>
              <a:gd name="connsiteX46" fmla="*/ 9298 w 10000"/>
              <a:gd name="connsiteY46" fmla="*/ 9375 h 10000"/>
              <a:gd name="connsiteX47" fmla="*/ 8733 w 10000"/>
              <a:gd name="connsiteY47" fmla="*/ 9628 h 10000"/>
              <a:gd name="connsiteX48" fmla="*/ 8207 w 10000"/>
              <a:gd name="connsiteY48" fmla="*/ 9999 h 10000"/>
              <a:gd name="connsiteX49" fmla="*/ 8616 w 10000"/>
              <a:gd name="connsiteY49" fmla="*/ 9999 h 10000"/>
              <a:gd name="connsiteX50" fmla="*/ 9162 w 10000"/>
              <a:gd name="connsiteY50" fmla="*/ 9919 h 10000"/>
              <a:gd name="connsiteX51" fmla="*/ 9883 w 10000"/>
              <a:gd name="connsiteY51" fmla="*/ 9044 h 10000"/>
              <a:gd name="connsiteX52" fmla="*/ 9883 w 10000"/>
              <a:gd name="connsiteY52" fmla="*/ 8036 h 10000"/>
              <a:gd name="connsiteX53" fmla="*/ 10000 w 10000"/>
              <a:gd name="connsiteY53" fmla="*/ 0 h 10000"/>
              <a:gd name="connsiteX0" fmla="*/ 819 w 10000"/>
              <a:gd name="connsiteY0" fmla="*/ 5504 h 10000"/>
              <a:gd name="connsiteX1" fmla="*/ 526 w 10000"/>
              <a:gd name="connsiteY1" fmla="*/ 5596 h 10000"/>
              <a:gd name="connsiteX2" fmla="*/ 331 w 10000"/>
              <a:gd name="connsiteY2" fmla="*/ 5782 h 10000"/>
              <a:gd name="connsiteX3" fmla="*/ 136 w 10000"/>
              <a:gd name="connsiteY3" fmla="*/ 6086 h 10000"/>
              <a:gd name="connsiteX4" fmla="*/ 0 w 10000"/>
              <a:gd name="connsiteY4" fmla="*/ 6525 h 10000"/>
              <a:gd name="connsiteX5" fmla="*/ 39 w 10000"/>
              <a:gd name="connsiteY5" fmla="*/ 7001 h 10000"/>
              <a:gd name="connsiteX6" fmla="*/ 273 w 10000"/>
              <a:gd name="connsiteY6" fmla="*/ 7400 h 10000"/>
              <a:gd name="connsiteX7" fmla="*/ 741 w 10000"/>
              <a:gd name="connsiteY7" fmla="*/ 7625 h 10000"/>
              <a:gd name="connsiteX8" fmla="*/ 1092 w 10000"/>
              <a:gd name="connsiteY8" fmla="*/ 7625 h 10000"/>
              <a:gd name="connsiteX9" fmla="*/ 1423 w 10000"/>
              <a:gd name="connsiteY9" fmla="*/ 7559 h 10000"/>
              <a:gd name="connsiteX10" fmla="*/ 1754 w 10000"/>
              <a:gd name="connsiteY10" fmla="*/ 7479 h 10000"/>
              <a:gd name="connsiteX11" fmla="*/ 2105 w 10000"/>
              <a:gd name="connsiteY11" fmla="*/ 7439 h 10000"/>
              <a:gd name="connsiteX12" fmla="*/ 2476 w 10000"/>
              <a:gd name="connsiteY12" fmla="*/ 7453 h 10000"/>
              <a:gd name="connsiteX13" fmla="*/ 3216 w 10000"/>
              <a:gd name="connsiteY13" fmla="*/ 7506 h 10000"/>
              <a:gd name="connsiteX14" fmla="*/ 4113 w 10000"/>
              <a:gd name="connsiteY14" fmla="*/ 7545 h 10000"/>
              <a:gd name="connsiteX15" fmla="*/ 4659 w 10000"/>
              <a:gd name="connsiteY15" fmla="*/ 7506 h 10000"/>
              <a:gd name="connsiteX16" fmla="*/ 5205 w 10000"/>
              <a:gd name="connsiteY16" fmla="*/ 7479 h 10000"/>
              <a:gd name="connsiteX17" fmla="*/ 5750 w 10000"/>
              <a:gd name="connsiteY17" fmla="*/ 7466 h 10000"/>
              <a:gd name="connsiteX18" fmla="*/ 6355 w 10000"/>
              <a:gd name="connsiteY18" fmla="*/ 7519 h 10000"/>
              <a:gd name="connsiteX19" fmla="*/ 6823 w 10000"/>
              <a:gd name="connsiteY19" fmla="*/ 7665 h 10000"/>
              <a:gd name="connsiteX20" fmla="*/ 7232 w 10000"/>
              <a:gd name="connsiteY20" fmla="*/ 7877 h 10000"/>
              <a:gd name="connsiteX21" fmla="*/ 7680 w 10000"/>
              <a:gd name="connsiteY21" fmla="*/ 8142 h 10000"/>
              <a:gd name="connsiteX22" fmla="*/ 7778 w 10000"/>
              <a:gd name="connsiteY22" fmla="*/ 8182 h 10000"/>
              <a:gd name="connsiteX23" fmla="*/ 7875 w 10000"/>
              <a:gd name="connsiteY23" fmla="*/ 8248 h 10000"/>
              <a:gd name="connsiteX24" fmla="*/ 7973 w 10000"/>
              <a:gd name="connsiteY24" fmla="*/ 8301 h 10000"/>
              <a:gd name="connsiteX25" fmla="*/ 8070 w 10000"/>
              <a:gd name="connsiteY25" fmla="*/ 8341 h 10000"/>
              <a:gd name="connsiteX26" fmla="*/ 8129 w 10000"/>
              <a:gd name="connsiteY26" fmla="*/ 8381 h 10000"/>
              <a:gd name="connsiteX27" fmla="*/ 8187 w 10000"/>
              <a:gd name="connsiteY27" fmla="*/ 8407 h 10000"/>
              <a:gd name="connsiteX28" fmla="*/ 8265 w 10000"/>
              <a:gd name="connsiteY28" fmla="*/ 8421 h 10000"/>
              <a:gd name="connsiteX29" fmla="*/ 8382 w 10000"/>
              <a:gd name="connsiteY29" fmla="*/ 8421 h 10000"/>
              <a:gd name="connsiteX30" fmla="*/ 8577 w 10000"/>
              <a:gd name="connsiteY30" fmla="*/ 8566 h 10000"/>
              <a:gd name="connsiteX31" fmla="*/ 8869 w 10000"/>
              <a:gd name="connsiteY31" fmla="*/ 8619 h 10000"/>
              <a:gd name="connsiteX32" fmla="*/ 9181 w 10000"/>
              <a:gd name="connsiteY32" fmla="*/ 8606 h 10000"/>
              <a:gd name="connsiteX33" fmla="*/ 9474 w 10000"/>
              <a:gd name="connsiteY33" fmla="*/ 8672 h 10000"/>
              <a:gd name="connsiteX34" fmla="*/ 9435 w 10000"/>
              <a:gd name="connsiteY34" fmla="*/ 8792 h 10000"/>
              <a:gd name="connsiteX35" fmla="*/ 9435 w 10000"/>
              <a:gd name="connsiteY35" fmla="*/ 8925 h 10000"/>
              <a:gd name="connsiteX36" fmla="*/ 9259 w 10000"/>
              <a:gd name="connsiteY36" fmla="*/ 8951 h 10000"/>
              <a:gd name="connsiteX37" fmla="*/ 9064 w 10000"/>
              <a:gd name="connsiteY37" fmla="*/ 8951 h 10000"/>
              <a:gd name="connsiteX38" fmla="*/ 8635 w 10000"/>
              <a:gd name="connsiteY38" fmla="*/ 8965 h 10000"/>
              <a:gd name="connsiteX39" fmla="*/ 8226 w 10000"/>
              <a:gd name="connsiteY39" fmla="*/ 9031 h 10000"/>
              <a:gd name="connsiteX40" fmla="*/ 8187 w 10000"/>
              <a:gd name="connsiteY40" fmla="*/ 9124 h 10000"/>
              <a:gd name="connsiteX41" fmla="*/ 8129 w 10000"/>
              <a:gd name="connsiteY41" fmla="*/ 9190 h 10000"/>
              <a:gd name="connsiteX42" fmla="*/ 8382 w 10000"/>
              <a:gd name="connsiteY42" fmla="*/ 9256 h 10000"/>
              <a:gd name="connsiteX43" fmla="*/ 8713 w 10000"/>
              <a:gd name="connsiteY43" fmla="*/ 9256 h 10000"/>
              <a:gd name="connsiteX44" fmla="*/ 9084 w 10000"/>
              <a:gd name="connsiteY44" fmla="*/ 9256 h 10000"/>
              <a:gd name="connsiteX45" fmla="*/ 9298 w 10000"/>
              <a:gd name="connsiteY45" fmla="*/ 9375 h 10000"/>
              <a:gd name="connsiteX46" fmla="*/ 8733 w 10000"/>
              <a:gd name="connsiteY46" fmla="*/ 9628 h 10000"/>
              <a:gd name="connsiteX47" fmla="*/ 8207 w 10000"/>
              <a:gd name="connsiteY47" fmla="*/ 9999 h 10000"/>
              <a:gd name="connsiteX48" fmla="*/ 8616 w 10000"/>
              <a:gd name="connsiteY48" fmla="*/ 9999 h 10000"/>
              <a:gd name="connsiteX49" fmla="*/ 9162 w 10000"/>
              <a:gd name="connsiteY49" fmla="*/ 9919 h 10000"/>
              <a:gd name="connsiteX50" fmla="*/ 9883 w 10000"/>
              <a:gd name="connsiteY50" fmla="*/ 9044 h 10000"/>
              <a:gd name="connsiteX51" fmla="*/ 9883 w 10000"/>
              <a:gd name="connsiteY51" fmla="*/ 8036 h 10000"/>
              <a:gd name="connsiteX52" fmla="*/ 10000 w 10000"/>
              <a:gd name="connsiteY52" fmla="*/ 0 h 10000"/>
              <a:gd name="connsiteX0" fmla="*/ 819 w 10000"/>
              <a:gd name="connsiteY0" fmla="*/ 5504 h 10000"/>
              <a:gd name="connsiteX1" fmla="*/ 331 w 10000"/>
              <a:gd name="connsiteY1" fmla="*/ 5782 h 10000"/>
              <a:gd name="connsiteX2" fmla="*/ 136 w 10000"/>
              <a:gd name="connsiteY2" fmla="*/ 6086 h 10000"/>
              <a:gd name="connsiteX3" fmla="*/ 0 w 10000"/>
              <a:gd name="connsiteY3" fmla="*/ 6525 h 10000"/>
              <a:gd name="connsiteX4" fmla="*/ 39 w 10000"/>
              <a:gd name="connsiteY4" fmla="*/ 7001 h 10000"/>
              <a:gd name="connsiteX5" fmla="*/ 273 w 10000"/>
              <a:gd name="connsiteY5" fmla="*/ 7400 h 10000"/>
              <a:gd name="connsiteX6" fmla="*/ 741 w 10000"/>
              <a:gd name="connsiteY6" fmla="*/ 7625 h 10000"/>
              <a:gd name="connsiteX7" fmla="*/ 1092 w 10000"/>
              <a:gd name="connsiteY7" fmla="*/ 7625 h 10000"/>
              <a:gd name="connsiteX8" fmla="*/ 1423 w 10000"/>
              <a:gd name="connsiteY8" fmla="*/ 7559 h 10000"/>
              <a:gd name="connsiteX9" fmla="*/ 1754 w 10000"/>
              <a:gd name="connsiteY9" fmla="*/ 7479 h 10000"/>
              <a:gd name="connsiteX10" fmla="*/ 2105 w 10000"/>
              <a:gd name="connsiteY10" fmla="*/ 7439 h 10000"/>
              <a:gd name="connsiteX11" fmla="*/ 2476 w 10000"/>
              <a:gd name="connsiteY11" fmla="*/ 7453 h 10000"/>
              <a:gd name="connsiteX12" fmla="*/ 3216 w 10000"/>
              <a:gd name="connsiteY12" fmla="*/ 7506 h 10000"/>
              <a:gd name="connsiteX13" fmla="*/ 4113 w 10000"/>
              <a:gd name="connsiteY13" fmla="*/ 7545 h 10000"/>
              <a:gd name="connsiteX14" fmla="*/ 4659 w 10000"/>
              <a:gd name="connsiteY14" fmla="*/ 7506 h 10000"/>
              <a:gd name="connsiteX15" fmla="*/ 5205 w 10000"/>
              <a:gd name="connsiteY15" fmla="*/ 7479 h 10000"/>
              <a:gd name="connsiteX16" fmla="*/ 5750 w 10000"/>
              <a:gd name="connsiteY16" fmla="*/ 7466 h 10000"/>
              <a:gd name="connsiteX17" fmla="*/ 6355 w 10000"/>
              <a:gd name="connsiteY17" fmla="*/ 7519 h 10000"/>
              <a:gd name="connsiteX18" fmla="*/ 6823 w 10000"/>
              <a:gd name="connsiteY18" fmla="*/ 7665 h 10000"/>
              <a:gd name="connsiteX19" fmla="*/ 7232 w 10000"/>
              <a:gd name="connsiteY19" fmla="*/ 7877 h 10000"/>
              <a:gd name="connsiteX20" fmla="*/ 7680 w 10000"/>
              <a:gd name="connsiteY20" fmla="*/ 8142 h 10000"/>
              <a:gd name="connsiteX21" fmla="*/ 7778 w 10000"/>
              <a:gd name="connsiteY21" fmla="*/ 8182 h 10000"/>
              <a:gd name="connsiteX22" fmla="*/ 7875 w 10000"/>
              <a:gd name="connsiteY22" fmla="*/ 8248 h 10000"/>
              <a:gd name="connsiteX23" fmla="*/ 7973 w 10000"/>
              <a:gd name="connsiteY23" fmla="*/ 8301 h 10000"/>
              <a:gd name="connsiteX24" fmla="*/ 8070 w 10000"/>
              <a:gd name="connsiteY24" fmla="*/ 8341 h 10000"/>
              <a:gd name="connsiteX25" fmla="*/ 8129 w 10000"/>
              <a:gd name="connsiteY25" fmla="*/ 8381 h 10000"/>
              <a:gd name="connsiteX26" fmla="*/ 8187 w 10000"/>
              <a:gd name="connsiteY26" fmla="*/ 8407 h 10000"/>
              <a:gd name="connsiteX27" fmla="*/ 8265 w 10000"/>
              <a:gd name="connsiteY27" fmla="*/ 8421 h 10000"/>
              <a:gd name="connsiteX28" fmla="*/ 8382 w 10000"/>
              <a:gd name="connsiteY28" fmla="*/ 8421 h 10000"/>
              <a:gd name="connsiteX29" fmla="*/ 8577 w 10000"/>
              <a:gd name="connsiteY29" fmla="*/ 8566 h 10000"/>
              <a:gd name="connsiteX30" fmla="*/ 8869 w 10000"/>
              <a:gd name="connsiteY30" fmla="*/ 8619 h 10000"/>
              <a:gd name="connsiteX31" fmla="*/ 9181 w 10000"/>
              <a:gd name="connsiteY31" fmla="*/ 8606 h 10000"/>
              <a:gd name="connsiteX32" fmla="*/ 9474 w 10000"/>
              <a:gd name="connsiteY32" fmla="*/ 8672 h 10000"/>
              <a:gd name="connsiteX33" fmla="*/ 9435 w 10000"/>
              <a:gd name="connsiteY33" fmla="*/ 8792 h 10000"/>
              <a:gd name="connsiteX34" fmla="*/ 9435 w 10000"/>
              <a:gd name="connsiteY34" fmla="*/ 8925 h 10000"/>
              <a:gd name="connsiteX35" fmla="*/ 9259 w 10000"/>
              <a:gd name="connsiteY35" fmla="*/ 8951 h 10000"/>
              <a:gd name="connsiteX36" fmla="*/ 9064 w 10000"/>
              <a:gd name="connsiteY36" fmla="*/ 8951 h 10000"/>
              <a:gd name="connsiteX37" fmla="*/ 8635 w 10000"/>
              <a:gd name="connsiteY37" fmla="*/ 8965 h 10000"/>
              <a:gd name="connsiteX38" fmla="*/ 8226 w 10000"/>
              <a:gd name="connsiteY38" fmla="*/ 9031 h 10000"/>
              <a:gd name="connsiteX39" fmla="*/ 8187 w 10000"/>
              <a:gd name="connsiteY39" fmla="*/ 9124 h 10000"/>
              <a:gd name="connsiteX40" fmla="*/ 8129 w 10000"/>
              <a:gd name="connsiteY40" fmla="*/ 9190 h 10000"/>
              <a:gd name="connsiteX41" fmla="*/ 8382 w 10000"/>
              <a:gd name="connsiteY41" fmla="*/ 9256 h 10000"/>
              <a:gd name="connsiteX42" fmla="*/ 8713 w 10000"/>
              <a:gd name="connsiteY42" fmla="*/ 9256 h 10000"/>
              <a:gd name="connsiteX43" fmla="*/ 9084 w 10000"/>
              <a:gd name="connsiteY43" fmla="*/ 9256 h 10000"/>
              <a:gd name="connsiteX44" fmla="*/ 9298 w 10000"/>
              <a:gd name="connsiteY44" fmla="*/ 9375 h 10000"/>
              <a:gd name="connsiteX45" fmla="*/ 8733 w 10000"/>
              <a:gd name="connsiteY45" fmla="*/ 9628 h 10000"/>
              <a:gd name="connsiteX46" fmla="*/ 8207 w 10000"/>
              <a:gd name="connsiteY46" fmla="*/ 9999 h 10000"/>
              <a:gd name="connsiteX47" fmla="*/ 8616 w 10000"/>
              <a:gd name="connsiteY47" fmla="*/ 9999 h 10000"/>
              <a:gd name="connsiteX48" fmla="*/ 9162 w 10000"/>
              <a:gd name="connsiteY48" fmla="*/ 9919 h 10000"/>
              <a:gd name="connsiteX49" fmla="*/ 9883 w 10000"/>
              <a:gd name="connsiteY49" fmla="*/ 9044 h 10000"/>
              <a:gd name="connsiteX50" fmla="*/ 9883 w 10000"/>
              <a:gd name="connsiteY50" fmla="*/ 8036 h 10000"/>
              <a:gd name="connsiteX51" fmla="*/ 10000 w 10000"/>
              <a:gd name="connsiteY51" fmla="*/ 0 h 10000"/>
              <a:gd name="connsiteX0" fmla="*/ 331 w 10000"/>
              <a:gd name="connsiteY0" fmla="*/ 5782 h 10000"/>
              <a:gd name="connsiteX1" fmla="*/ 136 w 10000"/>
              <a:gd name="connsiteY1" fmla="*/ 6086 h 10000"/>
              <a:gd name="connsiteX2" fmla="*/ 0 w 10000"/>
              <a:gd name="connsiteY2" fmla="*/ 6525 h 10000"/>
              <a:gd name="connsiteX3" fmla="*/ 39 w 10000"/>
              <a:gd name="connsiteY3" fmla="*/ 7001 h 10000"/>
              <a:gd name="connsiteX4" fmla="*/ 273 w 10000"/>
              <a:gd name="connsiteY4" fmla="*/ 7400 h 10000"/>
              <a:gd name="connsiteX5" fmla="*/ 741 w 10000"/>
              <a:gd name="connsiteY5" fmla="*/ 7625 h 10000"/>
              <a:gd name="connsiteX6" fmla="*/ 1092 w 10000"/>
              <a:gd name="connsiteY6" fmla="*/ 7625 h 10000"/>
              <a:gd name="connsiteX7" fmla="*/ 1423 w 10000"/>
              <a:gd name="connsiteY7" fmla="*/ 7559 h 10000"/>
              <a:gd name="connsiteX8" fmla="*/ 1754 w 10000"/>
              <a:gd name="connsiteY8" fmla="*/ 7479 h 10000"/>
              <a:gd name="connsiteX9" fmla="*/ 2105 w 10000"/>
              <a:gd name="connsiteY9" fmla="*/ 7439 h 10000"/>
              <a:gd name="connsiteX10" fmla="*/ 2476 w 10000"/>
              <a:gd name="connsiteY10" fmla="*/ 7453 h 10000"/>
              <a:gd name="connsiteX11" fmla="*/ 3216 w 10000"/>
              <a:gd name="connsiteY11" fmla="*/ 7506 h 10000"/>
              <a:gd name="connsiteX12" fmla="*/ 4113 w 10000"/>
              <a:gd name="connsiteY12" fmla="*/ 7545 h 10000"/>
              <a:gd name="connsiteX13" fmla="*/ 4659 w 10000"/>
              <a:gd name="connsiteY13" fmla="*/ 7506 h 10000"/>
              <a:gd name="connsiteX14" fmla="*/ 5205 w 10000"/>
              <a:gd name="connsiteY14" fmla="*/ 7479 h 10000"/>
              <a:gd name="connsiteX15" fmla="*/ 5750 w 10000"/>
              <a:gd name="connsiteY15" fmla="*/ 7466 h 10000"/>
              <a:gd name="connsiteX16" fmla="*/ 6355 w 10000"/>
              <a:gd name="connsiteY16" fmla="*/ 7519 h 10000"/>
              <a:gd name="connsiteX17" fmla="*/ 6823 w 10000"/>
              <a:gd name="connsiteY17" fmla="*/ 7665 h 10000"/>
              <a:gd name="connsiteX18" fmla="*/ 7232 w 10000"/>
              <a:gd name="connsiteY18" fmla="*/ 7877 h 10000"/>
              <a:gd name="connsiteX19" fmla="*/ 7680 w 10000"/>
              <a:gd name="connsiteY19" fmla="*/ 8142 h 10000"/>
              <a:gd name="connsiteX20" fmla="*/ 7778 w 10000"/>
              <a:gd name="connsiteY20" fmla="*/ 8182 h 10000"/>
              <a:gd name="connsiteX21" fmla="*/ 7875 w 10000"/>
              <a:gd name="connsiteY21" fmla="*/ 8248 h 10000"/>
              <a:gd name="connsiteX22" fmla="*/ 7973 w 10000"/>
              <a:gd name="connsiteY22" fmla="*/ 8301 h 10000"/>
              <a:gd name="connsiteX23" fmla="*/ 8070 w 10000"/>
              <a:gd name="connsiteY23" fmla="*/ 8341 h 10000"/>
              <a:gd name="connsiteX24" fmla="*/ 8129 w 10000"/>
              <a:gd name="connsiteY24" fmla="*/ 8381 h 10000"/>
              <a:gd name="connsiteX25" fmla="*/ 8187 w 10000"/>
              <a:gd name="connsiteY25" fmla="*/ 8407 h 10000"/>
              <a:gd name="connsiteX26" fmla="*/ 8265 w 10000"/>
              <a:gd name="connsiteY26" fmla="*/ 8421 h 10000"/>
              <a:gd name="connsiteX27" fmla="*/ 8382 w 10000"/>
              <a:gd name="connsiteY27" fmla="*/ 8421 h 10000"/>
              <a:gd name="connsiteX28" fmla="*/ 8577 w 10000"/>
              <a:gd name="connsiteY28" fmla="*/ 8566 h 10000"/>
              <a:gd name="connsiteX29" fmla="*/ 8869 w 10000"/>
              <a:gd name="connsiteY29" fmla="*/ 8619 h 10000"/>
              <a:gd name="connsiteX30" fmla="*/ 9181 w 10000"/>
              <a:gd name="connsiteY30" fmla="*/ 8606 h 10000"/>
              <a:gd name="connsiteX31" fmla="*/ 9474 w 10000"/>
              <a:gd name="connsiteY31" fmla="*/ 8672 h 10000"/>
              <a:gd name="connsiteX32" fmla="*/ 9435 w 10000"/>
              <a:gd name="connsiteY32" fmla="*/ 8792 h 10000"/>
              <a:gd name="connsiteX33" fmla="*/ 9435 w 10000"/>
              <a:gd name="connsiteY33" fmla="*/ 8925 h 10000"/>
              <a:gd name="connsiteX34" fmla="*/ 9259 w 10000"/>
              <a:gd name="connsiteY34" fmla="*/ 8951 h 10000"/>
              <a:gd name="connsiteX35" fmla="*/ 9064 w 10000"/>
              <a:gd name="connsiteY35" fmla="*/ 8951 h 10000"/>
              <a:gd name="connsiteX36" fmla="*/ 8635 w 10000"/>
              <a:gd name="connsiteY36" fmla="*/ 8965 h 10000"/>
              <a:gd name="connsiteX37" fmla="*/ 8226 w 10000"/>
              <a:gd name="connsiteY37" fmla="*/ 9031 h 10000"/>
              <a:gd name="connsiteX38" fmla="*/ 8187 w 10000"/>
              <a:gd name="connsiteY38" fmla="*/ 9124 h 10000"/>
              <a:gd name="connsiteX39" fmla="*/ 8129 w 10000"/>
              <a:gd name="connsiteY39" fmla="*/ 9190 h 10000"/>
              <a:gd name="connsiteX40" fmla="*/ 8382 w 10000"/>
              <a:gd name="connsiteY40" fmla="*/ 9256 h 10000"/>
              <a:gd name="connsiteX41" fmla="*/ 8713 w 10000"/>
              <a:gd name="connsiteY41" fmla="*/ 9256 h 10000"/>
              <a:gd name="connsiteX42" fmla="*/ 9084 w 10000"/>
              <a:gd name="connsiteY42" fmla="*/ 9256 h 10000"/>
              <a:gd name="connsiteX43" fmla="*/ 9298 w 10000"/>
              <a:gd name="connsiteY43" fmla="*/ 9375 h 10000"/>
              <a:gd name="connsiteX44" fmla="*/ 8733 w 10000"/>
              <a:gd name="connsiteY44" fmla="*/ 9628 h 10000"/>
              <a:gd name="connsiteX45" fmla="*/ 8207 w 10000"/>
              <a:gd name="connsiteY45" fmla="*/ 9999 h 10000"/>
              <a:gd name="connsiteX46" fmla="*/ 8616 w 10000"/>
              <a:gd name="connsiteY46" fmla="*/ 9999 h 10000"/>
              <a:gd name="connsiteX47" fmla="*/ 9162 w 10000"/>
              <a:gd name="connsiteY47" fmla="*/ 9919 h 10000"/>
              <a:gd name="connsiteX48" fmla="*/ 9883 w 10000"/>
              <a:gd name="connsiteY48" fmla="*/ 9044 h 10000"/>
              <a:gd name="connsiteX49" fmla="*/ 9883 w 10000"/>
              <a:gd name="connsiteY49" fmla="*/ 8036 h 10000"/>
              <a:gd name="connsiteX50" fmla="*/ 10000 w 10000"/>
              <a:gd name="connsiteY50" fmla="*/ 0 h 10000"/>
              <a:gd name="connsiteX0" fmla="*/ 136 w 10000"/>
              <a:gd name="connsiteY0" fmla="*/ 6086 h 10000"/>
              <a:gd name="connsiteX1" fmla="*/ 0 w 10000"/>
              <a:gd name="connsiteY1" fmla="*/ 6525 h 10000"/>
              <a:gd name="connsiteX2" fmla="*/ 39 w 10000"/>
              <a:gd name="connsiteY2" fmla="*/ 7001 h 10000"/>
              <a:gd name="connsiteX3" fmla="*/ 273 w 10000"/>
              <a:gd name="connsiteY3" fmla="*/ 7400 h 10000"/>
              <a:gd name="connsiteX4" fmla="*/ 741 w 10000"/>
              <a:gd name="connsiteY4" fmla="*/ 7625 h 10000"/>
              <a:gd name="connsiteX5" fmla="*/ 1092 w 10000"/>
              <a:gd name="connsiteY5" fmla="*/ 7625 h 10000"/>
              <a:gd name="connsiteX6" fmla="*/ 1423 w 10000"/>
              <a:gd name="connsiteY6" fmla="*/ 7559 h 10000"/>
              <a:gd name="connsiteX7" fmla="*/ 1754 w 10000"/>
              <a:gd name="connsiteY7" fmla="*/ 7479 h 10000"/>
              <a:gd name="connsiteX8" fmla="*/ 2105 w 10000"/>
              <a:gd name="connsiteY8" fmla="*/ 7439 h 10000"/>
              <a:gd name="connsiteX9" fmla="*/ 2476 w 10000"/>
              <a:gd name="connsiteY9" fmla="*/ 7453 h 10000"/>
              <a:gd name="connsiteX10" fmla="*/ 3216 w 10000"/>
              <a:gd name="connsiteY10" fmla="*/ 7506 h 10000"/>
              <a:gd name="connsiteX11" fmla="*/ 4113 w 10000"/>
              <a:gd name="connsiteY11" fmla="*/ 7545 h 10000"/>
              <a:gd name="connsiteX12" fmla="*/ 4659 w 10000"/>
              <a:gd name="connsiteY12" fmla="*/ 7506 h 10000"/>
              <a:gd name="connsiteX13" fmla="*/ 5205 w 10000"/>
              <a:gd name="connsiteY13" fmla="*/ 7479 h 10000"/>
              <a:gd name="connsiteX14" fmla="*/ 5750 w 10000"/>
              <a:gd name="connsiteY14" fmla="*/ 7466 h 10000"/>
              <a:gd name="connsiteX15" fmla="*/ 6355 w 10000"/>
              <a:gd name="connsiteY15" fmla="*/ 7519 h 10000"/>
              <a:gd name="connsiteX16" fmla="*/ 6823 w 10000"/>
              <a:gd name="connsiteY16" fmla="*/ 7665 h 10000"/>
              <a:gd name="connsiteX17" fmla="*/ 7232 w 10000"/>
              <a:gd name="connsiteY17" fmla="*/ 7877 h 10000"/>
              <a:gd name="connsiteX18" fmla="*/ 7680 w 10000"/>
              <a:gd name="connsiteY18" fmla="*/ 8142 h 10000"/>
              <a:gd name="connsiteX19" fmla="*/ 7778 w 10000"/>
              <a:gd name="connsiteY19" fmla="*/ 8182 h 10000"/>
              <a:gd name="connsiteX20" fmla="*/ 7875 w 10000"/>
              <a:gd name="connsiteY20" fmla="*/ 8248 h 10000"/>
              <a:gd name="connsiteX21" fmla="*/ 7973 w 10000"/>
              <a:gd name="connsiteY21" fmla="*/ 8301 h 10000"/>
              <a:gd name="connsiteX22" fmla="*/ 8070 w 10000"/>
              <a:gd name="connsiteY22" fmla="*/ 8341 h 10000"/>
              <a:gd name="connsiteX23" fmla="*/ 8129 w 10000"/>
              <a:gd name="connsiteY23" fmla="*/ 8381 h 10000"/>
              <a:gd name="connsiteX24" fmla="*/ 8187 w 10000"/>
              <a:gd name="connsiteY24" fmla="*/ 8407 h 10000"/>
              <a:gd name="connsiteX25" fmla="*/ 8265 w 10000"/>
              <a:gd name="connsiteY25" fmla="*/ 8421 h 10000"/>
              <a:gd name="connsiteX26" fmla="*/ 8382 w 10000"/>
              <a:gd name="connsiteY26" fmla="*/ 8421 h 10000"/>
              <a:gd name="connsiteX27" fmla="*/ 8577 w 10000"/>
              <a:gd name="connsiteY27" fmla="*/ 8566 h 10000"/>
              <a:gd name="connsiteX28" fmla="*/ 8869 w 10000"/>
              <a:gd name="connsiteY28" fmla="*/ 8619 h 10000"/>
              <a:gd name="connsiteX29" fmla="*/ 9181 w 10000"/>
              <a:gd name="connsiteY29" fmla="*/ 8606 h 10000"/>
              <a:gd name="connsiteX30" fmla="*/ 9474 w 10000"/>
              <a:gd name="connsiteY30" fmla="*/ 8672 h 10000"/>
              <a:gd name="connsiteX31" fmla="*/ 9435 w 10000"/>
              <a:gd name="connsiteY31" fmla="*/ 8792 h 10000"/>
              <a:gd name="connsiteX32" fmla="*/ 9435 w 10000"/>
              <a:gd name="connsiteY32" fmla="*/ 8925 h 10000"/>
              <a:gd name="connsiteX33" fmla="*/ 9259 w 10000"/>
              <a:gd name="connsiteY33" fmla="*/ 8951 h 10000"/>
              <a:gd name="connsiteX34" fmla="*/ 9064 w 10000"/>
              <a:gd name="connsiteY34" fmla="*/ 8951 h 10000"/>
              <a:gd name="connsiteX35" fmla="*/ 8635 w 10000"/>
              <a:gd name="connsiteY35" fmla="*/ 8965 h 10000"/>
              <a:gd name="connsiteX36" fmla="*/ 8226 w 10000"/>
              <a:gd name="connsiteY36" fmla="*/ 9031 h 10000"/>
              <a:gd name="connsiteX37" fmla="*/ 8187 w 10000"/>
              <a:gd name="connsiteY37" fmla="*/ 9124 h 10000"/>
              <a:gd name="connsiteX38" fmla="*/ 8129 w 10000"/>
              <a:gd name="connsiteY38" fmla="*/ 9190 h 10000"/>
              <a:gd name="connsiteX39" fmla="*/ 8382 w 10000"/>
              <a:gd name="connsiteY39" fmla="*/ 9256 h 10000"/>
              <a:gd name="connsiteX40" fmla="*/ 8713 w 10000"/>
              <a:gd name="connsiteY40" fmla="*/ 9256 h 10000"/>
              <a:gd name="connsiteX41" fmla="*/ 9084 w 10000"/>
              <a:gd name="connsiteY41" fmla="*/ 9256 h 10000"/>
              <a:gd name="connsiteX42" fmla="*/ 9298 w 10000"/>
              <a:gd name="connsiteY42" fmla="*/ 9375 h 10000"/>
              <a:gd name="connsiteX43" fmla="*/ 8733 w 10000"/>
              <a:gd name="connsiteY43" fmla="*/ 9628 h 10000"/>
              <a:gd name="connsiteX44" fmla="*/ 8207 w 10000"/>
              <a:gd name="connsiteY44" fmla="*/ 9999 h 10000"/>
              <a:gd name="connsiteX45" fmla="*/ 8616 w 10000"/>
              <a:gd name="connsiteY45" fmla="*/ 9999 h 10000"/>
              <a:gd name="connsiteX46" fmla="*/ 9162 w 10000"/>
              <a:gd name="connsiteY46" fmla="*/ 9919 h 10000"/>
              <a:gd name="connsiteX47" fmla="*/ 9883 w 10000"/>
              <a:gd name="connsiteY47" fmla="*/ 9044 h 10000"/>
              <a:gd name="connsiteX48" fmla="*/ 9883 w 10000"/>
              <a:gd name="connsiteY48" fmla="*/ 8036 h 10000"/>
              <a:gd name="connsiteX49" fmla="*/ 10000 w 10000"/>
              <a:gd name="connsiteY49" fmla="*/ 0 h 10000"/>
              <a:gd name="connsiteX0" fmla="*/ 0 w 10000"/>
              <a:gd name="connsiteY0" fmla="*/ 6525 h 10000"/>
              <a:gd name="connsiteX1" fmla="*/ 39 w 10000"/>
              <a:gd name="connsiteY1" fmla="*/ 7001 h 10000"/>
              <a:gd name="connsiteX2" fmla="*/ 273 w 10000"/>
              <a:gd name="connsiteY2" fmla="*/ 7400 h 10000"/>
              <a:gd name="connsiteX3" fmla="*/ 741 w 10000"/>
              <a:gd name="connsiteY3" fmla="*/ 7625 h 10000"/>
              <a:gd name="connsiteX4" fmla="*/ 1092 w 10000"/>
              <a:gd name="connsiteY4" fmla="*/ 7625 h 10000"/>
              <a:gd name="connsiteX5" fmla="*/ 1423 w 10000"/>
              <a:gd name="connsiteY5" fmla="*/ 7559 h 10000"/>
              <a:gd name="connsiteX6" fmla="*/ 1754 w 10000"/>
              <a:gd name="connsiteY6" fmla="*/ 7479 h 10000"/>
              <a:gd name="connsiteX7" fmla="*/ 2105 w 10000"/>
              <a:gd name="connsiteY7" fmla="*/ 7439 h 10000"/>
              <a:gd name="connsiteX8" fmla="*/ 2476 w 10000"/>
              <a:gd name="connsiteY8" fmla="*/ 7453 h 10000"/>
              <a:gd name="connsiteX9" fmla="*/ 3216 w 10000"/>
              <a:gd name="connsiteY9" fmla="*/ 7506 h 10000"/>
              <a:gd name="connsiteX10" fmla="*/ 4113 w 10000"/>
              <a:gd name="connsiteY10" fmla="*/ 7545 h 10000"/>
              <a:gd name="connsiteX11" fmla="*/ 4659 w 10000"/>
              <a:gd name="connsiteY11" fmla="*/ 7506 h 10000"/>
              <a:gd name="connsiteX12" fmla="*/ 5205 w 10000"/>
              <a:gd name="connsiteY12" fmla="*/ 7479 h 10000"/>
              <a:gd name="connsiteX13" fmla="*/ 5750 w 10000"/>
              <a:gd name="connsiteY13" fmla="*/ 7466 h 10000"/>
              <a:gd name="connsiteX14" fmla="*/ 6355 w 10000"/>
              <a:gd name="connsiteY14" fmla="*/ 7519 h 10000"/>
              <a:gd name="connsiteX15" fmla="*/ 6823 w 10000"/>
              <a:gd name="connsiteY15" fmla="*/ 7665 h 10000"/>
              <a:gd name="connsiteX16" fmla="*/ 7232 w 10000"/>
              <a:gd name="connsiteY16" fmla="*/ 7877 h 10000"/>
              <a:gd name="connsiteX17" fmla="*/ 7680 w 10000"/>
              <a:gd name="connsiteY17" fmla="*/ 8142 h 10000"/>
              <a:gd name="connsiteX18" fmla="*/ 7778 w 10000"/>
              <a:gd name="connsiteY18" fmla="*/ 8182 h 10000"/>
              <a:gd name="connsiteX19" fmla="*/ 7875 w 10000"/>
              <a:gd name="connsiteY19" fmla="*/ 8248 h 10000"/>
              <a:gd name="connsiteX20" fmla="*/ 7973 w 10000"/>
              <a:gd name="connsiteY20" fmla="*/ 8301 h 10000"/>
              <a:gd name="connsiteX21" fmla="*/ 8070 w 10000"/>
              <a:gd name="connsiteY21" fmla="*/ 8341 h 10000"/>
              <a:gd name="connsiteX22" fmla="*/ 8129 w 10000"/>
              <a:gd name="connsiteY22" fmla="*/ 8381 h 10000"/>
              <a:gd name="connsiteX23" fmla="*/ 8187 w 10000"/>
              <a:gd name="connsiteY23" fmla="*/ 8407 h 10000"/>
              <a:gd name="connsiteX24" fmla="*/ 8265 w 10000"/>
              <a:gd name="connsiteY24" fmla="*/ 8421 h 10000"/>
              <a:gd name="connsiteX25" fmla="*/ 8382 w 10000"/>
              <a:gd name="connsiteY25" fmla="*/ 8421 h 10000"/>
              <a:gd name="connsiteX26" fmla="*/ 8577 w 10000"/>
              <a:gd name="connsiteY26" fmla="*/ 8566 h 10000"/>
              <a:gd name="connsiteX27" fmla="*/ 8869 w 10000"/>
              <a:gd name="connsiteY27" fmla="*/ 8619 h 10000"/>
              <a:gd name="connsiteX28" fmla="*/ 9181 w 10000"/>
              <a:gd name="connsiteY28" fmla="*/ 8606 h 10000"/>
              <a:gd name="connsiteX29" fmla="*/ 9474 w 10000"/>
              <a:gd name="connsiteY29" fmla="*/ 8672 h 10000"/>
              <a:gd name="connsiteX30" fmla="*/ 9435 w 10000"/>
              <a:gd name="connsiteY30" fmla="*/ 8792 h 10000"/>
              <a:gd name="connsiteX31" fmla="*/ 9435 w 10000"/>
              <a:gd name="connsiteY31" fmla="*/ 8925 h 10000"/>
              <a:gd name="connsiteX32" fmla="*/ 9259 w 10000"/>
              <a:gd name="connsiteY32" fmla="*/ 8951 h 10000"/>
              <a:gd name="connsiteX33" fmla="*/ 9064 w 10000"/>
              <a:gd name="connsiteY33" fmla="*/ 8951 h 10000"/>
              <a:gd name="connsiteX34" fmla="*/ 8635 w 10000"/>
              <a:gd name="connsiteY34" fmla="*/ 8965 h 10000"/>
              <a:gd name="connsiteX35" fmla="*/ 8226 w 10000"/>
              <a:gd name="connsiteY35" fmla="*/ 9031 h 10000"/>
              <a:gd name="connsiteX36" fmla="*/ 8187 w 10000"/>
              <a:gd name="connsiteY36" fmla="*/ 9124 h 10000"/>
              <a:gd name="connsiteX37" fmla="*/ 8129 w 10000"/>
              <a:gd name="connsiteY37" fmla="*/ 9190 h 10000"/>
              <a:gd name="connsiteX38" fmla="*/ 8382 w 10000"/>
              <a:gd name="connsiteY38" fmla="*/ 9256 h 10000"/>
              <a:gd name="connsiteX39" fmla="*/ 8713 w 10000"/>
              <a:gd name="connsiteY39" fmla="*/ 9256 h 10000"/>
              <a:gd name="connsiteX40" fmla="*/ 9084 w 10000"/>
              <a:gd name="connsiteY40" fmla="*/ 9256 h 10000"/>
              <a:gd name="connsiteX41" fmla="*/ 9298 w 10000"/>
              <a:gd name="connsiteY41" fmla="*/ 9375 h 10000"/>
              <a:gd name="connsiteX42" fmla="*/ 8733 w 10000"/>
              <a:gd name="connsiteY42" fmla="*/ 9628 h 10000"/>
              <a:gd name="connsiteX43" fmla="*/ 8207 w 10000"/>
              <a:gd name="connsiteY43" fmla="*/ 9999 h 10000"/>
              <a:gd name="connsiteX44" fmla="*/ 8616 w 10000"/>
              <a:gd name="connsiteY44" fmla="*/ 9999 h 10000"/>
              <a:gd name="connsiteX45" fmla="*/ 9162 w 10000"/>
              <a:gd name="connsiteY45" fmla="*/ 9919 h 10000"/>
              <a:gd name="connsiteX46" fmla="*/ 9883 w 10000"/>
              <a:gd name="connsiteY46" fmla="*/ 9044 h 10000"/>
              <a:gd name="connsiteX47" fmla="*/ 9883 w 10000"/>
              <a:gd name="connsiteY47" fmla="*/ 8036 h 10000"/>
              <a:gd name="connsiteX48" fmla="*/ 10000 w 10000"/>
              <a:gd name="connsiteY48" fmla="*/ 0 h 10000"/>
              <a:gd name="connsiteX0" fmla="*/ 0 w 9961"/>
              <a:gd name="connsiteY0" fmla="*/ 7001 h 10000"/>
              <a:gd name="connsiteX1" fmla="*/ 234 w 9961"/>
              <a:gd name="connsiteY1" fmla="*/ 7400 h 10000"/>
              <a:gd name="connsiteX2" fmla="*/ 702 w 9961"/>
              <a:gd name="connsiteY2" fmla="*/ 7625 h 10000"/>
              <a:gd name="connsiteX3" fmla="*/ 1053 w 9961"/>
              <a:gd name="connsiteY3" fmla="*/ 7625 h 10000"/>
              <a:gd name="connsiteX4" fmla="*/ 1384 w 9961"/>
              <a:gd name="connsiteY4" fmla="*/ 7559 h 10000"/>
              <a:gd name="connsiteX5" fmla="*/ 1715 w 9961"/>
              <a:gd name="connsiteY5" fmla="*/ 7479 h 10000"/>
              <a:gd name="connsiteX6" fmla="*/ 2066 w 9961"/>
              <a:gd name="connsiteY6" fmla="*/ 7439 h 10000"/>
              <a:gd name="connsiteX7" fmla="*/ 2437 w 9961"/>
              <a:gd name="connsiteY7" fmla="*/ 7453 h 10000"/>
              <a:gd name="connsiteX8" fmla="*/ 3177 w 9961"/>
              <a:gd name="connsiteY8" fmla="*/ 7506 h 10000"/>
              <a:gd name="connsiteX9" fmla="*/ 4074 w 9961"/>
              <a:gd name="connsiteY9" fmla="*/ 7545 h 10000"/>
              <a:gd name="connsiteX10" fmla="*/ 4620 w 9961"/>
              <a:gd name="connsiteY10" fmla="*/ 7506 h 10000"/>
              <a:gd name="connsiteX11" fmla="*/ 5166 w 9961"/>
              <a:gd name="connsiteY11" fmla="*/ 7479 h 10000"/>
              <a:gd name="connsiteX12" fmla="*/ 5711 w 9961"/>
              <a:gd name="connsiteY12" fmla="*/ 7466 h 10000"/>
              <a:gd name="connsiteX13" fmla="*/ 6316 w 9961"/>
              <a:gd name="connsiteY13" fmla="*/ 7519 h 10000"/>
              <a:gd name="connsiteX14" fmla="*/ 6784 w 9961"/>
              <a:gd name="connsiteY14" fmla="*/ 7665 h 10000"/>
              <a:gd name="connsiteX15" fmla="*/ 7193 w 9961"/>
              <a:gd name="connsiteY15" fmla="*/ 7877 h 10000"/>
              <a:gd name="connsiteX16" fmla="*/ 7641 w 9961"/>
              <a:gd name="connsiteY16" fmla="*/ 8142 h 10000"/>
              <a:gd name="connsiteX17" fmla="*/ 7739 w 9961"/>
              <a:gd name="connsiteY17" fmla="*/ 8182 h 10000"/>
              <a:gd name="connsiteX18" fmla="*/ 7836 w 9961"/>
              <a:gd name="connsiteY18" fmla="*/ 8248 h 10000"/>
              <a:gd name="connsiteX19" fmla="*/ 7934 w 9961"/>
              <a:gd name="connsiteY19" fmla="*/ 8301 h 10000"/>
              <a:gd name="connsiteX20" fmla="*/ 8031 w 9961"/>
              <a:gd name="connsiteY20" fmla="*/ 8341 h 10000"/>
              <a:gd name="connsiteX21" fmla="*/ 8090 w 9961"/>
              <a:gd name="connsiteY21" fmla="*/ 8381 h 10000"/>
              <a:gd name="connsiteX22" fmla="*/ 8148 w 9961"/>
              <a:gd name="connsiteY22" fmla="*/ 8407 h 10000"/>
              <a:gd name="connsiteX23" fmla="*/ 8226 w 9961"/>
              <a:gd name="connsiteY23" fmla="*/ 8421 h 10000"/>
              <a:gd name="connsiteX24" fmla="*/ 8343 w 9961"/>
              <a:gd name="connsiteY24" fmla="*/ 8421 h 10000"/>
              <a:gd name="connsiteX25" fmla="*/ 8538 w 9961"/>
              <a:gd name="connsiteY25" fmla="*/ 8566 h 10000"/>
              <a:gd name="connsiteX26" fmla="*/ 8830 w 9961"/>
              <a:gd name="connsiteY26" fmla="*/ 8619 h 10000"/>
              <a:gd name="connsiteX27" fmla="*/ 9142 w 9961"/>
              <a:gd name="connsiteY27" fmla="*/ 8606 h 10000"/>
              <a:gd name="connsiteX28" fmla="*/ 9435 w 9961"/>
              <a:gd name="connsiteY28" fmla="*/ 8672 h 10000"/>
              <a:gd name="connsiteX29" fmla="*/ 9396 w 9961"/>
              <a:gd name="connsiteY29" fmla="*/ 8792 h 10000"/>
              <a:gd name="connsiteX30" fmla="*/ 9396 w 9961"/>
              <a:gd name="connsiteY30" fmla="*/ 8925 h 10000"/>
              <a:gd name="connsiteX31" fmla="*/ 9220 w 9961"/>
              <a:gd name="connsiteY31" fmla="*/ 8951 h 10000"/>
              <a:gd name="connsiteX32" fmla="*/ 9025 w 9961"/>
              <a:gd name="connsiteY32" fmla="*/ 8951 h 10000"/>
              <a:gd name="connsiteX33" fmla="*/ 8596 w 9961"/>
              <a:gd name="connsiteY33" fmla="*/ 8965 h 10000"/>
              <a:gd name="connsiteX34" fmla="*/ 8187 w 9961"/>
              <a:gd name="connsiteY34" fmla="*/ 9031 h 10000"/>
              <a:gd name="connsiteX35" fmla="*/ 8148 w 9961"/>
              <a:gd name="connsiteY35" fmla="*/ 9124 h 10000"/>
              <a:gd name="connsiteX36" fmla="*/ 8090 w 9961"/>
              <a:gd name="connsiteY36" fmla="*/ 9190 h 10000"/>
              <a:gd name="connsiteX37" fmla="*/ 8343 w 9961"/>
              <a:gd name="connsiteY37" fmla="*/ 9256 h 10000"/>
              <a:gd name="connsiteX38" fmla="*/ 8674 w 9961"/>
              <a:gd name="connsiteY38" fmla="*/ 9256 h 10000"/>
              <a:gd name="connsiteX39" fmla="*/ 9045 w 9961"/>
              <a:gd name="connsiteY39" fmla="*/ 9256 h 10000"/>
              <a:gd name="connsiteX40" fmla="*/ 9259 w 9961"/>
              <a:gd name="connsiteY40" fmla="*/ 9375 h 10000"/>
              <a:gd name="connsiteX41" fmla="*/ 8694 w 9961"/>
              <a:gd name="connsiteY41" fmla="*/ 9628 h 10000"/>
              <a:gd name="connsiteX42" fmla="*/ 8168 w 9961"/>
              <a:gd name="connsiteY42" fmla="*/ 9999 h 10000"/>
              <a:gd name="connsiteX43" fmla="*/ 8577 w 9961"/>
              <a:gd name="connsiteY43" fmla="*/ 9999 h 10000"/>
              <a:gd name="connsiteX44" fmla="*/ 9123 w 9961"/>
              <a:gd name="connsiteY44" fmla="*/ 9919 h 10000"/>
              <a:gd name="connsiteX45" fmla="*/ 9844 w 9961"/>
              <a:gd name="connsiteY45" fmla="*/ 9044 h 10000"/>
              <a:gd name="connsiteX46" fmla="*/ 9844 w 9961"/>
              <a:gd name="connsiteY46" fmla="*/ 8036 h 10000"/>
              <a:gd name="connsiteX47" fmla="*/ 9961 w 9961"/>
              <a:gd name="connsiteY47" fmla="*/ 0 h 10000"/>
              <a:gd name="connsiteX0" fmla="*/ 0 w 9765"/>
              <a:gd name="connsiteY0" fmla="*/ 7400 h 10000"/>
              <a:gd name="connsiteX1" fmla="*/ 470 w 9765"/>
              <a:gd name="connsiteY1" fmla="*/ 7625 h 10000"/>
              <a:gd name="connsiteX2" fmla="*/ 822 w 9765"/>
              <a:gd name="connsiteY2" fmla="*/ 7625 h 10000"/>
              <a:gd name="connsiteX3" fmla="*/ 1154 w 9765"/>
              <a:gd name="connsiteY3" fmla="*/ 7559 h 10000"/>
              <a:gd name="connsiteX4" fmla="*/ 1487 w 9765"/>
              <a:gd name="connsiteY4" fmla="*/ 7479 h 10000"/>
              <a:gd name="connsiteX5" fmla="*/ 1839 w 9765"/>
              <a:gd name="connsiteY5" fmla="*/ 7439 h 10000"/>
              <a:gd name="connsiteX6" fmla="*/ 2212 w 9765"/>
              <a:gd name="connsiteY6" fmla="*/ 7453 h 10000"/>
              <a:gd name="connsiteX7" fmla="*/ 2954 w 9765"/>
              <a:gd name="connsiteY7" fmla="*/ 7506 h 10000"/>
              <a:gd name="connsiteX8" fmla="*/ 3855 w 9765"/>
              <a:gd name="connsiteY8" fmla="*/ 7545 h 10000"/>
              <a:gd name="connsiteX9" fmla="*/ 4403 w 9765"/>
              <a:gd name="connsiteY9" fmla="*/ 7506 h 10000"/>
              <a:gd name="connsiteX10" fmla="*/ 4951 w 9765"/>
              <a:gd name="connsiteY10" fmla="*/ 7479 h 10000"/>
              <a:gd name="connsiteX11" fmla="*/ 5498 w 9765"/>
              <a:gd name="connsiteY11" fmla="*/ 7466 h 10000"/>
              <a:gd name="connsiteX12" fmla="*/ 6106 w 9765"/>
              <a:gd name="connsiteY12" fmla="*/ 7519 h 10000"/>
              <a:gd name="connsiteX13" fmla="*/ 6576 w 9765"/>
              <a:gd name="connsiteY13" fmla="*/ 7665 h 10000"/>
              <a:gd name="connsiteX14" fmla="*/ 6986 w 9765"/>
              <a:gd name="connsiteY14" fmla="*/ 7877 h 10000"/>
              <a:gd name="connsiteX15" fmla="*/ 7436 w 9765"/>
              <a:gd name="connsiteY15" fmla="*/ 8142 h 10000"/>
              <a:gd name="connsiteX16" fmla="*/ 7534 w 9765"/>
              <a:gd name="connsiteY16" fmla="*/ 8182 h 10000"/>
              <a:gd name="connsiteX17" fmla="*/ 7632 w 9765"/>
              <a:gd name="connsiteY17" fmla="*/ 8248 h 10000"/>
              <a:gd name="connsiteX18" fmla="*/ 7730 w 9765"/>
              <a:gd name="connsiteY18" fmla="*/ 8301 h 10000"/>
              <a:gd name="connsiteX19" fmla="*/ 7827 w 9765"/>
              <a:gd name="connsiteY19" fmla="*/ 8341 h 10000"/>
              <a:gd name="connsiteX20" fmla="*/ 7887 w 9765"/>
              <a:gd name="connsiteY20" fmla="*/ 8381 h 10000"/>
              <a:gd name="connsiteX21" fmla="*/ 7945 w 9765"/>
              <a:gd name="connsiteY21" fmla="*/ 8407 h 10000"/>
              <a:gd name="connsiteX22" fmla="*/ 8023 w 9765"/>
              <a:gd name="connsiteY22" fmla="*/ 8421 h 10000"/>
              <a:gd name="connsiteX23" fmla="*/ 8141 w 9765"/>
              <a:gd name="connsiteY23" fmla="*/ 8421 h 10000"/>
              <a:gd name="connsiteX24" fmla="*/ 8336 w 9765"/>
              <a:gd name="connsiteY24" fmla="*/ 8566 h 10000"/>
              <a:gd name="connsiteX25" fmla="*/ 8630 w 9765"/>
              <a:gd name="connsiteY25" fmla="*/ 8619 h 10000"/>
              <a:gd name="connsiteX26" fmla="*/ 8943 w 9765"/>
              <a:gd name="connsiteY26" fmla="*/ 8606 h 10000"/>
              <a:gd name="connsiteX27" fmla="*/ 9237 w 9765"/>
              <a:gd name="connsiteY27" fmla="*/ 8672 h 10000"/>
              <a:gd name="connsiteX28" fmla="*/ 9198 w 9765"/>
              <a:gd name="connsiteY28" fmla="*/ 8792 h 10000"/>
              <a:gd name="connsiteX29" fmla="*/ 9198 w 9765"/>
              <a:gd name="connsiteY29" fmla="*/ 8925 h 10000"/>
              <a:gd name="connsiteX30" fmla="*/ 9021 w 9765"/>
              <a:gd name="connsiteY30" fmla="*/ 8951 h 10000"/>
              <a:gd name="connsiteX31" fmla="*/ 8825 w 9765"/>
              <a:gd name="connsiteY31" fmla="*/ 8951 h 10000"/>
              <a:gd name="connsiteX32" fmla="*/ 8395 w 9765"/>
              <a:gd name="connsiteY32" fmla="*/ 8965 h 10000"/>
              <a:gd name="connsiteX33" fmla="*/ 7984 w 9765"/>
              <a:gd name="connsiteY33" fmla="*/ 9031 h 10000"/>
              <a:gd name="connsiteX34" fmla="*/ 7945 w 9765"/>
              <a:gd name="connsiteY34" fmla="*/ 9124 h 10000"/>
              <a:gd name="connsiteX35" fmla="*/ 7887 w 9765"/>
              <a:gd name="connsiteY35" fmla="*/ 9190 h 10000"/>
              <a:gd name="connsiteX36" fmla="*/ 8141 w 9765"/>
              <a:gd name="connsiteY36" fmla="*/ 9256 h 10000"/>
              <a:gd name="connsiteX37" fmla="*/ 8473 w 9765"/>
              <a:gd name="connsiteY37" fmla="*/ 9256 h 10000"/>
              <a:gd name="connsiteX38" fmla="*/ 8845 w 9765"/>
              <a:gd name="connsiteY38" fmla="*/ 9256 h 10000"/>
              <a:gd name="connsiteX39" fmla="*/ 9060 w 9765"/>
              <a:gd name="connsiteY39" fmla="*/ 9375 h 10000"/>
              <a:gd name="connsiteX40" fmla="*/ 8493 w 9765"/>
              <a:gd name="connsiteY40" fmla="*/ 9628 h 10000"/>
              <a:gd name="connsiteX41" fmla="*/ 7965 w 9765"/>
              <a:gd name="connsiteY41" fmla="*/ 9999 h 10000"/>
              <a:gd name="connsiteX42" fmla="*/ 8376 w 9765"/>
              <a:gd name="connsiteY42" fmla="*/ 9999 h 10000"/>
              <a:gd name="connsiteX43" fmla="*/ 8924 w 9765"/>
              <a:gd name="connsiteY43" fmla="*/ 9919 h 10000"/>
              <a:gd name="connsiteX44" fmla="*/ 9648 w 9765"/>
              <a:gd name="connsiteY44" fmla="*/ 9044 h 10000"/>
              <a:gd name="connsiteX45" fmla="*/ 9648 w 9765"/>
              <a:gd name="connsiteY45" fmla="*/ 8036 h 10000"/>
              <a:gd name="connsiteX46" fmla="*/ 9765 w 9765"/>
              <a:gd name="connsiteY46" fmla="*/ 0 h 10000"/>
              <a:gd name="connsiteX0" fmla="*/ 0 w 10000"/>
              <a:gd name="connsiteY0" fmla="*/ 7400 h 10000"/>
              <a:gd name="connsiteX1" fmla="*/ 842 w 10000"/>
              <a:gd name="connsiteY1" fmla="*/ 7625 h 10000"/>
              <a:gd name="connsiteX2" fmla="*/ 1182 w 10000"/>
              <a:gd name="connsiteY2" fmla="*/ 7559 h 10000"/>
              <a:gd name="connsiteX3" fmla="*/ 1523 w 10000"/>
              <a:gd name="connsiteY3" fmla="*/ 7479 h 10000"/>
              <a:gd name="connsiteX4" fmla="*/ 1883 w 10000"/>
              <a:gd name="connsiteY4" fmla="*/ 7439 h 10000"/>
              <a:gd name="connsiteX5" fmla="*/ 2265 w 10000"/>
              <a:gd name="connsiteY5" fmla="*/ 7453 h 10000"/>
              <a:gd name="connsiteX6" fmla="*/ 3025 w 10000"/>
              <a:gd name="connsiteY6" fmla="*/ 7506 h 10000"/>
              <a:gd name="connsiteX7" fmla="*/ 3948 w 10000"/>
              <a:gd name="connsiteY7" fmla="*/ 7545 h 10000"/>
              <a:gd name="connsiteX8" fmla="*/ 4509 w 10000"/>
              <a:gd name="connsiteY8" fmla="*/ 7506 h 10000"/>
              <a:gd name="connsiteX9" fmla="*/ 5070 w 10000"/>
              <a:gd name="connsiteY9" fmla="*/ 7479 h 10000"/>
              <a:gd name="connsiteX10" fmla="*/ 5630 w 10000"/>
              <a:gd name="connsiteY10" fmla="*/ 7466 h 10000"/>
              <a:gd name="connsiteX11" fmla="*/ 6253 w 10000"/>
              <a:gd name="connsiteY11" fmla="*/ 7519 h 10000"/>
              <a:gd name="connsiteX12" fmla="*/ 6734 w 10000"/>
              <a:gd name="connsiteY12" fmla="*/ 7665 h 10000"/>
              <a:gd name="connsiteX13" fmla="*/ 7154 w 10000"/>
              <a:gd name="connsiteY13" fmla="*/ 7877 h 10000"/>
              <a:gd name="connsiteX14" fmla="*/ 7615 w 10000"/>
              <a:gd name="connsiteY14" fmla="*/ 8142 h 10000"/>
              <a:gd name="connsiteX15" fmla="*/ 7715 w 10000"/>
              <a:gd name="connsiteY15" fmla="*/ 8182 h 10000"/>
              <a:gd name="connsiteX16" fmla="*/ 7816 w 10000"/>
              <a:gd name="connsiteY16" fmla="*/ 8248 h 10000"/>
              <a:gd name="connsiteX17" fmla="*/ 7916 w 10000"/>
              <a:gd name="connsiteY17" fmla="*/ 8301 h 10000"/>
              <a:gd name="connsiteX18" fmla="*/ 8015 w 10000"/>
              <a:gd name="connsiteY18" fmla="*/ 8341 h 10000"/>
              <a:gd name="connsiteX19" fmla="*/ 8077 w 10000"/>
              <a:gd name="connsiteY19" fmla="*/ 8381 h 10000"/>
              <a:gd name="connsiteX20" fmla="*/ 8136 w 10000"/>
              <a:gd name="connsiteY20" fmla="*/ 8407 h 10000"/>
              <a:gd name="connsiteX21" fmla="*/ 8216 w 10000"/>
              <a:gd name="connsiteY21" fmla="*/ 8421 h 10000"/>
              <a:gd name="connsiteX22" fmla="*/ 8337 w 10000"/>
              <a:gd name="connsiteY22" fmla="*/ 8421 h 10000"/>
              <a:gd name="connsiteX23" fmla="*/ 8537 w 10000"/>
              <a:gd name="connsiteY23" fmla="*/ 8566 h 10000"/>
              <a:gd name="connsiteX24" fmla="*/ 8838 w 10000"/>
              <a:gd name="connsiteY24" fmla="*/ 8619 h 10000"/>
              <a:gd name="connsiteX25" fmla="*/ 9158 w 10000"/>
              <a:gd name="connsiteY25" fmla="*/ 8606 h 10000"/>
              <a:gd name="connsiteX26" fmla="*/ 9459 w 10000"/>
              <a:gd name="connsiteY26" fmla="*/ 8672 h 10000"/>
              <a:gd name="connsiteX27" fmla="*/ 9419 w 10000"/>
              <a:gd name="connsiteY27" fmla="*/ 8792 h 10000"/>
              <a:gd name="connsiteX28" fmla="*/ 9419 w 10000"/>
              <a:gd name="connsiteY28" fmla="*/ 8925 h 10000"/>
              <a:gd name="connsiteX29" fmla="*/ 9238 w 10000"/>
              <a:gd name="connsiteY29" fmla="*/ 8951 h 10000"/>
              <a:gd name="connsiteX30" fmla="*/ 9037 w 10000"/>
              <a:gd name="connsiteY30" fmla="*/ 8951 h 10000"/>
              <a:gd name="connsiteX31" fmla="*/ 8597 w 10000"/>
              <a:gd name="connsiteY31" fmla="*/ 8965 h 10000"/>
              <a:gd name="connsiteX32" fmla="*/ 8176 w 10000"/>
              <a:gd name="connsiteY32" fmla="*/ 9031 h 10000"/>
              <a:gd name="connsiteX33" fmla="*/ 8136 w 10000"/>
              <a:gd name="connsiteY33" fmla="*/ 9124 h 10000"/>
              <a:gd name="connsiteX34" fmla="*/ 8077 w 10000"/>
              <a:gd name="connsiteY34" fmla="*/ 9190 h 10000"/>
              <a:gd name="connsiteX35" fmla="*/ 8337 w 10000"/>
              <a:gd name="connsiteY35" fmla="*/ 9256 h 10000"/>
              <a:gd name="connsiteX36" fmla="*/ 8677 w 10000"/>
              <a:gd name="connsiteY36" fmla="*/ 9256 h 10000"/>
              <a:gd name="connsiteX37" fmla="*/ 9058 w 10000"/>
              <a:gd name="connsiteY37" fmla="*/ 9256 h 10000"/>
              <a:gd name="connsiteX38" fmla="*/ 9278 w 10000"/>
              <a:gd name="connsiteY38" fmla="*/ 9375 h 10000"/>
              <a:gd name="connsiteX39" fmla="*/ 8697 w 10000"/>
              <a:gd name="connsiteY39" fmla="*/ 9628 h 10000"/>
              <a:gd name="connsiteX40" fmla="*/ 8157 w 10000"/>
              <a:gd name="connsiteY40" fmla="*/ 9999 h 10000"/>
              <a:gd name="connsiteX41" fmla="*/ 8578 w 10000"/>
              <a:gd name="connsiteY41" fmla="*/ 9999 h 10000"/>
              <a:gd name="connsiteX42" fmla="*/ 9139 w 10000"/>
              <a:gd name="connsiteY42" fmla="*/ 9919 h 10000"/>
              <a:gd name="connsiteX43" fmla="*/ 9880 w 10000"/>
              <a:gd name="connsiteY43" fmla="*/ 9044 h 10000"/>
              <a:gd name="connsiteX44" fmla="*/ 9880 w 10000"/>
              <a:gd name="connsiteY44" fmla="*/ 8036 h 10000"/>
              <a:gd name="connsiteX45" fmla="*/ 10000 w 10000"/>
              <a:gd name="connsiteY45" fmla="*/ 0 h 10000"/>
              <a:gd name="connsiteX0" fmla="*/ 0 w 9158"/>
              <a:gd name="connsiteY0" fmla="*/ 7625 h 10000"/>
              <a:gd name="connsiteX1" fmla="*/ 340 w 9158"/>
              <a:gd name="connsiteY1" fmla="*/ 7559 h 10000"/>
              <a:gd name="connsiteX2" fmla="*/ 681 w 9158"/>
              <a:gd name="connsiteY2" fmla="*/ 7479 h 10000"/>
              <a:gd name="connsiteX3" fmla="*/ 1041 w 9158"/>
              <a:gd name="connsiteY3" fmla="*/ 7439 h 10000"/>
              <a:gd name="connsiteX4" fmla="*/ 1423 w 9158"/>
              <a:gd name="connsiteY4" fmla="*/ 7453 h 10000"/>
              <a:gd name="connsiteX5" fmla="*/ 2183 w 9158"/>
              <a:gd name="connsiteY5" fmla="*/ 7506 h 10000"/>
              <a:gd name="connsiteX6" fmla="*/ 3106 w 9158"/>
              <a:gd name="connsiteY6" fmla="*/ 7545 h 10000"/>
              <a:gd name="connsiteX7" fmla="*/ 3667 w 9158"/>
              <a:gd name="connsiteY7" fmla="*/ 7506 h 10000"/>
              <a:gd name="connsiteX8" fmla="*/ 4228 w 9158"/>
              <a:gd name="connsiteY8" fmla="*/ 7479 h 10000"/>
              <a:gd name="connsiteX9" fmla="*/ 4788 w 9158"/>
              <a:gd name="connsiteY9" fmla="*/ 7466 h 10000"/>
              <a:gd name="connsiteX10" fmla="*/ 5411 w 9158"/>
              <a:gd name="connsiteY10" fmla="*/ 7519 h 10000"/>
              <a:gd name="connsiteX11" fmla="*/ 5892 w 9158"/>
              <a:gd name="connsiteY11" fmla="*/ 7665 h 10000"/>
              <a:gd name="connsiteX12" fmla="*/ 6312 w 9158"/>
              <a:gd name="connsiteY12" fmla="*/ 7877 h 10000"/>
              <a:gd name="connsiteX13" fmla="*/ 6773 w 9158"/>
              <a:gd name="connsiteY13" fmla="*/ 8142 h 10000"/>
              <a:gd name="connsiteX14" fmla="*/ 6873 w 9158"/>
              <a:gd name="connsiteY14" fmla="*/ 8182 h 10000"/>
              <a:gd name="connsiteX15" fmla="*/ 6974 w 9158"/>
              <a:gd name="connsiteY15" fmla="*/ 8248 h 10000"/>
              <a:gd name="connsiteX16" fmla="*/ 7074 w 9158"/>
              <a:gd name="connsiteY16" fmla="*/ 8301 h 10000"/>
              <a:gd name="connsiteX17" fmla="*/ 7173 w 9158"/>
              <a:gd name="connsiteY17" fmla="*/ 8341 h 10000"/>
              <a:gd name="connsiteX18" fmla="*/ 7235 w 9158"/>
              <a:gd name="connsiteY18" fmla="*/ 8381 h 10000"/>
              <a:gd name="connsiteX19" fmla="*/ 7294 w 9158"/>
              <a:gd name="connsiteY19" fmla="*/ 8407 h 10000"/>
              <a:gd name="connsiteX20" fmla="*/ 7374 w 9158"/>
              <a:gd name="connsiteY20" fmla="*/ 8421 h 10000"/>
              <a:gd name="connsiteX21" fmla="*/ 7495 w 9158"/>
              <a:gd name="connsiteY21" fmla="*/ 8421 h 10000"/>
              <a:gd name="connsiteX22" fmla="*/ 7695 w 9158"/>
              <a:gd name="connsiteY22" fmla="*/ 8566 h 10000"/>
              <a:gd name="connsiteX23" fmla="*/ 7996 w 9158"/>
              <a:gd name="connsiteY23" fmla="*/ 8619 h 10000"/>
              <a:gd name="connsiteX24" fmla="*/ 8316 w 9158"/>
              <a:gd name="connsiteY24" fmla="*/ 8606 h 10000"/>
              <a:gd name="connsiteX25" fmla="*/ 8617 w 9158"/>
              <a:gd name="connsiteY25" fmla="*/ 8672 h 10000"/>
              <a:gd name="connsiteX26" fmla="*/ 8577 w 9158"/>
              <a:gd name="connsiteY26" fmla="*/ 8792 h 10000"/>
              <a:gd name="connsiteX27" fmla="*/ 8577 w 9158"/>
              <a:gd name="connsiteY27" fmla="*/ 8925 h 10000"/>
              <a:gd name="connsiteX28" fmla="*/ 8396 w 9158"/>
              <a:gd name="connsiteY28" fmla="*/ 8951 h 10000"/>
              <a:gd name="connsiteX29" fmla="*/ 8195 w 9158"/>
              <a:gd name="connsiteY29" fmla="*/ 8951 h 10000"/>
              <a:gd name="connsiteX30" fmla="*/ 7755 w 9158"/>
              <a:gd name="connsiteY30" fmla="*/ 8965 h 10000"/>
              <a:gd name="connsiteX31" fmla="*/ 7334 w 9158"/>
              <a:gd name="connsiteY31" fmla="*/ 9031 h 10000"/>
              <a:gd name="connsiteX32" fmla="*/ 7294 w 9158"/>
              <a:gd name="connsiteY32" fmla="*/ 9124 h 10000"/>
              <a:gd name="connsiteX33" fmla="*/ 7235 w 9158"/>
              <a:gd name="connsiteY33" fmla="*/ 9190 h 10000"/>
              <a:gd name="connsiteX34" fmla="*/ 7495 w 9158"/>
              <a:gd name="connsiteY34" fmla="*/ 9256 h 10000"/>
              <a:gd name="connsiteX35" fmla="*/ 7835 w 9158"/>
              <a:gd name="connsiteY35" fmla="*/ 9256 h 10000"/>
              <a:gd name="connsiteX36" fmla="*/ 8216 w 9158"/>
              <a:gd name="connsiteY36" fmla="*/ 9256 h 10000"/>
              <a:gd name="connsiteX37" fmla="*/ 8436 w 9158"/>
              <a:gd name="connsiteY37" fmla="*/ 9375 h 10000"/>
              <a:gd name="connsiteX38" fmla="*/ 7855 w 9158"/>
              <a:gd name="connsiteY38" fmla="*/ 9628 h 10000"/>
              <a:gd name="connsiteX39" fmla="*/ 7315 w 9158"/>
              <a:gd name="connsiteY39" fmla="*/ 9999 h 10000"/>
              <a:gd name="connsiteX40" fmla="*/ 7736 w 9158"/>
              <a:gd name="connsiteY40" fmla="*/ 9999 h 10000"/>
              <a:gd name="connsiteX41" fmla="*/ 8297 w 9158"/>
              <a:gd name="connsiteY41" fmla="*/ 9919 h 10000"/>
              <a:gd name="connsiteX42" fmla="*/ 9038 w 9158"/>
              <a:gd name="connsiteY42" fmla="*/ 9044 h 10000"/>
              <a:gd name="connsiteX43" fmla="*/ 9038 w 9158"/>
              <a:gd name="connsiteY43" fmla="*/ 8036 h 10000"/>
              <a:gd name="connsiteX44" fmla="*/ 9158 w 9158"/>
              <a:gd name="connsiteY44" fmla="*/ 0 h 10000"/>
              <a:gd name="connsiteX0" fmla="*/ 0 w 10000"/>
              <a:gd name="connsiteY0" fmla="*/ 7625 h 10000"/>
              <a:gd name="connsiteX1" fmla="*/ 744 w 10000"/>
              <a:gd name="connsiteY1" fmla="*/ 7479 h 10000"/>
              <a:gd name="connsiteX2" fmla="*/ 1137 w 10000"/>
              <a:gd name="connsiteY2" fmla="*/ 7439 h 10000"/>
              <a:gd name="connsiteX3" fmla="*/ 1554 w 10000"/>
              <a:gd name="connsiteY3" fmla="*/ 7453 h 10000"/>
              <a:gd name="connsiteX4" fmla="*/ 2384 w 10000"/>
              <a:gd name="connsiteY4" fmla="*/ 7506 h 10000"/>
              <a:gd name="connsiteX5" fmla="*/ 3392 w 10000"/>
              <a:gd name="connsiteY5" fmla="*/ 7545 h 10000"/>
              <a:gd name="connsiteX6" fmla="*/ 4004 w 10000"/>
              <a:gd name="connsiteY6" fmla="*/ 7506 h 10000"/>
              <a:gd name="connsiteX7" fmla="*/ 4617 w 10000"/>
              <a:gd name="connsiteY7" fmla="*/ 7479 h 10000"/>
              <a:gd name="connsiteX8" fmla="*/ 5228 w 10000"/>
              <a:gd name="connsiteY8" fmla="*/ 7466 h 10000"/>
              <a:gd name="connsiteX9" fmla="*/ 5908 w 10000"/>
              <a:gd name="connsiteY9" fmla="*/ 7519 h 10000"/>
              <a:gd name="connsiteX10" fmla="*/ 6434 w 10000"/>
              <a:gd name="connsiteY10" fmla="*/ 7665 h 10000"/>
              <a:gd name="connsiteX11" fmla="*/ 6892 w 10000"/>
              <a:gd name="connsiteY11" fmla="*/ 7877 h 10000"/>
              <a:gd name="connsiteX12" fmla="*/ 7396 w 10000"/>
              <a:gd name="connsiteY12" fmla="*/ 8142 h 10000"/>
              <a:gd name="connsiteX13" fmla="*/ 7505 w 10000"/>
              <a:gd name="connsiteY13" fmla="*/ 8182 h 10000"/>
              <a:gd name="connsiteX14" fmla="*/ 7615 w 10000"/>
              <a:gd name="connsiteY14" fmla="*/ 8248 h 10000"/>
              <a:gd name="connsiteX15" fmla="*/ 7724 w 10000"/>
              <a:gd name="connsiteY15" fmla="*/ 8301 h 10000"/>
              <a:gd name="connsiteX16" fmla="*/ 7832 w 10000"/>
              <a:gd name="connsiteY16" fmla="*/ 8341 h 10000"/>
              <a:gd name="connsiteX17" fmla="*/ 7900 w 10000"/>
              <a:gd name="connsiteY17" fmla="*/ 8381 h 10000"/>
              <a:gd name="connsiteX18" fmla="*/ 7965 w 10000"/>
              <a:gd name="connsiteY18" fmla="*/ 8407 h 10000"/>
              <a:gd name="connsiteX19" fmla="*/ 8052 w 10000"/>
              <a:gd name="connsiteY19" fmla="*/ 8421 h 10000"/>
              <a:gd name="connsiteX20" fmla="*/ 8184 w 10000"/>
              <a:gd name="connsiteY20" fmla="*/ 8421 h 10000"/>
              <a:gd name="connsiteX21" fmla="*/ 8402 w 10000"/>
              <a:gd name="connsiteY21" fmla="*/ 8566 h 10000"/>
              <a:gd name="connsiteX22" fmla="*/ 8731 w 10000"/>
              <a:gd name="connsiteY22" fmla="*/ 8619 h 10000"/>
              <a:gd name="connsiteX23" fmla="*/ 9081 w 10000"/>
              <a:gd name="connsiteY23" fmla="*/ 8606 h 10000"/>
              <a:gd name="connsiteX24" fmla="*/ 9409 w 10000"/>
              <a:gd name="connsiteY24" fmla="*/ 8672 h 10000"/>
              <a:gd name="connsiteX25" fmla="*/ 9366 w 10000"/>
              <a:gd name="connsiteY25" fmla="*/ 8792 h 10000"/>
              <a:gd name="connsiteX26" fmla="*/ 9366 w 10000"/>
              <a:gd name="connsiteY26" fmla="*/ 8925 h 10000"/>
              <a:gd name="connsiteX27" fmla="*/ 9168 w 10000"/>
              <a:gd name="connsiteY27" fmla="*/ 8951 h 10000"/>
              <a:gd name="connsiteX28" fmla="*/ 8948 w 10000"/>
              <a:gd name="connsiteY28" fmla="*/ 8951 h 10000"/>
              <a:gd name="connsiteX29" fmla="*/ 8468 w 10000"/>
              <a:gd name="connsiteY29" fmla="*/ 8965 h 10000"/>
              <a:gd name="connsiteX30" fmla="*/ 8008 w 10000"/>
              <a:gd name="connsiteY30" fmla="*/ 9031 h 10000"/>
              <a:gd name="connsiteX31" fmla="*/ 7965 w 10000"/>
              <a:gd name="connsiteY31" fmla="*/ 9124 h 10000"/>
              <a:gd name="connsiteX32" fmla="*/ 7900 w 10000"/>
              <a:gd name="connsiteY32" fmla="*/ 9190 h 10000"/>
              <a:gd name="connsiteX33" fmla="*/ 8184 w 10000"/>
              <a:gd name="connsiteY33" fmla="*/ 9256 h 10000"/>
              <a:gd name="connsiteX34" fmla="*/ 8555 w 10000"/>
              <a:gd name="connsiteY34" fmla="*/ 9256 h 10000"/>
              <a:gd name="connsiteX35" fmla="*/ 8971 w 10000"/>
              <a:gd name="connsiteY35" fmla="*/ 9256 h 10000"/>
              <a:gd name="connsiteX36" fmla="*/ 9212 w 10000"/>
              <a:gd name="connsiteY36" fmla="*/ 9375 h 10000"/>
              <a:gd name="connsiteX37" fmla="*/ 8577 w 10000"/>
              <a:gd name="connsiteY37" fmla="*/ 9628 h 10000"/>
              <a:gd name="connsiteX38" fmla="*/ 7988 w 10000"/>
              <a:gd name="connsiteY38" fmla="*/ 9999 h 10000"/>
              <a:gd name="connsiteX39" fmla="*/ 8447 w 10000"/>
              <a:gd name="connsiteY39" fmla="*/ 9999 h 10000"/>
              <a:gd name="connsiteX40" fmla="*/ 9060 w 10000"/>
              <a:gd name="connsiteY40" fmla="*/ 9919 h 10000"/>
              <a:gd name="connsiteX41" fmla="*/ 9869 w 10000"/>
              <a:gd name="connsiteY41" fmla="*/ 9044 h 10000"/>
              <a:gd name="connsiteX42" fmla="*/ 9869 w 10000"/>
              <a:gd name="connsiteY42" fmla="*/ 8036 h 10000"/>
              <a:gd name="connsiteX43" fmla="*/ 10000 w 10000"/>
              <a:gd name="connsiteY43" fmla="*/ 0 h 10000"/>
              <a:gd name="connsiteX0" fmla="*/ 39 w 10039"/>
              <a:gd name="connsiteY0" fmla="*/ 7625 h 10000"/>
              <a:gd name="connsiteX1" fmla="*/ 60 w 10039"/>
              <a:gd name="connsiteY1" fmla="*/ 7526 h 10000"/>
              <a:gd name="connsiteX2" fmla="*/ 783 w 10039"/>
              <a:gd name="connsiteY2" fmla="*/ 7479 h 10000"/>
              <a:gd name="connsiteX3" fmla="*/ 1176 w 10039"/>
              <a:gd name="connsiteY3" fmla="*/ 7439 h 10000"/>
              <a:gd name="connsiteX4" fmla="*/ 1593 w 10039"/>
              <a:gd name="connsiteY4" fmla="*/ 7453 h 10000"/>
              <a:gd name="connsiteX5" fmla="*/ 2423 w 10039"/>
              <a:gd name="connsiteY5" fmla="*/ 7506 h 10000"/>
              <a:gd name="connsiteX6" fmla="*/ 3431 w 10039"/>
              <a:gd name="connsiteY6" fmla="*/ 7545 h 10000"/>
              <a:gd name="connsiteX7" fmla="*/ 4043 w 10039"/>
              <a:gd name="connsiteY7" fmla="*/ 7506 h 10000"/>
              <a:gd name="connsiteX8" fmla="*/ 4656 w 10039"/>
              <a:gd name="connsiteY8" fmla="*/ 7479 h 10000"/>
              <a:gd name="connsiteX9" fmla="*/ 5267 w 10039"/>
              <a:gd name="connsiteY9" fmla="*/ 7466 h 10000"/>
              <a:gd name="connsiteX10" fmla="*/ 5947 w 10039"/>
              <a:gd name="connsiteY10" fmla="*/ 7519 h 10000"/>
              <a:gd name="connsiteX11" fmla="*/ 6473 w 10039"/>
              <a:gd name="connsiteY11" fmla="*/ 7665 h 10000"/>
              <a:gd name="connsiteX12" fmla="*/ 6931 w 10039"/>
              <a:gd name="connsiteY12" fmla="*/ 7877 h 10000"/>
              <a:gd name="connsiteX13" fmla="*/ 7435 w 10039"/>
              <a:gd name="connsiteY13" fmla="*/ 8142 h 10000"/>
              <a:gd name="connsiteX14" fmla="*/ 7544 w 10039"/>
              <a:gd name="connsiteY14" fmla="*/ 8182 h 10000"/>
              <a:gd name="connsiteX15" fmla="*/ 7654 w 10039"/>
              <a:gd name="connsiteY15" fmla="*/ 8248 h 10000"/>
              <a:gd name="connsiteX16" fmla="*/ 7763 w 10039"/>
              <a:gd name="connsiteY16" fmla="*/ 8301 h 10000"/>
              <a:gd name="connsiteX17" fmla="*/ 7871 w 10039"/>
              <a:gd name="connsiteY17" fmla="*/ 8341 h 10000"/>
              <a:gd name="connsiteX18" fmla="*/ 7939 w 10039"/>
              <a:gd name="connsiteY18" fmla="*/ 8381 h 10000"/>
              <a:gd name="connsiteX19" fmla="*/ 8004 w 10039"/>
              <a:gd name="connsiteY19" fmla="*/ 8407 h 10000"/>
              <a:gd name="connsiteX20" fmla="*/ 8091 w 10039"/>
              <a:gd name="connsiteY20" fmla="*/ 8421 h 10000"/>
              <a:gd name="connsiteX21" fmla="*/ 8223 w 10039"/>
              <a:gd name="connsiteY21" fmla="*/ 8421 h 10000"/>
              <a:gd name="connsiteX22" fmla="*/ 8441 w 10039"/>
              <a:gd name="connsiteY22" fmla="*/ 8566 h 10000"/>
              <a:gd name="connsiteX23" fmla="*/ 8770 w 10039"/>
              <a:gd name="connsiteY23" fmla="*/ 8619 h 10000"/>
              <a:gd name="connsiteX24" fmla="*/ 9120 w 10039"/>
              <a:gd name="connsiteY24" fmla="*/ 8606 h 10000"/>
              <a:gd name="connsiteX25" fmla="*/ 9448 w 10039"/>
              <a:gd name="connsiteY25" fmla="*/ 8672 h 10000"/>
              <a:gd name="connsiteX26" fmla="*/ 9405 w 10039"/>
              <a:gd name="connsiteY26" fmla="*/ 8792 h 10000"/>
              <a:gd name="connsiteX27" fmla="*/ 9405 w 10039"/>
              <a:gd name="connsiteY27" fmla="*/ 8925 h 10000"/>
              <a:gd name="connsiteX28" fmla="*/ 9207 w 10039"/>
              <a:gd name="connsiteY28" fmla="*/ 8951 h 10000"/>
              <a:gd name="connsiteX29" fmla="*/ 8987 w 10039"/>
              <a:gd name="connsiteY29" fmla="*/ 8951 h 10000"/>
              <a:gd name="connsiteX30" fmla="*/ 8507 w 10039"/>
              <a:gd name="connsiteY30" fmla="*/ 8965 h 10000"/>
              <a:gd name="connsiteX31" fmla="*/ 8047 w 10039"/>
              <a:gd name="connsiteY31" fmla="*/ 9031 h 10000"/>
              <a:gd name="connsiteX32" fmla="*/ 8004 w 10039"/>
              <a:gd name="connsiteY32" fmla="*/ 9124 h 10000"/>
              <a:gd name="connsiteX33" fmla="*/ 7939 w 10039"/>
              <a:gd name="connsiteY33" fmla="*/ 9190 h 10000"/>
              <a:gd name="connsiteX34" fmla="*/ 8223 w 10039"/>
              <a:gd name="connsiteY34" fmla="*/ 9256 h 10000"/>
              <a:gd name="connsiteX35" fmla="*/ 8594 w 10039"/>
              <a:gd name="connsiteY35" fmla="*/ 9256 h 10000"/>
              <a:gd name="connsiteX36" fmla="*/ 9010 w 10039"/>
              <a:gd name="connsiteY36" fmla="*/ 9256 h 10000"/>
              <a:gd name="connsiteX37" fmla="*/ 9251 w 10039"/>
              <a:gd name="connsiteY37" fmla="*/ 9375 h 10000"/>
              <a:gd name="connsiteX38" fmla="*/ 8616 w 10039"/>
              <a:gd name="connsiteY38" fmla="*/ 9628 h 10000"/>
              <a:gd name="connsiteX39" fmla="*/ 8027 w 10039"/>
              <a:gd name="connsiteY39" fmla="*/ 9999 h 10000"/>
              <a:gd name="connsiteX40" fmla="*/ 8486 w 10039"/>
              <a:gd name="connsiteY40" fmla="*/ 9999 h 10000"/>
              <a:gd name="connsiteX41" fmla="*/ 9099 w 10039"/>
              <a:gd name="connsiteY41" fmla="*/ 9919 h 10000"/>
              <a:gd name="connsiteX42" fmla="*/ 9908 w 10039"/>
              <a:gd name="connsiteY42" fmla="*/ 9044 h 10000"/>
              <a:gd name="connsiteX43" fmla="*/ 9908 w 10039"/>
              <a:gd name="connsiteY43" fmla="*/ 8036 h 10000"/>
              <a:gd name="connsiteX44" fmla="*/ 10039 w 10039"/>
              <a:gd name="connsiteY44" fmla="*/ 0 h 10000"/>
              <a:gd name="connsiteX0" fmla="*/ 0 w 10000"/>
              <a:gd name="connsiteY0" fmla="*/ 7625 h 10000"/>
              <a:gd name="connsiteX1" fmla="*/ 744 w 10000"/>
              <a:gd name="connsiteY1" fmla="*/ 7479 h 10000"/>
              <a:gd name="connsiteX2" fmla="*/ 1137 w 10000"/>
              <a:gd name="connsiteY2" fmla="*/ 7439 h 10000"/>
              <a:gd name="connsiteX3" fmla="*/ 1554 w 10000"/>
              <a:gd name="connsiteY3" fmla="*/ 7453 h 10000"/>
              <a:gd name="connsiteX4" fmla="*/ 2384 w 10000"/>
              <a:gd name="connsiteY4" fmla="*/ 7506 h 10000"/>
              <a:gd name="connsiteX5" fmla="*/ 3392 w 10000"/>
              <a:gd name="connsiteY5" fmla="*/ 7545 h 10000"/>
              <a:gd name="connsiteX6" fmla="*/ 4004 w 10000"/>
              <a:gd name="connsiteY6" fmla="*/ 7506 h 10000"/>
              <a:gd name="connsiteX7" fmla="*/ 4617 w 10000"/>
              <a:gd name="connsiteY7" fmla="*/ 7479 h 10000"/>
              <a:gd name="connsiteX8" fmla="*/ 5228 w 10000"/>
              <a:gd name="connsiteY8" fmla="*/ 7466 h 10000"/>
              <a:gd name="connsiteX9" fmla="*/ 5908 w 10000"/>
              <a:gd name="connsiteY9" fmla="*/ 7519 h 10000"/>
              <a:gd name="connsiteX10" fmla="*/ 6434 w 10000"/>
              <a:gd name="connsiteY10" fmla="*/ 7665 h 10000"/>
              <a:gd name="connsiteX11" fmla="*/ 6892 w 10000"/>
              <a:gd name="connsiteY11" fmla="*/ 7877 h 10000"/>
              <a:gd name="connsiteX12" fmla="*/ 7396 w 10000"/>
              <a:gd name="connsiteY12" fmla="*/ 8142 h 10000"/>
              <a:gd name="connsiteX13" fmla="*/ 7505 w 10000"/>
              <a:gd name="connsiteY13" fmla="*/ 8182 h 10000"/>
              <a:gd name="connsiteX14" fmla="*/ 7615 w 10000"/>
              <a:gd name="connsiteY14" fmla="*/ 8248 h 10000"/>
              <a:gd name="connsiteX15" fmla="*/ 7724 w 10000"/>
              <a:gd name="connsiteY15" fmla="*/ 8301 h 10000"/>
              <a:gd name="connsiteX16" fmla="*/ 7832 w 10000"/>
              <a:gd name="connsiteY16" fmla="*/ 8341 h 10000"/>
              <a:gd name="connsiteX17" fmla="*/ 7900 w 10000"/>
              <a:gd name="connsiteY17" fmla="*/ 8381 h 10000"/>
              <a:gd name="connsiteX18" fmla="*/ 7965 w 10000"/>
              <a:gd name="connsiteY18" fmla="*/ 8407 h 10000"/>
              <a:gd name="connsiteX19" fmla="*/ 8052 w 10000"/>
              <a:gd name="connsiteY19" fmla="*/ 8421 h 10000"/>
              <a:gd name="connsiteX20" fmla="*/ 8184 w 10000"/>
              <a:gd name="connsiteY20" fmla="*/ 8421 h 10000"/>
              <a:gd name="connsiteX21" fmla="*/ 8402 w 10000"/>
              <a:gd name="connsiteY21" fmla="*/ 8566 h 10000"/>
              <a:gd name="connsiteX22" fmla="*/ 8731 w 10000"/>
              <a:gd name="connsiteY22" fmla="*/ 8619 h 10000"/>
              <a:gd name="connsiteX23" fmla="*/ 9081 w 10000"/>
              <a:gd name="connsiteY23" fmla="*/ 8606 h 10000"/>
              <a:gd name="connsiteX24" fmla="*/ 9409 w 10000"/>
              <a:gd name="connsiteY24" fmla="*/ 8672 h 10000"/>
              <a:gd name="connsiteX25" fmla="*/ 9366 w 10000"/>
              <a:gd name="connsiteY25" fmla="*/ 8792 h 10000"/>
              <a:gd name="connsiteX26" fmla="*/ 9366 w 10000"/>
              <a:gd name="connsiteY26" fmla="*/ 8925 h 10000"/>
              <a:gd name="connsiteX27" fmla="*/ 9168 w 10000"/>
              <a:gd name="connsiteY27" fmla="*/ 8951 h 10000"/>
              <a:gd name="connsiteX28" fmla="*/ 8948 w 10000"/>
              <a:gd name="connsiteY28" fmla="*/ 8951 h 10000"/>
              <a:gd name="connsiteX29" fmla="*/ 8468 w 10000"/>
              <a:gd name="connsiteY29" fmla="*/ 8965 h 10000"/>
              <a:gd name="connsiteX30" fmla="*/ 8008 w 10000"/>
              <a:gd name="connsiteY30" fmla="*/ 9031 h 10000"/>
              <a:gd name="connsiteX31" fmla="*/ 7965 w 10000"/>
              <a:gd name="connsiteY31" fmla="*/ 9124 h 10000"/>
              <a:gd name="connsiteX32" fmla="*/ 7900 w 10000"/>
              <a:gd name="connsiteY32" fmla="*/ 9190 h 10000"/>
              <a:gd name="connsiteX33" fmla="*/ 8184 w 10000"/>
              <a:gd name="connsiteY33" fmla="*/ 9256 h 10000"/>
              <a:gd name="connsiteX34" fmla="*/ 8555 w 10000"/>
              <a:gd name="connsiteY34" fmla="*/ 9256 h 10000"/>
              <a:gd name="connsiteX35" fmla="*/ 8971 w 10000"/>
              <a:gd name="connsiteY35" fmla="*/ 9256 h 10000"/>
              <a:gd name="connsiteX36" fmla="*/ 9212 w 10000"/>
              <a:gd name="connsiteY36" fmla="*/ 9375 h 10000"/>
              <a:gd name="connsiteX37" fmla="*/ 8577 w 10000"/>
              <a:gd name="connsiteY37" fmla="*/ 9628 h 10000"/>
              <a:gd name="connsiteX38" fmla="*/ 7988 w 10000"/>
              <a:gd name="connsiteY38" fmla="*/ 9999 h 10000"/>
              <a:gd name="connsiteX39" fmla="*/ 8447 w 10000"/>
              <a:gd name="connsiteY39" fmla="*/ 9999 h 10000"/>
              <a:gd name="connsiteX40" fmla="*/ 9060 w 10000"/>
              <a:gd name="connsiteY40" fmla="*/ 9919 h 10000"/>
              <a:gd name="connsiteX41" fmla="*/ 9869 w 10000"/>
              <a:gd name="connsiteY41" fmla="*/ 9044 h 10000"/>
              <a:gd name="connsiteX42" fmla="*/ 9869 w 10000"/>
              <a:gd name="connsiteY42" fmla="*/ 8036 h 10000"/>
              <a:gd name="connsiteX43" fmla="*/ 10000 w 10000"/>
              <a:gd name="connsiteY43" fmla="*/ 0 h 10000"/>
              <a:gd name="connsiteX0" fmla="*/ 0 w 9256"/>
              <a:gd name="connsiteY0" fmla="*/ 7479 h 10000"/>
              <a:gd name="connsiteX1" fmla="*/ 393 w 9256"/>
              <a:gd name="connsiteY1" fmla="*/ 7439 h 10000"/>
              <a:gd name="connsiteX2" fmla="*/ 810 w 9256"/>
              <a:gd name="connsiteY2" fmla="*/ 7453 h 10000"/>
              <a:gd name="connsiteX3" fmla="*/ 1640 w 9256"/>
              <a:gd name="connsiteY3" fmla="*/ 7506 h 10000"/>
              <a:gd name="connsiteX4" fmla="*/ 2648 w 9256"/>
              <a:gd name="connsiteY4" fmla="*/ 7545 h 10000"/>
              <a:gd name="connsiteX5" fmla="*/ 3260 w 9256"/>
              <a:gd name="connsiteY5" fmla="*/ 7506 h 10000"/>
              <a:gd name="connsiteX6" fmla="*/ 3873 w 9256"/>
              <a:gd name="connsiteY6" fmla="*/ 7479 h 10000"/>
              <a:gd name="connsiteX7" fmla="*/ 4484 w 9256"/>
              <a:gd name="connsiteY7" fmla="*/ 7466 h 10000"/>
              <a:gd name="connsiteX8" fmla="*/ 5164 w 9256"/>
              <a:gd name="connsiteY8" fmla="*/ 7519 h 10000"/>
              <a:gd name="connsiteX9" fmla="*/ 5690 w 9256"/>
              <a:gd name="connsiteY9" fmla="*/ 7665 h 10000"/>
              <a:gd name="connsiteX10" fmla="*/ 6148 w 9256"/>
              <a:gd name="connsiteY10" fmla="*/ 7877 h 10000"/>
              <a:gd name="connsiteX11" fmla="*/ 6652 w 9256"/>
              <a:gd name="connsiteY11" fmla="*/ 8142 h 10000"/>
              <a:gd name="connsiteX12" fmla="*/ 6761 w 9256"/>
              <a:gd name="connsiteY12" fmla="*/ 8182 h 10000"/>
              <a:gd name="connsiteX13" fmla="*/ 6871 w 9256"/>
              <a:gd name="connsiteY13" fmla="*/ 8248 h 10000"/>
              <a:gd name="connsiteX14" fmla="*/ 6980 w 9256"/>
              <a:gd name="connsiteY14" fmla="*/ 8301 h 10000"/>
              <a:gd name="connsiteX15" fmla="*/ 7088 w 9256"/>
              <a:gd name="connsiteY15" fmla="*/ 8341 h 10000"/>
              <a:gd name="connsiteX16" fmla="*/ 7156 w 9256"/>
              <a:gd name="connsiteY16" fmla="*/ 8381 h 10000"/>
              <a:gd name="connsiteX17" fmla="*/ 7221 w 9256"/>
              <a:gd name="connsiteY17" fmla="*/ 8407 h 10000"/>
              <a:gd name="connsiteX18" fmla="*/ 7308 w 9256"/>
              <a:gd name="connsiteY18" fmla="*/ 8421 h 10000"/>
              <a:gd name="connsiteX19" fmla="*/ 7440 w 9256"/>
              <a:gd name="connsiteY19" fmla="*/ 8421 h 10000"/>
              <a:gd name="connsiteX20" fmla="*/ 7658 w 9256"/>
              <a:gd name="connsiteY20" fmla="*/ 8566 h 10000"/>
              <a:gd name="connsiteX21" fmla="*/ 7987 w 9256"/>
              <a:gd name="connsiteY21" fmla="*/ 8619 h 10000"/>
              <a:gd name="connsiteX22" fmla="*/ 8337 w 9256"/>
              <a:gd name="connsiteY22" fmla="*/ 8606 h 10000"/>
              <a:gd name="connsiteX23" fmla="*/ 8665 w 9256"/>
              <a:gd name="connsiteY23" fmla="*/ 8672 h 10000"/>
              <a:gd name="connsiteX24" fmla="*/ 8622 w 9256"/>
              <a:gd name="connsiteY24" fmla="*/ 8792 h 10000"/>
              <a:gd name="connsiteX25" fmla="*/ 8622 w 9256"/>
              <a:gd name="connsiteY25" fmla="*/ 8925 h 10000"/>
              <a:gd name="connsiteX26" fmla="*/ 8424 w 9256"/>
              <a:gd name="connsiteY26" fmla="*/ 8951 h 10000"/>
              <a:gd name="connsiteX27" fmla="*/ 8204 w 9256"/>
              <a:gd name="connsiteY27" fmla="*/ 8951 h 10000"/>
              <a:gd name="connsiteX28" fmla="*/ 7724 w 9256"/>
              <a:gd name="connsiteY28" fmla="*/ 8965 h 10000"/>
              <a:gd name="connsiteX29" fmla="*/ 7264 w 9256"/>
              <a:gd name="connsiteY29" fmla="*/ 9031 h 10000"/>
              <a:gd name="connsiteX30" fmla="*/ 7221 w 9256"/>
              <a:gd name="connsiteY30" fmla="*/ 9124 h 10000"/>
              <a:gd name="connsiteX31" fmla="*/ 7156 w 9256"/>
              <a:gd name="connsiteY31" fmla="*/ 9190 h 10000"/>
              <a:gd name="connsiteX32" fmla="*/ 7440 w 9256"/>
              <a:gd name="connsiteY32" fmla="*/ 9256 h 10000"/>
              <a:gd name="connsiteX33" fmla="*/ 7811 w 9256"/>
              <a:gd name="connsiteY33" fmla="*/ 9256 h 10000"/>
              <a:gd name="connsiteX34" fmla="*/ 8227 w 9256"/>
              <a:gd name="connsiteY34" fmla="*/ 9256 h 10000"/>
              <a:gd name="connsiteX35" fmla="*/ 8468 w 9256"/>
              <a:gd name="connsiteY35" fmla="*/ 9375 h 10000"/>
              <a:gd name="connsiteX36" fmla="*/ 7833 w 9256"/>
              <a:gd name="connsiteY36" fmla="*/ 9628 h 10000"/>
              <a:gd name="connsiteX37" fmla="*/ 7244 w 9256"/>
              <a:gd name="connsiteY37" fmla="*/ 9999 h 10000"/>
              <a:gd name="connsiteX38" fmla="*/ 7703 w 9256"/>
              <a:gd name="connsiteY38" fmla="*/ 9999 h 10000"/>
              <a:gd name="connsiteX39" fmla="*/ 8316 w 9256"/>
              <a:gd name="connsiteY39" fmla="*/ 9919 h 10000"/>
              <a:gd name="connsiteX40" fmla="*/ 9125 w 9256"/>
              <a:gd name="connsiteY40" fmla="*/ 9044 h 10000"/>
              <a:gd name="connsiteX41" fmla="*/ 9125 w 9256"/>
              <a:gd name="connsiteY41" fmla="*/ 8036 h 10000"/>
              <a:gd name="connsiteX42" fmla="*/ 9256 w 9256"/>
              <a:gd name="connsiteY42" fmla="*/ 0 h 10000"/>
              <a:gd name="connsiteX0" fmla="*/ 0 w 10000"/>
              <a:gd name="connsiteY0" fmla="*/ 7479 h 10000"/>
              <a:gd name="connsiteX1" fmla="*/ 875 w 10000"/>
              <a:gd name="connsiteY1" fmla="*/ 7453 h 10000"/>
              <a:gd name="connsiteX2" fmla="*/ 1772 w 10000"/>
              <a:gd name="connsiteY2" fmla="*/ 7506 h 10000"/>
              <a:gd name="connsiteX3" fmla="*/ 2861 w 10000"/>
              <a:gd name="connsiteY3" fmla="*/ 7545 h 10000"/>
              <a:gd name="connsiteX4" fmla="*/ 3522 w 10000"/>
              <a:gd name="connsiteY4" fmla="*/ 7506 h 10000"/>
              <a:gd name="connsiteX5" fmla="*/ 4184 w 10000"/>
              <a:gd name="connsiteY5" fmla="*/ 7479 h 10000"/>
              <a:gd name="connsiteX6" fmla="*/ 4844 w 10000"/>
              <a:gd name="connsiteY6" fmla="*/ 7466 h 10000"/>
              <a:gd name="connsiteX7" fmla="*/ 5579 w 10000"/>
              <a:gd name="connsiteY7" fmla="*/ 7519 h 10000"/>
              <a:gd name="connsiteX8" fmla="*/ 6147 w 10000"/>
              <a:gd name="connsiteY8" fmla="*/ 7665 h 10000"/>
              <a:gd name="connsiteX9" fmla="*/ 6642 w 10000"/>
              <a:gd name="connsiteY9" fmla="*/ 7877 h 10000"/>
              <a:gd name="connsiteX10" fmla="*/ 7187 w 10000"/>
              <a:gd name="connsiteY10" fmla="*/ 8142 h 10000"/>
              <a:gd name="connsiteX11" fmla="*/ 7304 w 10000"/>
              <a:gd name="connsiteY11" fmla="*/ 8182 h 10000"/>
              <a:gd name="connsiteX12" fmla="*/ 7423 w 10000"/>
              <a:gd name="connsiteY12" fmla="*/ 8248 h 10000"/>
              <a:gd name="connsiteX13" fmla="*/ 7541 w 10000"/>
              <a:gd name="connsiteY13" fmla="*/ 8301 h 10000"/>
              <a:gd name="connsiteX14" fmla="*/ 7658 w 10000"/>
              <a:gd name="connsiteY14" fmla="*/ 8341 h 10000"/>
              <a:gd name="connsiteX15" fmla="*/ 7731 w 10000"/>
              <a:gd name="connsiteY15" fmla="*/ 8381 h 10000"/>
              <a:gd name="connsiteX16" fmla="*/ 7801 w 10000"/>
              <a:gd name="connsiteY16" fmla="*/ 8407 h 10000"/>
              <a:gd name="connsiteX17" fmla="*/ 7895 w 10000"/>
              <a:gd name="connsiteY17" fmla="*/ 8421 h 10000"/>
              <a:gd name="connsiteX18" fmla="*/ 8038 w 10000"/>
              <a:gd name="connsiteY18" fmla="*/ 8421 h 10000"/>
              <a:gd name="connsiteX19" fmla="*/ 8274 w 10000"/>
              <a:gd name="connsiteY19" fmla="*/ 8566 h 10000"/>
              <a:gd name="connsiteX20" fmla="*/ 8629 w 10000"/>
              <a:gd name="connsiteY20" fmla="*/ 8619 h 10000"/>
              <a:gd name="connsiteX21" fmla="*/ 9007 w 10000"/>
              <a:gd name="connsiteY21" fmla="*/ 8606 h 10000"/>
              <a:gd name="connsiteX22" fmla="*/ 9361 w 10000"/>
              <a:gd name="connsiteY22" fmla="*/ 8672 h 10000"/>
              <a:gd name="connsiteX23" fmla="*/ 9315 w 10000"/>
              <a:gd name="connsiteY23" fmla="*/ 8792 h 10000"/>
              <a:gd name="connsiteX24" fmla="*/ 9315 w 10000"/>
              <a:gd name="connsiteY24" fmla="*/ 8925 h 10000"/>
              <a:gd name="connsiteX25" fmla="*/ 9101 w 10000"/>
              <a:gd name="connsiteY25" fmla="*/ 8951 h 10000"/>
              <a:gd name="connsiteX26" fmla="*/ 8863 w 10000"/>
              <a:gd name="connsiteY26" fmla="*/ 8951 h 10000"/>
              <a:gd name="connsiteX27" fmla="*/ 8345 w 10000"/>
              <a:gd name="connsiteY27" fmla="*/ 8965 h 10000"/>
              <a:gd name="connsiteX28" fmla="*/ 7848 w 10000"/>
              <a:gd name="connsiteY28" fmla="*/ 9031 h 10000"/>
              <a:gd name="connsiteX29" fmla="*/ 7801 w 10000"/>
              <a:gd name="connsiteY29" fmla="*/ 9124 h 10000"/>
              <a:gd name="connsiteX30" fmla="*/ 7731 w 10000"/>
              <a:gd name="connsiteY30" fmla="*/ 9190 h 10000"/>
              <a:gd name="connsiteX31" fmla="*/ 8038 w 10000"/>
              <a:gd name="connsiteY31" fmla="*/ 9256 h 10000"/>
              <a:gd name="connsiteX32" fmla="*/ 8439 w 10000"/>
              <a:gd name="connsiteY32" fmla="*/ 9256 h 10000"/>
              <a:gd name="connsiteX33" fmla="*/ 8888 w 10000"/>
              <a:gd name="connsiteY33" fmla="*/ 9256 h 10000"/>
              <a:gd name="connsiteX34" fmla="*/ 9149 w 10000"/>
              <a:gd name="connsiteY34" fmla="*/ 9375 h 10000"/>
              <a:gd name="connsiteX35" fmla="*/ 8463 w 10000"/>
              <a:gd name="connsiteY35" fmla="*/ 9628 h 10000"/>
              <a:gd name="connsiteX36" fmla="*/ 7826 w 10000"/>
              <a:gd name="connsiteY36" fmla="*/ 9999 h 10000"/>
              <a:gd name="connsiteX37" fmla="*/ 8322 w 10000"/>
              <a:gd name="connsiteY37" fmla="*/ 9999 h 10000"/>
              <a:gd name="connsiteX38" fmla="*/ 8984 w 10000"/>
              <a:gd name="connsiteY38" fmla="*/ 9919 h 10000"/>
              <a:gd name="connsiteX39" fmla="*/ 9858 w 10000"/>
              <a:gd name="connsiteY39" fmla="*/ 9044 h 10000"/>
              <a:gd name="connsiteX40" fmla="*/ 9858 w 10000"/>
              <a:gd name="connsiteY40" fmla="*/ 8036 h 10000"/>
              <a:gd name="connsiteX41" fmla="*/ 10000 w 10000"/>
              <a:gd name="connsiteY41" fmla="*/ 0 h 10000"/>
              <a:gd name="connsiteX0" fmla="*/ 0 w 9125"/>
              <a:gd name="connsiteY0" fmla="*/ 7453 h 10000"/>
              <a:gd name="connsiteX1" fmla="*/ 897 w 9125"/>
              <a:gd name="connsiteY1" fmla="*/ 7506 h 10000"/>
              <a:gd name="connsiteX2" fmla="*/ 1986 w 9125"/>
              <a:gd name="connsiteY2" fmla="*/ 7545 h 10000"/>
              <a:gd name="connsiteX3" fmla="*/ 2647 w 9125"/>
              <a:gd name="connsiteY3" fmla="*/ 7506 h 10000"/>
              <a:gd name="connsiteX4" fmla="*/ 3309 w 9125"/>
              <a:gd name="connsiteY4" fmla="*/ 7479 h 10000"/>
              <a:gd name="connsiteX5" fmla="*/ 3969 w 9125"/>
              <a:gd name="connsiteY5" fmla="*/ 7466 h 10000"/>
              <a:gd name="connsiteX6" fmla="*/ 4704 w 9125"/>
              <a:gd name="connsiteY6" fmla="*/ 7519 h 10000"/>
              <a:gd name="connsiteX7" fmla="*/ 5272 w 9125"/>
              <a:gd name="connsiteY7" fmla="*/ 7665 h 10000"/>
              <a:gd name="connsiteX8" fmla="*/ 5767 w 9125"/>
              <a:gd name="connsiteY8" fmla="*/ 7877 h 10000"/>
              <a:gd name="connsiteX9" fmla="*/ 6312 w 9125"/>
              <a:gd name="connsiteY9" fmla="*/ 8142 h 10000"/>
              <a:gd name="connsiteX10" fmla="*/ 6429 w 9125"/>
              <a:gd name="connsiteY10" fmla="*/ 8182 h 10000"/>
              <a:gd name="connsiteX11" fmla="*/ 6548 w 9125"/>
              <a:gd name="connsiteY11" fmla="*/ 8248 h 10000"/>
              <a:gd name="connsiteX12" fmla="*/ 6666 w 9125"/>
              <a:gd name="connsiteY12" fmla="*/ 8301 h 10000"/>
              <a:gd name="connsiteX13" fmla="*/ 6783 w 9125"/>
              <a:gd name="connsiteY13" fmla="*/ 8341 h 10000"/>
              <a:gd name="connsiteX14" fmla="*/ 6856 w 9125"/>
              <a:gd name="connsiteY14" fmla="*/ 8381 h 10000"/>
              <a:gd name="connsiteX15" fmla="*/ 6926 w 9125"/>
              <a:gd name="connsiteY15" fmla="*/ 8407 h 10000"/>
              <a:gd name="connsiteX16" fmla="*/ 7020 w 9125"/>
              <a:gd name="connsiteY16" fmla="*/ 8421 h 10000"/>
              <a:gd name="connsiteX17" fmla="*/ 7163 w 9125"/>
              <a:gd name="connsiteY17" fmla="*/ 8421 h 10000"/>
              <a:gd name="connsiteX18" fmla="*/ 7399 w 9125"/>
              <a:gd name="connsiteY18" fmla="*/ 8566 h 10000"/>
              <a:gd name="connsiteX19" fmla="*/ 7754 w 9125"/>
              <a:gd name="connsiteY19" fmla="*/ 8619 h 10000"/>
              <a:gd name="connsiteX20" fmla="*/ 8132 w 9125"/>
              <a:gd name="connsiteY20" fmla="*/ 8606 h 10000"/>
              <a:gd name="connsiteX21" fmla="*/ 8486 w 9125"/>
              <a:gd name="connsiteY21" fmla="*/ 8672 h 10000"/>
              <a:gd name="connsiteX22" fmla="*/ 8440 w 9125"/>
              <a:gd name="connsiteY22" fmla="*/ 8792 h 10000"/>
              <a:gd name="connsiteX23" fmla="*/ 8440 w 9125"/>
              <a:gd name="connsiteY23" fmla="*/ 8925 h 10000"/>
              <a:gd name="connsiteX24" fmla="*/ 8226 w 9125"/>
              <a:gd name="connsiteY24" fmla="*/ 8951 h 10000"/>
              <a:gd name="connsiteX25" fmla="*/ 7988 w 9125"/>
              <a:gd name="connsiteY25" fmla="*/ 8951 h 10000"/>
              <a:gd name="connsiteX26" fmla="*/ 7470 w 9125"/>
              <a:gd name="connsiteY26" fmla="*/ 8965 h 10000"/>
              <a:gd name="connsiteX27" fmla="*/ 6973 w 9125"/>
              <a:gd name="connsiteY27" fmla="*/ 9031 h 10000"/>
              <a:gd name="connsiteX28" fmla="*/ 6926 w 9125"/>
              <a:gd name="connsiteY28" fmla="*/ 9124 h 10000"/>
              <a:gd name="connsiteX29" fmla="*/ 6856 w 9125"/>
              <a:gd name="connsiteY29" fmla="*/ 9190 h 10000"/>
              <a:gd name="connsiteX30" fmla="*/ 7163 w 9125"/>
              <a:gd name="connsiteY30" fmla="*/ 9256 h 10000"/>
              <a:gd name="connsiteX31" fmla="*/ 7564 w 9125"/>
              <a:gd name="connsiteY31" fmla="*/ 9256 h 10000"/>
              <a:gd name="connsiteX32" fmla="*/ 8013 w 9125"/>
              <a:gd name="connsiteY32" fmla="*/ 9256 h 10000"/>
              <a:gd name="connsiteX33" fmla="*/ 8274 w 9125"/>
              <a:gd name="connsiteY33" fmla="*/ 9375 h 10000"/>
              <a:gd name="connsiteX34" fmla="*/ 7588 w 9125"/>
              <a:gd name="connsiteY34" fmla="*/ 9628 h 10000"/>
              <a:gd name="connsiteX35" fmla="*/ 6951 w 9125"/>
              <a:gd name="connsiteY35" fmla="*/ 9999 h 10000"/>
              <a:gd name="connsiteX36" fmla="*/ 7447 w 9125"/>
              <a:gd name="connsiteY36" fmla="*/ 9999 h 10000"/>
              <a:gd name="connsiteX37" fmla="*/ 8109 w 9125"/>
              <a:gd name="connsiteY37" fmla="*/ 9919 h 10000"/>
              <a:gd name="connsiteX38" fmla="*/ 8983 w 9125"/>
              <a:gd name="connsiteY38" fmla="*/ 9044 h 10000"/>
              <a:gd name="connsiteX39" fmla="*/ 8983 w 9125"/>
              <a:gd name="connsiteY39" fmla="*/ 8036 h 10000"/>
              <a:gd name="connsiteX40" fmla="*/ 9125 w 9125"/>
              <a:gd name="connsiteY40" fmla="*/ 0 h 10000"/>
              <a:gd name="connsiteX0" fmla="*/ 0 w 9017"/>
              <a:gd name="connsiteY0" fmla="*/ 7506 h 10000"/>
              <a:gd name="connsiteX1" fmla="*/ 1193 w 9017"/>
              <a:gd name="connsiteY1" fmla="*/ 7545 h 10000"/>
              <a:gd name="connsiteX2" fmla="*/ 1918 w 9017"/>
              <a:gd name="connsiteY2" fmla="*/ 7506 h 10000"/>
              <a:gd name="connsiteX3" fmla="*/ 2643 w 9017"/>
              <a:gd name="connsiteY3" fmla="*/ 7479 h 10000"/>
              <a:gd name="connsiteX4" fmla="*/ 3367 w 9017"/>
              <a:gd name="connsiteY4" fmla="*/ 7466 h 10000"/>
              <a:gd name="connsiteX5" fmla="*/ 4172 w 9017"/>
              <a:gd name="connsiteY5" fmla="*/ 7519 h 10000"/>
              <a:gd name="connsiteX6" fmla="*/ 4795 w 9017"/>
              <a:gd name="connsiteY6" fmla="*/ 7665 h 10000"/>
              <a:gd name="connsiteX7" fmla="*/ 5337 w 9017"/>
              <a:gd name="connsiteY7" fmla="*/ 7877 h 10000"/>
              <a:gd name="connsiteX8" fmla="*/ 5934 w 9017"/>
              <a:gd name="connsiteY8" fmla="*/ 8142 h 10000"/>
              <a:gd name="connsiteX9" fmla="*/ 6062 w 9017"/>
              <a:gd name="connsiteY9" fmla="*/ 8182 h 10000"/>
              <a:gd name="connsiteX10" fmla="*/ 6193 w 9017"/>
              <a:gd name="connsiteY10" fmla="*/ 8248 h 10000"/>
              <a:gd name="connsiteX11" fmla="*/ 6322 w 9017"/>
              <a:gd name="connsiteY11" fmla="*/ 8301 h 10000"/>
              <a:gd name="connsiteX12" fmla="*/ 6450 w 9017"/>
              <a:gd name="connsiteY12" fmla="*/ 8341 h 10000"/>
              <a:gd name="connsiteX13" fmla="*/ 6530 w 9017"/>
              <a:gd name="connsiteY13" fmla="*/ 8381 h 10000"/>
              <a:gd name="connsiteX14" fmla="*/ 6607 w 9017"/>
              <a:gd name="connsiteY14" fmla="*/ 8407 h 10000"/>
              <a:gd name="connsiteX15" fmla="*/ 6710 w 9017"/>
              <a:gd name="connsiteY15" fmla="*/ 8421 h 10000"/>
              <a:gd name="connsiteX16" fmla="*/ 6867 w 9017"/>
              <a:gd name="connsiteY16" fmla="*/ 8421 h 10000"/>
              <a:gd name="connsiteX17" fmla="*/ 7125 w 9017"/>
              <a:gd name="connsiteY17" fmla="*/ 8566 h 10000"/>
              <a:gd name="connsiteX18" fmla="*/ 7515 w 9017"/>
              <a:gd name="connsiteY18" fmla="*/ 8619 h 10000"/>
              <a:gd name="connsiteX19" fmla="*/ 7929 w 9017"/>
              <a:gd name="connsiteY19" fmla="*/ 8606 h 10000"/>
              <a:gd name="connsiteX20" fmla="*/ 8317 w 9017"/>
              <a:gd name="connsiteY20" fmla="*/ 8672 h 10000"/>
              <a:gd name="connsiteX21" fmla="*/ 8266 w 9017"/>
              <a:gd name="connsiteY21" fmla="*/ 8792 h 10000"/>
              <a:gd name="connsiteX22" fmla="*/ 8266 w 9017"/>
              <a:gd name="connsiteY22" fmla="*/ 8925 h 10000"/>
              <a:gd name="connsiteX23" fmla="*/ 8032 w 9017"/>
              <a:gd name="connsiteY23" fmla="*/ 8951 h 10000"/>
              <a:gd name="connsiteX24" fmla="*/ 7771 w 9017"/>
              <a:gd name="connsiteY24" fmla="*/ 8951 h 10000"/>
              <a:gd name="connsiteX25" fmla="*/ 7203 w 9017"/>
              <a:gd name="connsiteY25" fmla="*/ 8965 h 10000"/>
              <a:gd name="connsiteX26" fmla="*/ 6659 w 9017"/>
              <a:gd name="connsiteY26" fmla="*/ 9031 h 10000"/>
              <a:gd name="connsiteX27" fmla="*/ 6607 w 9017"/>
              <a:gd name="connsiteY27" fmla="*/ 9124 h 10000"/>
              <a:gd name="connsiteX28" fmla="*/ 6530 w 9017"/>
              <a:gd name="connsiteY28" fmla="*/ 9190 h 10000"/>
              <a:gd name="connsiteX29" fmla="*/ 6867 w 9017"/>
              <a:gd name="connsiteY29" fmla="*/ 9256 h 10000"/>
              <a:gd name="connsiteX30" fmla="*/ 7306 w 9017"/>
              <a:gd name="connsiteY30" fmla="*/ 9256 h 10000"/>
              <a:gd name="connsiteX31" fmla="*/ 7798 w 9017"/>
              <a:gd name="connsiteY31" fmla="*/ 9256 h 10000"/>
              <a:gd name="connsiteX32" fmla="*/ 8084 w 9017"/>
              <a:gd name="connsiteY32" fmla="*/ 9375 h 10000"/>
              <a:gd name="connsiteX33" fmla="*/ 7333 w 9017"/>
              <a:gd name="connsiteY33" fmla="*/ 9628 h 10000"/>
              <a:gd name="connsiteX34" fmla="*/ 6635 w 9017"/>
              <a:gd name="connsiteY34" fmla="*/ 9999 h 10000"/>
              <a:gd name="connsiteX35" fmla="*/ 7178 w 9017"/>
              <a:gd name="connsiteY35" fmla="*/ 9999 h 10000"/>
              <a:gd name="connsiteX36" fmla="*/ 7904 w 9017"/>
              <a:gd name="connsiteY36" fmla="*/ 9919 h 10000"/>
              <a:gd name="connsiteX37" fmla="*/ 8861 w 9017"/>
              <a:gd name="connsiteY37" fmla="*/ 9044 h 10000"/>
              <a:gd name="connsiteX38" fmla="*/ 8861 w 9017"/>
              <a:gd name="connsiteY38" fmla="*/ 8036 h 10000"/>
              <a:gd name="connsiteX39" fmla="*/ 9017 w 9017"/>
              <a:gd name="connsiteY39" fmla="*/ 0 h 10000"/>
              <a:gd name="connsiteX0" fmla="*/ 0 w 8677"/>
              <a:gd name="connsiteY0" fmla="*/ 7545 h 10000"/>
              <a:gd name="connsiteX1" fmla="*/ 804 w 8677"/>
              <a:gd name="connsiteY1" fmla="*/ 7506 h 10000"/>
              <a:gd name="connsiteX2" fmla="*/ 1608 w 8677"/>
              <a:gd name="connsiteY2" fmla="*/ 7479 h 10000"/>
              <a:gd name="connsiteX3" fmla="*/ 2411 w 8677"/>
              <a:gd name="connsiteY3" fmla="*/ 7466 h 10000"/>
              <a:gd name="connsiteX4" fmla="*/ 3304 w 8677"/>
              <a:gd name="connsiteY4" fmla="*/ 7519 h 10000"/>
              <a:gd name="connsiteX5" fmla="*/ 3995 w 8677"/>
              <a:gd name="connsiteY5" fmla="*/ 7665 h 10000"/>
              <a:gd name="connsiteX6" fmla="*/ 4596 w 8677"/>
              <a:gd name="connsiteY6" fmla="*/ 7877 h 10000"/>
              <a:gd name="connsiteX7" fmla="*/ 5258 w 8677"/>
              <a:gd name="connsiteY7" fmla="*/ 8142 h 10000"/>
              <a:gd name="connsiteX8" fmla="*/ 5400 w 8677"/>
              <a:gd name="connsiteY8" fmla="*/ 8182 h 10000"/>
              <a:gd name="connsiteX9" fmla="*/ 5545 w 8677"/>
              <a:gd name="connsiteY9" fmla="*/ 8248 h 10000"/>
              <a:gd name="connsiteX10" fmla="*/ 5688 w 8677"/>
              <a:gd name="connsiteY10" fmla="*/ 8301 h 10000"/>
              <a:gd name="connsiteX11" fmla="*/ 5830 w 8677"/>
              <a:gd name="connsiteY11" fmla="*/ 8341 h 10000"/>
              <a:gd name="connsiteX12" fmla="*/ 5919 w 8677"/>
              <a:gd name="connsiteY12" fmla="*/ 8381 h 10000"/>
              <a:gd name="connsiteX13" fmla="*/ 6004 w 8677"/>
              <a:gd name="connsiteY13" fmla="*/ 8407 h 10000"/>
              <a:gd name="connsiteX14" fmla="*/ 6118 w 8677"/>
              <a:gd name="connsiteY14" fmla="*/ 8421 h 10000"/>
              <a:gd name="connsiteX15" fmla="*/ 6293 w 8677"/>
              <a:gd name="connsiteY15" fmla="*/ 8421 h 10000"/>
              <a:gd name="connsiteX16" fmla="*/ 6579 w 8677"/>
              <a:gd name="connsiteY16" fmla="*/ 8566 h 10000"/>
              <a:gd name="connsiteX17" fmla="*/ 7011 w 8677"/>
              <a:gd name="connsiteY17" fmla="*/ 8619 h 10000"/>
              <a:gd name="connsiteX18" fmla="*/ 7470 w 8677"/>
              <a:gd name="connsiteY18" fmla="*/ 8606 h 10000"/>
              <a:gd name="connsiteX19" fmla="*/ 7901 w 8677"/>
              <a:gd name="connsiteY19" fmla="*/ 8672 h 10000"/>
              <a:gd name="connsiteX20" fmla="*/ 7844 w 8677"/>
              <a:gd name="connsiteY20" fmla="*/ 8792 h 10000"/>
              <a:gd name="connsiteX21" fmla="*/ 7844 w 8677"/>
              <a:gd name="connsiteY21" fmla="*/ 8925 h 10000"/>
              <a:gd name="connsiteX22" fmla="*/ 7585 w 8677"/>
              <a:gd name="connsiteY22" fmla="*/ 8951 h 10000"/>
              <a:gd name="connsiteX23" fmla="*/ 7295 w 8677"/>
              <a:gd name="connsiteY23" fmla="*/ 8951 h 10000"/>
              <a:gd name="connsiteX24" fmla="*/ 6665 w 8677"/>
              <a:gd name="connsiteY24" fmla="*/ 8965 h 10000"/>
              <a:gd name="connsiteX25" fmla="*/ 6062 w 8677"/>
              <a:gd name="connsiteY25" fmla="*/ 9031 h 10000"/>
              <a:gd name="connsiteX26" fmla="*/ 6004 w 8677"/>
              <a:gd name="connsiteY26" fmla="*/ 9124 h 10000"/>
              <a:gd name="connsiteX27" fmla="*/ 5919 w 8677"/>
              <a:gd name="connsiteY27" fmla="*/ 9190 h 10000"/>
              <a:gd name="connsiteX28" fmla="*/ 6293 w 8677"/>
              <a:gd name="connsiteY28" fmla="*/ 9256 h 10000"/>
              <a:gd name="connsiteX29" fmla="*/ 6779 w 8677"/>
              <a:gd name="connsiteY29" fmla="*/ 9256 h 10000"/>
              <a:gd name="connsiteX30" fmla="*/ 7325 w 8677"/>
              <a:gd name="connsiteY30" fmla="*/ 9256 h 10000"/>
              <a:gd name="connsiteX31" fmla="*/ 7642 w 8677"/>
              <a:gd name="connsiteY31" fmla="*/ 9375 h 10000"/>
              <a:gd name="connsiteX32" fmla="*/ 6809 w 8677"/>
              <a:gd name="connsiteY32" fmla="*/ 9628 h 10000"/>
              <a:gd name="connsiteX33" fmla="*/ 6035 w 8677"/>
              <a:gd name="connsiteY33" fmla="*/ 9999 h 10000"/>
              <a:gd name="connsiteX34" fmla="*/ 6638 w 8677"/>
              <a:gd name="connsiteY34" fmla="*/ 9999 h 10000"/>
              <a:gd name="connsiteX35" fmla="*/ 7443 w 8677"/>
              <a:gd name="connsiteY35" fmla="*/ 9919 h 10000"/>
              <a:gd name="connsiteX36" fmla="*/ 8504 w 8677"/>
              <a:gd name="connsiteY36" fmla="*/ 9044 h 10000"/>
              <a:gd name="connsiteX37" fmla="*/ 8504 w 8677"/>
              <a:gd name="connsiteY37" fmla="*/ 8036 h 10000"/>
              <a:gd name="connsiteX38" fmla="*/ 8677 w 8677"/>
              <a:gd name="connsiteY38" fmla="*/ 0 h 10000"/>
              <a:gd name="connsiteX0" fmla="*/ 0 w 9073"/>
              <a:gd name="connsiteY0" fmla="*/ 7506 h 10000"/>
              <a:gd name="connsiteX1" fmla="*/ 926 w 9073"/>
              <a:gd name="connsiteY1" fmla="*/ 7479 h 10000"/>
              <a:gd name="connsiteX2" fmla="*/ 1852 w 9073"/>
              <a:gd name="connsiteY2" fmla="*/ 7466 h 10000"/>
              <a:gd name="connsiteX3" fmla="*/ 2881 w 9073"/>
              <a:gd name="connsiteY3" fmla="*/ 7519 h 10000"/>
              <a:gd name="connsiteX4" fmla="*/ 3677 w 9073"/>
              <a:gd name="connsiteY4" fmla="*/ 7665 h 10000"/>
              <a:gd name="connsiteX5" fmla="*/ 4370 w 9073"/>
              <a:gd name="connsiteY5" fmla="*/ 7877 h 10000"/>
              <a:gd name="connsiteX6" fmla="*/ 5133 w 9073"/>
              <a:gd name="connsiteY6" fmla="*/ 8142 h 10000"/>
              <a:gd name="connsiteX7" fmla="*/ 5296 w 9073"/>
              <a:gd name="connsiteY7" fmla="*/ 8182 h 10000"/>
              <a:gd name="connsiteX8" fmla="*/ 5463 w 9073"/>
              <a:gd name="connsiteY8" fmla="*/ 8248 h 10000"/>
              <a:gd name="connsiteX9" fmla="*/ 5628 w 9073"/>
              <a:gd name="connsiteY9" fmla="*/ 8301 h 10000"/>
              <a:gd name="connsiteX10" fmla="*/ 5792 w 9073"/>
              <a:gd name="connsiteY10" fmla="*/ 8341 h 10000"/>
              <a:gd name="connsiteX11" fmla="*/ 5894 w 9073"/>
              <a:gd name="connsiteY11" fmla="*/ 8381 h 10000"/>
              <a:gd name="connsiteX12" fmla="*/ 5992 w 9073"/>
              <a:gd name="connsiteY12" fmla="*/ 8407 h 10000"/>
              <a:gd name="connsiteX13" fmla="*/ 6124 w 9073"/>
              <a:gd name="connsiteY13" fmla="*/ 8421 h 10000"/>
              <a:gd name="connsiteX14" fmla="*/ 6326 w 9073"/>
              <a:gd name="connsiteY14" fmla="*/ 8421 h 10000"/>
              <a:gd name="connsiteX15" fmla="*/ 6655 w 9073"/>
              <a:gd name="connsiteY15" fmla="*/ 8566 h 10000"/>
              <a:gd name="connsiteX16" fmla="*/ 7153 w 9073"/>
              <a:gd name="connsiteY16" fmla="*/ 8619 h 10000"/>
              <a:gd name="connsiteX17" fmla="*/ 7682 w 9073"/>
              <a:gd name="connsiteY17" fmla="*/ 8606 h 10000"/>
              <a:gd name="connsiteX18" fmla="*/ 8179 w 9073"/>
              <a:gd name="connsiteY18" fmla="*/ 8672 h 10000"/>
              <a:gd name="connsiteX19" fmla="*/ 8113 w 9073"/>
              <a:gd name="connsiteY19" fmla="*/ 8792 h 10000"/>
              <a:gd name="connsiteX20" fmla="*/ 8113 w 9073"/>
              <a:gd name="connsiteY20" fmla="*/ 8925 h 10000"/>
              <a:gd name="connsiteX21" fmla="*/ 7815 w 9073"/>
              <a:gd name="connsiteY21" fmla="*/ 8951 h 10000"/>
              <a:gd name="connsiteX22" fmla="*/ 7480 w 9073"/>
              <a:gd name="connsiteY22" fmla="*/ 8951 h 10000"/>
              <a:gd name="connsiteX23" fmla="*/ 6754 w 9073"/>
              <a:gd name="connsiteY23" fmla="*/ 8965 h 10000"/>
              <a:gd name="connsiteX24" fmla="*/ 6059 w 9073"/>
              <a:gd name="connsiteY24" fmla="*/ 9031 h 10000"/>
              <a:gd name="connsiteX25" fmla="*/ 5992 w 9073"/>
              <a:gd name="connsiteY25" fmla="*/ 9124 h 10000"/>
              <a:gd name="connsiteX26" fmla="*/ 5894 w 9073"/>
              <a:gd name="connsiteY26" fmla="*/ 9190 h 10000"/>
              <a:gd name="connsiteX27" fmla="*/ 6326 w 9073"/>
              <a:gd name="connsiteY27" fmla="*/ 9256 h 10000"/>
              <a:gd name="connsiteX28" fmla="*/ 6886 w 9073"/>
              <a:gd name="connsiteY28" fmla="*/ 9256 h 10000"/>
              <a:gd name="connsiteX29" fmla="*/ 7515 w 9073"/>
              <a:gd name="connsiteY29" fmla="*/ 9256 h 10000"/>
              <a:gd name="connsiteX30" fmla="*/ 7880 w 9073"/>
              <a:gd name="connsiteY30" fmla="*/ 9375 h 10000"/>
              <a:gd name="connsiteX31" fmla="*/ 6920 w 9073"/>
              <a:gd name="connsiteY31" fmla="*/ 9628 h 10000"/>
              <a:gd name="connsiteX32" fmla="*/ 6028 w 9073"/>
              <a:gd name="connsiteY32" fmla="*/ 9999 h 10000"/>
              <a:gd name="connsiteX33" fmla="*/ 6723 w 9073"/>
              <a:gd name="connsiteY33" fmla="*/ 9999 h 10000"/>
              <a:gd name="connsiteX34" fmla="*/ 7651 w 9073"/>
              <a:gd name="connsiteY34" fmla="*/ 9919 h 10000"/>
              <a:gd name="connsiteX35" fmla="*/ 8874 w 9073"/>
              <a:gd name="connsiteY35" fmla="*/ 9044 h 10000"/>
              <a:gd name="connsiteX36" fmla="*/ 8874 w 9073"/>
              <a:gd name="connsiteY36" fmla="*/ 8036 h 10000"/>
              <a:gd name="connsiteX37" fmla="*/ 9073 w 9073"/>
              <a:gd name="connsiteY37" fmla="*/ 0 h 10000"/>
              <a:gd name="connsiteX0" fmla="*/ 0 w 8979"/>
              <a:gd name="connsiteY0" fmla="*/ 7479 h 10000"/>
              <a:gd name="connsiteX1" fmla="*/ 1020 w 8979"/>
              <a:gd name="connsiteY1" fmla="*/ 7466 h 10000"/>
              <a:gd name="connsiteX2" fmla="*/ 2154 w 8979"/>
              <a:gd name="connsiteY2" fmla="*/ 7519 h 10000"/>
              <a:gd name="connsiteX3" fmla="*/ 3032 w 8979"/>
              <a:gd name="connsiteY3" fmla="*/ 7665 h 10000"/>
              <a:gd name="connsiteX4" fmla="*/ 3795 w 8979"/>
              <a:gd name="connsiteY4" fmla="*/ 7877 h 10000"/>
              <a:gd name="connsiteX5" fmla="*/ 4636 w 8979"/>
              <a:gd name="connsiteY5" fmla="*/ 8142 h 10000"/>
              <a:gd name="connsiteX6" fmla="*/ 4816 w 8979"/>
              <a:gd name="connsiteY6" fmla="*/ 8182 h 10000"/>
              <a:gd name="connsiteX7" fmla="*/ 5000 w 8979"/>
              <a:gd name="connsiteY7" fmla="*/ 8248 h 10000"/>
              <a:gd name="connsiteX8" fmla="*/ 5182 w 8979"/>
              <a:gd name="connsiteY8" fmla="*/ 8301 h 10000"/>
              <a:gd name="connsiteX9" fmla="*/ 5363 w 8979"/>
              <a:gd name="connsiteY9" fmla="*/ 8341 h 10000"/>
              <a:gd name="connsiteX10" fmla="*/ 5475 w 8979"/>
              <a:gd name="connsiteY10" fmla="*/ 8381 h 10000"/>
              <a:gd name="connsiteX11" fmla="*/ 5583 w 8979"/>
              <a:gd name="connsiteY11" fmla="*/ 8407 h 10000"/>
              <a:gd name="connsiteX12" fmla="*/ 5729 w 8979"/>
              <a:gd name="connsiteY12" fmla="*/ 8421 h 10000"/>
              <a:gd name="connsiteX13" fmla="*/ 5951 w 8979"/>
              <a:gd name="connsiteY13" fmla="*/ 8421 h 10000"/>
              <a:gd name="connsiteX14" fmla="*/ 6314 w 8979"/>
              <a:gd name="connsiteY14" fmla="*/ 8566 h 10000"/>
              <a:gd name="connsiteX15" fmla="*/ 6863 w 8979"/>
              <a:gd name="connsiteY15" fmla="*/ 8619 h 10000"/>
              <a:gd name="connsiteX16" fmla="*/ 7446 w 8979"/>
              <a:gd name="connsiteY16" fmla="*/ 8606 h 10000"/>
              <a:gd name="connsiteX17" fmla="*/ 7994 w 8979"/>
              <a:gd name="connsiteY17" fmla="*/ 8672 h 10000"/>
              <a:gd name="connsiteX18" fmla="*/ 7921 w 8979"/>
              <a:gd name="connsiteY18" fmla="*/ 8792 h 10000"/>
              <a:gd name="connsiteX19" fmla="*/ 7921 w 8979"/>
              <a:gd name="connsiteY19" fmla="*/ 8925 h 10000"/>
              <a:gd name="connsiteX20" fmla="*/ 7592 w 8979"/>
              <a:gd name="connsiteY20" fmla="*/ 8951 h 10000"/>
              <a:gd name="connsiteX21" fmla="*/ 7223 w 8979"/>
              <a:gd name="connsiteY21" fmla="*/ 8951 h 10000"/>
              <a:gd name="connsiteX22" fmla="*/ 6423 w 8979"/>
              <a:gd name="connsiteY22" fmla="*/ 8965 h 10000"/>
              <a:gd name="connsiteX23" fmla="*/ 5657 w 8979"/>
              <a:gd name="connsiteY23" fmla="*/ 9031 h 10000"/>
              <a:gd name="connsiteX24" fmla="*/ 5583 w 8979"/>
              <a:gd name="connsiteY24" fmla="*/ 9124 h 10000"/>
              <a:gd name="connsiteX25" fmla="*/ 5475 w 8979"/>
              <a:gd name="connsiteY25" fmla="*/ 9190 h 10000"/>
              <a:gd name="connsiteX26" fmla="*/ 5951 w 8979"/>
              <a:gd name="connsiteY26" fmla="*/ 9256 h 10000"/>
              <a:gd name="connsiteX27" fmla="*/ 6569 w 8979"/>
              <a:gd name="connsiteY27" fmla="*/ 9256 h 10000"/>
              <a:gd name="connsiteX28" fmla="*/ 7262 w 8979"/>
              <a:gd name="connsiteY28" fmla="*/ 9256 h 10000"/>
              <a:gd name="connsiteX29" fmla="*/ 7664 w 8979"/>
              <a:gd name="connsiteY29" fmla="*/ 9375 h 10000"/>
              <a:gd name="connsiteX30" fmla="*/ 6606 w 8979"/>
              <a:gd name="connsiteY30" fmla="*/ 9628 h 10000"/>
              <a:gd name="connsiteX31" fmla="*/ 5623 w 8979"/>
              <a:gd name="connsiteY31" fmla="*/ 9999 h 10000"/>
              <a:gd name="connsiteX32" fmla="*/ 6389 w 8979"/>
              <a:gd name="connsiteY32" fmla="*/ 9999 h 10000"/>
              <a:gd name="connsiteX33" fmla="*/ 7412 w 8979"/>
              <a:gd name="connsiteY33" fmla="*/ 9919 h 10000"/>
              <a:gd name="connsiteX34" fmla="*/ 8760 w 8979"/>
              <a:gd name="connsiteY34" fmla="*/ 9044 h 10000"/>
              <a:gd name="connsiteX35" fmla="*/ 8760 w 8979"/>
              <a:gd name="connsiteY35" fmla="*/ 8036 h 10000"/>
              <a:gd name="connsiteX36" fmla="*/ 8979 w 8979"/>
              <a:gd name="connsiteY36" fmla="*/ 0 h 10000"/>
              <a:gd name="connsiteX0" fmla="*/ 0 w 8864"/>
              <a:gd name="connsiteY0" fmla="*/ 7466 h 10000"/>
              <a:gd name="connsiteX1" fmla="*/ 1263 w 8864"/>
              <a:gd name="connsiteY1" fmla="*/ 7519 h 10000"/>
              <a:gd name="connsiteX2" fmla="*/ 2241 w 8864"/>
              <a:gd name="connsiteY2" fmla="*/ 7665 h 10000"/>
              <a:gd name="connsiteX3" fmla="*/ 3091 w 8864"/>
              <a:gd name="connsiteY3" fmla="*/ 7877 h 10000"/>
              <a:gd name="connsiteX4" fmla="*/ 4027 w 8864"/>
              <a:gd name="connsiteY4" fmla="*/ 8142 h 10000"/>
              <a:gd name="connsiteX5" fmla="*/ 4228 w 8864"/>
              <a:gd name="connsiteY5" fmla="*/ 8182 h 10000"/>
              <a:gd name="connsiteX6" fmla="*/ 4433 w 8864"/>
              <a:gd name="connsiteY6" fmla="*/ 8248 h 10000"/>
              <a:gd name="connsiteX7" fmla="*/ 4635 w 8864"/>
              <a:gd name="connsiteY7" fmla="*/ 8301 h 10000"/>
              <a:gd name="connsiteX8" fmla="*/ 4837 w 8864"/>
              <a:gd name="connsiteY8" fmla="*/ 8341 h 10000"/>
              <a:gd name="connsiteX9" fmla="*/ 4962 w 8864"/>
              <a:gd name="connsiteY9" fmla="*/ 8381 h 10000"/>
              <a:gd name="connsiteX10" fmla="*/ 5082 w 8864"/>
              <a:gd name="connsiteY10" fmla="*/ 8407 h 10000"/>
              <a:gd name="connsiteX11" fmla="*/ 5244 w 8864"/>
              <a:gd name="connsiteY11" fmla="*/ 8421 h 10000"/>
              <a:gd name="connsiteX12" fmla="*/ 5492 w 8864"/>
              <a:gd name="connsiteY12" fmla="*/ 8421 h 10000"/>
              <a:gd name="connsiteX13" fmla="*/ 5896 w 8864"/>
              <a:gd name="connsiteY13" fmla="*/ 8566 h 10000"/>
              <a:gd name="connsiteX14" fmla="*/ 6507 w 8864"/>
              <a:gd name="connsiteY14" fmla="*/ 8619 h 10000"/>
              <a:gd name="connsiteX15" fmla="*/ 7157 w 8864"/>
              <a:gd name="connsiteY15" fmla="*/ 8606 h 10000"/>
              <a:gd name="connsiteX16" fmla="*/ 7767 w 8864"/>
              <a:gd name="connsiteY16" fmla="*/ 8672 h 10000"/>
              <a:gd name="connsiteX17" fmla="*/ 7686 w 8864"/>
              <a:gd name="connsiteY17" fmla="*/ 8792 h 10000"/>
              <a:gd name="connsiteX18" fmla="*/ 7686 w 8864"/>
              <a:gd name="connsiteY18" fmla="*/ 8925 h 10000"/>
              <a:gd name="connsiteX19" fmla="*/ 7319 w 8864"/>
              <a:gd name="connsiteY19" fmla="*/ 8951 h 10000"/>
              <a:gd name="connsiteX20" fmla="*/ 6908 w 8864"/>
              <a:gd name="connsiteY20" fmla="*/ 8951 h 10000"/>
              <a:gd name="connsiteX21" fmla="*/ 6017 w 8864"/>
              <a:gd name="connsiteY21" fmla="*/ 8965 h 10000"/>
              <a:gd name="connsiteX22" fmla="*/ 5164 w 8864"/>
              <a:gd name="connsiteY22" fmla="*/ 9031 h 10000"/>
              <a:gd name="connsiteX23" fmla="*/ 5082 w 8864"/>
              <a:gd name="connsiteY23" fmla="*/ 9124 h 10000"/>
              <a:gd name="connsiteX24" fmla="*/ 4962 w 8864"/>
              <a:gd name="connsiteY24" fmla="*/ 9190 h 10000"/>
              <a:gd name="connsiteX25" fmla="*/ 5492 w 8864"/>
              <a:gd name="connsiteY25" fmla="*/ 9256 h 10000"/>
              <a:gd name="connsiteX26" fmla="*/ 6180 w 8864"/>
              <a:gd name="connsiteY26" fmla="*/ 9256 h 10000"/>
              <a:gd name="connsiteX27" fmla="*/ 6952 w 8864"/>
              <a:gd name="connsiteY27" fmla="*/ 9256 h 10000"/>
              <a:gd name="connsiteX28" fmla="*/ 7399 w 8864"/>
              <a:gd name="connsiteY28" fmla="*/ 9375 h 10000"/>
              <a:gd name="connsiteX29" fmla="*/ 6221 w 8864"/>
              <a:gd name="connsiteY29" fmla="*/ 9628 h 10000"/>
              <a:gd name="connsiteX30" fmla="*/ 5126 w 8864"/>
              <a:gd name="connsiteY30" fmla="*/ 9999 h 10000"/>
              <a:gd name="connsiteX31" fmla="*/ 5979 w 8864"/>
              <a:gd name="connsiteY31" fmla="*/ 9999 h 10000"/>
              <a:gd name="connsiteX32" fmla="*/ 7119 w 8864"/>
              <a:gd name="connsiteY32" fmla="*/ 9919 h 10000"/>
              <a:gd name="connsiteX33" fmla="*/ 8620 w 8864"/>
              <a:gd name="connsiteY33" fmla="*/ 9044 h 10000"/>
              <a:gd name="connsiteX34" fmla="*/ 8620 w 8864"/>
              <a:gd name="connsiteY34" fmla="*/ 8036 h 10000"/>
              <a:gd name="connsiteX35" fmla="*/ 8864 w 8864"/>
              <a:gd name="connsiteY35" fmla="*/ 0 h 10000"/>
              <a:gd name="connsiteX0" fmla="*/ 0 w 8575"/>
              <a:gd name="connsiteY0" fmla="*/ 7519 h 10000"/>
              <a:gd name="connsiteX1" fmla="*/ 1103 w 8575"/>
              <a:gd name="connsiteY1" fmla="*/ 7665 h 10000"/>
              <a:gd name="connsiteX2" fmla="*/ 2062 w 8575"/>
              <a:gd name="connsiteY2" fmla="*/ 7877 h 10000"/>
              <a:gd name="connsiteX3" fmla="*/ 3118 w 8575"/>
              <a:gd name="connsiteY3" fmla="*/ 8142 h 10000"/>
              <a:gd name="connsiteX4" fmla="*/ 3345 w 8575"/>
              <a:gd name="connsiteY4" fmla="*/ 8182 h 10000"/>
              <a:gd name="connsiteX5" fmla="*/ 3576 w 8575"/>
              <a:gd name="connsiteY5" fmla="*/ 8248 h 10000"/>
              <a:gd name="connsiteX6" fmla="*/ 3804 w 8575"/>
              <a:gd name="connsiteY6" fmla="*/ 8301 h 10000"/>
              <a:gd name="connsiteX7" fmla="*/ 4032 w 8575"/>
              <a:gd name="connsiteY7" fmla="*/ 8341 h 10000"/>
              <a:gd name="connsiteX8" fmla="*/ 4173 w 8575"/>
              <a:gd name="connsiteY8" fmla="*/ 8381 h 10000"/>
              <a:gd name="connsiteX9" fmla="*/ 4308 w 8575"/>
              <a:gd name="connsiteY9" fmla="*/ 8407 h 10000"/>
              <a:gd name="connsiteX10" fmla="*/ 4491 w 8575"/>
              <a:gd name="connsiteY10" fmla="*/ 8421 h 10000"/>
              <a:gd name="connsiteX11" fmla="*/ 4771 w 8575"/>
              <a:gd name="connsiteY11" fmla="*/ 8421 h 10000"/>
              <a:gd name="connsiteX12" fmla="*/ 5227 w 8575"/>
              <a:gd name="connsiteY12" fmla="*/ 8566 h 10000"/>
              <a:gd name="connsiteX13" fmla="*/ 5916 w 8575"/>
              <a:gd name="connsiteY13" fmla="*/ 8619 h 10000"/>
              <a:gd name="connsiteX14" fmla="*/ 6649 w 8575"/>
              <a:gd name="connsiteY14" fmla="*/ 8606 h 10000"/>
              <a:gd name="connsiteX15" fmla="*/ 7337 w 8575"/>
              <a:gd name="connsiteY15" fmla="*/ 8672 h 10000"/>
              <a:gd name="connsiteX16" fmla="*/ 7246 w 8575"/>
              <a:gd name="connsiteY16" fmla="*/ 8792 h 10000"/>
              <a:gd name="connsiteX17" fmla="*/ 7246 w 8575"/>
              <a:gd name="connsiteY17" fmla="*/ 8925 h 10000"/>
              <a:gd name="connsiteX18" fmla="*/ 6832 w 8575"/>
              <a:gd name="connsiteY18" fmla="*/ 8951 h 10000"/>
              <a:gd name="connsiteX19" fmla="*/ 6368 w 8575"/>
              <a:gd name="connsiteY19" fmla="*/ 8951 h 10000"/>
              <a:gd name="connsiteX20" fmla="*/ 5363 w 8575"/>
              <a:gd name="connsiteY20" fmla="*/ 8965 h 10000"/>
              <a:gd name="connsiteX21" fmla="*/ 4401 w 8575"/>
              <a:gd name="connsiteY21" fmla="*/ 9031 h 10000"/>
              <a:gd name="connsiteX22" fmla="*/ 4308 w 8575"/>
              <a:gd name="connsiteY22" fmla="*/ 9124 h 10000"/>
              <a:gd name="connsiteX23" fmla="*/ 4173 w 8575"/>
              <a:gd name="connsiteY23" fmla="*/ 9190 h 10000"/>
              <a:gd name="connsiteX24" fmla="*/ 4771 w 8575"/>
              <a:gd name="connsiteY24" fmla="*/ 9256 h 10000"/>
              <a:gd name="connsiteX25" fmla="*/ 5547 w 8575"/>
              <a:gd name="connsiteY25" fmla="*/ 9256 h 10000"/>
              <a:gd name="connsiteX26" fmla="*/ 6418 w 8575"/>
              <a:gd name="connsiteY26" fmla="*/ 9256 h 10000"/>
              <a:gd name="connsiteX27" fmla="*/ 6922 w 8575"/>
              <a:gd name="connsiteY27" fmla="*/ 9375 h 10000"/>
              <a:gd name="connsiteX28" fmla="*/ 5593 w 8575"/>
              <a:gd name="connsiteY28" fmla="*/ 9628 h 10000"/>
              <a:gd name="connsiteX29" fmla="*/ 4358 w 8575"/>
              <a:gd name="connsiteY29" fmla="*/ 9999 h 10000"/>
              <a:gd name="connsiteX30" fmla="*/ 5320 w 8575"/>
              <a:gd name="connsiteY30" fmla="*/ 9999 h 10000"/>
              <a:gd name="connsiteX31" fmla="*/ 6606 w 8575"/>
              <a:gd name="connsiteY31" fmla="*/ 9919 h 10000"/>
              <a:gd name="connsiteX32" fmla="*/ 8300 w 8575"/>
              <a:gd name="connsiteY32" fmla="*/ 9044 h 10000"/>
              <a:gd name="connsiteX33" fmla="*/ 8300 w 8575"/>
              <a:gd name="connsiteY33" fmla="*/ 8036 h 10000"/>
              <a:gd name="connsiteX34" fmla="*/ 8575 w 8575"/>
              <a:gd name="connsiteY34" fmla="*/ 0 h 10000"/>
              <a:gd name="connsiteX0" fmla="*/ 0 w 8714"/>
              <a:gd name="connsiteY0" fmla="*/ 7665 h 10000"/>
              <a:gd name="connsiteX1" fmla="*/ 1119 w 8714"/>
              <a:gd name="connsiteY1" fmla="*/ 7877 h 10000"/>
              <a:gd name="connsiteX2" fmla="*/ 2350 w 8714"/>
              <a:gd name="connsiteY2" fmla="*/ 8142 h 10000"/>
              <a:gd name="connsiteX3" fmla="*/ 2615 w 8714"/>
              <a:gd name="connsiteY3" fmla="*/ 8182 h 10000"/>
              <a:gd name="connsiteX4" fmla="*/ 2884 w 8714"/>
              <a:gd name="connsiteY4" fmla="*/ 8248 h 10000"/>
              <a:gd name="connsiteX5" fmla="*/ 3150 w 8714"/>
              <a:gd name="connsiteY5" fmla="*/ 8301 h 10000"/>
              <a:gd name="connsiteX6" fmla="*/ 3416 w 8714"/>
              <a:gd name="connsiteY6" fmla="*/ 8341 h 10000"/>
              <a:gd name="connsiteX7" fmla="*/ 3580 w 8714"/>
              <a:gd name="connsiteY7" fmla="*/ 8381 h 10000"/>
              <a:gd name="connsiteX8" fmla="*/ 3738 w 8714"/>
              <a:gd name="connsiteY8" fmla="*/ 8407 h 10000"/>
              <a:gd name="connsiteX9" fmla="*/ 3951 w 8714"/>
              <a:gd name="connsiteY9" fmla="*/ 8421 h 10000"/>
              <a:gd name="connsiteX10" fmla="*/ 4278 w 8714"/>
              <a:gd name="connsiteY10" fmla="*/ 8421 h 10000"/>
              <a:gd name="connsiteX11" fmla="*/ 4810 w 8714"/>
              <a:gd name="connsiteY11" fmla="*/ 8566 h 10000"/>
              <a:gd name="connsiteX12" fmla="*/ 5613 w 8714"/>
              <a:gd name="connsiteY12" fmla="*/ 8619 h 10000"/>
              <a:gd name="connsiteX13" fmla="*/ 6468 w 8714"/>
              <a:gd name="connsiteY13" fmla="*/ 8606 h 10000"/>
              <a:gd name="connsiteX14" fmla="*/ 7270 w 8714"/>
              <a:gd name="connsiteY14" fmla="*/ 8672 h 10000"/>
              <a:gd name="connsiteX15" fmla="*/ 7164 w 8714"/>
              <a:gd name="connsiteY15" fmla="*/ 8792 h 10000"/>
              <a:gd name="connsiteX16" fmla="*/ 7164 w 8714"/>
              <a:gd name="connsiteY16" fmla="*/ 8925 h 10000"/>
              <a:gd name="connsiteX17" fmla="*/ 6681 w 8714"/>
              <a:gd name="connsiteY17" fmla="*/ 8951 h 10000"/>
              <a:gd name="connsiteX18" fmla="*/ 6140 w 8714"/>
              <a:gd name="connsiteY18" fmla="*/ 8951 h 10000"/>
              <a:gd name="connsiteX19" fmla="*/ 4968 w 8714"/>
              <a:gd name="connsiteY19" fmla="*/ 8965 h 10000"/>
              <a:gd name="connsiteX20" fmla="*/ 3846 w 8714"/>
              <a:gd name="connsiteY20" fmla="*/ 9031 h 10000"/>
              <a:gd name="connsiteX21" fmla="*/ 3738 w 8714"/>
              <a:gd name="connsiteY21" fmla="*/ 9124 h 10000"/>
              <a:gd name="connsiteX22" fmla="*/ 3580 w 8714"/>
              <a:gd name="connsiteY22" fmla="*/ 9190 h 10000"/>
              <a:gd name="connsiteX23" fmla="*/ 4278 w 8714"/>
              <a:gd name="connsiteY23" fmla="*/ 9256 h 10000"/>
              <a:gd name="connsiteX24" fmla="*/ 5183 w 8714"/>
              <a:gd name="connsiteY24" fmla="*/ 9256 h 10000"/>
              <a:gd name="connsiteX25" fmla="*/ 6199 w 8714"/>
              <a:gd name="connsiteY25" fmla="*/ 9256 h 10000"/>
              <a:gd name="connsiteX26" fmla="*/ 6786 w 8714"/>
              <a:gd name="connsiteY26" fmla="*/ 9375 h 10000"/>
              <a:gd name="connsiteX27" fmla="*/ 5236 w 8714"/>
              <a:gd name="connsiteY27" fmla="*/ 9628 h 10000"/>
              <a:gd name="connsiteX28" fmla="*/ 3796 w 8714"/>
              <a:gd name="connsiteY28" fmla="*/ 9999 h 10000"/>
              <a:gd name="connsiteX29" fmla="*/ 4918 w 8714"/>
              <a:gd name="connsiteY29" fmla="*/ 9999 h 10000"/>
              <a:gd name="connsiteX30" fmla="*/ 6418 w 8714"/>
              <a:gd name="connsiteY30" fmla="*/ 9919 h 10000"/>
              <a:gd name="connsiteX31" fmla="*/ 8393 w 8714"/>
              <a:gd name="connsiteY31" fmla="*/ 9044 h 10000"/>
              <a:gd name="connsiteX32" fmla="*/ 8393 w 8714"/>
              <a:gd name="connsiteY32" fmla="*/ 8036 h 10000"/>
              <a:gd name="connsiteX33" fmla="*/ 8714 w 8714"/>
              <a:gd name="connsiteY33" fmla="*/ 0 h 10000"/>
              <a:gd name="connsiteX0" fmla="*/ 0 w 10000"/>
              <a:gd name="connsiteY0" fmla="*/ 7665 h 10000"/>
              <a:gd name="connsiteX1" fmla="*/ 2697 w 10000"/>
              <a:gd name="connsiteY1" fmla="*/ 8142 h 10000"/>
              <a:gd name="connsiteX2" fmla="*/ 3001 w 10000"/>
              <a:gd name="connsiteY2" fmla="*/ 8182 h 10000"/>
              <a:gd name="connsiteX3" fmla="*/ 3310 w 10000"/>
              <a:gd name="connsiteY3" fmla="*/ 8248 h 10000"/>
              <a:gd name="connsiteX4" fmla="*/ 3615 w 10000"/>
              <a:gd name="connsiteY4" fmla="*/ 8301 h 10000"/>
              <a:gd name="connsiteX5" fmla="*/ 3920 w 10000"/>
              <a:gd name="connsiteY5" fmla="*/ 8341 h 10000"/>
              <a:gd name="connsiteX6" fmla="*/ 4108 w 10000"/>
              <a:gd name="connsiteY6" fmla="*/ 8381 h 10000"/>
              <a:gd name="connsiteX7" fmla="*/ 4290 w 10000"/>
              <a:gd name="connsiteY7" fmla="*/ 8407 h 10000"/>
              <a:gd name="connsiteX8" fmla="*/ 4534 w 10000"/>
              <a:gd name="connsiteY8" fmla="*/ 8421 h 10000"/>
              <a:gd name="connsiteX9" fmla="*/ 4909 w 10000"/>
              <a:gd name="connsiteY9" fmla="*/ 8421 h 10000"/>
              <a:gd name="connsiteX10" fmla="*/ 5520 w 10000"/>
              <a:gd name="connsiteY10" fmla="*/ 8566 h 10000"/>
              <a:gd name="connsiteX11" fmla="*/ 6441 w 10000"/>
              <a:gd name="connsiteY11" fmla="*/ 8619 h 10000"/>
              <a:gd name="connsiteX12" fmla="*/ 7423 w 10000"/>
              <a:gd name="connsiteY12" fmla="*/ 8606 h 10000"/>
              <a:gd name="connsiteX13" fmla="*/ 8343 w 10000"/>
              <a:gd name="connsiteY13" fmla="*/ 8672 h 10000"/>
              <a:gd name="connsiteX14" fmla="*/ 8221 w 10000"/>
              <a:gd name="connsiteY14" fmla="*/ 8792 h 10000"/>
              <a:gd name="connsiteX15" fmla="*/ 8221 w 10000"/>
              <a:gd name="connsiteY15" fmla="*/ 8925 h 10000"/>
              <a:gd name="connsiteX16" fmla="*/ 7667 w 10000"/>
              <a:gd name="connsiteY16" fmla="*/ 8951 h 10000"/>
              <a:gd name="connsiteX17" fmla="*/ 7046 w 10000"/>
              <a:gd name="connsiteY17" fmla="*/ 8951 h 10000"/>
              <a:gd name="connsiteX18" fmla="*/ 5701 w 10000"/>
              <a:gd name="connsiteY18" fmla="*/ 8965 h 10000"/>
              <a:gd name="connsiteX19" fmla="*/ 4414 w 10000"/>
              <a:gd name="connsiteY19" fmla="*/ 9031 h 10000"/>
              <a:gd name="connsiteX20" fmla="*/ 4290 w 10000"/>
              <a:gd name="connsiteY20" fmla="*/ 9124 h 10000"/>
              <a:gd name="connsiteX21" fmla="*/ 4108 w 10000"/>
              <a:gd name="connsiteY21" fmla="*/ 9190 h 10000"/>
              <a:gd name="connsiteX22" fmla="*/ 4909 w 10000"/>
              <a:gd name="connsiteY22" fmla="*/ 9256 h 10000"/>
              <a:gd name="connsiteX23" fmla="*/ 5948 w 10000"/>
              <a:gd name="connsiteY23" fmla="*/ 9256 h 10000"/>
              <a:gd name="connsiteX24" fmla="*/ 7114 w 10000"/>
              <a:gd name="connsiteY24" fmla="*/ 9256 h 10000"/>
              <a:gd name="connsiteX25" fmla="*/ 7787 w 10000"/>
              <a:gd name="connsiteY25" fmla="*/ 9375 h 10000"/>
              <a:gd name="connsiteX26" fmla="*/ 6009 w 10000"/>
              <a:gd name="connsiteY26" fmla="*/ 9628 h 10000"/>
              <a:gd name="connsiteX27" fmla="*/ 4356 w 10000"/>
              <a:gd name="connsiteY27" fmla="*/ 9999 h 10000"/>
              <a:gd name="connsiteX28" fmla="*/ 5644 w 10000"/>
              <a:gd name="connsiteY28" fmla="*/ 9999 h 10000"/>
              <a:gd name="connsiteX29" fmla="*/ 7365 w 10000"/>
              <a:gd name="connsiteY29" fmla="*/ 9919 h 10000"/>
              <a:gd name="connsiteX30" fmla="*/ 9632 w 10000"/>
              <a:gd name="connsiteY30" fmla="*/ 9044 h 10000"/>
              <a:gd name="connsiteX31" fmla="*/ 9632 w 10000"/>
              <a:gd name="connsiteY31" fmla="*/ 8036 h 10000"/>
              <a:gd name="connsiteX32" fmla="*/ 10000 w 10000"/>
              <a:gd name="connsiteY32" fmla="*/ 0 h 10000"/>
              <a:gd name="connsiteX0" fmla="*/ 0 w 10000"/>
              <a:gd name="connsiteY0" fmla="*/ 7665 h 10000"/>
              <a:gd name="connsiteX1" fmla="*/ 336 w 10000"/>
              <a:gd name="connsiteY1" fmla="*/ 7636 h 10000"/>
              <a:gd name="connsiteX2" fmla="*/ 2697 w 10000"/>
              <a:gd name="connsiteY2" fmla="*/ 8142 h 10000"/>
              <a:gd name="connsiteX3" fmla="*/ 3001 w 10000"/>
              <a:gd name="connsiteY3" fmla="*/ 8182 h 10000"/>
              <a:gd name="connsiteX4" fmla="*/ 3310 w 10000"/>
              <a:gd name="connsiteY4" fmla="*/ 8248 h 10000"/>
              <a:gd name="connsiteX5" fmla="*/ 3615 w 10000"/>
              <a:gd name="connsiteY5" fmla="*/ 8301 h 10000"/>
              <a:gd name="connsiteX6" fmla="*/ 3920 w 10000"/>
              <a:gd name="connsiteY6" fmla="*/ 8341 h 10000"/>
              <a:gd name="connsiteX7" fmla="*/ 4108 w 10000"/>
              <a:gd name="connsiteY7" fmla="*/ 8381 h 10000"/>
              <a:gd name="connsiteX8" fmla="*/ 4290 w 10000"/>
              <a:gd name="connsiteY8" fmla="*/ 8407 h 10000"/>
              <a:gd name="connsiteX9" fmla="*/ 4534 w 10000"/>
              <a:gd name="connsiteY9" fmla="*/ 8421 h 10000"/>
              <a:gd name="connsiteX10" fmla="*/ 4909 w 10000"/>
              <a:gd name="connsiteY10" fmla="*/ 8421 h 10000"/>
              <a:gd name="connsiteX11" fmla="*/ 5520 w 10000"/>
              <a:gd name="connsiteY11" fmla="*/ 8566 h 10000"/>
              <a:gd name="connsiteX12" fmla="*/ 6441 w 10000"/>
              <a:gd name="connsiteY12" fmla="*/ 8619 h 10000"/>
              <a:gd name="connsiteX13" fmla="*/ 7423 w 10000"/>
              <a:gd name="connsiteY13" fmla="*/ 8606 h 10000"/>
              <a:gd name="connsiteX14" fmla="*/ 8343 w 10000"/>
              <a:gd name="connsiteY14" fmla="*/ 8672 h 10000"/>
              <a:gd name="connsiteX15" fmla="*/ 8221 w 10000"/>
              <a:gd name="connsiteY15" fmla="*/ 8792 h 10000"/>
              <a:gd name="connsiteX16" fmla="*/ 8221 w 10000"/>
              <a:gd name="connsiteY16" fmla="*/ 8925 h 10000"/>
              <a:gd name="connsiteX17" fmla="*/ 7667 w 10000"/>
              <a:gd name="connsiteY17" fmla="*/ 8951 h 10000"/>
              <a:gd name="connsiteX18" fmla="*/ 7046 w 10000"/>
              <a:gd name="connsiteY18" fmla="*/ 8951 h 10000"/>
              <a:gd name="connsiteX19" fmla="*/ 5701 w 10000"/>
              <a:gd name="connsiteY19" fmla="*/ 8965 h 10000"/>
              <a:gd name="connsiteX20" fmla="*/ 4414 w 10000"/>
              <a:gd name="connsiteY20" fmla="*/ 9031 h 10000"/>
              <a:gd name="connsiteX21" fmla="*/ 4290 w 10000"/>
              <a:gd name="connsiteY21" fmla="*/ 9124 h 10000"/>
              <a:gd name="connsiteX22" fmla="*/ 4108 w 10000"/>
              <a:gd name="connsiteY22" fmla="*/ 9190 h 10000"/>
              <a:gd name="connsiteX23" fmla="*/ 4909 w 10000"/>
              <a:gd name="connsiteY23" fmla="*/ 9256 h 10000"/>
              <a:gd name="connsiteX24" fmla="*/ 5948 w 10000"/>
              <a:gd name="connsiteY24" fmla="*/ 9256 h 10000"/>
              <a:gd name="connsiteX25" fmla="*/ 7114 w 10000"/>
              <a:gd name="connsiteY25" fmla="*/ 9256 h 10000"/>
              <a:gd name="connsiteX26" fmla="*/ 7787 w 10000"/>
              <a:gd name="connsiteY26" fmla="*/ 9375 h 10000"/>
              <a:gd name="connsiteX27" fmla="*/ 6009 w 10000"/>
              <a:gd name="connsiteY27" fmla="*/ 9628 h 10000"/>
              <a:gd name="connsiteX28" fmla="*/ 4356 w 10000"/>
              <a:gd name="connsiteY28" fmla="*/ 9999 h 10000"/>
              <a:gd name="connsiteX29" fmla="*/ 5644 w 10000"/>
              <a:gd name="connsiteY29" fmla="*/ 9999 h 10000"/>
              <a:gd name="connsiteX30" fmla="*/ 7365 w 10000"/>
              <a:gd name="connsiteY30" fmla="*/ 9919 h 10000"/>
              <a:gd name="connsiteX31" fmla="*/ 9632 w 10000"/>
              <a:gd name="connsiteY31" fmla="*/ 9044 h 10000"/>
              <a:gd name="connsiteX32" fmla="*/ 9632 w 10000"/>
              <a:gd name="connsiteY32" fmla="*/ 8036 h 10000"/>
              <a:gd name="connsiteX33" fmla="*/ 10000 w 10000"/>
              <a:gd name="connsiteY33" fmla="*/ 0 h 10000"/>
              <a:gd name="connsiteX0" fmla="*/ 0 w 10000"/>
              <a:gd name="connsiteY0" fmla="*/ 7665 h 10000"/>
              <a:gd name="connsiteX1" fmla="*/ 2697 w 10000"/>
              <a:gd name="connsiteY1" fmla="*/ 8142 h 10000"/>
              <a:gd name="connsiteX2" fmla="*/ 3001 w 10000"/>
              <a:gd name="connsiteY2" fmla="*/ 8182 h 10000"/>
              <a:gd name="connsiteX3" fmla="*/ 3310 w 10000"/>
              <a:gd name="connsiteY3" fmla="*/ 8248 h 10000"/>
              <a:gd name="connsiteX4" fmla="*/ 3615 w 10000"/>
              <a:gd name="connsiteY4" fmla="*/ 8301 h 10000"/>
              <a:gd name="connsiteX5" fmla="*/ 3920 w 10000"/>
              <a:gd name="connsiteY5" fmla="*/ 8341 h 10000"/>
              <a:gd name="connsiteX6" fmla="*/ 4108 w 10000"/>
              <a:gd name="connsiteY6" fmla="*/ 8381 h 10000"/>
              <a:gd name="connsiteX7" fmla="*/ 4290 w 10000"/>
              <a:gd name="connsiteY7" fmla="*/ 8407 h 10000"/>
              <a:gd name="connsiteX8" fmla="*/ 4534 w 10000"/>
              <a:gd name="connsiteY8" fmla="*/ 8421 h 10000"/>
              <a:gd name="connsiteX9" fmla="*/ 4909 w 10000"/>
              <a:gd name="connsiteY9" fmla="*/ 8421 h 10000"/>
              <a:gd name="connsiteX10" fmla="*/ 5520 w 10000"/>
              <a:gd name="connsiteY10" fmla="*/ 8566 h 10000"/>
              <a:gd name="connsiteX11" fmla="*/ 6441 w 10000"/>
              <a:gd name="connsiteY11" fmla="*/ 8619 h 10000"/>
              <a:gd name="connsiteX12" fmla="*/ 7423 w 10000"/>
              <a:gd name="connsiteY12" fmla="*/ 8606 h 10000"/>
              <a:gd name="connsiteX13" fmla="*/ 8343 w 10000"/>
              <a:gd name="connsiteY13" fmla="*/ 8672 h 10000"/>
              <a:gd name="connsiteX14" fmla="*/ 8221 w 10000"/>
              <a:gd name="connsiteY14" fmla="*/ 8792 h 10000"/>
              <a:gd name="connsiteX15" fmla="*/ 8221 w 10000"/>
              <a:gd name="connsiteY15" fmla="*/ 8925 h 10000"/>
              <a:gd name="connsiteX16" fmla="*/ 7667 w 10000"/>
              <a:gd name="connsiteY16" fmla="*/ 8951 h 10000"/>
              <a:gd name="connsiteX17" fmla="*/ 7046 w 10000"/>
              <a:gd name="connsiteY17" fmla="*/ 8951 h 10000"/>
              <a:gd name="connsiteX18" fmla="*/ 5701 w 10000"/>
              <a:gd name="connsiteY18" fmla="*/ 8965 h 10000"/>
              <a:gd name="connsiteX19" fmla="*/ 4414 w 10000"/>
              <a:gd name="connsiteY19" fmla="*/ 9031 h 10000"/>
              <a:gd name="connsiteX20" fmla="*/ 4290 w 10000"/>
              <a:gd name="connsiteY20" fmla="*/ 9124 h 10000"/>
              <a:gd name="connsiteX21" fmla="*/ 4108 w 10000"/>
              <a:gd name="connsiteY21" fmla="*/ 9190 h 10000"/>
              <a:gd name="connsiteX22" fmla="*/ 4909 w 10000"/>
              <a:gd name="connsiteY22" fmla="*/ 9256 h 10000"/>
              <a:gd name="connsiteX23" fmla="*/ 5948 w 10000"/>
              <a:gd name="connsiteY23" fmla="*/ 9256 h 10000"/>
              <a:gd name="connsiteX24" fmla="*/ 7114 w 10000"/>
              <a:gd name="connsiteY24" fmla="*/ 9256 h 10000"/>
              <a:gd name="connsiteX25" fmla="*/ 7787 w 10000"/>
              <a:gd name="connsiteY25" fmla="*/ 9375 h 10000"/>
              <a:gd name="connsiteX26" fmla="*/ 6009 w 10000"/>
              <a:gd name="connsiteY26" fmla="*/ 9628 h 10000"/>
              <a:gd name="connsiteX27" fmla="*/ 4356 w 10000"/>
              <a:gd name="connsiteY27" fmla="*/ 9999 h 10000"/>
              <a:gd name="connsiteX28" fmla="*/ 5644 w 10000"/>
              <a:gd name="connsiteY28" fmla="*/ 9999 h 10000"/>
              <a:gd name="connsiteX29" fmla="*/ 7365 w 10000"/>
              <a:gd name="connsiteY29" fmla="*/ 9919 h 10000"/>
              <a:gd name="connsiteX30" fmla="*/ 9632 w 10000"/>
              <a:gd name="connsiteY30" fmla="*/ 9044 h 10000"/>
              <a:gd name="connsiteX31" fmla="*/ 9632 w 10000"/>
              <a:gd name="connsiteY31" fmla="*/ 8036 h 10000"/>
              <a:gd name="connsiteX32" fmla="*/ 10000 w 10000"/>
              <a:gd name="connsiteY32" fmla="*/ 0 h 10000"/>
              <a:gd name="connsiteX0" fmla="*/ 0 w 7303"/>
              <a:gd name="connsiteY0" fmla="*/ 8142 h 10000"/>
              <a:gd name="connsiteX1" fmla="*/ 304 w 7303"/>
              <a:gd name="connsiteY1" fmla="*/ 8182 h 10000"/>
              <a:gd name="connsiteX2" fmla="*/ 613 w 7303"/>
              <a:gd name="connsiteY2" fmla="*/ 8248 h 10000"/>
              <a:gd name="connsiteX3" fmla="*/ 918 w 7303"/>
              <a:gd name="connsiteY3" fmla="*/ 8301 h 10000"/>
              <a:gd name="connsiteX4" fmla="*/ 1223 w 7303"/>
              <a:gd name="connsiteY4" fmla="*/ 8341 h 10000"/>
              <a:gd name="connsiteX5" fmla="*/ 1411 w 7303"/>
              <a:gd name="connsiteY5" fmla="*/ 8381 h 10000"/>
              <a:gd name="connsiteX6" fmla="*/ 1593 w 7303"/>
              <a:gd name="connsiteY6" fmla="*/ 8407 h 10000"/>
              <a:gd name="connsiteX7" fmla="*/ 1837 w 7303"/>
              <a:gd name="connsiteY7" fmla="*/ 8421 h 10000"/>
              <a:gd name="connsiteX8" fmla="*/ 2212 w 7303"/>
              <a:gd name="connsiteY8" fmla="*/ 8421 h 10000"/>
              <a:gd name="connsiteX9" fmla="*/ 2823 w 7303"/>
              <a:gd name="connsiteY9" fmla="*/ 8566 h 10000"/>
              <a:gd name="connsiteX10" fmla="*/ 3744 w 7303"/>
              <a:gd name="connsiteY10" fmla="*/ 8619 h 10000"/>
              <a:gd name="connsiteX11" fmla="*/ 4726 w 7303"/>
              <a:gd name="connsiteY11" fmla="*/ 8606 h 10000"/>
              <a:gd name="connsiteX12" fmla="*/ 5646 w 7303"/>
              <a:gd name="connsiteY12" fmla="*/ 8672 h 10000"/>
              <a:gd name="connsiteX13" fmla="*/ 5524 w 7303"/>
              <a:gd name="connsiteY13" fmla="*/ 8792 h 10000"/>
              <a:gd name="connsiteX14" fmla="*/ 5524 w 7303"/>
              <a:gd name="connsiteY14" fmla="*/ 8925 h 10000"/>
              <a:gd name="connsiteX15" fmla="*/ 4970 w 7303"/>
              <a:gd name="connsiteY15" fmla="*/ 8951 h 10000"/>
              <a:gd name="connsiteX16" fmla="*/ 4349 w 7303"/>
              <a:gd name="connsiteY16" fmla="*/ 8951 h 10000"/>
              <a:gd name="connsiteX17" fmla="*/ 3004 w 7303"/>
              <a:gd name="connsiteY17" fmla="*/ 8965 h 10000"/>
              <a:gd name="connsiteX18" fmla="*/ 1717 w 7303"/>
              <a:gd name="connsiteY18" fmla="*/ 9031 h 10000"/>
              <a:gd name="connsiteX19" fmla="*/ 1593 w 7303"/>
              <a:gd name="connsiteY19" fmla="*/ 9124 h 10000"/>
              <a:gd name="connsiteX20" fmla="*/ 1411 w 7303"/>
              <a:gd name="connsiteY20" fmla="*/ 9190 h 10000"/>
              <a:gd name="connsiteX21" fmla="*/ 2212 w 7303"/>
              <a:gd name="connsiteY21" fmla="*/ 9256 h 10000"/>
              <a:gd name="connsiteX22" fmla="*/ 3251 w 7303"/>
              <a:gd name="connsiteY22" fmla="*/ 9256 h 10000"/>
              <a:gd name="connsiteX23" fmla="*/ 4417 w 7303"/>
              <a:gd name="connsiteY23" fmla="*/ 9256 h 10000"/>
              <a:gd name="connsiteX24" fmla="*/ 5090 w 7303"/>
              <a:gd name="connsiteY24" fmla="*/ 9375 h 10000"/>
              <a:gd name="connsiteX25" fmla="*/ 3312 w 7303"/>
              <a:gd name="connsiteY25" fmla="*/ 9628 h 10000"/>
              <a:gd name="connsiteX26" fmla="*/ 1659 w 7303"/>
              <a:gd name="connsiteY26" fmla="*/ 9999 h 10000"/>
              <a:gd name="connsiteX27" fmla="*/ 2947 w 7303"/>
              <a:gd name="connsiteY27" fmla="*/ 9999 h 10000"/>
              <a:gd name="connsiteX28" fmla="*/ 4668 w 7303"/>
              <a:gd name="connsiteY28" fmla="*/ 9919 h 10000"/>
              <a:gd name="connsiteX29" fmla="*/ 6935 w 7303"/>
              <a:gd name="connsiteY29" fmla="*/ 9044 h 10000"/>
              <a:gd name="connsiteX30" fmla="*/ 6935 w 7303"/>
              <a:gd name="connsiteY30" fmla="*/ 8036 h 10000"/>
              <a:gd name="connsiteX31" fmla="*/ 7303 w 7303"/>
              <a:gd name="connsiteY31" fmla="*/ 0 h 10000"/>
              <a:gd name="connsiteX0" fmla="*/ 0 w 35749"/>
              <a:gd name="connsiteY0" fmla="*/ 8142 h 10001"/>
              <a:gd name="connsiteX1" fmla="*/ 416 w 35749"/>
              <a:gd name="connsiteY1" fmla="*/ 8182 h 10001"/>
              <a:gd name="connsiteX2" fmla="*/ 839 w 35749"/>
              <a:gd name="connsiteY2" fmla="*/ 8248 h 10001"/>
              <a:gd name="connsiteX3" fmla="*/ 1257 w 35749"/>
              <a:gd name="connsiteY3" fmla="*/ 8301 h 10001"/>
              <a:gd name="connsiteX4" fmla="*/ 1675 w 35749"/>
              <a:gd name="connsiteY4" fmla="*/ 8341 h 10001"/>
              <a:gd name="connsiteX5" fmla="*/ 1932 w 35749"/>
              <a:gd name="connsiteY5" fmla="*/ 8381 h 10001"/>
              <a:gd name="connsiteX6" fmla="*/ 2181 w 35749"/>
              <a:gd name="connsiteY6" fmla="*/ 8407 h 10001"/>
              <a:gd name="connsiteX7" fmla="*/ 2515 w 35749"/>
              <a:gd name="connsiteY7" fmla="*/ 8421 h 10001"/>
              <a:gd name="connsiteX8" fmla="*/ 3029 w 35749"/>
              <a:gd name="connsiteY8" fmla="*/ 8421 h 10001"/>
              <a:gd name="connsiteX9" fmla="*/ 3866 w 35749"/>
              <a:gd name="connsiteY9" fmla="*/ 8566 h 10001"/>
              <a:gd name="connsiteX10" fmla="*/ 5127 w 35749"/>
              <a:gd name="connsiteY10" fmla="*/ 8619 h 10001"/>
              <a:gd name="connsiteX11" fmla="*/ 6471 w 35749"/>
              <a:gd name="connsiteY11" fmla="*/ 8606 h 10001"/>
              <a:gd name="connsiteX12" fmla="*/ 7731 w 35749"/>
              <a:gd name="connsiteY12" fmla="*/ 8672 h 10001"/>
              <a:gd name="connsiteX13" fmla="*/ 7564 w 35749"/>
              <a:gd name="connsiteY13" fmla="*/ 8792 h 10001"/>
              <a:gd name="connsiteX14" fmla="*/ 7564 w 35749"/>
              <a:gd name="connsiteY14" fmla="*/ 8925 h 10001"/>
              <a:gd name="connsiteX15" fmla="*/ 6805 w 35749"/>
              <a:gd name="connsiteY15" fmla="*/ 8951 h 10001"/>
              <a:gd name="connsiteX16" fmla="*/ 5955 w 35749"/>
              <a:gd name="connsiteY16" fmla="*/ 8951 h 10001"/>
              <a:gd name="connsiteX17" fmla="*/ 4113 w 35749"/>
              <a:gd name="connsiteY17" fmla="*/ 8965 h 10001"/>
              <a:gd name="connsiteX18" fmla="*/ 2351 w 35749"/>
              <a:gd name="connsiteY18" fmla="*/ 9031 h 10001"/>
              <a:gd name="connsiteX19" fmla="*/ 2181 w 35749"/>
              <a:gd name="connsiteY19" fmla="*/ 9124 h 10001"/>
              <a:gd name="connsiteX20" fmla="*/ 1932 w 35749"/>
              <a:gd name="connsiteY20" fmla="*/ 9190 h 10001"/>
              <a:gd name="connsiteX21" fmla="*/ 3029 w 35749"/>
              <a:gd name="connsiteY21" fmla="*/ 9256 h 10001"/>
              <a:gd name="connsiteX22" fmla="*/ 4452 w 35749"/>
              <a:gd name="connsiteY22" fmla="*/ 9256 h 10001"/>
              <a:gd name="connsiteX23" fmla="*/ 6048 w 35749"/>
              <a:gd name="connsiteY23" fmla="*/ 9256 h 10001"/>
              <a:gd name="connsiteX24" fmla="*/ 6970 w 35749"/>
              <a:gd name="connsiteY24" fmla="*/ 9375 h 10001"/>
              <a:gd name="connsiteX25" fmla="*/ 4535 w 35749"/>
              <a:gd name="connsiteY25" fmla="*/ 9628 h 10001"/>
              <a:gd name="connsiteX26" fmla="*/ 2272 w 35749"/>
              <a:gd name="connsiteY26" fmla="*/ 9999 h 10001"/>
              <a:gd name="connsiteX27" fmla="*/ 4035 w 35749"/>
              <a:gd name="connsiteY27" fmla="*/ 9999 h 10001"/>
              <a:gd name="connsiteX28" fmla="*/ 6392 w 35749"/>
              <a:gd name="connsiteY28" fmla="*/ 9919 h 10001"/>
              <a:gd name="connsiteX29" fmla="*/ 35745 w 35749"/>
              <a:gd name="connsiteY29" fmla="*/ 9631 h 10001"/>
              <a:gd name="connsiteX30" fmla="*/ 9496 w 35749"/>
              <a:gd name="connsiteY30" fmla="*/ 8036 h 10001"/>
              <a:gd name="connsiteX31" fmla="*/ 10000 w 35749"/>
              <a:gd name="connsiteY31" fmla="*/ 0 h 10001"/>
              <a:gd name="connsiteX0" fmla="*/ 0 w 36443"/>
              <a:gd name="connsiteY0" fmla="*/ 8142 h 10001"/>
              <a:gd name="connsiteX1" fmla="*/ 416 w 36443"/>
              <a:gd name="connsiteY1" fmla="*/ 8182 h 10001"/>
              <a:gd name="connsiteX2" fmla="*/ 839 w 36443"/>
              <a:gd name="connsiteY2" fmla="*/ 8248 h 10001"/>
              <a:gd name="connsiteX3" fmla="*/ 1257 w 36443"/>
              <a:gd name="connsiteY3" fmla="*/ 8301 h 10001"/>
              <a:gd name="connsiteX4" fmla="*/ 1675 w 36443"/>
              <a:gd name="connsiteY4" fmla="*/ 8341 h 10001"/>
              <a:gd name="connsiteX5" fmla="*/ 1932 w 36443"/>
              <a:gd name="connsiteY5" fmla="*/ 8381 h 10001"/>
              <a:gd name="connsiteX6" fmla="*/ 2181 w 36443"/>
              <a:gd name="connsiteY6" fmla="*/ 8407 h 10001"/>
              <a:gd name="connsiteX7" fmla="*/ 2515 w 36443"/>
              <a:gd name="connsiteY7" fmla="*/ 8421 h 10001"/>
              <a:gd name="connsiteX8" fmla="*/ 3029 w 36443"/>
              <a:gd name="connsiteY8" fmla="*/ 8421 h 10001"/>
              <a:gd name="connsiteX9" fmla="*/ 3866 w 36443"/>
              <a:gd name="connsiteY9" fmla="*/ 8566 h 10001"/>
              <a:gd name="connsiteX10" fmla="*/ 5127 w 36443"/>
              <a:gd name="connsiteY10" fmla="*/ 8619 h 10001"/>
              <a:gd name="connsiteX11" fmla="*/ 6471 w 36443"/>
              <a:gd name="connsiteY11" fmla="*/ 8606 h 10001"/>
              <a:gd name="connsiteX12" fmla="*/ 7731 w 36443"/>
              <a:gd name="connsiteY12" fmla="*/ 8672 h 10001"/>
              <a:gd name="connsiteX13" fmla="*/ 7564 w 36443"/>
              <a:gd name="connsiteY13" fmla="*/ 8792 h 10001"/>
              <a:gd name="connsiteX14" fmla="*/ 7564 w 36443"/>
              <a:gd name="connsiteY14" fmla="*/ 8925 h 10001"/>
              <a:gd name="connsiteX15" fmla="*/ 6805 w 36443"/>
              <a:gd name="connsiteY15" fmla="*/ 8951 h 10001"/>
              <a:gd name="connsiteX16" fmla="*/ 5955 w 36443"/>
              <a:gd name="connsiteY16" fmla="*/ 8951 h 10001"/>
              <a:gd name="connsiteX17" fmla="*/ 4113 w 36443"/>
              <a:gd name="connsiteY17" fmla="*/ 8965 h 10001"/>
              <a:gd name="connsiteX18" fmla="*/ 2351 w 36443"/>
              <a:gd name="connsiteY18" fmla="*/ 9031 h 10001"/>
              <a:gd name="connsiteX19" fmla="*/ 2181 w 36443"/>
              <a:gd name="connsiteY19" fmla="*/ 9124 h 10001"/>
              <a:gd name="connsiteX20" fmla="*/ 1932 w 36443"/>
              <a:gd name="connsiteY20" fmla="*/ 9190 h 10001"/>
              <a:gd name="connsiteX21" fmla="*/ 3029 w 36443"/>
              <a:gd name="connsiteY21" fmla="*/ 9256 h 10001"/>
              <a:gd name="connsiteX22" fmla="*/ 4452 w 36443"/>
              <a:gd name="connsiteY22" fmla="*/ 9256 h 10001"/>
              <a:gd name="connsiteX23" fmla="*/ 6048 w 36443"/>
              <a:gd name="connsiteY23" fmla="*/ 9256 h 10001"/>
              <a:gd name="connsiteX24" fmla="*/ 6970 w 36443"/>
              <a:gd name="connsiteY24" fmla="*/ 9375 h 10001"/>
              <a:gd name="connsiteX25" fmla="*/ 4535 w 36443"/>
              <a:gd name="connsiteY25" fmla="*/ 9628 h 10001"/>
              <a:gd name="connsiteX26" fmla="*/ 2272 w 36443"/>
              <a:gd name="connsiteY26" fmla="*/ 9999 h 10001"/>
              <a:gd name="connsiteX27" fmla="*/ 4035 w 36443"/>
              <a:gd name="connsiteY27" fmla="*/ 9999 h 10001"/>
              <a:gd name="connsiteX28" fmla="*/ 6392 w 36443"/>
              <a:gd name="connsiteY28" fmla="*/ 9919 h 10001"/>
              <a:gd name="connsiteX29" fmla="*/ 35745 w 36443"/>
              <a:gd name="connsiteY29" fmla="*/ 9631 h 10001"/>
              <a:gd name="connsiteX30" fmla="*/ 36442 w 36443"/>
              <a:gd name="connsiteY30" fmla="*/ 7376 h 10001"/>
              <a:gd name="connsiteX31" fmla="*/ 10000 w 36443"/>
              <a:gd name="connsiteY31" fmla="*/ 0 h 10001"/>
              <a:gd name="connsiteX0" fmla="*/ 0 w 39501"/>
              <a:gd name="connsiteY0" fmla="*/ 9975 h 11834"/>
              <a:gd name="connsiteX1" fmla="*/ 416 w 39501"/>
              <a:gd name="connsiteY1" fmla="*/ 10015 h 11834"/>
              <a:gd name="connsiteX2" fmla="*/ 839 w 39501"/>
              <a:gd name="connsiteY2" fmla="*/ 10081 h 11834"/>
              <a:gd name="connsiteX3" fmla="*/ 1257 w 39501"/>
              <a:gd name="connsiteY3" fmla="*/ 10134 h 11834"/>
              <a:gd name="connsiteX4" fmla="*/ 1675 w 39501"/>
              <a:gd name="connsiteY4" fmla="*/ 10174 h 11834"/>
              <a:gd name="connsiteX5" fmla="*/ 1932 w 39501"/>
              <a:gd name="connsiteY5" fmla="*/ 10214 h 11834"/>
              <a:gd name="connsiteX6" fmla="*/ 2181 w 39501"/>
              <a:gd name="connsiteY6" fmla="*/ 10240 h 11834"/>
              <a:gd name="connsiteX7" fmla="*/ 2515 w 39501"/>
              <a:gd name="connsiteY7" fmla="*/ 10254 h 11834"/>
              <a:gd name="connsiteX8" fmla="*/ 3029 w 39501"/>
              <a:gd name="connsiteY8" fmla="*/ 10254 h 11834"/>
              <a:gd name="connsiteX9" fmla="*/ 3866 w 39501"/>
              <a:gd name="connsiteY9" fmla="*/ 10399 h 11834"/>
              <a:gd name="connsiteX10" fmla="*/ 5127 w 39501"/>
              <a:gd name="connsiteY10" fmla="*/ 10452 h 11834"/>
              <a:gd name="connsiteX11" fmla="*/ 6471 w 39501"/>
              <a:gd name="connsiteY11" fmla="*/ 10439 h 11834"/>
              <a:gd name="connsiteX12" fmla="*/ 7731 w 39501"/>
              <a:gd name="connsiteY12" fmla="*/ 10505 h 11834"/>
              <a:gd name="connsiteX13" fmla="*/ 7564 w 39501"/>
              <a:gd name="connsiteY13" fmla="*/ 10625 h 11834"/>
              <a:gd name="connsiteX14" fmla="*/ 7564 w 39501"/>
              <a:gd name="connsiteY14" fmla="*/ 10758 h 11834"/>
              <a:gd name="connsiteX15" fmla="*/ 6805 w 39501"/>
              <a:gd name="connsiteY15" fmla="*/ 10784 h 11834"/>
              <a:gd name="connsiteX16" fmla="*/ 5955 w 39501"/>
              <a:gd name="connsiteY16" fmla="*/ 10784 h 11834"/>
              <a:gd name="connsiteX17" fmla="*/ 4113 w 39501"/>
              <a:gd name="connsiteY17" fmla="*/ 10798 h 11834"/>
              <a:gd name="connsiteX18" fmla="*/ 2351 w 39501"/>
              <a:gd name="connsiteY18" fmla="*/ 10864 h 11834"/>
              <a:gd name="connsiteX19" fmla="*/ 2181 w 39501"/>
              <a:gd name="connsiteY19" fmla="*/ 10957 h 11834"/>
              <a:gd name="connsiteX20" fmla="*/ 1932 w 39501"/>
              <a:gd name="connsiteY20" fmla="*/ 11023 h 11834"/>
              <a:gd name="connsiteX21" fmla="*/ 3029 w 39501"/>
              <a:gd name="connsiteY21" fmla="*/ 11089 h 11834"/>
              <a:gd name="connsiteX22" fmla="*/ 4452 w 39501"/>
              <a:gd name="connsiteY22" fmla="*/ 11089 h 11834"/>
              <a:gd name="connsiteX23" fmla="*/ 6048 w 39501"/>
              <a:gd name="connsiteY23" fmla="*/ 11089 h 11834"/>
              <a:gd name="connsiteX24" fmla="*/ 6970 w 39501"/>
              <a:gd name="connsiteY24" fmla="*/ 11208 h 11834"/>
              <a:gd name="connsiteX25" fmla="*/ 4535 w 39501"/>
              <a:gd name="connsiteY25" fmla="*/ 11461 h 11834"/>
              <a:gd name="connsiteX26" fmla="*/ 2272 w 39501"/>
              <a:gd name="connsiteY26" fmla="*/ 11832 h 11834"/>
              <a:gd name="connsiteX27" fmla="*/ 4035 w 39501"/>
              <a:gd name="connsiteY27" fmla="*/ 11832 h 11834"/>
              <a:gd name="connsiteX28" fmla="*/ 6392 w 39501"/>
              <a:gd name="connsiteY28" fmla="*/ 11752 h 11834"/>
              <a:gd name="connsiteX29" fmla="*/ 35745 w 39501"/>
              <a:gd name="connsiteY29" fmla="*/ 11464 h 11834"/>
              <a:gd name="connsiteX30" fmla="*/ 36442 w 39501"/>
              <a:gd name="connsiteY30" fmla="*/ 9209 h 11834"/>
              <a:gd name="connsiteX31" fmla="*/ 39501 w 39501"/>
              <a:gd name="connsiteY31" fmla="*/ 0 h 11834"/>
              <a:gd name="connsiteX0" fmla="*/ 0 w 39774"/>
              <a:gd name="connsiteY0" fmla="*/ 9975 h 11834"/>
              <a:gd name="connsiteX1" fmla="*/ 416 w 39774"/>
              <a:gd name="connsiteY1" fmla="*/ 10015 h 11834"/>
              <a:gd name="connsiteX2" fmla="*/ 839 w 39774"/>
              <a:gd name="connsiteY2" fmla="*/ 10081 h 11834"/>
              <a:gd name="connsiteX3" fmla="*/ 1257 w 39774"/>
              <a:gd name="connsiteY3" fmla="*/ 10134 h 11834"/>
              <a:gd name="connsiteX4" fmla="*/ 1675 w 39774"/>
              <a:gd name="connsiteY4" fmla="*/ 10174 h 11834"/>
              <a:gd name="connsiteX5" fmla="*/ 1932 w 39774"/>
              <a:gd name="connsiteY5" fmla="*/ 10214 h 11834"/>
              <a:gd name="connsiteX6" fmla="*/ 2181 w 39774"/>
              <a:gd name="connsiteY6" fmla="*/ 10240 h 11834"/>
              <a:gd name="connsiteX7" fmla="*/ 2515 w 39774"/>
              <a:gd name="connsiteY7" fmla="*/ 10254 h 11834"/>
              <a:gd name="connsiteX8" fmla="*/ 3029 w 39774"/>
              <a:gd name="connsiteY8" fmla="*/ 10254 h 11834"/>
              <a:gd name="connsiteX9" fmla="*/ 3866 w 39774"/>
              <a:gd name="connsiteY9" fmla="*/ 10399 h 11834"/>
              <a:gd name="connsiteX10" fmla="*/ 5127 w 39774"/>
              <a:gd name="connsiteY10" fmla="*/ 10452 h 11834"/>
              <a:gd name="connsiteX11" fmla="*/ 6471 w 39774"/>
              <a:gd name="connsiteY11" fmla="*/ 10439 h 11834"/>
              <a:gd name="connsiteX12" fmla="*/ 7731 w 39774"/>
              <a:gd name="connsiteY12" fmla="*/ 10505 h 11834"/>
              <a:gd name="connsiteX13" fmla="*/ 7564 w 39774"/>
              <a:gd name="connsiteY13" fmla="*/ 10625 h 11834"/>
              <a:gd name="connsiteX14" fmla="*/ 7564 w 39774"/>
              <a:gd name="connsiteY14" fmla="*/ 10758 h 11834"/>
              <a:gd name="connsiteX15" fmla="*/ 6805 w 39774"/>
              <a:gd name="connsiteY15" fmla="*/ 10784 h 11834"/>
              <a:gd name="connsiteX16" fmla="*/ 5955 w 39774"/>
              <a:gd name="connsiteY16" fmla="*/ 10784 h 11834"/>
              <a:gd name="connsiteX17" fmla="*/ 4113 w 39774"/>
              <a:gd name="connsiteY17" fmla="*/ 10798 h 11834"/>
              <a:gd name="connsiteX18" fmla="*/ 2351 w 39774"/>
              <a:gd name="connsiteY18" fmla="*/ 10864 h 11834"/>
              <a:gd name="connsiteX19" fmla="*/ 2181 w 39774"/>
              <a:gd name="connsiteY19" fmla="*/ 10957 h 11834"/>
              <a:gd name="connsiteX20" fmla="*/ 1932 w 39774"/>
              <a:gd name="connsiteY20" fmla="*/ 11023 h 11834"/>
              <a:gd name="connsiteX21" fmla="*/ 3029 w 39774"/>
              <a:gd name="connsiteY21" fmla="*/ 11089 h 11834"/>
              <a:gd name="connsiteX22" fmla="*/ 4452 w 39774"/>
              <a:gd name="connsiteY22" fmla="*/ 11089 h 11834"/>
              <a:gd name="connsiteX23" fmla="*/ 6048 w 39774"/>
              <a:gd name="connsiteY23" fmla="*/ 11089 h 11834"/>
              <a:gd name="connsiteX24" fmla="*/ 6970 w 39774"/>
              <a:gd name="connsiteY24" fmla="*/ 11208 h 11834"/>
              <a:gd name="connsiteX25" fmla="*/ 4535 w 39774"/>
              <a:gd name="connsiteY25" fmla="*/ 11461 h 11834"/>
              <a:gd name="connsiteX26" fmla="*/ 2272 w 39774"/>
              <a:gd name="connsiteY26" fmla="*/ 11832 h 11834"/>
              <a:gd name="connsiteX27" fmla="*/ 4035 w 39774"/>
              <a:gd name="connsiteY27" fmla="*/ 11832 h 11834"/>
              <a:gd name="connsiteX28" fmla="*/ 6392 w 39774"/>
              <a:gd name="connsiteY28" fmla="*/ 11752 h 11834"/>
              <a:gd name="connsiteX29" fmla="*/ 35745 w 39774"/>
              <a:gd name="connsiteY29" fmla="*/ 11464 h 11834"/>
              <a:gd name="connsiteX30" fmla="*/ 39694 w 39774"/>
              <a:gd name="connsiteY30" fmla="*/ 9209 h 11834"/>
              <a:gd name="connsiteX31" fmla="*/ 39501 w 39774"/>
              <a:gd name="connsiteY31" fmla="*/ 0 h 11834"/>
              <a:gd name="connsiteX0" fmla="*/ 0 w 39774"/>
              <a:gd name="connsiteY0" fmla="*/ 9975 h 11834"/>
              <a:gd name="connsiteX1" fmla="*/ 416 w 39774"/>
              <a:gd name="connsiteY1" fmla="*/ 10015 h 11834"/>
              <a:gd name="connsiteX2" fmla="*/ 839 w 39774"/>
              <a:gd name="connsiteY2" fmla="*/ 10081 h 11834"/>
              <a:gd name="connsiteX3" fmla="*/ 1257 w 39774"/>
              <a:gd name="connsiteY3" fmla="*/ 10134 h 11834"/>
              <a:gd name="connsiteX4" fmla="*/ 1675 w 39774"/>
              <a:gd name="connsiteY4" fmla="*/ 10174 h 11834"/>
              <a:gd name="connsiteX5" fmla="*/ 1932 w 39774"/>
              <a:gd name="connsiteY5" fmla="*/ 10214 h 11834"/>
              <a:gd name="connsiteX6" fmla="*/ 2181 w 39774"/>
              <a:gd name="connsiteY6" fmla="*/ 10240 h 11834"/>
              <a:gd name="connsiteX7" fmla="*/ 2515 w 39774"/>
              <a:gd name="connsiteY7" fmla="*/ 10254 h 11834"/>
              <a:gd name="connsiteX8" fmla="*/ 3029 w 39774"/>
              <a:gd name="connsiteY8" fmla="*/ 10254 h 11834"/>
              <a:gd name="connsiteX9" fmla="*/ 3866 w 39774"/>
              <a:gd name="connsiteY9" fmla="*/ 10399 h 11834"/>
              <a:gd name="connsiteX10" fmla="*/ 5127 w 39774"/>
              <a:gd name="connsiteY10" fmla="*/ 10452 h 11834"/>
              <a:gd name="connsiteX11" fmla="*/ 6471 w 39774"/>
              <a:gd name="connsiteY11" fmla="*/ 10439 h 11834"/>
              <a:gd name="connsiteX12" fmla="*/ 7731 w 39774"/>
              <a:gd name="connsiteY12" fmla="*/ 10505 h 11834"/>
              <a:gd name="connsiteX13" fmla="*/ 7564 w 39774"/>
              <a:gd name="connsiteY13" fmla="*/ 10625 h 11834"/>
              <a:gd name="connsiteX14" fmla="*/ 7564 w 39774"/>
              <a:gd name="connsiteY14" fmla="*/ 10758 h 11834"/>
              <a:gd name="connsiteX15" fmla="*/ 6805 w 39774"/>
              <a:gd name="connsiteY15" fmla="*/ 10784 h 11834"/>
              <a:gd name="connsiteX16" fmla="*/ 5955 w 39774"/>
              <a:gd name="connsiteY16" fmla="*/ 10784 h 11834"/>
              <a:gd name="connsiteX17" fmla="*/ 4113 w 39774"/>
              <a:gd name="connsiteY17" fmla="*/ 10798 h 11834"/>
              <a:gd name="connsiteX18" fmla="*/ 2351 w 39774"/>
              <a:gd name="connsiteY18" fmla="*/ 10864 h 11834"/>
              <a:gd name="connsiteX19" fmla="*/ 2181 w 39774"/>
              <a:gd name="connsiteY19" fmla="*/ 10957 h 11834"/>
              <a:gd name="connsiteX20" fmla="*/ 1932 w 39774"/>
              <a:gd name="connsiteY20" fmla="*/ 11023 h 11834"/>
              <a:gd name="connsiteX21" fmla="*/ 3029 w 39774"/>
              <a:gd name="connsiteY21" fmla="*/ 11089 h 11834"/>
              <a:gd name="connsiteX22" fmla="*/ 4452 w 39774"/>
              <a:gd name="connsiteY22" fmla="*/ 11089 h 11834"/>
              <a:gd name="connsiteX23" fmla="*/ 6048 w 39774"/>
              <a:gd name="connsiteY23" fmla="*/ 11089 h 11834"/>
              <a:gd name="connsiteX24" fmla="*/ 6970 w 39774"/>
              <a:gd name="connsiteY24" fmla="*/ 11208 h 11834"/>
              <a:gd name="connsiteX25" fmla="*/ 4535 w 39774"/>
              <a:gd name="connsiteY25" fmla="*/ 11461 h 11834"/>
              <a:gd name="connsiteX26" fmla="*/ 2272 w 39774"/>
              <a:gd name="connsiteY26" fmla="*/ 11832 h 11834"/>
              <a:gd name="connsiteX27" fmla="*/ 4035 w 39774"/>
              <a:gd name="connsiteY27" fmla="*/ 11832 h 11834"/>
              <a:gd name="connsiteX28" fmla="*/ 6392 w 39774"/>
              <a:gd name="connsiteY28" fmla="*/ 11752 h 11834"/>
              <a:gd name="connsiteX29" fmla="*/ 38765 w 39774"/>
              <a:gd name="connsiteY29" fmla="*/ 11464 h 11834"/>
              <a:gd name="connsiteX30" fmla="*/ 39694 w 39774"/>
              <a:gd name="connsiteY30" fmla="*/ 9209 h 11834"/>
              <a:gd name="connsiteX31" fmla="*/ 39501 w 39774"/>
              <a:gd name="connsiteY31" fmla="*/ 0 h 11834"/>
              <a:gd name="connsiteX0" fmla="*/ 0 w 39774"/>
              <a:gd name="connsiteY0" fmla="*/ 9975 h 11844"/>
              <a:gd name="connsiteX1" fmla="*/ 416 w 39774"/>
              <a:gd name="connsiteY1" fmla="*/ 10015 h 11844"/>
              <a:gd name="connsiteX2" fmla="*/ 839 w 39774"/>
              <a:gd name="connsiteY2" fmla="*/ 10081 h 11844"/>
              <a:gd name="connsiteX3" fmla="*/ 1257 w 39774"/>
              <a:gd name="connsiteY3" fmla="*/ 10134 h 11844"/>
              <a:gd name="connsiteX4" fmla="*/ 1675 w 39774"/>
              <a:gd name="connsiteY4" fmla="*/ 10174 h 11844"/>
              <a:gd name="connsiteX5" fmla="*/ 1932 w 39774"/>
              <a:gd name="connsiteY5" fmla="*/ 10214 h 11844"/>
              <a:gd name="connsiteX6" fmla="*/ 2181 w 39774"/>
              <a:gd name="connsiteY6" fmla="*/ 10240 h 11844"/>
              <a:gd name="connsiteX7" fmla="*/ 2515 w 39774"/>
              <a:gd name="connsiteY7" fmla="*/ 10254 h 11844"/>
              <a:gd name="connsiteX8" fmla="*/ 3029 w 39774"/>
              <a:gd name="connsiteY8" fmla="*/ 10254 h 11844"/>
              <a:gd name="connsiteX9" fmla="*/ 3866 w 39774"/>
              <a:gd name="connsiteY9" fmla="*/ 10399 h 11844"/>
              <a:gd name="connsiteX10" fmla="*/ 5127 w 39774"/>
              <a:gd name="connsiteY10" fmla="*/ 10452 h 11844"/>
              <a:gd name="connsiteX11" fmla="*/ 6471 w 39774"/>
              <a:gd name="connsiteY11" fmla="*/ 10439 h 11844"/>
              <a:gd name="connsiteX12" fmla="*/ 7731 w 39774"/>
              <a:gd name="connsiteY12" fmla="*/ 10505 h 11844"/>
              <a:gd name="connsiteX13" fmla="*/ 7564 w 39774"/>
              <a:gd name="connsiteY13" fmla="*/ 10625 h 11844"/>
              <a:gd name="connsiteX14" fmla="*/ 7564 w 39774"/>
              <a:gd name="connsiteY14" fmla="*/ 10758 h 11844"/>
              <a:gd name="connsiteX15" fmla="*/ 6805 w 39774"/>
              <a:gd name="connsiteY15" fmla="*/ 10784 h 11844"/>
              <a:gd name="connsiteX16" fmla="*/ 5955 w 39774"/>
              <a:gd name="connsiteY16" fmla="*/ 10784 h 11844"/>
              <a:gd name="connsiteX17" fmla="*/ 4113 w 39774"/>
              <a:gd name="connsiteY17" fmla="*/ 10798 h 11844"/>
              <a:gd name="connsiteX18" fmla="*/ 2351 w 39774"/>
              <a:gd name="connsiteY18" fmla="*/ 10864 h 11844"/>
              <a:gd name="connsiteX19" fmla="*/ 2181 w 39774"/>
              <a:gd name="connsiteY19" fmla="*/ 10957 h 11844"/>
              <a:gd name="connsiteX20" fmla="*/ 1932 w 39774"/>
              <a:gd name="connsiteY20" fmla="*/ 11023 h 11844"/>
              <a:gd name="connsiteX21" fmla="*/ 3029 w 39774"/>
              <a:gd name="connsiteY21" fmla="*/ 11089 h 11844"/>
              <a:gd name="connsiteX22" fmla="*/ 4452 w 39774"/>
              <a:gd name="connsiteY22" fmla="*/ 11089 h 11844"/>
              <a:gd name="connsiteX23" fmla="*/ 6048 w 39774"/>
              <a:gd name="connsiteY23" fmla="*/ 11089 h 11844"/>
              <a:gd name="connsiteX24" fmla="*/ 6970 w 39774"/>
              <a:gd name="connsiteY24" fmla="*/ 11208 h 11844"/>
              <a:gd name="connsiteX25" fmla="*/ 4535 w 39774"/>
              <a:gd name="connsiteY25" fmla="*/ 11461 h 11844"/>
              <a:gd name="connsiteX26" fmla="*/ 2272 w 39774"/>
              <a:gd name="connsiteY26" fmla="*/ 11832 h 11844"/>
              <a:gd name="connsiteX27" fmla="*/ 4035 w 39774"/>
              <a:gd name="connsiteY27" fmla="*/ 11832 h 11844"/>
              <a:gd name="connsiteX28" fmla="*/ 6392 w 39774"/>
              <a:gd name="connsiteY28" fmla="*/ 11752 h 11844"/>
              <a:gd name="connsiteX29" fmla="*/ 32493 w 39774"/>
              <a:gd name="connsiteY29" fmla="*/ 11097 h 11844"/>
              <a:gd name="connsiteX30" fmla="*/ 39694 w 39774"/>
              <a:gd name="connsiteY30" fmla="*/ 9209 h 11844"/>
              <a:gd name="connsiteX31" fmla="*/ 39501 w 39774"/>
              <a:gd name="connsiteY31" fmla="*/ 0 h 11844"/>
              <a:gd name="connsiteX0" fmla="*/ 0 w 39501"/>
              <a:gd name="connsiteY0" fmla="*/ 9975 h 11844"/>
              <a:gd name="connsiteX1" fmla="*/ 416 w 39501"/>
              <a:gd name="connsiteY1" fmla="*/ 10015 h 11844"/>
              <a:gd name="connsiteX2" fmla="*/ 839 w 39501"/>
              <a:gd name="connsiteY2" fmla="*/ 10081 h 11844"/>
              <a:gd name="connsiteX3" fmla="*/ 1257 w 39501"/>
              <a:gd name="connsiteY3" fmla="*/ 10134 h 11844"/>
              <a:gd name="connsiteX4" fmla="*/ 1675 w 39501"/>
              <a:gd name="connsiteY4" fmla="*/ 10174 h 11844"/>
              <a:gd name="connsiteX5" fmla="*/ 1932 w 39501"/>
              <a:gd name="connsiteY5" fmla="*/ 10214 h 11844"/>
              <a:gd name="connsiteX6" fmla="*/ 2181 w 39501"/>
              <a:gd name="connsiteY6" fmla="*/ 10240 h 11844"/>
              <a:gd name="connsiteX7" fmla="*/ 2515 w 39501"/>
              <a:gd name="connsiteY7" fmla="*/ 10254 h 11844"/>
              <a:gd name="connsiteX8" fmla="*/ 3029 w 39501"/>
              <a:gd name="connsiteY8" fmla="*/ 10254 h 11844"/>
              <a:gd name="connsiteX9" fmla="*/ 3866 w 39501"/>
              <a:gd name="connsiteY9" fmla="*/ 10399 h 11844"/>
              <a:gd name="connsiteX10" fmla="*/ 5127 w 39501"/>
              <a:gd name="connsiteY10" fmla="*/ 10452 h 11844"/>
              <a:gd name="connsiteX11" fmla="*/ 6471 w 39501"/>
              <a:gd name="connsiteY11" fmla="*/ 10439 h 11844"/>
              <a:gd name="connsiteX12" fmla="*/ 7731 w 39501"/>
              <a:gd name="connsiteY12" fmla="*/ 10505 h 11844"/>
              <a:gd name="connsiteX13" fmla="*/ 7564 w 39501"/>
              <a:gd name="connsiteY13" fmla="*/ 10625 h 11844"/>
              <a:gd name="connsiteX14" fmla="*/ 7564 w 39501"/>
              <a:gd name="connsiteY14" fmla="*/ 10758 h 11844"/>
              <a:gd name="connsiteX15" fmla="*/ 6805 w 39501"/>
              <a:gd name="connsiteY15" fmla="*/ 10784 h 11844"/>
              <a:gd name="connsiteX16" fmla="*/ 5955 w 39501"/>
              <a:gd name="connsiteY16" fmla="*/ 10784 h 11844"/>
              <a:gd name="connsiteX17" fmla="*/ 4113 w 39501"/>
              <a:gd name="connsiteY17" fmla="*/ 10798 h 11844"/>
              <a:gd name="connsiteX18" fmla="*/ 2351 w 39501"/>
              <a:gd name="connsiteY18" fmla="*/ 10864 h 11844"/>
              <a:gd name="connsiteX19" fmla="*/ 2181 w 39501"/>
              <a:gd name="connsiteY19" fmla="*/ 10957 h 11844"/>
              <a:gd name="connsiteX20" fmla="*/ 1932 w 39501"/>
              <a:gd name="connsiteY20" fmla="*/ 11023 h 11844"/>
              <a:gd name="connsiteX21" fmla="*/ 3029 w 39501"/>
              <a:gd name="connsiteY21" fmla="*/ 11089 h 11844"/>
              <a:gd name="connsiteX22" fmla="*/ 4452 w 39501"/>
              <a:gd name="connsiteY22" fmla="*/ 11089 h 11844"/>
              <a:gd name="connsiteX23" fmla="*/ 6048 w 39501"/>
              <a:gd name="connsiteY23" fmla="*/ 11089 h 11844"/>
              <a:gd name="connsiteX24" fmla="*/ 6970 w 39501"/>
              <a:gd name="connsiteY24" fmla="*/ 11208 h 11844"/>
              <a:gd name="connsiteX25" fmla="*/ 4535 w 39501"/>
              <a:gd name="connsiteY25" fmla="*/ 11461 h 11844"/>
              <a:gd name="connsiteX26" fmla="*/ 2272 w 39501"/>
              <a:gd name="connsiteY26" fmla="*/ 11832 h 11844"/>
              <a:gd name="connsiteX27" fmla="*/ 4035 w 39501"/>
              <a:gd name="connsiteY27" fmla="*/ 11832 h 11844"/>
              <a:gd name="connsiteX28" fmla="*/ 6392 w 39501"/>
              <a:gd name="connsiteY28" fmla="*/ 11752 h 11844"/>
              <a:gd name="connsiteX29" fmla="*/ 32493 w 39501"/>
              <a:gd name="connsiteY29" fmla="*/ 11097 h 11844"/>
              <a:gd name="connsiteX30" fmla="*/ 26686 w 39501"/>
              <a:gd name="connsiteY30" fmla="*/ 9099 h 11844"/>
              <a:gd name="connsiteX31" fmla="*/ 39501 w 39501"/>
              <a:gd name="connsiteY31" fmla="*/ 0 h 11844"/>
              <a:gd name="connsiteX0" fmla="*/ 0 w 39501"/>
              <a:gd name="connsiteY0" fmla="*/ 9975 h 11877"/>
              <a:gd name="connsiteX1" fmla="*/ 416 w 39501"/>
              <a:gd name="connsiteY1" fmla="*/ 10015 h 11877"/>
              <a:gd name="connsiteX2" fmla="*/ 839 w 39501"/>
              <a:gd name="connsiteY2" fmla="*/ 10081 h 11877"/>
              <a:gd name="connsiteX3" fmla="*/ 1257 w 39501"/>
              <a:gd name="connsiteY3" fmla="*/ 10134 h 11877"/>
              <a:gd name="connsiteX4" fmla="*/ 1675 w 39501"/>
              <a:gd name="connsiteY4" fmla="*/ 10174 h 11877"/>
              <a:gd name="connsiteX5" fmla="*/ 1932 w 39501"/>
              <a:gd name="connsiteY5" fmla="*/ 10214 h 11877"/>
              <a:gd name="connsiteX6" fmla="*/ 2181 w 39501"/>
              <a:gd name="connsiteY6" fmla="*/ 10240 h 11877"/>
              <a:gd name="connsiteX7" fmla="*/ 2515 w 39501"/>
              <a:gd name="connsiteY7" fmla="*/ 10254 h 11877"/>
              <a:gd name="connsiteX8" fmla="*/ 3029 w 39501"/>
              <a:gd name="connsiteY8" fmla="*/ 10254 h 11877"/>
              <a:gd name="connsiteX9" fmla="*/ 3866 w 39501"/>
              <a:gd name="connsiteY9" fmla="*/ 10399 h 11877"/>
              <a:gd name="connsiteX10" fmla="*/ 5127 w 39501"/>
              <a:gd name="connsiteY10" fmla="*/ 10452 h 11877"/>
              <a:gd name="connsiteX11" fmla="*/ 6471 w 39501"/>
              <a:gd name="connsiteY11" fmla="*/ 10439 h 11877"/>
              <a:gd name="connsiteX12" fmla="*/ 7731 w 39501"/>
              <a:gd name="connsiteY12" fmla="*/ 10505 h 11877"/>
              <a:gd name="connsiteX13" fmla="*/ 7564 w 39501"/>
              <a:gd name="connsiteY13" fmla="*/ 10625 h 11877"/>
              <a:gd name="connsiteX14" fmla="*/ 7564 w 39501"/>
              <a:gd name="connsiteY14" fmla="*/ 10758 h 11877"/>
              <a:gd name="connsiteX15" fmla="*/ 6805 w 39501"/>
              <a:gd name="connsiteY15" fmla="*/ 10784 h 11877"/>
              <a:gd name="connsiteX16" fmla="*/ 5955 w 39501"/>
              <a:gd name="connsiteY16" fmla="*/ 10784 h 11877"/>
              <a:gd name="connsiteX17" fmla="*/ 4113 w 39501"/>
              <a:gd name="connsiteY17" fmla="*/ 10798 h 11877"/>
              <a:gd name="connsiteX18" fmla="*/ 2351 w 39501"/>
              <a:gd name="connsiteY18" fmla="*/ 10864 h 11877"/>
              <a:gd name="connsiteX19" fmla="*/ 2181 w 39501"/>
              <a:gd name="connsiteY19" fmla="*/ 10957 h 11877"/>
              <a:gd name="connsiteX20" fmla="*/ 1932 w 39501"/>
              <a:gd name="connsiteY20" fmla="*/ 11023 h 11877"/>
              <a:gd name="connsiteX21" fmla="*/ 3029 w 39501"/>
              <a:gd name="connsiteY21" fmla="*/ 11089 h 11877"/>
              <a:gd name="connsiteX22" fmla="*/ 4452 w 39501"/>
              <a:gd name="connsiteY22" fmla="*/ 11089 h 11877"/>
              <a:gd name="connsiteX23" fmla="*/ 6048 w 39501"/>
              <a:gd name="connsiteY23" fmla="*/ 11089 h 11877"/>
              <a:gd name="connsiteX24" fmla="*/ 6970 w 39501"/>
              <a:gd name="connsiteY24" fmla="*/ 11208 h 11877"/>
              <a:gd name="connsiteX25" fmla="*/ 4535 w 39501"/>
              <a:gd name="connsiteY25" fmla="*/ 11461 h 11877"/>
              <a:gd name="connsiteX26" fmla="*/ 2272 w 39501"/>
              <a:gd name="connsiteY26" fmla="*/ 11832 h 11877"/>
              <a:gd name="connsiteX27" fmla="*/ 4035 w 39501"/>
              <a:gd name="connsiteY27" fmla="*/ 11832 h 11877"/>
              <a:gd name="connsiteX28" fmla="*/ 6392 w 39501"/>
              <a:gd name="connsiteY28" fmla="*/ 11752 h 11877"/>
              <a:gd name="connsiteX29" fmla="*/ 26686 w 39501"/>
              <a:gd name="connsiteY29" fmla="*/ 10547 h 11877"/>
              <a:gd name="connsiteX30" fmla="*/ 26686 w 39501"/>
              <a:gd name="connsiteY30" fmla="*/ 9099 h 11877"/>
              <a:gd name="connsiteX31" fmla="*/ 39501 w 39501"/>
              <a:gd name="connsiteY31" fmla="*/ 0 h 11877"/>
              <a:gd name="connsiteX0" fmla="*/ 0 w 39501"/>
              <a:gd name="connsiteY0" fmla="*/ 9975 h 11877"/>
              <a:gd name="connsiteX1" fmla="*/ 416 w 39501"/>
              <a:gd name="connsiteY1" fmla="*/ 10015 h 11877"/>
              <a:gd name="connsiteX2" fmla="*/ 839 w 39501"/>
              <a:gd name="connsiteY2" fmla="*/ 10081 h 11877"/>
              <a:gd name="connsiteX3" fmla="*/ 1257 w 39501"/>
              <a:gd name="connsiteY3" fmla="*/ 10134 h 11877"/>
              <a:gd name="connsiteX4" fmla="*/ 1675 w 39501"/>
              <a:gd name="connsiteY4" fmla="*/ 10174 h 11877"/>
              <a:gd name="connsiteX5" fmla="*/ 1932 w 39501"/>
              <a:gd name="connsiteY5" fmla="*/ 10214 h 11877"/>
              <a:gd name="connsiteX6" fmla="*/ 2181 w 39501"/>
              <a:gd name="connsiteY6" fmla="*/ 10240 h 11877"/>
              <a:gd name="connsiteX7" fmla="*/ 2515 w 39501"/>
              <a:gd name="connsiteY7" fmla="*/ 10254 h 11877"/>
              <a:gd name="connsiteX8" fmla="*/ 3029 w 39501"/>
              <a:gd name="connsiteY8" fmla="*/ 10254 h 11877"/>
              <a:gd name="connsiteX9" fmla="*/ 3866 w 39501"/>
              <a:gd name="connsiteY9" fmla="*/ 10399 h 11877"/>
              <a:gd name="connsiteX10" fmla="*/ 5127 w 39501"/>
              <a:gd name="connsiteY10" fmla="*/ 10452 h 11877"/>
              <a:gd name="connsiteX11" fmla="*/ 6471 w 39501"/>
              <a:gd name="connsiteY11" fmla="*/ 10439 h 11877"/>
              <a:gd name="connsiteX12" fmla="*/ 7731 w 39501"/>
              <a:gd name="connsiteY12" fmla="*/ 10505 h 11877"/>
              <a:gd name="connsiteX13" fmla="*/ 7564 w 39501"/>
              <a:gd name="connsiteY13" fmla="*/ 10625 h 11877"/>
              <a:gd name="connsiteX14" fmla="*/ 7564 w 39501"/>
              <a:gd name="connsiteY14" fmla="*/ 10758 h 11877"/>
              <a:gd name="connsiteX15" fmla="*/ 6805 w 39501"/>
              <a:gd name="connsiteY15" fmla="*/ 10784 h 11877"/>
              <a:gd name="connsiteX16" fmla="*/ 5955 w 39501"/>
              <a:gd name="connsiteY16" fmla="*/ 10784 h 11877"/>
              <a:gd name="connsiteX17" fmla="*/ 4113 w 39501"/>
              <a:gd name="connsiteY17" fmla="*/ 10798 h 11877"/>
              <a:gd name="connsiteX18" fmla="*/ 2351 w 39501"/>
              <a:gd name="connsiteY18" fmla="*/ 10864 h 11877"/>
              <a:gd name="connsiteX19" fmla="*/ 2181 w 39501"/>
              <a:gd name="connsiteY19" fmla="*/ 10957 h 11877"/>
              <a:gd name="connsiteX20" fmla="*/ 1932 w 39501"/>
              <a:gd name="connsiteY20" fmla="*/ 11023 h 11877"/>
              <a:gd name="connsiteX21" fmla="*/ 3029 w 39501"/>
              <a:gd name="connsiteY21" fmla="*/ 11089 h 11877"/>
              <a:gd name="connsiteX22" fmla="*/ 4452 w 39501"/>
              <a:gd name="connsiteY22" fmla="*/ 11089 h 11877"/>
              <a:gd name="connsiteX23" fmla="*/ 6048 w 39501"/>
              <a:gd name="connsiteY23" fmla="*/ 11089 h 11877"/>
              <a:gd name="connsiteX24" fmla="*/ 6970 w 39501"/>
              <a:gd name="connsiteY24" fmla="*/ 11208 h 11877"/>
              <a:gd name="connsiteX25" fmla="*/ 4535 w 39501"/>
              <a:gd name="connsiteY25" fmla="*/ 11461 h 11877"/>
              <a:gd name="connsiteX26" fmla="*/ 2272 w 39501"/>
              <a:gd name="connsiteY26" fmla="*/ 11832 h 11877"/>
              <a:gd name="connsiteX27" fmla="*/ 4035 w 39501"/>
              <a:gd name="connsiteY27" fmla="*/ 11832 h 11877"/>
              <a:gd name="connsiteX28" fmla="*/ 6392 w 39501"/>
              <a:gd name="connsiteY28" fmla="*/ 11752 h 11877"/>
              <a:gd name="connsiteX29" fmla="*/ 26686 w 39501"/>
              <a:gd name="connsiteY29" fmla="*/ 10547 h 11877"/>
              <a:gd name="connsiteX30" fmla="*/ 26686 w 39501"/>
              <a:gd name="connsiteY30" fmla="*/ 9099 h 11877"/>
              <a:gd name="connsiteX31" fmla="*/ 28415 w 39501"/>
              <a:gd name="connsiteY31" fmla="*/ 7771 h 11877"/>
              <a:gd name="connsiteX32" fmla="*/ 39501 w 39501"/>
              <a:gd name="connsiteY32" fmla="*/ 0 h 11877"/>
              <a:gd name="connsiteX0" fmla="*/ 0 w 39501"/>
              <a:gd name="connsiteY0" fmla="*/ 9975 h 11877"/>
              <a:gd name="connsiteX1" fmla="*/ 416 w 39501"/>
              <a:gd name="connsiteY1" fmla="*/ 10015 h 11877"/>
              <a:gd name="connsiteX2" fmla="*/ 839 w 39501"/>
              <a:gd name="connsiteY2" fmla="*/ 10081 h 11877"/>
              <a:gd name="connsiteX3" fmla="*/ 1257 w 39501"/>
              <a:gd name="connsiteY3" fmla="*/ 10134 h 11877"/>
              <a:gd name="connsiteX4" fmla="*/ 1675 w 39501"/>
              <a:gd name="connsiteY4" fmla="*/ 10174 h 11877"/>
              <a:gd name="connsiteX5" fmla="*/ 1932 w 39501"/>
              <a:gd name="connsiteY5" fmla="*/ 10214 h 11877"/>
              <a:gd name="connsiteX6" fmla="*/ 2181 w 39501"/>
              <a:gd name="connsiteY6" fmla="*/ 10240 h 11877"/>
              <a:gd name="connsiteX7" fmla="*/ 2515 w 39501"/>
              <a:gd name="connsiteY7" fmla="*/ 10254 h 11877"/>
              <a:gd name="connsiteX8" fmla="*/ 3029 w 39501"/>
              <a:gd name="connsiteY8" fmla="*/ 10254 h 11877"/>
              <a:gd name="connsiteX9" fmla="*/ 3866 w 39501"/>
              <a:gd name="connsiteY9" fmla="*/ 10399 h 11877"/>
              <a:gd name="connsiteX10" fmla="*/ 5127 w 39501"/>
              <a:gd name="connsiteY10" fmla="*/ 10452 h 11877"/>
              <a:gd name="connsiteX11" fmla="*/ 6471 w 39501"/>
              <a:gd name="connsiteY11" fmla="*/ 10439 h 11877"/>
              <a:gd name="connsiteX12" fmla="*/ 7731 w 39501"/>
              <a:gd name="connsiteY12" fmla="*/ 10505 h 11877"/>
              <a:gd name="connsiteX13" fmla="*/ 7564 w 39501"/>
              <a:gd name="connsiteY13" fmla="*/ 10625 h 11877"/>
              <a:gd name="connsiteX14" fmla="*/ 7564 w 39501"/>
              <a:gd name="connsiteY14" fmla="*/ 10758 h 11877"/>
              <a:gd name="connsiteX15" fmla="*/ 6805 w 39501"/>
              <a:gd name="connsiteY15" fmla="*/ 10784 h 11877"/>
              <a:gd name="connsiteX16" fmla="*/ 5955 w 39501"/>
              <a:gd name="connsiteY16" fmla="*/ 10784 h 11877"/>
              <a:gd name="connsiteX17" fmla="*/ 4113 w 39501"/>
              <a:gd name="connsiteY17" fmla="*/ 10798 h 11877"/>
              <a:gd name="connsiteX18" fmla="*/ 2351 w 39501"/>
              <a:gd name="connsiteY18" fmla="*/ 10864 h 11877"/>
              <a:gd name="connsiteX19" fmla="*/ 2181 w 39501"/>
              <a:gd name="connsiteY19" fmla="*/ 10957 h 11877"/>
              <a:gd name="connsiteX20" fmla="*/ 1932 w 39501"/>
              <a:gd name="connsiteY20" fmla="*/ 11023 h 11877"/>
              <a:gd name="connsiteX21" fmla="*/ 3029 w 39501"/>
              <a:gd name="connsiteY21" fmla="*/ 11089 h 11877"/>
              <a:gd name="connsiteX22" fmla="*/ 4452 w 39501"/>
              <a:gd name="connsiteY22" fmla="*/ 11089 h 11877"/>
              <a:gd name="connsiteX23" fmla="*/ 6048 w 39501"/>
              <a:gd name="connsiteY23" fmla="*/ 11089 h 11877"/>
              <a:gd name="connsiteX24" fmla="*/ 6970 w 39501"/>
              <a:gd name="connsiteY24" fmla="*/ 11208 h 11877"/>
              <a:gd name="connsiteX25" fmla="*/ 4535 w 39501"/>
              <a:gd name="connsiteY25" fmla="*/ 11461 h 11877"/>
              <a:gd name="connsiteX26" fmla="*/ 2272 w 39501"/>
              <a:gd name="connsiteY26" fmla="*/ 11832 h 11877"/>
              <a:gd name="connsiteX27" fmla="*/ 4035 w 39501"/>
              <a:gd name="connsiteY27" fmla="*/ 11832 h 11877"/>
              <a:gd name="connsiteX28" fmla="*/ 6392 w 39501"/>
              <a:gd name="connsiteY28" fmla="*/ 11752 h 11877"/>
              <a:gd name="connsiteX29" fmla="*/ 26686 w 39501"/>
              <a:gd name="connsiteY29" fmla="*/ 10547 h 11877"/>
              <a:gd name="connsiteX30" fmla="*/ 26686 w 39501"/>
              <a:gd name="connsiteY30" fmla="*/ 9099 h 11877"/>
              <a:gd name="connsiteX31" fmla="*/ 38868 w 39501"/>
              <a:gd name="connsiteY31" fmla="*/ 7588 h 11877"/>
              <a:gd name="connsiteX32" fmla="*/ 39501 w 39501"/>
              <a:gd name="connsiteY32" fmla="*/ 0 h 11877"/>
              <a:gd name="connsiteX0" fmla="*/ 0 w 39501"/>
              <a:gd name="connsiteY0" fmla="*/ 9975 h 11877"/>
              <a:gd name="connsiteX1" fmla="*/ 416 w 39501"/>
              <a:gd name="connsiteY1" fmla="*/ 10015 h 11877"/>
              <a:gd name="connsiteX2" fmla="*/ 839 w 39501"/>
              <a:gd name="connsiteY2" fmla="*/ 10081 h 11877"/>
              <a:gd name="connsiteX3" fmla="*/ 1257 w 39501"/>
              <a:gd name="connsiteY3" fmla="*/ 10134 h 11877"/>
              <a:gd name="connsiteX4" fmla="*/ 1675 w 39501"/>
              <a:gd name="connsiteY4" fmla="*/ 10174 h 11877"/>
              <a:gd name="connsiteX5" fmla="*/ 1932 w 39501"/>
              <a:gd name="connsiteY5" fmla="*/ 10214 h 11877"/>
              <a:gd name="connsiteX6" fmla="*/ 2181 w 39501"/>
              <a:gd name="connsiteY6" fmla="*/ 10240 h 11877"/>
              <a:gd name="connsiteX7" fmla="*/ 2515 w 39501"/>
              <a:gd name="connsiteY7" fmla="*/ 10254 h 11877"/>
              <a:gd name="connsiteX8" fmla="*/ 3029 w 39501"/>
              <a:gd name="connsiteY8" fmla="*/ 10254 h 11877"/>
              <a:gd name="connsiteX9" fmla="*/ 3866 w 39501"/>
              <a:gd name="connsiteY9" fmla="*/ 10399 h 11877"/>
              <a:gd name="connsiteX10" fmla="*/ 5127 w 39501"/>
              <a:gd name="connsiteY10" fmla="*/ 10452 h 11877"/>
              <a:gd name="connsiteX11" fmla="*/ 6471 w 39501"/>
              <a:gd name="connsiteY11" fmla="*/ 10439 h 11877"/>
              <a:gd name="connsiteX12" fmla="*/ 7731 w 39501"/>
              <a:gd name="connsiteY12" fmla="*/ 10505 h 11877"/>
              <a:gd name="connsiteX13" fmla="*/ 7564 w 39501"/>
              <a:gd name="connsiteY13" fmla="*/ 10625 h 11877"/>
              <a:gd name="connsiteX14" fmla="*/ 7564 w 39501"/>
              <a:gd name="connsiteY14" fmla="*/ 10758 h 11877"/>
              <a:gd name="connsiteX15" fmla="*/ 6805 w 39501"/>
              <a:gd name="connsiteY15" fmla="*/ 10784 h 11877"/>
              <a:gd name="connsiteX16" fmla="*/ 5955 w 39501"/>
              <a:gd name="connsiteY16" fmla="*/ 10784 h 11877"/>
              <a:gd name="connsiteX17" fmla="*/ 4113 w 39501"/>
              <a:gd name="connsiteY17" fmla="*/ 10798 h 11877"/>
              <a:gd name="connsiteX18" fmla="*/ 2351 w 39501"/>
              <a:gd name="connsiteY18" fmla="*/ 10864 h 11877"/>
              <a:gd name="connsiteX19" fmla="*/ 2181 w 39501"/>
              <a:gd name="connsiteY19" fmla="*/ 10957 h 11877"/>
              <a:gd name="connsiteX20" fmla="*/ 1932 w 39501"/>
              <a:gd name="connsiteY20" fmla="*/ 11023 h 11877"/>
              <a:gd name="connsiteX21" fmla="*/ 3029 w 39501"/>
              <a:gd name="connsiteY21" fmla="*/ 11089 h 11877"/>
              <a:gd name="connsiteX22" fmla="*/ 4452 w 39501"/>
              <a:gd name="connsiteY22" fmla="*/ 11089 h 11877"/>
              <a:gd name="connsiteX23" fmla="*/ 6048 w 39501"/>
              <a:gd name="connsiteY23" fmla="*/ 11089 h 11877"/>
              <a:gd name="connsiteX24" fmla="*/ 6970 w 39501"/>
              <a:gd name="connsiteY24" fmla="*/ 11208 h 11877"/>
              <a:gd name="connsiteX25" fmla="*/ 4535 w 39501"/>
              <a:gd name="connsiteY25" fmla="*/ 11461 h 11877"/>
              <a:gd name="connsiteX26" fmla="*/ 2272 w 39501"/>
              <a:gd name="connsiteY26" fmla="*/ 11832 h 11877"/>
              <a:gd name="connsiteX27" fmla="*/ 4035 w 39501"/>
              <a:gd name="connsiteY27" fmla="*/ 11832 h 11877"/>
              <a:gd name="connsiteX28" fmla="*/ 6392 w 39501"/>
              <a:gd name="connsiteY28" fmla="*/ 11752 h 11877"/>
              <a:gd name="connsiteX29" fmla="*/ 26686 w 39501"/>
              <a:gd name="connsiteY29" fmla="*/ 10547 h 11877"/>
              <a:gd name="connsiteX30" fmla="*/ 26686 w 39501"/>
              <a:gd name="connsiteY30" fmla="*/ 8806 h 11877"/>
              <a:gd name="connsiteX31" fmla="*/ 38868 w 39501"/>
              <a:gd name="connsiteY31" fmla="*/ 7588 h 11877"/>
              <a:gd name="connsiteX32" fmla="*/ 39501 w 39501"/>
              <a:gd name="connsiteY32" fmla="*/ 0 h 1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9501" h="11877">
                <a:moveTo>
                  <a:pt x="0" y="9975"/>
                </a:moveTo>
                <a:cubicBezTo>
                  <a:pt x="163" y="9989"/>
                  <a:pt x="248" y="10002"/>
                  <a:pt x="416" y="10015"/>
                </a:cubicBezTo>
                <a:cubicBezTo>
                  <a:pt x="586" y="10042"/>
                  <a:pt x="759" y="10055"/>
                  <a:pt x="839" y="10081"/>
                </a:cubicBezTo>
                <a:cubicBezTo>
                  <a:pt x="1011" y="10095"/>
                  <a:pt x="1176" y="10108"/>
                  <a:pt x="1257" y="10134"/>
                </a:cubicBezTo>
                <a:cubicBezTo>
                  <a:pt x="1431" y="10148"/>
                  <a:pt x="1598" y="10161"/>
                  <a:pt x="1675" y="10174"/>
                </a:cubicBezTo>
                <a:cubicBezTo>
                  <a:pt x="1772" y="10187"/>
                  <a:pt x="1847" y="10201"/>
                  <a:pt x="1932" y="10214"/>
                </a:cubicBezTo>
                <a:cubicBezTo>
                  <a:pt x="2018" y="10227"/>
                  <a:pt x="2106" y="10227"/>
                  <a:pt x="2181" y="10240"/>
                </a:cubicBezTo>
                <a:cubicBezTo>
                  <a:pt x="2272" y="10240"/>
                  <a:pt x="2351" y="10240"/>
                  <a:pt x="2515" y="10254"/>
                </a:cubicBezTo>
                <a:lnTo>
                  <a:pt x="3029" y="10254"/>
                </a:lnTo>
                <a:cubicBezTo>
                  <a:pt x="3195" y="10333"/>
                  <a:pt x="3534" y="10373"/>
                  <a:pt x="3866" y="10399"/>
                </a:cubicBezTo>
                <a:cubicBezTo>
                  <a:pt x="4208" y="10439"/>
                  <a:pt x="4616" y="10439"/>
                  <a:pt x="5127" y="10452"/>
                </a:cubicBezTo>
                <a:lnTo>
                  <a:pt x="6471" y="10439"/>
                </a:lnTo>
                <a:cubicBezTo>
                  <a:pt x="7064" y="10439"/>
                  <a:pt x="7564" y="10452"/>
                  <a:pt x="7731" y="10505"/>
                </a:cubicBezTo>
                <a:cubicBezTo>
                  <a:pt x="7816" y="10545"/>
                  <a:pt x="7648" y="10586"/>
                  <a:pt x="7564" y="10625"/>
                </a:cubicBezTo>
                <a:cubicBezTo>
                  <a:pt x="7400" y="10665"/>
                  <a:pt x="7316" y="10705"/>
                  <a:pt x="7564" y="10758"/>
                </a:cubicBezTo>
                <a:cubicBezTo>
                  <a:pt x="7400" y="10784"/>
                  <a:pt x="7064" y="10784"/>
                  <a:pt x="6805" y="10784"/>
                </a:cubicBezTo>
                <a:lnTo>
                  <a:pt x="5955" y="10784"/>
                </a:lnTo>
                <a:lnTo>
                  <a:pt x="4113" y="10798"/>
                </a:lnTo>
                <a:cubicBezTo>
                  <a:pt x="3360" y="10811"/>
                  <a:pt x="2689" y="10824"/>
                  <a:pt x="2351" y="10864"/>
                </a:cubicBezTo>
                <a:cubicBezTo>
                  <a:pt x="2018" y="10904"/>
                  <a:pt x="2106" y="10930"/>
                  <a:pt x="2181" y="10957"/>
                </a:cubicBezTo>
                <a:cubicBezTo>
                  <a:pt x="2181" y="10983"/>
                  <a:pt x="2272" y="10996"/>
                  <a:pt x="1932" y="11023"/>
                </a:cubicBezTo>
                <a:cubicBezTo>
                  <a:pt x="2272" y="11063"/>
                  <a:pt x="2610" y="11076"/>
                  <a:pt x="3029" y="11089"/>
                </a:cubicBezTo>
                <a:lnTo>
                  <a:pt x="4452" y="11089"/>
                </a:lnTo>
                <a:cubicBezTo>
                  <a:pt x="4787" y="11089"/>
                  <a:pt x="5468" y="11076"/>
                  <a:pt x="6048" y="11089"/>
                </a:cubicBezTo>
                <a:cubicBezTo>
                  <a:pt x="6638" y="11089"/>
                  <a:pt x="7064" y="11116"/>
                  <a:pt x="6970" y="11208"/>
                </a:cubicBezTo>
                <a:cubicBezTo>
                  <a:pt x="6805" y="11327"/>
                  <a:pt x="5710" y="11434"/>
                  <a:pt x="4535" y="11461"/>
                </a:cubicBezTo>
                <a:cubicBezTo>
                  <a:pt x="3278" y="11487"/>
                  <a:pt x="2351" y="11620"/>
                  <a:pt x="2272" y="11832"/>
                </a:cubicBezTo>
                <a:lnTo>
                  <a:pt x="4035" y="11832"/>
                </a:lnTo>
                <a:cubicBezTo>
                  <a:pt x="4876" y="11845"/>
                  <a:pt x="2617" y="11966"/>
                  <a:pt x="6392" y="11752"/>
                </a:cubicBezTo>
                <a:lnTo>
                  <a:pt x="26686" y="10547"/>
                </a:lnTo>
                <a:cubicBezTo>
                  <a:pt x="27109" y="10295"/>
                  <a:pt x="26516" y="9071"/>
                  <a:pt x="26686" y="8806"/>
                </a:cubicBezTo>
                <a:cubicBezTo>
                  <a:pt x="26974" y="8343"/>
                  <a:pt x="36732" y="9105"/>
                  <a:pt x="38868" y="7588"/>
                </a:cubicBezTo>
                <a:lnTo>
                  <a:pt x="39501" y="0"/>
                </a:lnTo>
              </a:path>
            </a:pathLst>
          </a:custGeom>
          <a:noFill/>
          <a:ln w="14288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" name="Rectangle 235"/>
          <p:cNvSpPr/>
          <p:nvPr/>
        </p:nvSpPr>
        <p:spPr>
          <a:xfrm>
            <a:off x="397038" y="1803687"/>
            <a:ext cx="296886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lvl="0" indent="-268288" eaLnBrk="0" hangingPunct="0"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</a:pPr>
            <a:r>
              <a:rPr lang="en-GB" kern="0" dirty="0">
                <a:solidFill>
                  <a:srgbClr val="000000"/>
                </a:solidFill>
                <a:latin typeface="Frutiger LT Com 55 Roman"/>
              </a:rPr>
              <a:t>Programming FPGA by loading the bits into the configuration memory as one big shift register- </a:t>
            </a:r>
            <a:r>
              <a:rPr lang="en-GB" b="1" kern="0" dirty="0">
                <a:solidFill>
                  <a:srgbClr val="000000"/>
                </a:solidFill>
                <a:latin typeface="Frutiger LT Com 55 Roman"/>
              </a:rPr>
              <a:t>scan chain</a:t>
            </a:r>
          </a:p>
        </p:txBody>
      </p:sp>
      <p:sp>
        <p:nvSpPr>
          <p:cNvPr id="241" name="Rectangle 958"/>
          <p:cNvSpPr>
            <a:spLocks noChangeArrowheads="1"/>
          </p:cNvSpPr>
          <p:nvPr/>
        </p:nvSpPr>
        <p:spPr bwMode="auto">
          <a:xfrm>
            <a:off x="400468" y="3932632"/>
            <a:ext cx="1628397" cy="27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Bit file contents:</a:t>
            </a:r>
            <a:endParaRPr lang="en-US" altLang="en-US" sz="1800" dirty="0"/>
          </a:p>
        </p:txBody>
      </p:sp>
      <p:sp>
        <p:nvSpPr>
          <p:cNvPr id="243" name="Rectangle 960"/>
          <p:cNvSpPr>
            <a:spLocks noChangeArrowheads="1"/>
          </p:cNvSpPr>
          <p:nvPr/>
        </p:nvSpPr>
        <p:spPr bwMode="auto">
          <a:xfrm>
            <a:off x="248428" y="4216824"/>
            <a:ext cx="3424465" cy="27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800" dirty="0">
                <a:solidFill>
                  <a:srgbClr val="000000"/>
                </a:solidFill>
                <a:latin typeface="Helvetica" pitchFamily="34" charset="0"/>
              </a:rPr>
              <a:t>   </a:t>
            </a:r>
            <a:r>
              <a:rPr lang="en-US" altLang="en-US" sz="1800" dirty="0">
                <a:solidFill>
                  <a:srgbClr val="FF0000"/>
                </a:solidFill>
                <a:latin typeface="Helvetica" pitchFamily="34" charset="0"/>
              </a:rPr>
              <a:t>00000010 0 01 10 11 0111111 1</a:t>
            </a:r>
            <a:endParaRPr lang="en-US" altLang="en-US" sz="1800" dirty="0">
              <a:solidFill>
                <a:srgbClr val="FF0000"/>
              </a:solidFill>
            </a:endParaRPr>
          </a:p>
        </p:txBody>
      </p:sp>
      <p:sp>
        <p:nvSpPr>
          <p:cNvPr id="237" name="Rectangle 419"/>
          <p:cNvSpPr>
            <a:spLocks noChangeArrowheads="1"/>
          </p:cNvSpPr>
          <p:nvPr/>
        </p:nvSpPr>
        <p:spPr bwMode="auto">
          <a:xfrm flipH="1">
            <a:off x="4876598" y="2058309"/>
            <a:ext cx="4571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  <a:latin typeface="Helvetica" pitchFamily="34" charset="0"/>
              </a:rPr>
              <a:t>0</a:t>
            </a:r>
            <a:endParaRPr lang="en-US" altLang="en-US" sz="16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872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503"/>
    </mc:Choice>
    <mc:Fallback xmlns="">
      <p:transition spd="slow" advTm="275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animBg="1"/>
      <p:bldP spid="233" grpId="0" animBg="1"/>
      <p:bldP spid="23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598" y="3137933"/>
            <a:ext cx="3024000" cy="22709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Programming an FPGA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75" y="1753200"/>
            <a:ext cx="8223250" cy="3959225"/>
          </a:xfrm>
        </p:spPr>
        <p:txBody>
          <a:bodyPr/>
          <a:lstStyle/>
          <a:p>
            <a:r>
              <a:rPr lang="en-GB" dirty="0"/>
              <a:t>Loading a compiled file into the FPGA memory (SRAM or EPROM)</a:t>
            </a:r>
          </a:p>
          <a:p>
            <a:endParaRPr lang="en-US" b="1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27</a:t>
            </a:fld>
            <a:endParaRPr lang="de-DE" dirty="0"/>
          </a:p>
        </p:txBody>
      </p:sp>
      <p:pic>
        <p:nvPicPr>
          <p:cNvPr id="1028" name="Picture 4" descr="F:\ENGR116_Digital Domain\A Montazeri_ENGR116\Fig13.jp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579" b="98854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618" y="2667505"/>
            <a:ext cx="3204000" cy="283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11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723"/>
    </mc:Choice>
    <mc:Fallback xmlns="">
      <p:transition spd="slow" advTm="24723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Getting familiar with different architectures of FPGAs</a:t>
            </a:r>
          </a:p>
          <a:p>
            <a:r>
              <a:rPr lang="en-GB" sz="2400" dirty="0"/>
              <a:t>Understanding Logic Elements and how to program them</a:t>
            </a:r>
          </a:p>
          <a:p>
            <a:r>
              <a:rPr lang="en-GB" sz="2400" dirty="0"/>
              <a:t>Understanding Switching matrices and how to program them</a:t>
            </a:r>
          </a:p>
          <a:p>
            <a:r>
              <a:rPr lang="en-GB" sz="2400" dirty="0"/>
              <a:t>Mapping and partitioning of logic circuits to FPGA boards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536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328"/>
    </mc:Choice>
    <mc:Fallback xmlns="">
      <p:transition spd="slow" advTm="41328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Mapping to 3x2 LUTs 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800" y="1720800"/>
            <a:ext cx="86487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Mapping a 2x4 decoder to 3-input 2-output LUTs</a:t>
            </a:r>
          </a:p>
        </p:txBody>
      </p:sp>
      <p:sp>
        <p:nvSpPr>
          <p:cNvPr id="23557" name="Freeform 140"/>
          <p:cNvSpPr>
            <a:spLocks/>
          </p:cNvSpPr>
          <p:nvPr/>
        </p:nvSpPr>
        <p:spPr bwMode="auto">
          <a:xfrm>
            <a:off x="7413625" y="5695113"/>
            <a:ext cx="92075" cy="185738"/>
          </a:xfrm>
          <a:custGeom>
            <a:avLst/>
            <a:gdLst>
              <a:gd name="T0" fmla="*/ 46038 w 58"/>
              <a:gd name="T1" fmla="*/ 185738 h 117"/>
              <a:gd name="T2" fmla="*/ 92075 w 58"/>
              <a:gd name="T3" fmla="*/ 0 h 117"/>
              <a:gd name="T4" fmla="*/ 0 w 58"/>
              <a:gd name="T5" fmla="*/ 0 h 117"/>
              <a:gd name="T6" fmla="*/ 46038 w 58"/>
              <a:gd name="T7" fmla="*/ 185738 h 117"/>
              <a:gd name="T8" fmla="*/ 0 60000 65536"/>
              <a:gd name="T9" fmla="*/ 0 60000 65536"/>
              <a:gd name="T10" fmla="*/ 0 60000 65536"/>
              <a:gd name="T11" fmla="*/ 0 60000 65536"/>
              <a:gd name="T12" fmla="*/ 0 w 58"/>
              <a:gd name="T13" fmla="*/ 0 h 117"/>
              <a:gd name="T14" fmla="*/ 58 w 58"/>
              <a:gd name="T15" fmla="*/ 117 h 1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" h="117">
                <a:moveTo>
                  <a:pt x="29" y="117"/>
                </a:moveTo>
                <a:lnTo>
                  <a:pt x="58" y="0"/>
                </a:lnTo>
                <a:lnTo>
                  <a:pt x="0" y="0"/>
                </a:lnTo>
                <a:lnTo>
                  <a:pt x="29" y="1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8" name="Line 141"/>
          <p:cNvSpPr>
            <a:spLocks noChangeShapeType="1"/>
          </p:cNvSpPr>
          <p:nvPr/>
        </p:nvSpPr>
        <p:spPr bwMode="auto">
          <a:xfrm>
            <a:off x="7459663" y="5496676"/>
            <a:ext cx="1587" cy="301625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9" name="Freeform 142"/>
          <p:cNvSpPr>
            <a:spLocks/>
          </p:cNvSpPr>
          <p:nvPr/>
        </p:nvSpPr>
        <p:spPr bwMode="auto">
          <a:xfrm>
            <a:off x="7123113" y="5695113"/>
            <a:ext cx="92075" cy="185738"/>
          </a:xfrm>
          <a:custGeom>
            <a:avLst/>
            <a:gdLst>
              <a:gd name="T0" fmla="*/ 46038 w 58"/>
              <a:gd name="T1" fmla="*/ 185738 h 117"/>
              <a:gd name="T2" fmla="*/ 92075 w 58"/>
              <a:gd name="T3" fmla="*/ 0 h 117"/>
              <a:gd name="T4" fmla="*/ 0 w 58"/>
              <a:gd name="T5" fmla="*/ 0 h 117"/>
              <a:gd name="T6" fmla="*/ 46038 w 58"/>
              <a:gd name="T7" fmla="*/ 185738 h 117"/>
              <a:gd name="T8" fmla="*/ 0 60000 65536"/>
              <a:gd name="T9" fmla="*/ 0 60000 65536"/>
              <a:gd name="T10" fmla="*/ 0 60000 65536"/>
              <a:gd name="T11" fmla="*/ 0 60000 65536"/>
              <a:gd name="T12" fmla="*/ 0 w 58"/>
              <a:gd name="T13" fmla="*/ 0 h 117"/>
              <a:gd name="T14" fmla="*/ 58 w 58"/>
              <a:gd name="T15" fmla="*/ 117 h 1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8" h="117">
                <a:moveTo>
                  <a:pt x="29" y="117"/>
                </a:moveTo>
                <a:lnTo>
                  <a:pt x="58" y="0"/>
                </a:lnTo>
                <a:lnTo>
                  <a:pt x="0" y="0"/>
                </a:lnTo>
                <a:lnTo>
                  <a:pt x="29" y="1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0" name="Line 143"/>
          <p:cNvSpPr>
            <a:spLocks noChangeShapeType="1"/>
          </p:cNvSpPr>
          <p:nvPr/>
        </p:nvSpPr>
        <p:spPr bwMode="auto">
          <a:xfrm>
            <a:off x="7169150" y="5496676"/>
            <a:ext cx="1588" cy="301625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1" name="Freeform 144"/>
          <p:cNvSpPr>
            <a:spLocks/>
          </p:cNvSpPr>
          <p:nvPr/>
        </p:nvSpPr>
        <p:spPr bwMode="auto">
          <a:xfrm>
            <a:off x="5491163" y="5695113"/>
            <a:ext cx="93662" cy="185738"/>
          </a:xfrm>
          <a:custGeom>
            <a:avLst/>
            <a:gdLst>
              <a:gd name="T0" fmla="*/ 46037 w 59"/>
              <a:gd name="T1" fmla="*/ 185738 h 117"/>
              <a:gd name="T2" fmla="*/ 93662 w 59"/>
              <a:gd name="T3" fmla="*/ 0 h 117"/>
              <a:gd name="T4" fmla="*/ 0 w 59"/>
              <a:gd name="T5" fmla="*/ 0 h 117"/>
              <a:gd name="T6" fmla="*/ 46037 w 59"/>
              <a:gd name="T7" fmla="*/ 185738 h 117"/>
              <a:gd name="T8" fmla="*/ 0 60000 65536"/>
              <a:gd name="T9" fmla="*/ 0 60000 65536"/>
              <a:gd name="T10" fmla="*/ 0 60000 65536"/>
              <a:gd name="T11" fmla="*/ 0 60000 65536"/>
              <a:gd name="T12" fmla="*/ 0 w 59"/>
              <a:gd name="T13" fmla="*/ 0 h 117"/>
              <a:gd name="T14" fmla="*/ 59 w 59"/>
              <a:gd name="T15" fmla="*/ 117 h 1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9" h="117">
                <a:moveTo>
                  <a:pt x="29" y="117"/>
                </a:moveTo>
                <a:lnTo>
                  <a:pt x="59" y="0"/>
                </a:lnTo>
                <a:lnTo>
                  <a:pt x="0" y="0"/>
                </a:lnTo>
                <a:lnTo>
                  <a:pt x="29" y="1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2" name="Line 145"/>
          <p:cNvSpPr>
            <a:spLocks noChangeShapeType="1"/>
          </p:cNvSpPr>
          <p:nvPr/>
        </p:nvSpPr>
        <p:spPr bwMode="auto">
          <a:xfrm>
            <a:off x="5537200" y="5496676"/>
            <a:ext cx="1588" cy="301625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3" name="Freeform 146"/>
          <p:cNvSpPr>
            <a:spLocks/>
          </p:cNvSpPr>
          <p:nvPr/>
        </p:nvSpPr>
        <p:spPr bwMode="auto">
          <a:xfrm>
            <a:off x="5200650" y="5695113"/>
            <a:ext cx="93663" cy="185738"/>
          </a:xfrm>
          <a:custGeom>
            <a:avLst/>
            <a:gdLst>
              <a:gd name="T0" fmla="*/ 47625 w 59"/>
              <a:gd name="T1" fmla="*/ 185738 h 117"/>
              <a:gd name="T2" fmla="*/ 93663 w 59"/>
              <a:gd name="T3" fmla="*/ 0 h 117"/>
              <a:gd name="T4" fmla="*/ 0 w 59"/>
              <a:gd name="T5" fmla="*/ 0 h 117"/>
              <a:gd name="T6" fmla="*/ 47625 w 59"/>
              <a:gd name="T7" fmla="*/ 185738 h 117"/>
              <a:gd name="T8" fmla="*/ 0 60000 65536"/>
              <a:gd name="T9" fmla="*/ 0 60000 65536"/>
              <a:gd name="T10" fmla="*/ 0 60000 65536"/>
              <a:gd name="T11" fmla="*/ 0 60000 65536"/>
              <a:gd name="T12" fmla="*/ 0 w 59"/>
              <a:gd name="T13" fmla="*/ 0 h 117"/>
              <a:gd name="T14" fmla="*/ 59 w 59"/>
              <a:gd name="T15" fmla="*/ 117 h 1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9" h="117">
                <a:moveTo>
                  <a:pt x="30" y="117"/>
                </a:moveTo>
                <a:lnTo>
                  <a:pt x="59" y="0"/>
                </a:lnTo>
                <a:lnTo>
                  <a:pt x="0" y="0"/>
                </a:lnTo>
                <a:lnTo>
                  <a:pt x="30" y="11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4" name="Line 147"/>
          <p:cNvSpPr>
            <a:spLocks noChangeShapeType="1"/>
          </p:cNvSpPr>
          <p:nvPr/>
        </p:nvSpPr>
        <p:spPr bwMode="auto">
          <a:xfrm>
            <a:off x="5248275" y="5496676"/>
            <a:ext cx="1588" cy="301625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5" name="Rectangle 148"/>
          <p:cNvSpPr>
            <a:spLocks noChangeArrowheads="1"/>
          </p:cNvSpPr>
          <p:nvPr/>
        </p:nvSpPr>
        <p:spPr bwMode="auto">
          <a:xfrm>
            <a:off x="4706938" y="2843963"/>
            <a:ext cx="1312862" cy="2647950"/>
          </a:xfrm>
          <a:prstGeom prst="rect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6" name="Rectangle 149"/>
          <p:cNvSpPr>
            <a:spLocks noChangeArrowheads="1"/>
          </p:cNvSpPr>
          <p:nvPr/>
        </p:nvSpPr>
        <p:spPr bwMode="auto">
          <a:xfrm>
            <a:off x="6646863" y="2843963"/>
            <a:ext cx="1306512" cy="2647950"/>
          </a:xfrm>
          <a:prstGeom prst="rect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7" name="Rectangle 156"/>
          <p:cNvSpPr>
            <a:spLocks noChangeArrowheads="1"/>
          </p:cNvSpPr>
          <p:nvPr/>
        </p:nvSpPr>
        <p:spPr bwMode="auto">
          <a:xfrm>
            <a:off x="5183188" y="3121776"/>
            <a:ext cx="679450" cy="2079625"/>
          </a:xfrm>
          <a:prstGeom prst="rect">
            <a:avLst/>
          </a:prstGeom>
          <a:solidFill>
            <a:srgbClr val="D4E0F3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8" name="Line 157"/>
          <p:cNvSpPr>
            <a:spLocks noChangeShapeType="1"/>
          </p:cNvSpPr>
          <p:nvPr/>
        </p:nvSpPr>
        <p:spPr bwMode="auto">
          <a:xfrm>
            <a:off x="5178425" y="3383713"/>
            <a:ext cx="684213" cy="1588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9" name="Line 158"/>
          <p:cNvSpPr>
            <a:spLocks noChangeShapeType="1"/>
          </p:cNvSpPr>
          <p:nvPr/>
        </p:nvSpPr>
        <p:spPr bwMode="auto">
          <a:xfrm>
            <a:off x="5178425" y="3645651"/>
            <a:ext cx="684213" cy="1587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0" name="Line 159"/>
          <p:cNvSpPr>
            <a:spLocks noChangeShapeType="1"/>
          </p:cNvSpPr>
          <p:nvPr/>
        </p:nvSpPr>
        <p:spPr bwMode="auto">
          <a:xfrm>
            <a:off x="5178425" y="3899651"/>
            <a:ext cx="684213" cy="1587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1" name="Line 160"/>
          <p:cNvSpPr>
            <a:spLocks noChangeShapeType="1"/>
          </p:cNvSpPr>
          <p:nvPr/>
        </p:nvSpPr>
        <p:spPr bwMode="auto">
          <a:xfrm>
            <a:off x="5178425" y="4161588"/>
            <a:ext cx="684213" cy="1588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2" name="Line 161"/>
          <p:cNvSpPr>
            <a:spLocks noChangeShapeType="1"/>
          </p:cNvSpPr>
          <p:nvPr/>
        </p:nvSpPr>
        <p:spPr bwMode="auto">
          <a:xfrm>
            <a:off x="5178425" y="4423526"/>
            <a:ext cx="684213" cy="1587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3" name="Line 162"/>
          <p:cNvSpPr>
            <a:spLocks noChangeShapeType="1"/>
          </p:cNvSpPr>
          <p:nvPr/>
        </p:nvSpPr>
        <p:spPr bwMode="auto">
          <a:xfrm>
            <a:off x="5178425" y="4679113"/>
            <a:ext cx="684213" cy="1588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4" name="Line 163"/>
          <p:cNvSpPr>
            <a:spLocks noChangeShapeType="1"/>
          </p:cNvSpPr>
          <p:nvPr/>
        </p:nvSpPr>
        <p:spPr bwMode="auto">
          <a:xfrm>
            <a:off x="5178425" y="4939463"/>
            <a:ext cx="684213" cy="1588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5" name="Rectangle 164"/>
          <p:cNvSpPr>
            <a:spLocks noChangeArrowheads="1"/>
          </p:cNvSpPr>
          <p:nvPr/>
        </p:nvSpPr>
        <p:spPr bwMode="auto">
          <a:xfrm>
            <a:off x="4954588" y="2872538"/>
            <a:ext cx="2016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8x</a:t>
            </a:r>
            <a:endParaRPr lang="en-US" altLang="en-US"/>
          </a:p>
        </p:txBody>
      </p:sp>
      <p:sp>
        <p:nvSpPr>
          <p:cNvPr id="23576" name="Rectangle 166"/>
          <p:cNvSpPr>
            <a:spLocks noChangeArrowheads="1"/>
          </p:cNvSpPr>
          <p:nvPr/>
        </p:nvSpPr>
        <p:spPr bwMode="auto">
          <a:xfrm>
            <a:off x="5160963" y="2872538"/>
            <a:ext cx="1905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2</a:t>
            </a:r>
            <a:endParaRPr lang="en-US" altLang="en-US"/>
          </a:p>
        </p:txBody>
      </p:sp>
      <p:sp>
        <p:nvSpPr>
          <p:cNvPr id="23577" name="Rectangle 167"/>
          <p:cNvSpPr>
            <a:spLocks noChangeArrowheads="1"/>
          </p:cNvSpPr>
          <p:nvPr/>
        </p:nvSpPr>
        <p:spPr bwMode="auto">
          <a:xfrm>
            <a:off x="5310188" y="2872538"/>
            <a:ext cx="476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Mem.</a:t>
            </a:r>
            <a:endParaRPr lang="en-US" altLang="en-US"/>
          </a:p>
        </p:txBody>
      </p:sp>
      <p:grpSp>
        <p:nvGrpSpPr>
          <p:cNvPr id="2" name="Group 285"/>
          <p:cNvGrpSpPr>
            <a:grpSpLocks/>
          </p:cNvGrpSpPr>
          <p:nvPr/>
        </p:nvGrpSpPr>
        <p:grpSpPr bwMode="auto">
          <a:xfrm>
            <a:off x="5419725" y="3155113"/>
            <a:ext cx="301625" cy="2065338"/>
            <a:chOff x="3414" y="1568"/>
            <a:chExt cx="190" cy="1301"/>
          </a:xfrm>
        </p:grpSpPr>
        <p:sp>
          <p:nvSpPr>
            <p:cNvPr id="23700" name="Rectangle 168"/>
            <p:cNvSpPr>
              <a:spLocks noChangeArrowheads="1"/>
            </p:cNvSpPr>
            <p:nvPr/>
          </p:nvSpPr>
          <p:spPr bwMode="auto">
            <a:xfrm>
              <a:off x="3414" y="1568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FF0000"/>
                  </a:solidFill>
                  <a:latin typeface="Helvetica" pitchFamily="34" charset="0"/>
                </a:rPr>
                <a:t>10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23701" name="Rectangle 169"/>
            <p:cNvSpPr>
              <a:spLocks noChangeArrowheads="1"/>
            </p:cNvSpPr>
            <p:nvPr/>
          </p:nvSpPr>
          <p:spPr bwMode="auto">
            <a:xfrm>
              <a:off x="3414" y="1729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FF0000"/>
                  </a:solidFill>
                  <a:latin typeface="Helvetica" pitchFamily="34" charset="0"/>
                </a:rPr>
                <a:t>01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23702" name="Rectangle 170"/>
            <p:cNvSpPr>
              <a:spLocks noChangeArrowheads="1"/>
            </p:cNvSpPr>
            <p:nvPr/>
          </p:nvSpPr>
          <p:spPr bwMode="auto">
            <a:xfrm>
              <a:off x="3414" y="189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FF0000"/>
                  </a:solidFill>
                  <a:latin typeface="Helvetica" pitchFamily="34" charset="0"/>
                </a:rPr>
                <a:t>00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23703" name="Rectangle 171"/>
            <p:cNvSpPr>
              <a:spLocks noChangeArrowheads="1"/>
            </p:cNvSpPr>
            <p:nvPr/>
          </p:nvSpPr>
          <p:spPr bwMode="auto">
            <a:xfrm>
              <a:off x="3414" y="205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FF0000"/>
                  </a:solidFill>
                  <a:latin typeface="Helvetica" pitchFamily="34" charset="0"/>
                </a:rPr>
                <a:t>00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23704" name="Rectangle 172"/>
            <p:cNvSpPr>
              <a:spLocks noChangeArrowheads="1"/>
            </p:cNvSpPr>
            <p:nvPr/>
          </p:nvSpPr>
          <p:spPr bwMode="auto">
            <a:xfrm>
              <a:off x="3414" y="2219"/>
              <a:ext cx="19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i="1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23705" name="Rectangle 173"/>
            <p:cNvSpPr>
              <a:spLocks noChangeArrowheads="1"/>
            </p:cNvSpPr>
            <p:nvPr/>
          </p:nvSpPr>
          <p:spPr bwMode="auto">
            <a:xfrm>
              <a:off x="3414" y="2380"/>
              <a:ext cx="190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i="1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23706" name="Rectangle 174"/>
            <p:cNvSpPr>
              <a:spLocks noChangeArrowheads="1"/>
            </p:cNvSpPr>
            <p:nvPr/>
          </p:nvSpPr>
          <p:spPr bwMode="auto">
            <a:xfrm>
              <a:off x="3414" y="2547"/>
              <a:ext cx="190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i="1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23707" name="Rectangle 175"/>
            <p:cNvSpPr>
              <a:spLocks noChangeArrowheads="1"/>
            </p:cNvSpPr>
            <p:nvPr/>
          </p:nvSpPr>
          <p:spPr bwMode="auto">
            <a:xfrm>
              <a:off x="3414" y="2704"/>
              <a:ext cx="19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i="1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</p:grpSp>
      <p:sp>
        <p:nvSpPr>
          <p:cNvPr id="23579" name="Rectangle 176"/>
          <p:cNvSpPr>
            <a:spLocks noChangeArrowheads="1"/>
          </p:cNvSpPr>
          <p:nvPr/>
        </p:nvSpPr>
        <p:spPr bwMode="auto">
          <a:xfrm>
            <a:off x="5414963" y="5260138"/>
            <a:ext cx="3302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D0</a:t>
            </a:r>
            <a:endParaRPr lang="en-US" altLang="en-US"/>
          </a:p>
        </p:txBody>
      </p:sp>
      <p:sp>
        <p:nvSpPr>
          <p:cNvPr id="23580" name="Rectangle 177"/>
          <p:cNvSpPr>
            <a:spLocks noChangeArrowheads="1"/>
          </p:cNvSpPr>
          <p:nvPr/>
        </p:nvSpPr>
        <p:spPr bwMode="auto">
          <a:xfrm>
            <a:off x="5127625" y="5260138"/>
            <a:ext cx="331788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D1</a:t>
            </a:r>
            <a:endParaRPr lang="en-US" altLang="en-US"/>
          </a:p>
        </p:txBody>
      </p:sp>
      <p:sp>
        <p:nvSpPr>
          <p:cNvPr id="23581" name="Rectangle 178"/>
          <p:cNvSpPr>
            <a:spLocks noChangeArrowheads="1"/>
          </p:cNvSpPr>
          <p:nvPr/>
        </p:nvSpPr>
        <p:spPr bwMode="auto">
          <a:xfrm>
            <a:off x="5040313" y="3155113"/>
            <a:ext cx="19208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23582" name="Rectangle 179"/>
          <p:cNvSpPr>
            <a:spLocks noChangeArrowheads="1"/>
          </p:cNvSpPr>
          <p:nvPr/>
        </p:nvSpPr>
        <p:spPr bwMode="auto">
          <a:xfrm>
            <a:off x="5040313" y="3410701"/>
            <a:ext cx="19208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  <p:sp>
        <p:nvSpPr>
          <p:cNvPr id="23583" name="Rectangle 180"/>
          <p:cNvSpPr>
            <a:spLocks noChangeArrowheads="1"/>
          </p:cNvSpPr>
          <p:nvPr/>
        </p:nvSpPr>
        <p:spPr bwMode="auto">
          <a:xfrm>
            <a:off x="5040313" y="3669463"/>
            <a:ext cx="19208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2</a:t>
            </a:r>
            <a:endParaRPr lang="en-US" altLang="en-US"/>
          </a:p>
        </p:txBody>
      </p:sp>
      <p:sp>
        <p:nvSpPr>
          <p:cNvPr id="23584" name="Rectangle 181"/>
          <p:cNvSpPr>
            <a:spLocks noChangeArrowheads="1"/>
          </p:cNvSpPr>
          <p:nvPr/>
        </p:nvSpPr>
        <p:spPr bwMode="auto">
          <a:xfrm>
            <a:off x="5040313" y="3925051"/>
            <a:ext cx="19208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3</a:t>
            </a:r>
            <a:endParaRPr lang="en-US" altLang="en-US"/>
          </a:p>
        </p:txBody>
      </p:sp>
      <p:sp>
        <p:nvSpPr>
          <p:cNvPr id="23585" name="Rectangle 182"/>
          <p:cNvSpPr>
            <a:spLocks noChangeArrowheads="1"/>
          </p:cNvSpPr>
          <p:nvPr/>
        </p:nvSpPr>
        <p:spPr bwMode="auto">
          <a:xfrm>
            <a:off x="5040313" y="4188576"/>
            <a:ext cx="192087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4</a:t>
            </a:r>
            <a:endParaRPr lang="en-US" altLang="en-US"/>
          </a:p>
        </p:txBody>
      </p:sp>
      <p:sp>
        <p:nvSpPr>
          <p:cNvPr id="23586" name="Rectangle 183"/>
          <p:cNvSpPr>
            <a:spLocks noChangeArrowheads="1"/>
          </p:cNvSpPr>
          <p:nvPr/>
        </p:nvSpPr>
        <p:spPr bwMode="auto">
          <a:xfrm>
            <a:off x="5040313" y="4444163"/>
            <a:ext cx="19208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5</a:t>
            </a:r>
            <a:endParaRPr lang="en-US" altLang="en-US"/>
          </a:p>
        </p:txBody>
      </p:sp>
      <p:sp>
        <p:nvSpPr>
          <p:cNvPr id="23587" name="Rectangle 184"/>
          <p:cNvSpPr>
            <a:spLocks noChangeArrowheads="1"/>
          </p:cNvSpPr>
          <p:nvPr/>
        </p:nvSpPr>
        <p:spPr bwMode="auto">
          <a:xfrm>
            <a:off x="5040313" y="4709276"/>
            <a:ext cx="19208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6</a:t>
            </a:r>
            <a:endParaRPr lang="en-US" altLang="en-US"/>
          </a:p>
        </p:txBody>
      </p:sp>
      <p:sp>
        <p:nvSpPr>
          <p:cNvPr id="23588" name="Rectangle 185"/>
          <p:cNvSpPr>
            <a:spLocks noChangeArrowheads="1"/>
          </p:cNvSpPr>
          <p:nvPr/>
        </p:nvSpPr>
        <p:spPr bwMode="auto">
          <a:xfrm>
            <a:off x="5040313" y="4958513"/>
            <a:ext cx="19208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7</a:t>
            </a:r>
            <a:endParaRPr lang="en-US" altLang="en-US"/>
          </a:p>
        </p:txBody>
      </p:sp>
      <p:sp>
        <p:nvSpPr>
          <p:cNvPr id="23589" name="Rectangle 186"/>
          <p:cNvSpPr>
            <a:spLocks noChangeArrowheads="1"/>
          </p:cNvSpPr>
          <p:nvPr/>
        </p:nvSpPr>
        <p:spPr bwMode="auto">
          <a:xfrm>
            <a:off x="4745038" y="4067926"/>
            <a:ext cx="3016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/>
          </a:p>
        </p:txBody>
      </p:sp>
      <p:sp>
        <p:nvSpPr>
          <p:cNvPr id="23590" name="Rectangle 187"/>
          <p:cNvSpPr>
            <a:spLocks noChangeArrowheads="1"/>
          </p:cNvSpPr>
          <p:nvPr/>
        </p:nvSpPr>
        <p:spPr bwMode="auto">
          <a:xfrm>
            <a:off x="4745038" y="4267951"/>
            <a:ext cx="3016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/>
          </a:p>
        </p:txBody>
      </p:sp>
      <p:sp>
        <p:nvSpPr>
          <p:cNvPr id="23591" name="Rectangle 188"/>
          <p:cNvSpPr>
            <a:spLocks noChangeArrowheads="1"/>
          </p:cNvSpPr>
          <p:nvPr/>
        </p:nvSpPr>
        <p:spPr bwMode="auto">
          <a:xfrm>
            <a:off x="4745038" y="4498138"/>
            <a:ext cx="3016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/>
          </a:p>
        </p:txBody>
      </p:sp>
      <p:sp>
        <p:nvSpPr>
          <p:cNvPr id="23592" name="Rectangle 191"/>
          <p:cNvSpPr>
            <a:spLocks noChangeArrowheads="1"/>
          </p:cNvSpPr>
          <p:nvPr/>
        </p:nvSpPr>
        <p:spPr bwMode="auto">
          <a:xfrm>
            <a:off x="1117600" y="5737976"/>
            <a:ext cx="2381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i1</a:t>
            </a:r>
            <a:endParaRPr lang="en-US" altLang="en-US"/>
          </a:p>
        </p:txBody>
      </p:sp>
      <p:sp>
        <p:nvSpPr>
          <p:cNvPr id="23593" name="Rectangle 193"/>
          <p:cNvSpPr>
            <a:spLocks noChangeArrowheads="1"/>
          </p:cNvSpPr>
          <p:nvPr/>
        </p:nvSpPr>
        <p:spPr bwMode="auto">
          <a:xfrm>
            <a:off x="1755775" y="5737976"/>
            <a:ext cx="2381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i0</a:t>
            </a:r>
            <a:endParaRPr lang="en-US" altLang="en-US"/>
          </a:p>
        </p:txBody>
      </p:sp>
      <p:sp>
        <p:nvSpPr>
          <p:cNvPr id="23594" name="Rectangle 195"/>
          <p:cNvSpPr>
            <a:spLocks noChangeArrowheads="1"/>
          </p:cNvSpPr>
          <p:nvPr/>
        </p:nvSpPr>
        <p:spPr bwMode="auto">
          <a:xfrm>
            <a:off x="8227176" y="5199337"/>
            <a:ext cx="24526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 dirty="0">
                <a:solidFill>
                  <a:srgbClr val="000000"/>
                </a:solidFill>
                <a:latin typeface="Helvetica" pitchFamily="34" charset="0"/>
              </a:rPr>
              <a:t>(</a:t>
            </a:r>
            <a:r>
              <a:rPr lang="en-US" altLang="en-US" sz="1500" b="1" dirty="0">
                <a:solidFill>
                  <a:srgbClr val="000000"/>
                </a:solidFill>
                <a:latin typeface="Helvetica" pitchFamily="34" charset="0"/>
              </a:rPr>
              <a:t>b</a:t>
            </a:r>
            <a:r>
              <a:rPr lang="en-US" altLang="en-US" sz="1500" dirty="0">
                <a:solidFill>
                  <a:srgbClr val="000000"/>
                </a:solidFill>
                <a:latin typeface="Helvetica" pitchFamily="34" charset="0"/>
              </a:rPr>
              <a:t>)</a:t>
            </a:r>
            <a:endParaRPr lang="en-US" altLang="en-US" dirty="0"/>
          </a:p>
        </p:txBody>
      </p:sp>
      <p:sp>
        <p:nvSpPr>
          <p:cNvPr id="23597" name="Rectangle 198"/>
          <p:cNvSpPr>
            <a:spLocks noChangeArrowheads="1"/>
          </p:cNvSpPr>
          <p:nvPr/>
        </p:nvSpPr>
        <p:spPr bwMode="auto">
          <a:xfrm>
            <a:off x="381896" y="5453108"/>
            <a:ext cx="23564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 dirty="0">
                <a:solidFill>
                  <a:srgbClr val="000000"/>
                </a:solidFill>
                <a:latin typeface="Helvetica" pitchFamily="34" charset="0"/>
              </a:rPr>
              <a:t>(</a:t>
            </a:r>
            <a:r>
              <a:rPr lang="en-US" altLang="en-US" sz="1500" b="1" dirty="0">
                <a:solidFill>
                  <a:srgbClr val="000000"/>
                </a:solidFill>
                <a:latin typeface="Helvetica" pitchFamily="34" charset="0"/>
              </a:rPr>
              <a:t>a</a:t>
            </a:r>
            <a:r>
              <a:rPr lang="en-US" altLang="en-US" sz="1500" dirty="0">
                <a:solidFill>
                  <a:srgbClr val="000000"/>
                </a:solidFill>
                <a:latin typeface="Helvetica" pitchFamily="34" charset="0"/>
              </a:rPr>
              <a:t>)</a:t>
            </a:r>
            <a:endParaRPr lang="en-US" altLang="en-US" dirty="0"/>
          </a:p>
        </p:txBody>
      </p:sp>
      <p:sp>
        <p:nvSpPr>
          <p:cNvPr id="23600" name="Rectangle 207"/>
          <p:cNvSpPr>
            <a:spLocks noChangeArrowheads="1"/>
          </p:cNvSpPr>
          <p:nvPr/>
        </p:nvSpPr>
        <p:spPr bwMode="auto">
          <a:xfrm>
            <a:off x="7116763" y="3121776"/>
            <a:ext cx="685800" cy="2079625"/>
          </a:xfrm>
          <a:prstGeom prst="rect">
            <a:avLst/>
          </a:prstGeom>
          <a:solidFill>
            <a:srgbClr val="D4E0F3"/>
          </a:solidFill>
          <a:ln w="1746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01" name="Line 208"/>
          <p:cNvSpPr>
            <a:spLocks noChangeShapeType="1"/>
          </p:cNvSpPr>
          <p:nvPr/>
        </p:nvSpPr>
        <p:spPr bwMode="auto">
          <a:xfrm>
            <a:off x="7116763" y="3383713"/>
            <a:ext cx="685800" cy="1588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2" name="Line 209"/>
          <p:cNvSpPr>
            <a:spLocks noChangeShapeType="1"/>
          </p:cNvSpPr>
          <p:nvPr/>
        </p:nvSpPr>
        <p:spPr bwMode="auto">
          <a:xfrm>
            <a:off x="7116763" y="3645651"/>
            <a:ext cx="685800" cy="1587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3" name="Line 210"/>
          <p:cNvSpPr>
            <a:spLocks noChangeShapeType="1"/>
          </p:cNvSpPr>
          <p:nvPr/>
        </p:nvSpPr>
        <p:spPr bwMode="auto">
          <a:xfrm>
            <a:off x="7116763" y="3899651"/>
            <a:ext cx="685800" cy="1587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4" name="Line 211"/>
          <p:cNvSpPr>
            <a:spLocks noChangeShapeType="1"/>
          </p:cNvSpPr>
          <p:nvPr/>
        </p:nvSpPr>
        <p:spPr bwMode="auto">
          <a:xfrm>
            <a:off x="7116763" y="4161588"/>
            <a:ext cx="685800" cy="1588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5" name="Line 212"/>
          <p:cNvSpPr>
            <a:spLocks noChangeShapeType="1"/>
          </p:cNvSpPr>
          <p:nvPr/>
        </p:nvSpPr>
        <p:spPr bwMode="auto">
          <a:xfrm>
            <a:off x="7116763" y="4423526"/>
            <a:ext cx="685800" cy="1587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6" name="Line 213"/>
          <p:cNvSpPr>
            <a:spLocks noChangeShapeType="1"/>
          </p:cNvSpPr>
          <p:nvPr/>
        </p:nvSpPr>
        <p:spPr bwMode="auto">
          <a:xfrm>
            <a:off x="7116763" y="4679113"/>
            <a:ext cx="685800" cy="1588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7" name="Line 214"/>
          <p:cNvSpPr>
            <a:spLocks noChangeShapeType="1"/>
          </p:cNvSpPr>
          <p:nvPr/>
        </p:nvSpPr>
        <p:spPr bwMode="auto">
          <a:xfrm>
            <a:off x="7116763" y="4939463"/>
            <a:ext cx="685800" cy="1588"/>
          </a:xfrm>
          <a:prstGeom prst="line">
            <a:avLst/>
          </a:pr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8" name="Rectangle 215"/>
          <p:cNvSpPr>
            <a:spLocks noChangeArrowheads="1"/>
          </p:cNvSpPr>
          <p:nvPr/>
        </p:nvSpPr>
        <p:spPr bwMode="auto">
          <a:xfrm>
            <a:off x="6892925" y="2872538"/>
            <a:ext cx="2016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8x</a:t>
            </a:r>
            <a:endParaRPr lang="en-US" altLang="en-US"/>
          </a:p>
        </p:txBody>
      </p:sp>
      <p:sp>
        <p:nvSpPr>
          <p:cNvPr id="23609" name="Rectangle 217"/>
          <p:cNvSpPr>
            <a:spLocks noChangeArrowheads="1"/>
          </p:cNvSpPr>
          <p:nvPr/>
        </p:nvSpPr>
        <p:spPr bwMode="auto">
          <a:xfrm>
            <a:off x="7097713" y="2872538"/>
            <a:ext cx="19208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2</a:t>
            </a:r>
            <a:endParaRPr lang="en-US" altLang="en-US"/>
          </a:p>
        </p:txBody>
      </p:sp>
      <p:sp>
        <p:nvSpPr>
          <p:cNvPr id="23610" name="Rectangle 218"/>
          <p:cNvSpPr>
            <a:spLocks noChangeArrowheads="1"/>
          </p:cNvSpPr>
          <p:nvPr/>
        </p:nvSpPr>
        <p:spPr bwMode="auto">
          <a:xfrm>
            <a:off x="7246938" y="2872538"/>
            <a:ext cx="476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Mem.</a:t>
            </a:r>
            <a:endParaRPr lang="en-US" altLang="en-US"/>
          </a:p>
        </p:txBody>
      </p:sp>
      <p:grpSp>
        <p:nvGrpSpPr>
          <p:cNvPr id="3" name="Group 286"/>
          <p:cNvGrpSpPr>
            <a:grpSpLocks/>
          </p:cNvGrpSpPr>
          <p:nvPr/>
        </p:nvGrpSpPr>
        <p:grpSpPr bwMode="auto">
          <a:xfrm>
            <a:off x="7358063" y="3155113"/>
            <a:ext cx="301625" cy="2065338"/>
            <a:chOff x="4635" y="1568"/>
            <a:chExt cx="190" cy="1301"/>
          </a:xfrm>
        </p:grpSpPr>
        <p:sp>
          <p:nvSpPr>
            <p:cNvPr id="23692" name="Rectangle 219"/>
            <p:cNvSpPr>
              <a:spLocks noChangeArrowheads="1"/>
            </p:cNvSpPr>
            <p:nvPr/>
          </p:nvSpPr>
          <p:spPr bwMode="auto">
            <a:xfrm>
              <a:off x="4635" y="1568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6600CC"/>
                  </a:solidFill>
                  <a:latin typeface="Helvetica" pitchFamily="34" charset="0"/>
                </a:rPr>
                <a:t>00</a:t>
              </a:r>
              <a:endParaRPr lang="en-US" altLang="en-US">
                <a:solidFill>
                  <a:srgbClr val="6600CC"/>
                </a:solidFill>
              </a:endParaRPr>
            </a:p>
          </p:txBody>
        </p:sp>
        <p:sp>
          <p:nvSpPr>
            <p:cNvPr id="23693" name="Rectangle 220"/>
            <p:cNvSpPr>
              <a:spLocks noChangeArrowheads="1"/>
            </p:cNvSpPr>
            <p:nvPr/>
          </p:nvSpPr>
          <p:spPr bwMode="auto">
            <a:xfrm>
              <a:off x="4635" y="1729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6600CC"/>
                  </a:solidFill>
                  <a:latin typeface="Helvetica" pitchFamily="34" charset="0"/>
                </a:rPr>
                <a:t>00</a:t>
              </a:r>
              <a:endParaRPr lang="en-US" altLang="en-US">
                <a:solidFill>
                  <a:srgbClr val="6600CC"/>
                </a:solidFill>
              </a:endParaRPr>
            </a:p>
          </p:txBody>
        </p:sp>
        <p:sp>
          <p:nvSpPr>
            <p:cNvPr id="23694" name="Rectangle 221"/>
            <p:cNvSpPr>
              <a:spLocks noChangeArrowheads="1"/>
            </p:cNvSpPr>
            <p:nvPr/>
          </p:nvSpPr>
          <p:spPr bwMode="auto">
            <a:xfrm>
              <a:off x="4635" y="1892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6600CC"/>
                  </a:solidFill>
                  <a:latin typeface="Helvetica" pitchFamily="34" charset="0"/>
                </a:rPr>
                <a:t>10</a:t>
              </a:r>
              <a:endParaRPr lang="en-US" altLang="en-US">
                <a:solidFill>
                  <a:srgbClr val="6600CC"/>
                </a:solidFill>
              </a:endParaRPr>
            </a:p>
          </p:txBody>
        </p:sp>
        <p:sp>
          <p:nvSpPr>
            <p:cNvPr id="23695" name="Rectangle 222"/>
            <p:cNvSpPr>
              <a:spLocks noChangeArrowheads="1"/>
            </p:cNvSpPr>
            <p:nvPr/>
          </p:nvSpPr>
          <p:spPr bwMode="auto">
            <a:xfrm>
              <a:off x="4635" y="2053"/>
              <a:ext cx="1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6600CC"/>
                  </a:solidFill>
                  <a:latin typeface="Helvetica" pitchFamily="34" charset="0"/>
                </a:rPr>
                <a:t>01</a:t>
              </a:r>
              <a:endParaRPr lang="en-US" altLang="en-US">
                <a:solidFill>
                  <a:srgbClr val="6600CC"/>
                </a:solidFill>
              </a:endParaRPr>
            </a:p>
          </p:txBody>
        </p:sp>
        <p:sp>
          <p:nvSpPr>
            <p:cNvPr id="23696" name="Rectangle 223"/>
            <p:cNvSpPr>
              <a:spLocks noChangeArrowheads="1"/>
            </p:cNvSpPr>
            <p:nvPr/>
          </p:nvSpPr>
          <p:spPr bwMode="auto">
            <a:xfrm>
              <a:off x="4635" y="2219"/>
              <a:ext cx="19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i="1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23697" name="Rectangle 224"/>
            <p:cNvSpPr>
              <a:spLocks noChangeArrowheads="1"/>
            </p:cNvSpPr>
            <p:nvPr/>
          </p:nvSpPr>
          <p:spPr bwMode="auto">
            <a:xfrm>
              <a:off x="4635" y="2380"/>
              <a:ext cx="190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i="1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23698" name="Rectangle 225"/>
            <p:cNvSpPr>
              <a:spLocks noChangeArrowheads="1"/>
            </p:cNvSpPr>
            <p:nvPr/>
          </p:nvSpPr>
          <p:spPr bwMode="auto">
            <a:xfrm>
              <a:off x="4635" y="2547"/>
              <a:ext cx="190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i="1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  <p:sp>
          <p:nvSpPr>
            <p:cNvPr id="23699" name="Rectangle 226"/>
            <p:cNvSpPr>
              <a:spLocks noChangeArrowheads="1"/>
            </p:cNvSpPr>
            <p:nvPr/>
          </p:nvSpPr>
          <p:spPr bwMode="auto">
            <a:xfrm>
              <a:off x="4635" y="2704"/>
              <a:ext cx="19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 i="1">
                  <a:solidFill>
                    <a:srgbClr val="000000"/>
                  </a:solidFill>
                  <a:latin typeface="Helvetica" pitchFamily="34" charset="0"/>
                </a:rPr>
                <a:t>00</a:t>
              </a:r>
              <a:endParaRPr lang="en-US" altLang="en-US"/>
            </a:p>
          </p:txBody>
        </p:sp>
      </p:grpSp>
      <p:sp>
        <p:nvSpPr>
          <p:cNvPr id="23612" name="Rectangle 227"/>
          <p:cNvSpPr>
            <a:spLocks noChangeArrowheads="1"/>
          </p:cNvSpPr>
          <p:nvPr/>
        </p:nvSpPr>
        <p:spPr bwMode="auto">
          <a:xfrm>
            <a:off x="7345363" y="5260138"/>
            <a:ext cx="33178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D0</a:t>
            </a:r>
            <a:endParaRPr lang="en-US" altLang="en-US"/>
          </a:p>
        </p:txBody>
      </p:sp>
      <p:sp>
        <p:nvSpPr>
          <p:cNvPr id="23613" name="Rectangle 228"/>
          <p:cNvSpPr>
            <a:spLocks noChangeArrowheads="1"/>
          </p:cNvSpPr>
          <p:nvPr/>
        </p:nvSpPr>
        <p:spPr bwMode="auto">
          <a:xfrm>
            <a:off x="7051675" y="5260138"/>
            <a:ext cx="3302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D1</a:t>
            </a:r>
            <a:endParaRPr lang="en-US" altLang="en-US"/>
          </a:p>
        </p:txBody>
      </p:sp>
      <p:sp>
        <p:nvSpPr>
          <p:cNvPr id="23614" name="Rectangle 229"/>
          <p:cNvSpPr>
            <a:spLocks noChangeArrowheads="1"/>
          </p:cNvSpPr>
          <p:nvPr/>
        </p:nvSpPr>
        <p:spPr bwMode="auto">
          <a:xfrm>
            <a:off x="5429250" y="5887201"/>
            <a:ext cx="3016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d1</a:t>
            </a:r>
            <a:endParaRPr lang="en-US" altLang="en-US"/>
          </a:p>
        </p:txBody>
      </p:sp>
      <p:sp>
        <p:nvSpPr>
          <p:cNvPr id="23615" name="Rectangle 230"/>
          <p:cNvSpPr>
            <a:spLocks noChangeArrowheads="1"/>
          </p:cNvSpPr>
          <p:nvPr/>
        </p:nvSpPr>
        <p:spPr bwMode="auto">
          <a:xfrm>
            <a:off x="5143500" y="5887201"/>
            <a:ext cx="3016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d0</a:t>
            </a:r>
            <a:endParaRPr lang="en-US" altLang="en-US"/>
          </a:p>
        </p:txBody>
      </p:sp>
      <p:sp>
        <p:nvSpPr>
          <p:cNvPr id="23616" name="Rectangle 231"/>
          <p:cNvSpPr>
            <a:spLocks noChangeArrowheads="1"/>
          </p:cNvSpPr>
          <p:nvPr/>
        </p:nvSpPr>
        <p:spPr bwMode="auto">
          <a:xfrm>
            <a:off x="7361238" y="5887201"/>
            <a:ext cx="3016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d3</a:t>
            </a:r>
            <a:endParaRPr lang="en-US" altLang="en-US"/>
          </a:p>
        </p:txBody>
      </p:sp>
      <p:sp>
        <p:nvSpPr>
          <p:cNvPr id="23617" name="Rectangle 232"/>
          <p:cNvSpPr>
            <a:spLocks noChangeArrowheads="1"/>
          </p:cNvSpPr>
          <p:nvPr/>
        </p:nvSpPr>
        <p:spPr bwMode="auto">
          <a:xfrm>
            <a:off x="7067550" y="5887201"/>
            <a:ext cx="3016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d2</a:t>
            </a:r>
            <a:endParaRPr lang="en-US" altLang="en-US"/>
          </a:p>
        </p:txBody>
      </p:sp>
      <p:sp>
        <p:nvSpPr>
          <p:cNvPr id="23618" name="Rectangle 233"/>
          <p:cNvSpPr>
            <a:spLocks noChangeArrowheads="1"/>
          </p:cNvSpPr>
          <p:nvPr/>
        </p:nvSpPr>
        <p:spPr bwMode="auto">
          <a:xfrm>
            <a:off x="6978650" y="3155113"/>
            <a:ext cx="1905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23619" name="Rectangle 234"/>
          <p:cNvSpPr>
            <a:spLocks noChangeArrowheads="1"/>
          </p:cNvSpPr>
          <p:nvPr/>
        </p:nvSpPr>
        <p:spPr bwMode="auto">
          <a:xfrm>
            <a:off x="6978650" y="3410701"/>
            <a:ext cx="1905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  <p:sp>
        <p:nvSpPr>
          <p:cNvPr id="23620" name="Rectangle 235"/>
          <p:cNvSpPr>
            <a:spLocks noChangeArrowheads="1"/>
          </p:cNvSpPr>
          <p:nvPr/>
        </p:nvSpPr>
        <p:spPr bwMode="auto">
          <a:xfrm>
            <a:off x="6978650" y="3669463"/>
            <a:ext cx="1905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2</a:t>
            </a:r>
            <a:endParaRPr lang="en-US" altLang="en-US"/>
          </a:p>
        </p:txBody>
      </p:sp>
      <p:sp>
        <p:nvSpPr>
          <p:cNvPr id="23621" name="Rectangle 236"/>
          <p:cNvSpPr>
            <a:spLocks noChangeArrowheads="1"/>
          </p:cNvSpPr>
          <p:nvPr/>
        </p:nvSpPr>
        <p:spPr bwMode="auto">
          <a:xfrm>
            <a:off x="6978650" y="3925051"/>
            <a:ext cx="1905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3</a:t>
            </a:r>
            <a:endParaRPr lang="en-US" altLang="en-US"/>
          </a:p>
        </p:txBody>
      </p:sp>
      <p:sp>
        <p:nvSpPr>
          <p:cNvPr id="23622" name="Rectangle 237"/>
          <p:cNvSpPr>
            <a:spLocks noChangeArrowheads="1"/>
          </p:cNvSpPr>
          <p:nvPr/>
        </p:nvSpPr>
        <p:spPr bwMode="auto">
          <a:xfrm>
            <a:off x="6978650" y="4188576"/>
            <a:ext cx="1905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4</a:t>
            </a:r>
            <a:endParaRPr lang="en-US" altLang="en-US"/>
          </a:p>
        </p:txBody>
      </p:sp>
      <p:sp>
        <p:nvSpPr>
          <p:cNvPr id="23623" name="Rectangle 238"/>
          <p:cNvSpPr>
            <a:spLocks noChangeArrowheads="1"/>
          </p:cNvSpPr>
          <p:nvPr/>
        </p:nvSpPr>
        <p:spPr bwMode="auto">
          <a:xfrm>
            <a:off x="6978650" y="4444163"/>
            <a:ext cx="1905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5</a:t>
            </a:r>
            <a:endParaRPr lang="en-US" altLang="en-US"/>
          </a:p>
        </p:txBody>
      </p:sp>
      <p:sp>
        <p:nvSpPr>
          <p:cNvPr id="23624" name="Rectangle 239"/>
          <p:cNvSpPr>
            <a:spLocks noChangeArrowheads="1"/>
          </p:cNvSpPr>
          <p:nvPr/>
        </p:nvSpPr>
        <p:spPr bwMode="auto">
          <a:xfrm>
            <a:off x="6978650" y="4709276"/>
            <a:ext cx="1905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6</a:t>
            </a:r>
            <a:endParaRPr lang="en-US" altLang="en-US"/>
          </a:p>
        </p:txBody>
      </p:sp>
      <p:sp>
        <p:nvSpPr>
          <p:cNvPr id="23625" name="Rectangle 240"/>
          <p:cNvSpPr>
            <a:spLocks noChangeArrowheads="1"/>
          </p:cNvSpPr>
          <p:nvPr/>
        </p:nvSpPr>
        <p:spPr bwMode="auto">
          <a:xfrm>
            <a:off x="6978650" y="4958513"/>
            <a:ext cx="1905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7</a:t>
            </a:r>
            <a:endParaRPr lang="en-US" altLang="en-US"/>
          </a:p>
        </p:txBody>
      </p:sp>
      <p:sp>
        <p:nvSpPr>
          <p:cNvPr id="23626" name="Rectangle 241"/>
          <p:cNvSpPr>
            <a:spLocks noChangeArrowheads="1"/>
          </p:cNvSpPr>
          <p:nvPr/>
        </p:nvSpPr>
        <p:spPr bwMode="auto">
          <a:xfrm>
            <a:off x="6683375" y="4067926"/>
            <a:ext cx="3016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/>
          </a:p>
        </p:txBody>
      </p:sp>
      <p:sp>
        <p:nvSpPr>
          <p:cNvPr id="23627" name="Rectangle 242"/>
          <p:cNvSpPr>
            <a:spLocks noChangeArrowheads="1"/>
          </p:cNvSpPr>
          <p:nvPr/>
        </p:nvSpPr>
        <p:spPr bwMode="auto">
          <a:xfrm>
            <a:off x="6683375" y="4267951"/>
            <a:ext cx="3016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/>
          </a:p>
        </p:txBody>
      </p:sp>
      <p:sp>
        <p:nvSpPr>
          <p:cNvPr id="23628" name="Rectangle 243"/>
          <p:cNvSpPr>
            <a:spLocks noChangeArrowheads="1"/>
          </p:cNvSpPr>
          <p:nvPr/>
        </p:nvSpPr>
        <p:spPr bwMode="auto">
          <a:xfrm>
            <a:off x="6683375" y="4498138"/>
            <a:ext cx="3016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/>
          </a:p>
        </p:txBody>
      </p:sp>
      <p:sp>
        <p:nvSpPr>
          <p:cNvPr id="23629" name="Freeform 244"/>
          <p:cNvSpPr>
            <a:spLocks/>
          </p:cNvSpPr>
          <p:nvPr/>
        </p:nvSpPr>
        <p:spPr bwMode="auto">
          <a:xfrm>
            <a:off x="2605088" y="2739188"/>
            <a:ext cx="534987" cy="469900"/>
          </a:xfrm>
          <a:custGeom>
            <a:avLst/>
            <a:gdLst>
              <a:gd name="T0" fmla="*/ 0 w 92"/>
              <a:gd name="T1" fmla="*/ 469900 h 81"/>
              <a:gd name="T2" fmla="*/ 302384 w 92"/>
              <a:gd name="T3" fmla="*/ 469900 h 81"/>
              <a:gd name="T4" fmla="*/ 534987 w 92"/>
              <a:gd name="T5" fmla="*/ 232049 h 81"/>
              <a:gd name="T6" fmla="*/ 302384 w 92"/>
              <a:gd name="T7" fmla="*/ 0 h 81"/>
              <a:gd name="T8" fmla="*/ 0 w 92"/>
              <a:gd name="T9" fmla="*/ 0 h 81"/>
              <a:gd name="T10" fmla="*/ 0 w 92"/>
              <a:gd name="T11" fmla="*/ 469900 h 8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2"/>
              <a:gd name="T19" fmla="*/ 0 h 81"/>
              <a:gd name="T20" fmla="*/ 92 w 92"/>
              <a:gd name="T21" fmla="*/ 81 h 8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2" h="81">
                <a:moveTo>
                  <a:pt x="0" y="81"/>
                </a:moveTo>
                <a:cubicBezTo>
                  <a:pt x="52" y="81"/>
                  <a:pt x="52" y="81"/>
                  <a:pt x="52" y="81"/>
                </a:cubicBezTo>
                <a:cubicBezTo>
                  <a:pt x="74" y="81"/>
                  <a:pt x="92" y="63"/>
                  <a:pt x="92" y="40"/>
                </a:cubicBezTo>
                <a:cubicBezTo>
                  <a:pt x="92" y="18"/>
                  <a:pt x="74" y="0"/>
                  <a:pt x="52" y="0"/>
                </a:cubicBezTo>
                <a:cubicBezTo>
                  <a:pt x="0" y="0"/>
                  <a:pt x="0" y="0"/>
                  <a:pt x="0" y="0"/>
                </a:cubicBezTo>
                <a:lnTo>
                  <a:pt x="0" y="81"/>
                </a:lnTo>
                <a:close/>
              </a:path>
            </a:pathLst>
          </a:cu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30" name="Line 245"/>
          <p:cNvSpPr>
            <a:spLocks noChangeShapeType="1"/>
          </p:cNvSpPr>
          <p:nvPr/>
        </p:nvSpPr>
        <p:spPr bwMode="auto">
          <a:xfrm>
            <a:off x="3140075" y="2970963"/>
            <a:ext cx="430213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31" name="Freeform 246"/>
          <p:cNvSpPr>
            <a:spLocks/>
          </p:cNvSpPr>
          <p:nvPr/>
        </p:nvSpPr>
        <p:spPr bwMode="auto">
          <a:xfrm>
            <a:off x="2605088" y="3290051"/>
            <a:ext cx="534987" cy="465137"/>
          </a:xfrm>
          <a:custGeom>
            <a:avLst/>
            <a:gdLst>
              <a:gd name="T0" fmla="*/ 0 w 92"/>
              <a:gd name="T1" fmla="*/ 465137 h 80"/>
              <a:gd name="T2" fmla="*/ 302384 w 92"/>
              <a:gd name="T3" fmla="*/ 465137 h 80"/>
              <a:gd name="T4" fmla="*/ 534987 w 92"/>
              <a:gd name="T5" fmla="*/ 232569 h 80"/>
              <a:gd name="T6" fmla="*/ 302384 w 92"/>
              <a:gd name="T7" fmla="*/ 0 h 80"/>
              <a:gd name="T8" fmla="*/ 0 w 92"/>
              <a:gd name="T9" fmla="*/ 0 h 80"/>
              <a:gd name="T10" fmla="*/ 0 w 92"/>
              <a:gd name="T11" fmla="*/ 465137 h 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2"/>
              <a:gd name="T19" fmla="*/ 0 h 80"/>
              <a:gd name="T20" fmla="*/ 92 w 92"/>
              <a:gd name="T21" fmla="*/ 80 h 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2" h="80">
                <a:moveTo>
                  <a:pt x="0" y="80"/>
                </a:moveTo>
                <a:cubicBezTo>
                  <a:pt x="52" y="80"/>
                  <a:pt x="52" y="80"/>
                  <a:pt x="52" y="80"/>
                </a:cubicBezTo>
                <a:cubicBezTo>
                  <a:pt x="74" y="80"/>
                  <a:pt x="92" y="62"/>
                  <a:pt x="92" y="40"/>
                </a:cubicBezTo>
                <a:cubicBezTo>
                  <a:pt x="92" y="18"/>
                  <a:pt x="74" y="0"/>
                  <a:pt x="52" y="0"/>
                </a:cubicBezTo>
                <a:cubicBezTo>
                  <a:pt x="0" y="0"/>
                  <a:pt x="0" y="0"/>
                  <a:pt x="0" y="0"/>
                </a:cubicBezTo>
                <a:lnTo>
                  <a:pt x="0" y="80"/>
                </a:lnTo>
                <a:close/>
              </a:path>
            </a:pathLst>
          </a:cu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32" name="Line 247"/>
          <p:cNvSpPr>
            <a:spLocks noChangeShapeType="1"/>
          </p:cNvSpPr>
          <p:nvPr/>
        </p:nvSpPr>
        <p:spPr bwMode="auto">
          <a:xfrm>
            <a:off x="1520825" y="3407526"/>
            <a:ext cx="1084263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33" name="Line 248"/>
          <p:cNvSpPr>
            <a:spLocks noChangeShapeType="1"/>
          </p:cNvSpPr>
          <p:nvPr/>
        </p:nvSpPr>
        <p:spPr bwMode="auto">
          <a:xfrm>
            <a:off x="3140075" y="3523413"/>
            <a:ext cx="430213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34" name="Freeform 249"/>
          <p:cNvSpPr>
            <a:spLocks/>
          </p:cNvSpPr>
          <p:nvPr/>
        </p:nvSpPr>
        <p:spPr bwMode="auto">
          <a:xfrm>
            <a:off x="1822450" y="3639301"/>
            <a:ext cx="782638" cy="2095500"/>
          </a:xfrm>
          <a:custGeom>
            <a:avLst/>
            <a:gdLst>
              <a:gd name="T0" fmla="*/ 782638 w 493"/>
              <a:gd name="T1" fmla="*/ 0 h 1320"/>
              <a:gd name="T2" fmla="*/ 0 w 493"/>
              <a:gd name="T3" fmla="*/ 0 h 1320"/>
              <a:gd name="T4" fmla="*/ 0 w 493"/>
              <a:gd name="T5" fmla="*/ 2095500 h 1320"/>
              <a:gd name="T6" fmla="*/ 0 60000 65536"/>
              <a:gd name="T7" fmla="*/ 0 60000 65536"/>
              <a:gd name="T8" fmla="*/ 0 60000 65536"/>
              <a:gd name="T9" fmla="*/ 0 w 493"/>
              <a:gd name="T10" fmla="*/ 0 h 1320"/>
              <a:gd name="T11" fmla="*/ 493 w 493"/>
              <a:gd name="T12" fmla="*/ 1320 h 13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3" h="1320">
                <a:moveTo>
                  <a:pt x="493" y="0"/>
                </a:moveTo>
                <a:lnTo>
                  <a:pt x="0" y="0"/>
                </a:lnTo>
                <a:lnTo>
                  <a:pt x="0" y="1320"/>
                </a:lnTo>
              </a:path>
            </a:pathLst>
          </a:cu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35" name="Freeform 250"/>
          <p:cNvSpPr>
            <a:spLocks/>
          </p:cNvSpPr>
          <p:nvPr/>
        </p:nvSpPr>
        <p:spPr bwMode="auto">
          <a:xfrm>
            <a:off x="2605088" y="3842501"/>
            <a:ext cx="534987" cy="463550"/>
          </a:xfrm>
          <a:custGeom>
            <a:avLst/>
            <a:gdLst>
              <a:gd name="T0" fmla="*/ 0 w 92"/>
              <a:gd name="T1" fmla="*/ 463550 h 80"/>
              <a:gd name="T2" fmla="*/ 302384 w 92"/>
              <a:gd name="T3" fmla="*/ 463550 h 80"/>
              <a:gd name="T4" fmla="*/ 534987 w 92"/>
              <a:gd name="T5" fmla="*/ 231775 h 80"/>
              <a:gd name="T6" fmla="*/ 302384 w 92"/>
              <a:gd name="T7" fmla="*/ 0 h 80"/>
              <a:gd name="T8" fmla="*/ 0 w 92"/>
              <a:gd name="T9" fmla="*/ 0 h 80"/>
              <a:gd name="T10" fmla="*/ 0 w 92"/>
              <a:gd name="T11" fmla="*/ 463550 h 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2"/>
              <a:gd name="T19" fmla="*/ 0 h 80"/>
              <a:gd name="T20" fmla="*/ 92 w 92"/>
              <a:gd name="T21" fmla="*/ 80 h 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2" h="80">
                <a:moveTo>
                  <a:pt x="0" y="80"/>
                </a:moveTo>
                <a:cubicBezTo>
                  <a:pt x="52" y="80"/>
                  <a:pt x="52" y="80"/>
                  <a:pt x="52" y="80"/>
                </a:cubicBezTo>
                <a:cubicBezTo>
                  <a:pt x="74" y="80"/>
                  <a:pt x="92" y="62"/>
                  <a:pt x="92" y="40"/>
                </a:cubicBezTo>
                <a:cubicBezTo>
                  <a:pt x="92" y="18"/>
                  <a:pt x="74" y="0"/>
                  <a:pt x="52" y="0"/>
                </a:cubicBezTo>
                <a:cubicBezTo>
                  <a:pt x="0" y="0"/>
                  <a:pt x="0" y="0"/>
                  <a:pt x="0" y="0"/>
                </a:cubicBezTo>
                <a:lnTo>
                  <a:pt x="0" y="80"/>
                </a:lnTo>
                <a:close/>
              </a:path>
            </a:pathLst>
          </a:cu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36" name="Freeform 251"/>
          <p:cNvSpPr>
            <a:spLocks/>
          </p:cNvSpPr>
          <p:nvPr/>
        </p:nvSpPr>
        <p:spPr bwMode="auto">
          <a:xfrm>
            <a:off x="1177925" y="3958388"/>
            <a:ext cx="1427163" cy="1776413"/>
          </a:xfrm>
          <a:custGeom>
            <a:avLst/>
            <a:gdLst>
              <a:gd name="T0" fmla="*/ 1427163 w 899"/>
              <a:gd name="T1" fmla="*/ 0 h 1119"/>
              <a:gd name="T2" fmla="*/ 57150 w 899"/>
              <a:gd name="T3" fmla="*/ 0 h 1119"/>
              <a:gd name="T4" fmla="*/ 0 w 899"/>
              <a:gd name="T5" fmla="*/ 0 h 1119"/>
              <a:gd name="T6" fmla="*/ 0 w 899"/>
              <a:gd name="T7" fmla="*/ 1776413 h 1119"/>
              <a:gd name="T8" fmla="*/ 0 60000 65536"/>
              <a:gd name="T9" fmla="*/ 0 60000 65536"/>
              <a:gd name="T10" fmla="*/ 0 60000 65536"/>
              <a:gd name="T11" fmla="*/ 0 60000 65536"/>
              <a:gd name="T12" fmla="*/ 0 w 899"/>
              <a:gd name="T13" fmla="*/ 0 h 1119"/>
              <a:gd name="T14" fmla="*/ 899 w 899"/>
              <a:gd name="T15" fmla="*/ 1119 h 111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9" h="1119">
                <a:moveTo>
                  <a:pt x="899" y="0"/>
                </a:moveTo>
                <a:lnTo>
                  <a:pt x="36" y="0"/>
                </a:lnTo>
                <a:lnTo>
                  <a:pt x="0" y="0"/>
                </a:lnTo>
                <a:lnTo>
                  <a:pt x="0" y="1119"/>
                </a:lnTo>
              </a:path>
            </a:pathLst>
          </a:cu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37" name="Line 252"/>
          <p:cNvSpPr>
            <a:spLocks noChangeShapeType="1"/>
          </p:cNvSpPr>
          <p:nvPr/>
        </p:nvSpPr>
        <p:spPr bwMode="auto">
          <a:xfrm>
            <a:off x="3140075" y="4074276"/>
            <a:ext cx="430213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38" name="Line 253"/>
          <p:cNvSpPr>
            <a:spLocks noChangeShapeType="1"/>
          </p:cNvSpPr>
          <p:nvPr/>
        </p:nvSpPr>
        <p:spPr bwMode="auto">
          <a:xfrm>
            <a:off x="2147888" y="4190163"/>
            <a:ext cx="457200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39" name="Freeform 254"/>
          <p:cNvSpPr>
            <a:spLocks/>
          </p:cNvSpPr>
          <p:nvPr/>
        </p:nvSpPr>
        <p:spPr bwMode="auto">
          <a:xfrm>
            <a:off x="2605088" y="4399713"/>
            <a:ext cx="534987" cy="465138"/>
          </a:xfrm>
          <a:custGeom>
            <a:avLst/>
            <a:gdLst>
              <a:gd name="T0" fmla="*/ 0 w 92"/>
              <a:gd name="T1" fmla="*/ 465138 h 80"/>
              <a:gd name="T2" fmla="*/ 302384 w 92"/>
              <a:gd name="T3" fmla="*/ 465138 h 80"/>
              <a:gd name="T4" fmla="*/ 534987 w 92"/>
              <a:gd name="T5" fmla="*/ 232569 h 80"/>
              <a:gd name="T6" fmla="*/ 302384 w 92"/>
              <a:gd name="T7" fmla="*/ 0 h 80"/>
              <a:gd name="T8" fmla="*/ 0 w 92"/>
              <a:gd name="T9" fmla="*/ 0 h 80"/>
              <a:gd name="T10" fmla="*/ 0 w 92"/>
              <a:gd name="T11" fmla="*/ 465138 h 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2"/>
              <a:gd name="T19" fmla="*/ 0 h 80"/>
              <a:gd name="T20" fmla="*/ 92 w 92"/>
              <a:gd name="T21" fmla="*/ 80 h 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2" h="80">
                <a:moveTo>
                  <a:pt x="0" y="80"/>
                </a:moveTo>
                <a:cubicBezTo>
                  <a:pt x="52" y="80"/>
                  <a:pt x="52" y="80"/>
                  <a:pt x="52" y="80"/>
                </a:cubicBezTo>
                <a:cubicBezTo>
                  <a:pt x="74" y="80"/>
                  <a:pt x="92" y="62"/>
                  <a:pt x="92" y="40"/>
                </a:cubicBezTo>
                <a:cubicBezTo>
                  <a:pt x="92" y="18"/>
                  <a:pt x="74" y="0"/>
                  <a:pt x="52" y="0"/>
                </a:cubicBezTo>
                <a:cubicBezTo>
                  <a:pt x="0" y="0"/>
                  <a:pt x="0" y="0"/>
                  <a:pt x="0" y="0"/>
                </a:cubicBezTo>
                <a:lnTo>
                  <a:pt x="0" y="80"/>
                </a:lnTo>
                <a:close/>
              </a:path>
            </a:pathLst>
          </a:cu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40" name="Line 255"/>
          <p:cNvSpPr>
            <a:spLocks noChangeShapeType="1"/>
          </p:cNvSpPr>
          <p:nvPr/>
        </p:nvSpPr>
        <p:spPr bwMode="auto">
          <a:xfrm>
            <a:off x="1177925" y="4510838"/>
            <a:ext cx="1427163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41" name="Line 256"/>
          <p:cNvSpPr>
            <a:spLocks noChangeShapeType="1"/>
          </p:cNvSpPr>
          <p:nvPr/>
        </p:nvSpPr>
        <p:spPr bwMode="auto">
          <a:xfrm>
            <a:off x="3140075" y="4631488"/>
            <a:ext cx="430213" cy="1588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42" name="Line 257"/>
          <p:cNvSpPr>
            <a:spLocks noChangeShapeType="1"/>
          </p:cNvSpPr>
          <p:nvPr/>
        </p:nvSpPr>
        <p:spPr bwMode="auto">
          <a:xfrm>
            <a:off x="1816100" y="4747376"/>
            <a:ext cx="788988" cy="1587"/>
          </a:xfrm>
          <a:prstGeom prst="line">
            <a:avLst/>
          </a:pr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4" name="Group 292"/>
          <p:cNvGrpSpPr>
            <a:grpSpLocks/>
          </p:cNvGrpSpPr>
          <p:nvPr/>
        </p:nvGrpSpPr>
        <p:grpSpPr bwMode="auto">
          <a:xfrm>
            <a:off x="3892550" y="2594726"/>
            <a:ext cx="2754313" cy="2151062"/>
            <a:chOff x="2452" y="1215"/>
            <a:chExt cx="1735" cy="1355"/>
          </a:xfrm>
        </p:grpSpPr>
        <p:sp>
          <p:nvSpPr>
            <p:cNvPr id="23674" name="Freeform 150"/>
            <p:cNvSpPr>
              <a:spLocks/>
            </p:cNvSpPr>
            <p:nvPr/>
          </p:nvSpPr>
          <p:spPr bwMode="auto">
            <a:xfrm>
              <a:off x="4070" y="2465"/>
              <a:ext cx="117" cy="59"/>
            </a:xfrm>
            <a:custGeom>
              <a:avLst/>
              <a:gdLst>
                <a:gd name="T0" fmla="*/ 117 w 117"/>
                <a:gd name="T1" fmla="*/ 30 h 59"/>
                <a:gd name="T2" fmla="*/ 0 w 117"/>
                <a:gd name="T3" fmla="*/ 59 h 59"/>
                <a:gd name="T4" fmla="*/ 0 w 117"/>
                <a:gd name="T5" fmla="*/ 0 h 59"/>
                <a:gd name="T6" fmla="*/ 117 w 117"/>
                <a:gd name="T7" fmla="*/ 3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7"/>
                <a:gd name="T13" fmla="*/ 0 h 59"/>
                <a:gd name="T14" fmla="*/ 117 w 117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7" h="59">
                  <a:moveTo>
                    <a:pt x="117" y="30"/>
                  </a:moveTo>
                  <a:lnTo>
                    <a:pt x="0" y="59"/>
                  </a:lnTo>
                  <a:lnTo>
                    <a:pt x="0" y="0"/>
                  </a:lnTo>
                  <a:lnTo>
                    <a:pt x="117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75" name="Freeform 152"/>
            <p:cNvSpPr>
              <a:spLocks/>
            </p:cNvSpPr>
            <p:nvPr/>
          </p:nvSpPr>
          <p:spPr bwMode="auto">
            <a:xfrm>
              <a:off x="4070" y="2337"/>
              <a:ext cx="117" cy="59"/>
            </a:xfrm>
            <a:custGeom>
              <a:avLst/>
              <a:gdLst>
                <a:gd name="T0" fmla="*/ 117 w 117"/>
                <a:gd name="T1" fmla="*/ 30 h 59"/>
                <a:gd name="T2" fmla="*/ 0 w 117"/>
                <a:gd name="T3" fmla="*/ 59 h 59"/>
                <a:gd name="T4" fmla="*/ 0 w 117"/>
                <a:gd name="T5" fmla="*/ 0 h 59"/>
                <a:gd name="T6" fmla="*/ 117 w 117"/>
                <a:gd name="T7" fmla="*/ 3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7"/>
                <a:gd name="T13" fmla="*/ 0 h 59"/>
                <a:gd name="T14" fmla="*/ 117 w 117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7" h="59">
                  <a:moveTo>
                    <a:pt x="117" y="30"/>
                  </a:moveTo>
                  <a:lnTo>
                    <a:pt x="0" y="59"/>
                  </a:lnTo>
                  <a:lnTo>
                    <a:pt x="0" y="0"/>
                  </a:lnTo>
                  <a:lnTo>
                    <a:pt x="117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76" name="Freeform 151"/>
            <p:cNvSpPr>
              <a:spLocks/>
            </p:cNvSpPr>
            <p:nvPr/>
          </p:nvSpPr>
          <p:spPr bwMode="auto">
            <a:xfrm>
              <a:off x="2772" y="1280"/>
              <a:ext cx="1360" cy="1222"/>
            </a:xfrm>
            <a:custGeom>
              <a:avLst/>
              <a:gdLst>
                <a:gd name="T0" fmla="*/ 1360 w 1360"/>
                <a:gd name="T1" fmla="*/ 1215 h 1222"/>
                <a:gd name="T2" fmla="*/ 1075 w 1360"/>
                <a:gd name="T3" fmla="*/ 1215 h 1222"/>
                <a:gd name="T4" fmla="*/ 1075 w 1360"/>
                <a:gd name="T5" fmla="*/ 0 h 1222"/>
                <a:gd name="T6" fmla="*/ 0 w 1360"/>
                <a:gd name="T7" fmla="*/ 0 h 1222"/>
                <a:gd name="T8" fmla="*/ 0 w 1360"/>
                <a:gd name="T9" fmla="*/ 1222 h 12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0"/>
                <a:gd name="T16" fmla="*/ 0 h 1222"/>
                <a:gd name="T17" fmla="*/ 1360 w 1360"/>
                <a:gd name="T18" fmla="*/ 1222 h 12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0" h="1222">
                  <a:moveTo>
                    <a:pt x="1360" y="1215"/>
                  </a:moveTo>
                  <a:lnTo>
                    <a:pt x="1075" y="1215"/>
                  </a:lnTo>
                  <a:lnTo>
                    <a:pt x="1075" y="0"/>
                  </a:lnTo>
                  <a:lnTo>
                    <a:pt x="0" y="0"/>
                  </a:lnTo>
                  <a:lnTo>
                    <a:pt x="0" y="1222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77" name="Freeform 153"/>
            <p:cNvSpPr>
              <a:spLocks/>
            </p:cNvSpPr>
            <p:nvPr/>
          </p:nvSpPr>
          <p:spPr bwMode="auto">
            <a:xfrm>
              <a:off x="2677" y="1215"/>
              <a:ext cx="1455" cy="1152"/>
            </a:xfrm>
            <a:custGeom>
              <a:avLst/>
              <a:gdLst>
                <a:gd name="T0" fmla="*/ 1455 w 1455"/>
                <a:gd name="T1" fmla="*/ 1152 h 1152"/>
                <a:gd name="T2" fmla="*/ 1225 w 1455"/>
                <a:gd name="T3" fmla="*/ 1152 h 1152"/>
                <a:gd name="T4" fmla="*/ 1225 w 1455"/>
                <a:gd name="T5" fmla="*/ 0 h 1152"/>
                <a:gd name="T6" fmla="*/ 0 w 1455"/>
                <a:gd name="T7" fmla="*/ 0 h 1152"/>
                <a:gd name="T8" fmla="*/ 0 w 1455"/>
                <a:gd name="T9" fmla="*/ 1141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55"/>
                <a:gd name="T16" fmla="*/ 0 h 1152"/>
                <a:gd name="T17" fmla="*/ 1455 w 1455"/>
                <a:gd name="T18" fmla="*/ 1152 h 11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55" h="1152">
                  <a:moveTo>
                    <a:pt x="1455" y="1152"/>
                  </a:moveTo>
                  <a:lnTo>
                    <a:pt x="1225" y="1152"/>
                  </a:lnTo>
                  <a:lnTo>
                    <a:pt x="1225" y="0"/>
                  </a:lnTo>
                  <a:lnTo>
                    <a:pt x="0" y="0"/>
                  </a:lnTo>
                  <a:lnTo>
                    <a:pt x="0" y="1141"/>
                  </a:lnTo>
                </a:path>
              </a:pathLst>
            </a:cu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78" name="Freeform 154"/>
            <p:cNvSpPr>
              <a:spLocks/>
            </p:cNvSpPr>
            <p:nvPr/>
          </p:nvSpPr>
          <p:spPr bwMode="auto">
            <a:xfrm>
              <a:off x="4070" y="2195"/>
              <a:ext cx="117" cy="58"/>
            </a:xfrm>
            <a:custGeom>
              <a:avLst/>
              <a:gdLst>
                <a:gd name="T0" fmla="*/ 117 w 117"/>
                <a:gd name="T1" fmla="*/ 29 h 58"/>
                <a:gd name="T2" fmla="*/ 0 w 117"/>
                <a:gd name="T3" fmla="*/ 58 h 58"/>
                <a:gd name="T4" fmla="*/ 0 w 117"/>
                <a:gd name="T5" fmla="*/ 0 h 58"/>
                <a:gd name="T6" fmla="*/ 117 w 117"/>
                <a:gd name="T7" fmla="*/ 29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7"/>
                <a:gd name="T13" fmla="*/ 0 h 58"/>
                <a:gd name="T14" fmla="*/ 117 w 117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7" h="58">
                  <a:moveTo>
                    <a:pt x="117" y="29"/>
                  </a:moveTo>
                  <a:lnTo>
                    <a:pt x="0" y="58"/>
                  </a:lnTo>
                  <a:lnTo>
                    <a:pt x="0" y="0"/>
                  </a:lnTo>
                  <a:lnTo>
                    <a:pt x="117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79" name="Line 155"/>
            <p:cNvSpPr>
              <a:spLocks noChangeShapeType="1"/>
            </p:cNvSpPr>
            <p:nvPr/>
          </p:nvSpPr>
          <p:spPr bwMode="auto">
            <a:xfrm flipH="1">
              <a:off x="4026" y="2224"/>
              <a:ext cx="106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80" name="Rectangle 189"/>
            <p:cNvSpPr>
              <a:spLocks noChangeArrowheads="1"/>
            </p:cNvSpPr>
            <p:nvPr/>
          </p:nvSpPr>
          <p:spPr bwMode="auto">
            <a:xfrm>
              <a:off x="2478" y="2152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3681" name="Rectangle 190"/>
            <p:cNvSpPr>
              <a:spLocks noChangeArrowheads="1"/>
            </p:cNvSpPr>
            <p:nvPr/>
          </p:nvSpPr>
          <p:spPr bwMode="auto">
            <a:xfrm>
              <a:off x="2452" y="2296"/>
              <a:ext cx="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i1</a:t>
              </a:r>
              <a:endParaRPr lang="en-US" altLang="en-US"/>
            </a:p>
          </p:txBody>
        </p:sp>
        <p:sp>
          <p:nvSpPr>
            <p:cNvPr id="23682" name="Rectangle 192"/>
            <p:cNvSpPr>
              <a:spLocks noChangeArrowheads="1"/>
            </p:cNvSpPr>
            <p:nvPr/>
          </p:nvSpPr>
          <p:spPr bwMode="auto">
            <a:xfrm>
              <a:off x="2452" y="2426"/>
              <a:ext cx="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i0</a:t>
              </a:r>
              <a:endParaRPr lang="en-US" altLang="en-US"/>
            </a:p>
          </p:txBody>
        </p:sp>
        <p:sp>
          <p:nvSpPr>
            <p:cNvPr id="23683" name="Rectangle 194"/>
            <p:cNvSpPr>
              <a:spLocks noChangeArrowheads="1"/>
            </p:cNvSpPr>
            <p:nvPr/>
          </p:nvSpPr>
          <p:spPr bwMode="auto">
            <a:xfrm>
              <a:off x="3935" y="2153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5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3684" name="Freeform 201"/>
            <p:cNvSpPr>
              <a:spLocks/>
            </p:cNvSpPr>
            <p:nvPr/>
          </p:nvSpPr>
          <p:spPr bwMode="auto">
            <a:xfrm>
              <a:off x="2841" y="2191"/>
              <a:ext cx="117" cy="59"/>
            </a:xfrm>
            <a:custGeom>
              <a:avLst/>
              <a:gdLst>
                <a:gd name="T0" fmla="*/ 117 w 117"/>
                <a:gd name="T1" fmla="*/ 29 h 59"/>
                <a:gd name="T2" fmla="*/ 0 w 117"/>
                <a:gd name="T3" fmla="*/ 0 h 59"/>
                <a:gd name="T4" fmla="*/ 0 w 117"/>
                <a:gd name="T5" fmla="*/ 59 h 59"/>
                <a:gd name="T6" fmla="*/ 117 w 117"/>
                <a:gd name="T7" fmla="*/ 29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7"/>
                <a:gd name="T13" fmla="*/ 0 h 59"/>
                <a:gd name="T14" fmla="*/ 117 w 117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7" h="59">
                  <a:moveTo>
                    <a:pt x="117" y="29"/>
                  </a:moveTo>
                  <a:lnTo>
                    <a:pt x="0" y="0"/>
                  </a:lnTo>
                  <a:lnTo>
                    <a:pt x="0" y="59"/>
                  </a:lnTo>
                  <a:lnTo>
                    <a:pt x="117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85" name="Line 202"/>
            <p:cNvSpPr>
              <a:spLocks noChangeShapeType="1"/>
            </p:cNvSpPr>
            <p:nvPr/>
          </p:nvSpPr>
          <p:spPr bwMode="auto">
            <a:xfrm>
              <a:off x="2567" y="2220"/>
              <a:ext cx="340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86" name="Freeform 203"/>
            <p:cNvSpPr>
              <a:spLocks/>
            </p:cNvSpPr>
            <p:nvPr/>
          </p:nvSpPr>
          <p:spPr bwMode="auto">
            <a:xfrm>
              <a:off x="2841" y="2330"/>
              <a:ext cx="117" cy="59"/>
            </a:xfrm>
            <a:custGeom>
              <a:avLst/>
              <a:gdLst>
                <a:gd name="T0" fmla="*/ 117 w 117"/>
                <a:gd name="T1" fmla="*/ 29 h 59"/>
                <a:gd name="T2" fmla="*/ 0 w 117"/>
                <a:gd name="T3" fmla="*/ 0 h 59"/>
                <a:gd name="T4" fmla="*/ 0 w 117"/>
                <a:gd name="T5" fmla="*/ 59 h 59"/>
                <a:gd name="T6" fmla="*/ 117 w 117"/>
                <a:gd name="T7" fmla="*/ 29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7"/>
                <a:gd name="T13" fmla="*/ 0 h 59"/>
                <a:gd name="T14" fmla="*/ 117 w 117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7" h="59">
                  <a:moveTo>
                    <a:pt x="117" y="29"/>
                  </a:moveTo>
                  <a:lnTo>
                    <a:pt x="0" y="0"/>
                  </a:lnTo>
                  <a:lnTo>
                    <a:pt x="0" y="59"/>
                  </a:lnTo>
                  <a:lnTo>
                    <a:pt x="117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87" name="Line 204"/>
            <p:cNvSpPr>
              <a:spLocks noChangeShapeType="1"/>
            </p:cNvSpPr>
            <p:nvPr/>
          </p:nvSpPr>
          <p:spPr bwMode="auto">
            <a:xfrm>
              <a:off x="2567" y="2359"/>
              <a:ext cx="340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88" name="Freeform 205"/>
            <p:cNvSpPr>
              <a:spLocks/>
            </p:cNvSpPr>
            <p:nvPr/>
          </p:nvSpPr>
          <p:spPr bwMode="auto">
            <a:xfrm>
              <a:off x="2841" y="2465"/>
              <a:ext cx="117" cy="59"/>
            </a:xfrm>
            <a:custGeom>
              <a:avLst/>
              <a:gdLst>
                <a:gd name="T0" fmla="*/ 117 w 117"/>
                <a:gd name="T1" fmla="*/ 30 h 59"/>
                <a:gd name="T2" fmla="*/ 0 w 117"/>
                <a:gd name="T3" fmla="*/ 0 h 59"/>
                <a:gd name="T4" fmla="*/ 0 w 117"/>
                <a:gd name="T5" fmla="*/ 59 h 59"/>
                <a:gd name="T6" fmla="*/ 117 w 117"/>
                <a:gd name="T7" fmla="*/ 3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7"/>
                <a:gd name="T13" fmla="*/ 0 h 59"/>
                <a:gd name="T14" fmla="*/ 117 w 117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7" h="59">
                  <a:moveTo>
                    <a:pt x="117" y="30"/>
                  </a:moveTo>
                  <a:lnTo>
                    <a:pt x="0" y="0"/>
                  </a:lnTo>
                  <a:lnTo>
                    <a:pt x="0" y="59"/>
                  </a:lnTo>
                  <a:lnTo>
                    <a:pt x="117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89" name="Line 206"/>
            <p:cNvSpPr>
              <a:spLocks noChangeShapeType="1"/>
            </p:cNvSpPr>
            <p:nvPr/>
          </p:nvSpPr>
          <p:spPr bwMode="auto">
            <a:xfrm>
              <a:off x="2567" y="2495"/>
              <a:ext cx="340" cy="1"/>
            </a:xfrm>
            <a:prstGeom prst="line">
              <a:avLst/>
            </a:prstGeom>
            <a:noFill/>
            <a:ln w="238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690" name="Oval 258"/>
            <p:cNvSpPr>
              <a:spLocks noChangeArrowheads="1"/>
            </p:cNvSpPr>
            <p:nvPr/>
          </p:nvSpPr>
          <p:spPr bwMode="auto">
            <a:xfrm>
              <a:off x="2651" y="2330"/>
              <a:ext cx="55" cy="59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691" name="Oval 259"/>
            <p:cNvSpPr>
              <a:spLocks noChangeArrowheads="1"/>
            </p:cNvSpPr>
            <p:nvPr/>
          </p:nvSpPr>
          <p:spPr bwMode="auto">
            <a:xfrm>
              <a:off x="2746" y="2465"/>
              <a:ext cx="55" cy="59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3644" name="Oval 260"/>
          <p:cNvSpPr>
            <a:spLocks noChangeArrowheads="1"/>
          </p:cNvSpPr>
          <p:nvPr/>
        </p:nvSpPr>
        <p:spPr bwMode="auto">
          <a:xfrm>
            <a:off x="1781175" y="4696576"/>
            <a:ext cx="87313" cy="92075"/>
          </a:xfrm>
          <a:prstGeom prst="ellipse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45" name="Oval 261"/>
          <p:cNvSpPr>
            <a:spLocks noChangeArrowheads="1"/>
          </p:cNvSpPr>
          <p:nvPr/>
        </p:nvSpPr>
        <p:spPr bwMode="auto">
          <a:xfrm>
            <a:off x="2106613" y="4144126"/>
            <a:ext cx="87312" cy="87312"/>
          </a:xfrm>
          <a:prstGeom prst="ellipse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46" name="Oval 262"/>
          <p:cNvSpPr>
            <a:spLocks noChangeArrowheads="1"/>
          </p:cNvSpPr>
          <p:nvPr/>
        </p:nvSpPr>
        <p:spPr bwMode="auto">
          <a:xfrm>
            <a:off x="1479550" y="3359901"/>
            <a:ext cx="87313" cy="87312"/>
          </a:xfrm>
          <a:prstGeom prst="ellipse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47" name="Oval 263"/>
          <p:cNvSpPr>
            <a:spLocks noChangeArrowheads="1"/>
          </p:cNvSpPr>
          <p:nvPr/>
        </p:nvSpPr>
        <p:spPr bwMode="auto">
          <a:xfrm>
            <a:off x="1781175" y="5409363"/>
            <a:ext cx="87313" cy="93663"/>
          </a:xfrm>
          <a:prstGeom prst="ellipse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48" name="Oval 264"/>
          <p:cNvSpPr>
            <a:spLocks noChangeArrowheads="1"/>
          </p:cNvSpPr>
          <p:nvPr/>
        </p:nvSpPr>
        <p:spPr bwMode="auto">
          <a:xfrm>
            <a:off x="1136650" y="5409363"/>
            <a:ext cx="87313" cy="93663"/>
          </a:xfrm>
          <a:prstGeom prst="ellipse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49" name="Oval 265"/>
          <p:cNvSpPr>
            <a:spLocks noChangeArrowheads="1"/>
          </p:cNvSpPr>
          <p:nvPr/>
        </p:nvSpPr>
        <p:spPr bwMode="auto">
          <a:xfrm>
            <a:off x="1136650" y="4463213"/>
            <a:ext cx="87313" cy="93663"/>
          </a:xfrm>
          <a:prstGeom prst="ellipse">
            <a:avLst/>
          </a:prstGeom>
          <a:solidFill>
            <a:srgbClr val="000000"/>
          </a:solidFill>
          <a:ln w="1111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50" name="Freeform 266"/>
          <p:cNvSpPr>
            <a:spLocks/>
          </p:cNvSpPr>
          <p:nvPr/>
        </p:nvSpPr>
        <p:spPr bwMode="auto">
          <a:xfrm>
            <a:off x="2147888" y="3086851"/>
            <a:ext cx="457200" cy="1898650"/>
          </a:xfrm>
          <a:custGeom>
            <a:avLst/>
            <a:gdLst>
              <a:gd name="T0" fmla="*/ 0 w 288"/>
              <a:gd name="T1" fmla="*/ 1898650 h 1196"/>
              <a:gd name="T2" fmla="*/ 0 w 288"/>
              <a:gd name="T3" fmla="*/ 0 h 1196"/>
              <a:gd name="T4" fmla="*/ 74612 w 288"/>
              <a:gd name="T5" fmla="*/ 0 h 1196"/>
              <a:gd name="T6" fmla="*/ 457200 w 288"/>
              <a:gd name="T7" fmla="*/ 0 h 1196"/>
              <a:gd name="T8" fmla="*/ 0 60000 65536"/>
              <a:gd name="T9" fmla="*/ 0 60000 65536"/>
              <a:gd name="T10" fmla="*/ 0 60000 65536"/>
              <a:gd name="T11" fmla="*/ 0 60000 65536"/>
              <a:gd name="T12" fmla="*/ 0 w 288"/>
              <a:gd name="T13" fmla="*/ 0 h 1196"/>
              <a:gd name="T14" fmla="*/ 288 w 288"/>
              <a:gd name="T15" fmla="*/ 1196 h 11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88" h="1196">
                <a:moveTo>
                  <a:pt x="0" y="1196"/>
                </a:moveTo>
                <a:lnTo>
                  <a:pt x="0" y="0"/>
                </a:lnTo>
                <a:lnTo>
                  <a:pt x="47" y="0"/>
                </a:lnTo>
                <a:lnTo>
                  <a:pt x="288" y="0"/>
                </a:lnTo>
              </a:path>
            </a:pathLst>
          </a:cu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51" name="Freeform 267"/>
          <p:cNvSpPr>
            <a:spLocks/>
          </p:cNvSpPr>
          <p:nvPr/>
        </p:nvSpPr>
        <p:spPr bwMode="auto">
          <a:xfrm>
            <a:off x="1822450" y="5288713"/>
            <a:ext cx="325438" cy="168275"/>
          </a:xfrm>
          <a:custGeom>
            <a:avLst/>
            <a:gdLst>
              <a:gd name="T0" fmla="*/ 325438 w 205"/>
              <a:gd name="T1" fmla="*/ 0 h 106"/>
              <a:gd name="T2" fmla="*/ 325438 w 205"/>
              <a:gd name="T3" fmla="*/ 168275 h 106"/>
              <a:gd name="T4" fmla="*/ 0 w 205"/>
              <a:gd name="T5" fmla="*/ 168275 h 106"/>
              <a:gd name="T6" fmla="*/ 0 60000 65536"/>
              <a:gd name="T7" fmla="*/ 0 60000 65536"/>
              <a:gd name="T8" fmla="*/ 0 60000 65536"/>
              <a:gd name="T9" fmla="*/ 0 w 205"/>
              <a:gd name="T10" fmla="*/ 0 h 106"/>
              <a:gd name="T11" fmla="*/ 205 w 205"/>
              <a:gd name="T12" fmla="*/ 106 h 1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" h="106">
                <a:moveTo>
                  <a:pt x="205" y="0"/>
                </a:moveTo>
                <a:lnTo>
                  <a:pt x="205" y="106"/>
                </a:lnTo>
                <a:lnTo>
                  <a:pt x="0" y="106"/>
                </a:lnTo>
              </a:path>
            </a:pathLst>
          </a:cu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52" name="Freeform 268"/>
          <p:cNvSpPr>
            <a:spLocks/>
          </p:cNvSpPr>
          <p:nvPr/>
        </p:nvSpPr>
        <p:spPr bwMode="auto">
          <a:xfrm>
            <a:off x="1966913" y="5002963"/>
            <a:ext cx="360362" cy="285750"/>
          </a:xfrm>
          <a:custGeom>
            <a:avLst/>
            <a:gdLst>
              <a:gd name="T0" fmla="*/ 360362 w 227"/>
              <a:gd name="T1" fmla="*/ 285750 h 180"/>
              <a:gd name="T2" fmla="*/ 180975 w 227"/>
              <a:gd name="T3" fmla="*/ 0 h 180"/>
              <a:gd name="T4" fmla="*/ 0 w 227"/>
              <a:gd name="T5" fmla="*/ 285750 h 180"/>
              <a:gd name="T6" fmla="*/ 360362 w 227"/>
              <a:gd name="T7" fmla="*/ 285750 h 180"/>
              <a:gd name="T8" fmla="*/ 0 60000 65536"/>
              <a:gd name="T9" fmla="*/ 0 60000 65536"/>
              <a:gd name="T10" fmla="*/ 0 60000 65536"/>
              <a:gd name="T11" fmla="*/ 0 60000 65536"/>
              <a:gd name="T12" fmla="*/ 0 w 227"/>
              <a:gd name="T13" fmla="*/ 0 h 180"/>
              <a:gd name="T14" fmla="*/ 227 w 227"/>
              <a:gd name="T15" fmla="*/ 180 h 1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7" h="180">
                <a:moveTo>
                  <a:pt x="227" y="180"/>
                </a:moveTo>
                <a:lnTo>
                  <a:pt x="114" y="0"/>
                </a:lnTo>
                <a:lnTo>
                  <a:pt x="0" y="180"/>
                </a:lnTo>
                <a:lnTo>
                  <a:pt x="227" y="180"/>
                </a:lnTo>
                <a:close/>
              </a:path>
            </a:pathLst>
          </a:cu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53" name="Freeform 269"/>
          <p:cNvSpPr>
            <a:spLocks/>
          </p:cNvSpPr>
          <p:nvPr/>
        </p:nvSpPr>
        <p:spPr bwMode="auto">
          <a:xfrm>
            <a:off x="1520825" y="2855076"/>
            <a:ext cx="1084263" cy="2130425"/>
          </a:xfrm>
          <a:custGeom>
            <a:avLst/>
            <a:gdLst>
              <a:gd name="T0" fmla="*/ 0 w 683"/>
              <a:gd name="T1" fmla="*/ 2130425 h 1342"/>
              <a:gd name="T2" fmla="*/ 0 w 683"/>
              <a:gd name="T3" fmla="*/ 0 h 1342"/>
              <a:gd name="T4" fmla="*/ 85725 w 683"/>
              <a:gd name="T5" fmla="*/ 0 h 1342"/>
              <a:gd name="T6" fmla="*/ 1084263 w 683"/>
              <a:gd name="T7" fmla="*/ 0 h 1342"/>
              <a:gd name="T8" fmla="*/ 0 60000 65536"/>
              <a:gd name="T9" fmla="*/ 0 60000 65536"/>
              <a:gd name="T10" fmla="*/ 0 60000 65536"/>
              <a:gd name="T11" fmla="*/ 0 60000 65536"/>
              <a:gd name="T12" fmla="*/ 0 w 683"/>
              <a:gd name="T13" fmla="*/ 0 h 1342"/>
              <a:gd name="T14" fmla="*/ 683 w 683"/>
              <a:gd name="T15" fmla="*/ 1342 h 13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3" h="1342">
                <a:moveTo>
                  <a:pt x="0" y="1342"/>
                </a:moveTo>
                <a:lnTo>
                  <a:pt x="0" y="0"/>
                </a:lnTo>
                <a:lnTo>
                  <a:pt x="54" y="0"/>
                </a:lnTo>
                <a:lnTo>
                  <a:pt x="683" y="0"/>
                </a:lnTo>
              </a:path>
            </a:pathLst>
          </a:cu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54" name="Freeform 270"/>
          <p:cNvSpPr>
            <a:spLocks/>
          </p:cNvSpPr>
          <p:nvPr/>
        </p:nvSpPr>
        <p:spPr bwMode="auto">
          <a:xfrm>
            <a:off x="1177925" y="5288713"/>
            <a:ext cx="342900" cy="168275"/>
          </a:xfrm>
          <a:custGeom>
            <a:avLst/>
            <a:gdLst>
              <a:gd name="T0" fmla="*/ 342900 w 216"/>
              <a:gd name="T1" fmla="*/ 0 h 106"/>
              <a:gd name="T2" fmla="*/ 342900 w 216"/>
              <a:gd name="T3" fmla="*/ 168275 h 106"/>
              <a:gd name="T4" fmla="*/ 0 w 216"/>
              <a:gd name="T5" fmla="*/ 168275 h 106"/>
              <a:gd name="T6" fmla="*/ 0 60000 65536"/>
              <a:gd name="T7" fmla="*/ 0 60000 65536"/>
              <a:gd name="T8" fmla="*/ 0 60000 65536"/>
              <a:gd name="T9" fmla="*/ 0 w 216"/>
              <a:gd name="T10" fmla="*/ 0 h 106"/>
              <a:gd name="T11" fmla="*/ 216 w 216"/>
              <a:gd name="T12" fmla="*/ 106 h 1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" h="106">
                <a:moveTo>
                  <a:pt x="216" y="0"/>
                </a:moveTo>
                <a:lnTo>
                  <a:pt x="216" y="106"/>
                </a:lnTo>
                <a:lnTo>
                  <a:pt x="0" y="106"/>
                </a:lnTo>
              </a:path>
            </a:pathLst>
          </a:custGeom>
          <a:noFill/>
          <a:ln w="238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55" name="Freeform 271"/>
          <p:cNvSpPr>
            <a:spLocks/>
          </p:cNvSpPr>
          <p:nvPr/>
        </p:nvSpPr>
        <p:spPr bwMode="auto">
          <a:xfrm>
            <a:off x="1339850" y="5002963"/>
            <a:ext cx="360363" cy="285750"/>
          </a:xfrm>
          <a:custGeom>
            <a:avLst/>
            <a:gdLst>
              <a:gd name="T0" fmla="*/ 360363 w 227"/>
              <a:gd name="T1" fmla="*/ 285750 h 180"/>
              <a:gd name="T2" fmla="*/ 180975 w 227"/>
              <a:gd name="T3" fmla="*/ 0 h 180"/>
              <a:gd name="T4" fmla="*/ 0 w 227"/>
              <a:gd name="T5" fmla="*/ 285750 h 180"/>
              <a:gd name="T6" fmla="*/ 360363 w 227"/>
              <a:gd name="T7" fmla="*/ 285750 h 180"/>
              <a:gd name="T8" fmla="*/ 0 60000 65536"/>
              <a:gd name="T9" fmla="*/ 0 60000 65536"/>
              <a:gd name="T10" fmla="*/ 0 60000 65536"/>
              <a:gd name="T11" fmla="*/ 0 60000 65536"/>
              <a:gd name="T12" fmla="*/ 0 w 227"/>
              <a:gd name="T13" fmla="*/ 0 h 180"/>
              <a:gd name="T14" fmla="*/ 227 w 227"/>
              <a:gd name="T15" fmla="*/ 180 h 1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7" h="180">
                <a:moveTo>
                  <a:pt x="227" y="180"/>
                </a:moveTo>
                <a:lnTo>
                  <a:pt x="114" y="0"/>
                </a:lnTo>
                <a:lnTo>
                  <a:pt x="0" y="180"/>
                </a:lnTo>
                <a:lnTo>
                  <a:pt x="227" y="180"/>
                </a:lnTo>
                <a:close/>
              </a:path>
            </a:pathLst>
          </a:custGeom>
          <a:noFill/>
          <a:ln w="17463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56" name="Rectangle 272"/>
          <p:cNvSpPr>
            <a:spLocks noChangeArrowheads="1"/>
          </p:cNvSpPr>
          <p:nvPr/>
        </p:nvSpPr>
        <p:spPr bwMode="auto">
          <a:xfrm>
            <a:off x="3363913" y="2748713"/>
            <a:ext cx="3016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d0</a:t>
            </a:r>
            <a:endParaRPr lang="en-US" altLang="en-US"/>
          </a:p>
        </p:txBody>
      </p:sp>
      <p:sp>
        <p:nvSpPr>
          <p:cNvPr id="23657" name="Rectangle 273"/>
          <p:cNvSpPr>
            <a:spLocks noChangeArrowheads="1"/>
          </p:cNvSpPr>
          <p:nvPr/>
        </p:nvSpPr>
        <p:spPr bwMode="auto">
          <a:xfrm>
            <a:off x="3363913" y="3313863"/>
            <a:ext cx="3016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d1</a:t>
            </a:r>
            <a:endParaRPr lang="en-US" altLang="en-US"/>
          </a:p>
        </p:txBody>
      </p:sp>
      <p:sp>
        <p:nvSpPr>
          <p:cNvPr id="23658" name="Rectangle 274"/>
          <p:cNvSpPr>
            <a:spLocks noChangeArrowheads="1"/>
          </p:cNvSpPr>
          <p:nvPr/>
        </p:nvSpPr>
        <p:spPr bwMode="auto">
          <a:xfrm>
            <a:off x="3363913" y="3839326"/>
            <a:ext cx="3016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d2</a:t>
            </a:r>
            <a:endParaRPr lang="en-US" altLang="en-US"/>
          </a:p>
        </p:txBody>
      </p:sp>
      <p:sp>
        <p:nvSpPr>
          <p:cNvPr id="23659" name="Rectangle 275"/>
          <p:cNvSpPr>
            <a:spLocks noChangeArrowheads="1"/>
          </p:cNvSpPr>
          <p:nvPr/>
        </p:nvSpPr>
        <p:spPr bwMode="auto">
          <a:xfrm>
            <a:off x="3363913" y="4409238"/>
            <a:ext cx="3016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500">
                <a:solidFill>
                  <a:srgbClr val="000000"/>
                </a:solidFill>
                <a:latin typeface="Helvetica" pitchFamily="34" charset="0"/>
              </a:rPr>
              <a:t>d3</a:t>
            </a:r>
            <a:endParaRPr lang="en-US" altLang="en-US"/>
          </a:p>
        </p:txBody>
      </p:sp>
      <p:sp>
        <p:nvSpPr>
          <p:cNvPr id="23660" name="Oval 276"/>
          <p:cNvSpPr>
            <a:spLocks noChangeArrowheads="1"/>
          </p:cNvSpPr>
          <p:nvPr/>
        </p:nvSpPr>
        <p:spPr bwMode="auto">
          <a:xfrm>
            <a:off x="2112963" y="4933113"/>
            <a:ext cx="68262" cy="65088"/>
          </a:xfrm>
          <a:prstGeom prst="ellipse">
            <a:avLst/>
          </a:prstGeom>
          <a:solidFill>
            <a:srgbClr val="FFFFFF"/>
          </a:solidFill>
          <a:ln w="1111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661" name="Oval 277"/>
          <p:cNvSpPr>
            <a:spLocks noChangeArrowheads="1"/>
          </p:cNvSpPr>
          <p:nvPr/>
        </p:nvSpPr>
        <p:spPr bwMode="auto">
          <a:xfrm>
            <a:off x="1485900" y="4933113"/>
            <a:ext cx="68263" cy="65088"/>
          </a:xfrm>
          <a:prstGeom prst="ellipse">
            <a:avLst/>
          </a:prstGeom>
          <a:solidFill>
            <a:srgbClr val="FFFFFF"/>
          </a:solidFill>
          <a:ln w="11113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" name="Group 289"/>
          <p:cNvGrpSpPr>
            <a:grpSpLocks/>
          </p:cNvGrpSpPr>
          <p:nvPr/>
        </p:nvGrpSpPr>
        <p:grpSpPr bwMode="auto">
          <a:xfrm>
            <a:off x="844550" y="2210608"/>
            <a:ext cx="3943350" cy="3556000"/>
            <a:chOff x="532" y="1072"/>
            <a:chExt cx="2484" cy="2240"/>
          </a:xfrm>
        </p:grpSpPr>
        <p:grpSp>
          <p:nvGrpSpPr>
            <p:cNvPr id="23670" name="Group 282"/>
            <p:cNvGrpSpPr>
              <a:grpSpLocks/>
            </p:cNvGrpSpPr>
            <p:nvPr/>
          </p:nvGrpSpPr>
          <p:grpSpPr bwMode="auto">
            <a:xfrm>
              <a:off x="532" y="1072"/>
              <a:ext cx="1592" cy="2240"/>
              <a:chOff x="532" y="1072"/>
              <a:chExt cx="1592" cy="2240"/>
            </a:xfrm>
          </p:grpSpPr>
          <p:sp>
            <p:nvSpPr>
              <p:cNvPr id="23672" name="Freeform 278"/>
              <p:cNvSpPr>
                <a:spLocks/>
              </p:cNvSpPr>
              <p:nvPr/>
            </p:nvSpPr>
            <p:spPr bwMode="auto">
              <a:xfrm>
                <a:off x="532" y="1072"/>
                <a:ext cx="1592" cy="2240"/>
              </a:xfrm>
              <a:custGeom>
                <a:avLst/>
                <a:gdLst>
                  <a:gd name="T0" fmla="*/ 140 w 1592"/>
                  <a:gd name="T1" fmla="*/ 2064 h 2240"/>
                  <a:gd name="T2" fmla="*/ 204 w 1592"/>
                  <a:gd name="T3" fmla="*/ 320 h 2240"/>
                  <a:gd name="T4" fmla="*/ 1364 w 1592"/>
                  <a:gd name="T5" fmla="*/ 144 h 2240"/>
                  <a:gd name="T6" fmla="*/ 1556 w 1592"/>
                  <a:gd name="T7" fmla="*/ 544 h 2240"/>
                  <a:gd name="T8" fmla="*/ 1484 w 1592"/>
                  <a:gd name="T9" fmla="*/ 872 h 2240"/>
                  <a:gd name="T10" fmla="*/ 908 w 1592"/>
                  <a:gd name="T11" fmla="*/ 960 h 2240"/>
                  <a:gd name="T12" fmla="*/ 884 w 1592"/>
                  <a:gd name="T13" fmla="*/ 2056 h 2240"/>
                  <a:gd name="T14" fmla="*/ 140 w 1592"/>
                  <a:gd name="T15" fmla="*/ 2064 h 22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592"/>
                  <a:gd name="T25" fmla="*/ 0 h 2240"/>
                  <a:gd name="T26" fmla="*/ 1592 w 1592"/>
                  <a:gd name="T27" fmla="*/ 2240 h 224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592" h="2240">
                    <a:moveTo>
                      <a:pt x="140" y="2064"/>
                    </a:moveTo>
                    <a:cubicBezTo>
                      <a:pt x="21" y="1771"/>
                      <a:pt x="0" y="640"/>
                      <a:pt x="204" y="320"/>
                    </a:cubicBezTo>
                    <a:cubicBezTo>
                      <a:pt x="408" y="0"/>
                      <a:pt x="1139" y="107"/>
                      <a:pt x="1364" y="144"/>
                    </a:cubicBezTo>
                    <a:cubicBezTo>
                      <a:pt x="1589" y="181"/>
                      <a:pt x="1536" y="423"/>
                      <a:pt x="1556" y="544"/>
                    </a:cubicBezTo>
                    <a:cubicBezTo>
                      <a:pt x="1576" y="665"/>
                      <a:pt x="1592" y="803"/>
                      <a:pt x="1484" y="872"/>
                    </a:cubicBezTo>
                    <a:cubicBezTo>
                      <a:pt x="1376" y="941"/>
                      <a:pt x="1008" y="763"/>
                      <a:pt x="908" y="960"/>
                    </a:cubicBezTo>
                    <a:cubicBezTo>
                      <a:pt x="808" y="1157"/>
                      <a:pt x="1012" y="1872"/>
                      <a:pt x="884" y="2056"/>
                    </a:cubicBezTo>
                    <a:cubicBezTo>
                      <a:pt x="756" y="2240"/>
                      <a:pt x="295" y="2062"/>
                      <a:pt x="140" y="2064"/>
                    </a:cubicBez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3673" name="Text Box 280"/>
              <p:cNvSpPr txBox="1">
                <a:spLocks noChangeArrowheads="1"/>
              </p:cNvSpPr>
              <p:nvPr/>
            </p:nvSpPr>
            <p:spPr bwMode="auto">
              <a:xfrm rot="17641966">
                <a:off x="-288" y="1945"/>
                <a:ext cx="1876" cy="218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FF0000"/>
                    </a:solidFill>
                  </a:rPr>
                  <a:t>Sub-circuit has 2 inputs, 2 outputs</a:t>
                </a:r>
              </a:p>
            </p:txBody>
          </p:sp>
        </p:grpSp>
        <p:sp>
          <p:nvSpPr>
            <p:cNvPr id="23671" name="Line 288"/>
            <p:cNvSpPr>
              <a:spLocks noChangeShapeType="1"/>
            </p:cNvSpPr>
            <p:nvPr/>
          </p:nvSpPr>
          <p:spPr bwMode="auto">
            <a:xfrm>
              <a:off x="2072" y="1528"/>
              <a:ext cx="944" cy="1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291"/>
          <p:cNvGrpSpPr>
            <a:grpSpLocks/>
          </p:cNvGrpSpPr>
          <p:nvPr/>
        </p:nvGrpSpPr>
        <p:grpSpPr bwMode="auto">
          <a:xfrm>
            <a:off x="617538" y="3515780"/>
            <a:ext cx="6029326" cy="2366963"/>
            <a:chOff x="389" y="1951"/>
            <a:chExt cx="3798" cy="1491"/>
          </a:xfrm>
        </p:grpSpPr>
        <p:grpSp>
          <p:nvGrpSpPr>
            <p:cNvPr id="23666" name="Group 283"/>
            <p:cNvGrpSpPr>
              <a:grpSpLocks/>
            </p:cNvGrpSpPr>
            <p:nvPr/>
          </p:nvGrpSpPr>
          <p:grpSpPr bwMode="auto">
            <a:xfrm>
              <a:off x="389" y="1951"/>
              <a:ext cx="1708" cy="1491"/>
              <a:chOff x="389" y="1951"/>
              <a:chExt cx="1708" cy="1491"/>
            </a:xfrm>
          </p:grpSpPr>
          <p:sp>
            <p:nvSpPr>
              <p:cNvPr id="23668" name="Freeform 279"/>
              <p:cNvSpPr>
                <a:spLocks/>
              </p:cNvSpPr>
              <p:nvPr/>
            </p:nvSpPr>
            <p:spPr bwMode="auto">
              <a:xfrm>
                <a:off x="389" y="1951"/>
                <a:ext cx="1708" cy="1188"/>
              </a:xfrm>
              <a:custGeom>
                <a:avLst/>
                <a:gdLst>
                  <a:gd name="T0" fmla="*/ 91 w 1708"/>
                  <a:gd name="T1" fmla="*/ 1065 h 1188"/>
                  <a:gd name="T2" fmla="*/ 795 w 1708"/>
                  <a:gd name="T3" fmla="*/ 265 h 1188"/>
                  <a:gd name="T4" fmla="*/ 1347 w 1708"/>
                  <a:gd name="T5" fmla="*/ 33 h 1188"/>
                  <a:gd name="T6" fmla="*/ 1707 w 1708"/>
                  <a:gd name="T7" fmla="*/ 161 h 1188"/>
                  <a:gd name="T8" fmla="*/ 1339 w 1708"/>
                  <a:gd name="T9" fmla="*/ 1001 h 1188"/>
                  <a:gd name="T10" fmla="*/ 91 w 1708"/>
                  <a:gd name="T11" fmla="*/ 1065 h 11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08"/>
                  <a:gd name="T19" fmla="*/ 0 h 1188"/>
                  <a:gd name="T20" fmla="*/ 1708 w 1708"/>
                  <a:gd name="T21" fmla="*/ 1188 h 11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08" h="1188">
                    <a:moveTo>
                      <a:pt x="91" y="1065"/>
                    </a:moveTo>
                    <a:cubicBezTo>
                      <a:pt x="0" y="942"/>
                      <a:pt x="586" y="437"/>
                      <a:pt x="795" y="265"/>
                    </a:cubicBezTo>
                    <a:cubicBezTo>
                      <a:pt x="1004" y="93"/>
                      <a:pt x="1195" y="50"/>
                      <a:pt x="1347" y="33"/>
                    </a:cubicBezTo>
                    <a:cubicBezTo>
                      <a:pt x="1499" y="16"/>
                      <a:pt x="1708" y="0"/>
                      <a:pt x="1707" y="161"/>
                    </a:cubicBezTo>
                    <a:cubicBezTo>
                      <a:pt x="1706" y="322"/>
                      <a:pt x="1608" y="850"/>
                      <a:pt x="1339" y="1001"/>
                    </a:cubicBezTo>
                    <a:cubicBezTo>
                      <a:pt x="1070" y="1152"/>
                      <a:pt x="182" y="1188"/>
                      <a:pt x="91" y="1065"/>
                    </a:cubicBezTo>
                    <a:close/>
                  </a:path>
                </a:pathLst>
              </a:custGeom>
              <a:noFill/>
              <a:ln w="9525">
                <a:solidFill>
                  <a:srgbClr val="6600CC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23669" name="Text Box 281"/>
              <p:cNvSpPr txBox="1">
                <a:spLocks noChangeArrowheads="1"/>
              </p:cNvSpPr>
              <p:nvPr/>
            </p:nvSpPr>
            <p:spPr bwMode="auto">
              <a:xfrm rot="-2905133">
                <a:off x="1314" y="2748"/>
                <a:ext cx="1017" cy="372"/>
              </a:xfrm>
              <a:prstGeom prst="rect">
                <a:avLst/>
              </a:prstGeom>
              <a:noFill/>
              <a:ln w="9525">
                <a:solidFill>
                  <a:srgbClr val="6600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r>
                  <a:rPr lang="en-US" altLang="en-US" sz="1600">
                    <a:solidFill>
                      <a:srgbClr val="6600CC"/>
                    </a:solidFill>
                  </a:rPr>
                  <a:t>Sub-circuit has 2 inputs, 2 outputs</a:t>
                </a:r>
              </a:p>
            </p:txBody>
          </p:sp>
        </p:grpSp>
        <p:sp>
          <p:nvSpPr>
            <p:cNvPr id="23667" name="Freeform 290"/>
            <p:cNvSpPr>
              <a:spLocks/>
            </p:cNvSpPr>
            <p:nvPr/>
          </p:nvSpPr>
          <p:spPr bwMode="auto">
            <a:xfrm>
              <a:off x="2040" y="2432"/>
              <a:ext cx="2147" cy="783"/>
            </a:xfrm>
            <a:custGeom>
              <a:avLst/>
              <a:gdLst>
                <a:gd name="T0" fmla="*/ 0 w 2232"/>
                <a:gd name="T1" fmla="*/ 0 h 1479"/>
                <a:gd name="T2" fmla="*/ 1224 w 2232"/>
                <a:gd name="T3" fmla="*/ 1384 h 1479"/>
                <a:gd name="T4" fmla="*/ 2232 w 2232"/>
                <a:gd name="T5" fmla="*/ 568 h 1479"/>
                <a:gd name="T6" fmla="*/ 0 60000 65536"/>
                <a:gd name="T7" fmla="*/ 0 60000 65536"/>
                <a:gd name="T8" fmla="*/ 0 60000 65536"/>
                <a:gd name="T9" fmla="*/ 0 w 2232"/>
                <a:gd name="T10" fmla="*/ 0 h 1479"/>
                <a:gd name="T11" fmla="*/ 2232 w 2232"/>
                <a:gd name="T12" fmla="*/ 1479 h 14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32" h="1479">
                  <a:moveTo>
                    <a:pt x="0" y="0"/>
                  </a:moveTo>
                  <a:cubicBezTo>
                    <a:pt x="426" y="644"/>
                    <a:pt x="852" y="1289"/>
                    <a:pt x="1224" y="1384"/>
                  </a:cubicBezTo>
                  <a:cubicBezTo>
                    <a:pt x="1596" y="1479"/>
                    <a:pt x="1914" y="1023"/>
                    <a:pt x="2232" y="568"/>
                  </a:cubicBezTo>
                </a:path>
              </a:pathLst>
            </a:custGeom>
            <a:noFill/>
            <a:ln w="9525">
              <a:solidFill>
                <a:srgbClr val="6600CC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5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29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49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FPGAs With Numerous Small LUTS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78EF7AC-325E-49D0-8897-E637594B55B4}" type="slidenum">
              <a:rPr lang="de-DE" smtClean="0"/>
              <a:pPr/>
              <a:t>30</a:t>
            </a:fld>
            <a:endParaRPr lang="de-DE" dirty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002889" y="2553176"/>
            <a:ext cx="1463675" cy="1473200"/>
          </a:xfrm>
          <a:prstGeom prst="rect">
            <a:avLst/>
          </a:prstGeom>
          <a:noFill/>
          <a:ln w="15875">
            <a:solidFill>
              <a:srgbClr val="0078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1241014" y="2643663"/>
            <a:ext cx="457200" cy="401638"/>
          </a:xfrm>
          <a:custGeom>
            <a:avLst/>
            <a:gdLst>
              <a:gd name="T0" fmla="*/ 0 w 92"/>
              <a:gd name="T1" fmla="*/ 401638 h 81"/>
              <a:gd name="T2" fmla="*/ 253448 w 92"/>
              <a:gd name="T3" fmla="*/ 401638 h 81"/>
              <a:gd name="T4" fmla="*/ 457200 w 92"/>
              <a:gd name="T5" fmla="*/ 203298 h 81"/>
              <a:gd name="T6" fmla="*/ 253448 w 92"/>
              <a:gd name="T7" fmla="*/ 0 h 81"/>
              <a:gd name="T8" fmla="*/ 0 w 92"/>
              <a:gd name="T9" fmla="*/ 0 h 81"/>
              <a:gd name="T10" fmla="*/ 0 w 92"/>
              <a:gd name="T11" fmla="*/ 401638 h 8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2"/>
              <a:gd name="T19" fmla="*/ 0 h 81"/>
              <a:gd name="T20" fmla="*/ 92 w 92"/>
              <a:gd name="T21" fmla="*/ 81 h 8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2" h="81">
                <a:moveTo>
                  <a:pt x="0" y="81"/>
                </a:moveTo>
                <a:cubicBezTo>
                  <a:pt x="51" y="81"/>
                  <a:pt x="51" y="81"/>
                  <a:pt x="51" y="81"/>
                </a:cubicBezTo>
                <a:cubicBezTo>
                  <a:pt x="74" y="81"/>
                  <a:pt x="92" y="63"/>
                  <a:pt x="92" y="41"/>
                </a:cubicBezTo>
                <a:cubicBezTo>
                  <a:pt x="92" y="18"/>
                  <a:pt x="74" y="0"/>
                  <a:pt x="51" y="0"/>
                </a:cubicBezTo>
                <a:cubicBezTo>
                  <a:pt x="0" y="0"/>
                  <a:pt x="0" y="0"/>
                  <a:pt x="0" y="0"/>
                </a:cubicBezTo>
                <a:lnTo>
                  <a:pt x="0" y="81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1241014" y="3094513"/>
            <a:ext cx="457200" cy="401638"/>
          </a:xfrm>
          <a:custGeom>
            <a:avLst/>
            <a:gdLst>
              <a:gd name="T0" fmla="*/ 0 w 92"/>
              <a:gd name="T1" fmla="*/ 401638 h 81"/>
              <a:gd name="T2" fmla="*/ 253448 w 92"/>
              <a:gd name="T3" fmla="*/ 401638 h 81"/>
              <a:gd name="T4" fmla="*/ 457200 w 92"/>
              <a:gd name="T5" fmla="*/ 198340 h 81"/>
              <a:gd name="T6" fmla="*/ 253448 w 92"/>
              <a:gd name="T7" fmla="*/ 0 h 81"/>
              <a:gd name="T8" fmla="*/ 0 w 92"/>
              <a:gd name="T9" fmla="*/ 0 h 81"/>
              <a:gd name="T10" fmla="*/ 0 w 92"/>
              <a:gd name="T11" fmla="*/ 401638 h 8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2"/>
              <a:gd name="T19" fmla="*/ 0 h 81"/>
              <a:gd name="T20" fmla="*/ 92 w 92"/>
              <a:gd name="T21" fmla="*/ 81 h 8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2" h="81">
                <a:moveTo>
                  <a:pt x="0" y="81"/>
                </a:moveTo>
                <a:cubicBezTo>
                  <a:pt x="51" y="81"/>
                  <a:pt x="51" y="81"/>
                  <a:pt x="51" y="81"/>
                </a:cubicBezTo>
                <a:cubicBezTo>
                  <a:pt x="74" y="81"/>
                  <a:pt x="92" y="63"/>
                  <a:pt x="92" y="40"/>
                </a:cubicBezTo>
                <a:cubicBezTo>
                  <a:pt x="92" y="18"/>
                  <a:pt x="74" y="0"/>
                  <a:pt x="51" y="0"/>
                </a:cubicBezTo>
                <a:cubicBezTo>
                  <a:pt x="0" y="0"/>
                  <a:pt x="0" y="0"/>
                  <a:pt x="0" y="0"/>
                </a:cubicBezTo>
                <a:lnTo>
                  <a:pt x="0" y="81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1698214" y="3292951"/>
            <a:ext cx="277812" cy="1587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>
            <a:spLocks/>
          </p:cNvSpPr>
          <p:nvPr/>
        </p:nvSpPr>
        <p:spPr bwMode="auto">
          <a:xfrm>
            <a:off x="1241014" y="3545363"/>
            <a:ext cx="457200" cy="396875"/>
          </a:xfrm>
          <a:custGeom>
            <a:avLst/>
            <a:gdLst>
              <a:gd name="T0" fmla="*/ 0 w 92"/>
              <a:gd name="T1" fmla="*/ 396875 h 80"/>
              <a:gd name="T2" fmla="*/ 253448 w 92"/>
              <a:gd name="T3" fmla="*/ 396875 h 80"/>
              <a:gd name="T4" fmla="*/ 457200 w 92"/>
              <a:gd name="T5" fmla="*/ 198438 h 80"/>
              <a:gd name="T6" fmla="*/ 253448 w 92"/>
              <a:gd name="T7" fmla="*/ 0 h 80"/>
              <a:gd name="T8" fmla="*/ 0 w 92"/>
              <a:gd name="T9" fmla="*/ 0 h 80"/>
              <a:gd name="T10" fmla="*/ 0 w 92"/>
              <a:gd name="T11" fmla="*/ 396875 h 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2"/>
              <a:gd name="T19" fmla="*/ 0 h 80"/>
              <a:gd name="T20" fmla="*/ 92 w 92"/>
              <a:gd name="T21" fmla="*/ 80 h 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2" h="80">
                <a:moveTo>
                  <a:pt x="0" y="80"/>
                </a:moveTo>
                <a:cubicBezTo>
                  <a:pt x="51" y="80"/>
                  <a:pt x="51" y="80"/>
                  <a:pt x="51" y="80"/>
                </a:cubicBezTo>
                <a:cubicBezTo>
                  <a:pt x="74" y="80"/>
                  <a:pt x="92" y="62"/>
                  <a:pt x="92" y="40"/>
                </a:cubicBezTo>
                <a:cubicBezTo>
                  <a:pt x="92" y="18"/>
                  <a:pt x="74" y="0"/>
                  <a:pt x="51" y="0"/>
                </a:cubicBezTo>
                <a:cubicBezTo>
                  <a:pt x="0" y="0"/>
                  <a:pt x="0" y="0"/>
                  <a:pt x="0" y="0"/>
                </a:cubicBezTo>
                <a:lnTo>
                  <a:pt x="0" y="8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1915701" y="3089751"/>
            <a:ext cx="401638" cy="396875"/>
          </a:xfrm>
          <a:custGeom>
            <a:avLst/>
            <a:gdLst>
              <a:gd name="T0" fmla="*/ 401638 w 81"/>
              <a:gd name="T1" fmla="*/ 198438 h 80"/>
              <a:gd name="T2" fmla="*/ 0 w 81"/>
              <a:gd name="T3" fmla="*/ 396875 h 80"/>
              <a:gd name="T4" fmla="*/ 59502 w 81"/>
              <a:gd name="T5" fmla="*/ 203398 h 80"/>
              <a:gd name="T6" fmla="*/ 59502 w 81"/>
              <a:gd name="T7" fmla="*/ 198438 h 80"/>
              <a:gd name="T8" fmla="*/ 0 w 81"/>
              <a:gd name="T9" fmla="*/ 0 h 80"/>
              <a:gd name="T10" fmla="*/ 401638 w 81"/>
              <a:gd name="T11" fmla="*/ 198438 h 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1"/>
              <a:gd name="T19" fmla="*/ 0 h 80"/>
              <a:gd name="T20" fmla="*/ 81 w 81"/>
              <a:gd name="T21" fmla="*/ 80 h 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1" h="80">
                <a:moveTo>
                  <a:pt x="81" y="40"/>
                </a:moveTo>
                <a:cubicBezTo>
                  <a:pt x="81" y="40"/>
                  <a:pt x="62" y="80"/>
                  <a:pt x="0" y="80"/>
                </a:cubicBezTo>
                <a:cubicBezTo>
                  <a:pt x="0" y="80"/>
                  <a:pt x="12" y="76"/>
                  <a:pt x="12" y="41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5"/>
                  <a:pt x="0" y="0"/>
                  <a:pt x="0" y="0"/>
                </a:cubicBezTo>
                <a:cubicBezTo>
                  <a:pt x="62" y="0"/>
                  <a:pt x="81" y="40"/>
                  <a:pt x="81" y="40"/>
                </a:cubicBezTo>
                <a:close/>
              </a:path>
            </a:pathLst>
          </a:custGeom>
          <a:solidFill>
            <a:srgbClr val="FFFFFF"/>
          </a:solidFill>
          <a:ln w="15875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1698214" y="2842101"/>
            <a:ext cx="271462" cy="346075"/>
          </a:xfrm>
          <a:custGeom>
            <a:avLst/>
            <a:gdLst>
              <a:gd name="T0" fmla="*/ 0 w 171"/>
              <a:gd name="T1" fmla="*/ 0 h 218"/>
              <a:gd name="T2" fmla="*/ 103187 w 171"/>
              <a:gd name="T3" fmla="*/ 0 h 218"/>
              <a:gd name="T4" fmla="*/ 103187 w 171"/>
              <a:gd name="T5" fmla="*/ 346075 h 218"/>
              <a:gd name="T6" fmla="*/ 271462 w 171"/>
              <a:gd name="T7" fmla="*/ 346075 h 218"/>
              <a:gd name="T8" fmla="*/ 0 60000 65536"/>
              <a:gd name="T9" fmla="*/ 0 60000 65536"/>
              <a:gd name="T10" fmla="*/ 0 60000 65536"/>
              <a:gd name="T11" fmla="*/ 0 60000 65536"/>
              <a:gd name="T12" fmla="*/ 0 w 171"/>
              <a:gd name="T13" fmla="*/ 0 h 218"/>
              <a:gd name="T14" fmla="*/ 171 w 171"/>
              <a:gd name="T15" fmla="*/ 218 h 21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1" h="218">
                <a:moveTo>
                  <a:pt x="0" y="0"/>
                </a:moveTo>
                <a:lnTo>
                  <a:pt x="65" y="0"/>
                </a:lnTo>
                <a:lnTo>
                  <a:pt x="65" y="218"/>
                </a:lnTo>
                <a:lnTo>
                  <a:pt x="171" y="218"/>
                </a:lnTo>
              </a:path>
            </a:pathLst>
          </a:cu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1698214" y="3386613"/>
            <a:ext cx="271462" cy="357188"/>
          </a:xfrm>
          <a:custGeom>
            <a:avLst/>
            <a:gdLst>
              <a:gd name="T0" fmla="*/ 0 w 171"/>
              <a:gd name="T1" fmla="*/ 357188 h 225"/>
              <a:gd name="T2" fmla="*/ 103187 w 171"/>
              <a:gd name="T3" fmla="*/ 357188 h 225"/>
              <a:gd name="T4" fmla="*/ 103187 w 171"/>
              <a:gd name="T5" fmla="*/ 0 h 225"/>
              <a:gd name="T6" fmla="*/ 271462 w 171"/>
              <a:gd name="T7" fmla="*/ 0 h 225"/>
              <a:gd name="T8" fmla="*/ 0 60000 65536"/>
              <a:gd name="T9" fmla="*/ 0 60000 65536"/>
              <a:gd name="T10" fmla="*/ 0 60000 65536"/>
              <a:gd name="T11" fmla="*/ 0 60000 65536"/>
              <a:gd name="T12" fmla="*/ 0 w 171"/>
              <a:gd name="T13" fmla="*/ 0 h 225"/>
              <a:gd name="T14" fmla="*/ 171 w 171"/>
              <a:gd name="T15" fmla="*/ 225 h 2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1" h="225">
                <a:moveTo>
                  <a:pt x="0" y="225"/>
                </a:moveTo>
                <a:lnTo>
                  <a:pt x="65" y="225"/>
                </a:lnTo>
                <a:lnTo>
                  <a:pt x="65" y="0"/>
                </a:lnTo>
                <a:lnTo>
                  <a:pt x="171" y="0"/>
                </a:lnTo>
              </a:path>
            </a:pathLst>
          </a:cu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2317339" y="3288188"/>
            <a:ext cx="277812" cy="1588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5" name="Line 48"/>
          <p:cNvSpPr>
            <a:spLocks noChangeShapeType="1"/>
          </p:cNvSpPr>
          <p:nvPr/>
        </p:nvSpPr>
        <p:spPr bwMode="auto">
          <a:xfrm>
            <a:off x="785401" y="2683351"/>
            <a:ext cx="317500" cy="1587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6" name="Freeform 49"/>
          <p:cNvSpPr>
            <a:spLocks/>
          </p:cNvSpPr>
          <p:nvPr/>
        </p:nvSpPr>
        <p:spPr bwMode="auto">
          <a:xfrm>
            <a:off x="1072739" y="2648426"/>
            <a:ext cx="158750" cy="79375"/>
          </a:xfrm>
          <a:custGeom>
            <a:avLst/>
            <a:gdLst>
              <a:gd name="T0" fmla="*/ 158750 w 100"/>
              <a:gd name="T1" fmla="*/ 39688 h 50"/>
              <a:gd name="T2" fmla="*/ 0 w 100"/>
              <a:gd name="T3" fmla="*/ 0 h 50"/>
              <a:gd name="T4" fmla="*/ 0 w 100"/>
              <a:gd name="T5" fmla="*/ 79375 h 50"/>
              <a:gd name="T6" fmla="*/ 158750 w 100"/>
              <a:gd name="T7" fmla="*/ 39688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Line 50"/>
          <p:cNvSpPr>
            <a:spLocks noChangeShapeType="1"/>
          </p:cNvSpPr>
          <p:nvPr/>
        </p:nvSpPr>
        <p:spPr bwMode="auto">
          <a:xfrm>
            <a:off x="785401" y="2842101"/>
            <a:ext cx="317500" cy="1587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" name="Freeform 51"/>
          <p:cNvSpPr>
            <a:spLocks/>
          </p:cNvSpPr>
          <p:nvPr/>
        </p:nvSpPr>
        <p:spPr bwMode="auto">
          <a:xfrm>
            <a:off x="1072739" y="2802413"/>
            <a:ext cx="158750" cy="79375"/>
          </a:xfrm>
          <a:custGeom>
            <a:avLst/>
            <a:gdLst>
              <a:gd name="T0" fmla="*/ 158750 w 100"/>
              <a:gd name="T1" fmla="*/ 39688 h 50"/>
              <a:gd name="T2" fmla="*/ 0 w 100"/>
              <a:gd name="T3" fmla="*/ 0 h 50"/>
              <a:gd name="T4" fmla="*/ 0 w 100"/>
              <a:gd name="T5" fmla="*/ 79375 h 50"/>
              <a:gd name="T6" fmla="*/ 158750 w 100"/>
              <a:gd name="T7" fmla="*/ 39688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Line 52"/>
          <p:cNvSpPr>
            <a:spLocks noChangeShapeType="1"/>
          </p:cNvSpPr>
          <p:nvPr/>
        </p:nvSpPr>
        <p:spPr bwMode="auto">
          <a:xfrm>
            <a:off x="785401" y="2994501"/>
            <a:ext cx="317500" cy="1587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" name="Freeform 53"/>
          <p:cNvSpPr>
            <a:spLocks/>
          </p:cNvSpPr>
          <p:nvPr/>
        </p:nvSpPr>
        <p:spPr bwMode="auto">
          <a:xfrm>
            <a:off x="1072739" y="2954813"/>
            <a:ext cx="158750" cy="79375"/>
          </a:xfrm>
          <a:custGeom>
            <a:avLst/>
            <a:gdLst>
              <a:gd name="T0" fmla="*/ 158750 w 100"/>
              <a:gd name="T1" fmla="*/ 39688 h 50"/>
              <a:gd name="T2" fmla="*/ 0 w 100"/>
              <a:gd name="T3" fmla="*/ 0 h 50"/>
              <a:gd name="T4" fmla="*/ 0 w 100"/>
              <a:gd name="T5" fmla="*/ 79375 h 50"/>
              <a:gd name="T6" fmla="*/ 158750 w 100"/>
              <a:gd name="T7" fmla="*/ 39688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Rectangle 54"/>
          <p:cNvSpPr>
            <a:spLocks noChangeArrowheads="1"/>
          </p:cNvSpPr>
          <p:nvPr/>
        </p:nvSpPr>
        <p:spPr bwMode="auto">
          <a:xfrm>
            <a:off x="686976" y="2573813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a</a:t>
            </a:r>
            <a:endParaRPr lang="en-US" altLang="en-US"/>
          </a:p>
        </p:txBody>
      </p:sp>
      <p:sp>
        <p:nvSpPr>
          <p:cNvPr id="22" name="Rectangle 55"/>
          <p:cNvSpPr>
            <a:spLocks noChangeArrowheads="1"/>
          </p:cNvSpPr>
          <p:nvPr/>
        </p:nvSpPr>
        <p:spPr bwMode="auto">
          <a:xfrm>
            <a:off x="690151" y="2888138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c</a:t>
            </a:r>
            <a:endParaRPr lang="en-US" altLang="en-US"/>
          </a:p>
        </p:txBody>
      </p:sp>
      <p:sp>
        <p:nvSpPr>
          <p:cNvPr id="23" name="Rectangle 56"/>
          <p:cNvSpPr>
            <a:spLocks noChangeArrowheads="1"/>
          </p:cNvSpPr>
          <p:nvPr/>
        </p:nvSpPr>
        <p:spPr bwMode="auto">
          <a:xfrm>
            <a:off x="680626" y="2743676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b</a:t>
            </a:r>
            <a:endParaRPr lang="en-US" altLang="en-US"/>
          </a:p>
        </p:txBody>
      </p:sp>
      <p:sp>
        <p:nvSpPr>
          <p:cNvPr id="24" name="Line 57"/>
          <p:cNvSpPr>
            <a:spLocks noChangeShapeType="1"/>
          </p:cNvSpPr>
          <p:nvPr/>
        </p:nvSpPr>
        <p:spPr bwMode="auto">
          <a:xfrm>
            <a:off x="785401" y="3138963"/>
            <a:ext cx="317500" cy="1588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" name="Freeform 58"/>
          <p:cNvSpPr>
            <a:spLocks/>
          </p:cNvSpPr>
          <p:nvPr/>
        </p:nvSpPr>
        <p:spPr bwMode="auto">
          <a:xfrm>
            <a:off x="1072739" y="3104038"/>
            <a:ext cx="158750" cy="79375"/>
          </a:xfrm>
          <a:custGeom>
            <a:avLst/>
            <a:gdLst>
              <a:gd name="T0" fmla="*/ 158750 w 100"/>
              <a:gd name="T1" fmla="*/ 39688 h 50"/>
              <a:gd name="T2" fmla="*/ 0 w 100"/>
              <a:gd name="T3" fmla="*/ 0 h 50"/>
              <a:gd name="T4" fmla="*/ 0 w 100"/>
              <a:gd name="T5" fmla="*/ 79375 h 50"/>
              <a:gd name="T6" fmla="*/ 158750 w 100"/>
              <a:gd name="T7" fmla="*/ 39688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Line 59"/>
          <p:cNvSpPr>
            <a:spLocks noChangeShapeType="1"/>
          </p:cNvSpPr>
          <p:nvPr/>
        </p:nvSpPr>
        <p:spPr bwMode="auto">
          <a:xfrm>
            <a:off x="785401" y="3297713"/>
            <a:ext cx="317500" cy="1588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" name="Freeform 60"/>
          <p:cNvSpPr>
            <a:spLocks/>
          </p:cNvSpPr>
          <p:nvPr/>
        </p:nvSpPr>
        <p:spPr bwMode="auto">
          <a:xfrm>
            <a:off x="1072739" y="3262788"/>
            <a:ext cx="158750" cy="79375"/>
          </a:xfrm>
          <a:custGeom>
            <a:avLst/>
            <a:gdLst>
              <a:gd name="T0" fmla="*/ 158750 w 100"/>
              <a:gd name="T1" fmla="*/ 39688 h 50"/>
              <a:gd name="T2" fmla="*/ 0 w 100"/>
              <a:gd name="T3" fmla="*/ 0 h 50"/>
              <a:gd name="T4" fmla="*/ 0 w 100"/>
              <a:gd name="T5" fmla="*/ 79375 h 50"/>
              <a:gd name="T6" fmla="*/ 158750 w 100"/>
              <a:gd name="T7" fmla="*/ 39688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" name="Freeform 61"/>
          <p:cNvSpPr>
            <a:spLocks/>
          </p:cNvSpPr>
          <p:nvPr/>
        </p:nvSpPr>
        <p:spPr bwMode="auto">
          <a:xfrm>
            <a:off x="2536414" y="3253263"/>
            <a:ext cx="158750" cy="79375"/>
          </a:xfrm>
          <a:custGeom>
            <a:avLst/>
            <a:gdLst>
              <a:gd name="T0" fmla="*/ 158750 w 100"/>
              <a:gd name="T1" fmla="*/ 39688 h 50"/>
              <a:gd name="T2" fmla="*/ 0 w 100"/>
              <a:gd name="T3" fmla="*/ 0 h 50"/>
              <a:gd name="T4" fmla="*/ 0 w 100"/>
              <a:gd name="T5" fmla="*/ 79375 h 50"/>
              <a:gd name="T6" fmla="*/ 158750 w 100"/>
              <a:gd name="T7" fmla="*/ 39688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" name="Line 62"/>
          <p:cNvSpPr>
            <a:spLocks noChangeShapeType="1"/>
          </p:cNvSpPr>
          <p:nvPr/>
        </p:nvSpPr>
        <p:spPr bwMode="auto">
          <a:xfrm>
            <a:off x="785401" y="3451701"/>
            <a:ext cx="317500" cy="1587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" name="Freeform 63"/>
          <p:cNvSpPr>
            <a:spLocks/>
          </p:cNvSpPr>
          <p:nvPr/>
        </p:nvSpPr>
        <p:spPr bwMode="auto">
          <a:xfrm>
            <a:off x="1072739" y="3412013"/>
            <a:ext cx="158750" cy="79375"/>
          </a:xfrm>
          <a:custGeom>
            <a:avLst/>
            <a:gdLst>
              <a:gd name="T0" fmla="*/ 158750 w 100"/>
              <a:gd name="T1" fmla="*/ 39688 h 50"/>
              <a:gd name="T2" fmla="*/ 0 w 100"/>
              <a:gd name="T3" fmla="*/ 0 h 50"/>
              <a:gd name="T4" fmla="*/ 0 w 100"/>
              <a:gd name="T5" fmla="*/ 79375 h 50"/>
              <a:gd name="T6" fmla="*/ 158750 w 100"/>
              <a:gd name="T7" fmla="*/ 39688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" name="Line 64"/>
          <p:cNvSpPr>
            <a:spLocks noChangeShapeType="1"/>
          </p:cNvSpPr>
          <p:nvPr/>
        </p:nvSpPr>
        <p:spPr bwMode="auto">
          <a:xfrm>
            <a:off x="785401" y="3585051"/>
            <a:ext cx="317500" cy="1587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" name="Freeform 65"/>
          <p:cNvSpPr>
            <a:spLocks/>
          </p:cNvSpPr>
          <p:nvPr/>
        </p:nvSpPr>
        <p:spPr bwMode="auto">
          <a:xfrm>
            <a:off x="1072739" y="3545363"/>
            <a:ext cx="158750" cy="79375"/>
          </a:xfrm>
          <a:custGeom>
            <a:avLst/>
            <a:gdLst>
              <a:gd name="T0" fmla="*/ 158750 w 100"/>
              <a:gd name="T1" fmla="*/ 39688 h 50"/>
              <a:gd name="T2" fmla="*/ 0 w 100"/>
              <a:gd name="T3" fmla="*/ 0 h 50"/>
              <a:gd name="T4" fmla="*/ 0 w 100"/>
              <a:gd name="T5" fmla="*/ 79375 h 50"/>
              <a:gd name="T6" fmla="*/ 158750 w 100"/>
              <a:gd name="T7" fmla="*/ 39688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3" name="Line 66"/>
          <p:cNvSpPr>
            <a:spLocks noChangeShapeType="1"/>
          </p:cNvSpPr>
          <p:nvPr/>
        </p:nvSpPr>
        <p:spPr bwMode="auto">
          <a:xfrm>
            <a:off x="785401" y="3897788"/>
            <a:ext cx="317500" cy="1588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4" name="Freeform 67"/>
          <p:cNvSpPr>
            <a:spLocks/>
          </p:cNvSpPr>
          <p:nvPr/>
        </p:nvSpPr>
        <p:spPr bwMode="auto">
          <a:xfrm>
            <a:off x="1072739" y="3858101"/>
            <a:ext cx="158750" cy="79375"/>
          </a:xfrm>
          <a:custGeom>
            <a:avLst/>
            <a:gdLst>
              <a:gd name="T0" fmla="*/ 158750 w 100"/>
              <a:gd name="T1" fmla="*/ 39688 h 50"/>
              <a:gd name="T2" fmla="*/ 0 w 100"/>
              <a:gd name="T3" fmla="*/ 0 h 50"/>
              <a:gd name="T4" fmla="*/ 0 w 100"/>
              <a:gd name="T5" fmla="*/ 79375 h 50"/>
              <a:gd name="T6" fmla="*/ 158750 w 100"/>
              <a:gd name="T7" fmla="*/ 39688 h 50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50"/>
              <a:gd name="T14" fmla="*/ 100 w 10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50">
                <a:moveTo>
                  <a:pt x="100" y="25"/>
                </a:moveTo>
                <a:lnTo>
                  <a:pt x="0" y="0"/>
                </a:lnTo>
                <a:lnTo>
                  <a:pt x="0" y="50"/>
                </a:lnTo>
                <a:lnTo>
                  <a:pt x="100" y="2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" name="Rectangle 68"/>
          <p:cNvSpPr>
            <a:spLocks noChangeArrowheads="1"/>
          </p:cNvSpPr>
          <p:nvPr/>
        </p:nvSpPr>
        <p:spPr bwMode="auto">
          <a:xfrm>
            <a:off x="680626" y="3046888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d</a:t>
            </a:r>
            <a:endParaRPr lang="en-US" altLang="en-US"/>
          </a:p>
        </p:txBody>
      </p:sp>
      <p:sp>
        <p:nvSpPr>
          <p:cNvPr id="36" name="Rectangle 69"/>
          <p:cNvSpPr>
            <a:spLocks noChangeArrowheads="1"/>
          </p:cNvSpPr>
          <p:nvPr/>
        </p:nvSpPr>
        <p:spPr bwMode="auto">
          <a:xfrm>
            <a:off x="702851" y="3345338"/>
            <a:ext cx="46038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f</a:t>
            </a:r>
            <a:endParaRPr lang="en-US" altLang="en-US"/>
          </a:p>
        </p:txBody>
      </p:sp>
      <p:sp>
        <p:nvSpPr>
          <p:cNvPr id="37" name="Rectangle 70"/>
          <p:cNvSpPr>
            <a:spLocks noChangeArrowheads="1"/>
          </p:cNvSpPr>
          <p:nvPr/>
        </p:nvSpPr>
        <p:spPr bwMode="auto">
          <a:xfrm>
            <a:off x="682214" y="3470751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g</a:t>
            </a:r>
            <a:endParaRPr lang="en-US" altLang="en-US"/>
          </a:p>
        </p:txBody>
      </p:sp>
      <p:sp>
        <p:nvSpPr>
          <p:cNvPr id="38" name="Rectangle 71"/>
          <p:cNvSpPr>
            <a:spLocks noChangeArrowheads="1"/>
          </p:cNvSpPr>
          <p:nvPr/>
        </p:nvSpPr>
        <p:spPr bwMode="auto">
          <a:xfrm>
            <a:off x="2707864" y="3202463"/>
            <a:ext cx="1016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F</a:t>
            </a:r>
            <a:endParaRPr lang="en-US" altLang="en-US"/>
          </a:p>
        </p:txBody>
      </p:sp>
      <p:sp>
        <p:nvSpPr>
          <p:cNvPr id="39" name="Rectangle 72"/>
          <p:cNvSpPr>
            <a:spLocks noChangeArrowheads="1"/>
          </p:cNvSpPr>
          <p:nvPr/>
        </p:nvSpPr>
        <p:spPr bwMode="auto">
          <a:xfrm>
            <a:off x="707614" y="3807301"/>
            <a:ext cx="3651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i</a:t>
            </a:r>
            <a:endParaRPr lang="en-US" altLang="en-US"/>
          </a:p>
        </p:txBody>
      </p:sp>
      <p:sp>
        <p:nvSpPr>
          <p:cNvPr id="40" name="Rectangle 73"/>
          <p:cNvSpPr>
            <a:spLocks noChangeArrowheads="1"/>
          </p:cNvSpPr>
          <p:nvPr/>
        </p:nvSpPr>
        <p:spPr bwMode="auto">
          <a:xfrm>
            <a:off x="686976" y="3196113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e</a:t>
            </a:r>
            <a:endParaRPr lang="en-US" altLang="en-US"/>
          </a:p>
        </p:txBody>
      </p:sp>
      <p:sp>
        <p:nvSpPr>
          <p:cNvPr id="41" name="Rectangle 74"/>
          <p:cNvSpPr>
            <a:spLocks noChangeArrowheads="1"/>
          </p:cNvSpPr>
          <p:nvPr/>
        </p:nvSpPr>
        <p:spPr bwMode="auto">
          <a:xfrm>
            <a:off x="682214" y="3653313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h</a:t>
            </a:r>
            <a:endParaRPr lang="en-US" altLang="en-US"/>
          </a:p>
        </p:txBody>
      </p:sp>
      <p:sp>
        <p:nvSpPr>
          <p:cNvPr id="42" name="Rectangle 86"/>
          <p:cNvSpPr>
            <a:spLocks noChangeArrowheads="1"/>
          </p:cNvSpPr>
          <p:nvPr/>
        </p:nvSpPr>
        <p:spPr bwMode="auto">
          <a:xfrm>
            <a:off x="1653764" y="4135913"/>
            <a:ext cx="5556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(</a:t>
            </a:r>
            <a:endParaRPr lang="en-US" altLang="en-US"/>
          </a:p>
        </p:txBody>
      </p:sp>
      <p:sp>
        <p:nvSpPr>
          <p:cNvPr id="43" name="Rectangle 87"/>
          <p:cNvSpPr>
            <a:spLocks noChangeArrowheads="1"/>
          </p:cNvSpPr>
          <p:nvPr/>
        </p:nvSpPr>
        <p:spPr bwMode="auto">
          <a:xfrm>
            <a:off x="1698214" y="4135913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 dirty="0">
                <a:solidFill>
                  <a:srgbClr val="000000"/>
                </a:solidFill>
                <a:latin typeface="Myriad Roman" charset="0"/>
              </a:rPr>
              <a:t>a</a:t>
            </a:r>
            <a:endParaRPr lang="en-US" altLang="en-US" dirty="0"/>
          </a:p>
        </p:txBody>
      </p:sp>
      <p:sp>
        <p:nvSpPr>
          <p:cNvPr id="44" name="Rectangle 88"/>
          <p:cNvSpPr>
            <a:spLocks noChangeArrowheads="1"/>
          </p:cNvSpPr>
          <p:nvPr/>
        </p:nvSpPr>
        <p:spPr bwMode="auto">
          <a:xfrm>
            <a:off x="1776001" y="4135913"/>
            <a:ext cx="5556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)</a:t>
            </a:r>
            <a:endParaRPr lang="en-US" altLang="en-US"/>
          </a:p>
        </p:txBody>
      </p:sp>
      <p:sp>
        <p:nvSpPr>
          <p:cNvPr id="45" name="Text Box 112"/>
          <p:cNvSpPr txBox="1">
            <a:spLocks noChangeArrowheads="1"/>
          </p:cNvSpPr>
          <p:nvPr/>
        </p:nvSpPr>
        <p:spPr bwMode="auto">
          <a:xfrm>
            <a:off x="307628" y="4547076"/>
            <a:ext cx="24160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 altLang="en-US" sz="1800" dirty="0">
                <a:latin typeface="+mn-lt"/>
              </a:rPr>
              <a:t>Original 9-input circuit</a:t>
            </a:r>
          </a:p>
        </p:txBody>
      </p:sp>
      <p:grpSp>
        <p:nvGrpSpPr>
          <p:cNvPr id="46" name="Group 117"/>
          <p:cNvGrpSpPr>
            <a:grpSpLocks/>
          </p:cNvGrpSpPr>
          <p:nvPr/>
        </p:nvGrpSpPr>
        <p:grpSpPr bwMode="auto">
          <a:xfrm>
            <a:off x="3201309" y="2508726"/>
            <a:ext cx="2368550" cy="2595563"/>
            <a:chOff x="2310" y="1589"/>
            <a:chExt cx="1492" cy="1635"/>
          </a:xfrm>
        </p:grpSpPr>
        <p:sp>
          <p:nvSpPr>
            <p:cNvPr id="47" name="Line 15"/>
            <p:cNvSpPr>
              <a:spLocks noChangeShapeType="1"/>
            </p:cNvSpPr>
            <p:nvPr/>
          </p:nvSpPr>
          <p:spPr bwMode="auto">
            <a:xfrm>
              <a:off x="2417" y="1658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16"/>
            <p:cNvSpPr>
              <a:spLocks/>
            </p:cNvSpPr>
            <p:nvPr/>
          </p:nvSpPr>
          <p:spPr bwMode="auto">
            <a:xfrm>
              <a:off x="2598" y="1633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" name="Line 17"/>
            <p:cNvSpPr>
              <a:spLocks noChangeShapeType="1"/>
            </p:cNvSpPr>
            <p:nvPr/>
          </p:nvSpPr>
          <p:spPr bwMode="auto">
            <a:xfrm>
              <a:off x="2417" y="1758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0" name="Freeform 18"/>
            <p:cNvSpPr>
              <a:spLocks/>
            </p:cNvSpPr>
            <p:nvPr/>
          </p:nvSpPr>
          <p:spPr bwMode="auto">
            <a:xfrm>
              <a:off x="2598" y="1733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1" name="Line 19"/>
            <p:cNvSpPr>
              <a:spLocks noChangeShapeType="1"/>
            </p:cNvSpPr>
            <p:nvPr/>
          </p:nvSpPr>
          <p:spPr bwMode="auto">
            <a:xfrm>
              <a:off x="2417" y="1855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Freeform 20"/>
            <p:cNvSpPr>
              <a:spLocks/>
            </p:cNvSpPr>
            <p:nvPr/>
          </p:nvSpPr>
          <p:spPr bwMode="auto">
            <a:xfrm>
              <a:off x="2598" y="1830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3" name="Line 21"/>
            <p:cNvSpPr>
              <a:spLocks noChangeShapeType="1"/>
            </p:cNvSpPr>
            <p:nvPr/>
          </p:nvSpPr>
          <p:spPr bwMode="auto">
            <a:xfrm>
              <a:off x="2417" y="1983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Freeform 22"/>
            <p:cNvSpPr>
              <a:spLocks/>
            </p:cNvSpPr>
            <p:nvPr/>
          </p:nvSpPr>
          <p:spPr bwMode="auto">
            <a:xfrm>
              <a:off x="2598" y="1958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5" name="Line 23"/>
            <p:cNvSpPr>
              <a:spLocks noChangeShapeType="1"/>
            </p:cNvSpPr>
            <p:nvPr/>
          </p:nvSpPr>
          <p:spPr bwMode="auto">
            <a:xfrm>
              <a:off x="2417" y="2083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6" name="Freeform 24"/>
            <p:cNvSpPr>
              <a:spLocks/>
            </p:cNvSpPr>
            <p:nvPr/>
          </p:nvSpPr>
          <p:spPr bwMode="auto">
            <a:xfrm>
              <a:off x="2598" y="2058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>
              <a:off x="2417" y="2180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8" name="Freeform 26"/>
            <p:cNvSpPr>
              <a:spLocks/>
            </p:cNvSpPr>
            <p:nvPr/>
          </p:nvSpPr>
          <p:spPr bwMode="auto">
            <a:xfrm>
              <a:off x="2598" y="2155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9" name="Freeform 27"/>
            <p:cNvSpPr>
              <a:spLocks/>
            </p:cNvSpPr>
            <p:nvPr/>
          </p:nvSpPr>
          <p:spPr bwMode="auto">
            <a:xfrm>
              <a:off x="2973" y="1758"/>
              <a:ext cx="188" cy="225"/>
            </a:xfrm>
            <a:custGeom>
              <a:avLst/>
              <a:gdLst>
                <a:gd name="T0" fmla="*/ 0 w 188"/>
                <a:gd name="T1" fmla="*/ 0 h 225"/>
                <a:gd name="T2" fmla="*/ 110 w 188"/>
                <a:gd name="T3" fmla="*/ 0 h 225"/>
                <a:gd name="T4" fmla="*/ 110 w 188"/>
                <a:gd name="T5" fmla="*/ 225 h 225"/>
                <a:gd name="T6" fmla="*/ 188 w 188"/>
                <a:gd name="T7" fmla="*/ 225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"/>
                <a:gd name="T13" fmla="*/ 0 h 225"/>
                <a:gd name="T14" fmla="*/ 188 w 188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" h="225">
                  <a:moveTo>
                    <a:pt x="0" y="0"/>
                  </a:moveTo>
                  <a:lnTo>
                    <a:pt x="110" y="0"/>
                  </a:lnTo>
                  <a:lnTo>
                    <a:pt x="110" y="225"/>
                  </a:lnTo>
                  <a:lnTo>
                    <a:pt x="188" y="225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0" name="Freeform 28"/>
            <p:cNvSpPr>
              <a:spLocks/>
            </p:cNvSpPr>
            <p:nvPr/>
          </p:nvSpPr>
          <p:spPr bwMode="auto">
            <a:xfrm>
              <a:off x="3142" y="1958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1" name="Freeform 29"/>
            <p:cNvSpPr>
              <a:spLocks/>
            </p:cNvSpPr>
            <p:nvPr/>
          </p:nvSpPr>
          <p:spPr bwMode="auto">
            <a:xfrm>
              <a:off x="3142" y="2155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2" name="Line 30"/>
            <p:cNvSpPr>
              <a:spLocks noChangeShapeType="1"/>
            </p:cNvSpPr>
            <p:nvPr/>
          </p:nvSpPr>
          <p:spPr bwMode="auto">
            <a:xfrm>
              <a:off x="2979" y="2083"/>
              <a:ext cx="18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3" name="Freeform 31"/>
            <p:cNvSpPr>
              <a:spLocks/>
            </p:cNvSpPr>
            <p:nvPr/>
          </p:nvSpPr>
          <p:spPr bwMode="auto">
            <a:xfrm>
              <a:off x="3142" y="2058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4" name="Line 32"/>
            <p:cNvSpPr>
              <a:spLocks noChangeShapeType="1"/>
            </p:cNvSpPr>
            <p:nvPr/>
          </p:nvSpPr>
          <p:spPr bwMode="auto">
            <a:xfrm>
              <a:off x="3520" y="2083"/>
              <a:ext cx="109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5" name="Freeform 33"/>
            <p:cNvSpPr>
              <a:spLocks/>
            </p:cNvSpPr>
            <p:nvPr/>
          </p:nvSpPr>
          <p:spPr bwMode="auto">
            <a:xfrm>
              <a:off x="3614" y="2058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6" name="Line 34"/>
            <p:cNvSpPr>
              <a:spLocks noChangeShapeType="1"/>
            </p:cNvSpPr>
            <p:nvPr/>
          </p:nvSpPr>
          <p:spPr bwMode="auto">
            <a:xfrm>
              <a:off x="2417" y="2311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7" name="Freeform 35"/>
            <p:cNvSpPr>
              <a:spLocks/>
            </p:cNvSpPr>
            <p:nvPr/>
          </p:nvSpPr>
          <p:spPr bwMode="auto">
            <a:xfrm>
              <a:off x="2598" y="2286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8" name="Line 36"/>
            <p:cNvSpPr>
              <a:spLocks noChangeShapeType="1"/>
            </p:cNvSpPr>
            <p:nvPr/>
          </p:nvSpPr>
          <p:spPr bwMode="auto">
            <a:xfrm>
              <a:off x="2417" y="2408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9" name="Freeform 37"/>
            <p:cNvSpPr>
              <a:spLocks/>
            </p:cNvSpPr>
            <p:nvPr/>
          </p:nvSpPr>
          <p:spPr bwMode="auto">
            <a:xfrm>
              <a:off x="2598" y="2383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0" name="Line 38"/>
            <p:cNvSpPr>
              <a:spLocks noChangeShapeType="1"/>
            </p:cNvSpPr>
            <p:nvPr/>
          </p:nvSpPr>
          <p:spPr bwMode="auto">
            <a:xfrm>
              <a:off x="2417" y="2505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1" name="Freeform 39"/>
            <p:cNvSpPr>
              <a:spLocks/>
            </p:cNvSpPr>
            <p:nvPr/>
          </p:nvSpPr>
          <p:spPr bwMode="auto">
            <a:xfrm>
              <a:off x="2598" y="2480"/>
              <a:ext cx="100" cy="50"/>
            </a:xfrm>
            <a:custGeom>
              <a:avLst/>
              <a:gdLst>
                <a:gd name="T0" fmla="*/ 100 w 100"/>
                <a:gd name="T1" fmla="*/ 25 h 50"/>
                <a:gd name="T2" fmla="*/ 0 w 100"/>
                <a:gd name="T3" fmla="*/ 0 h 50"/>
                <a:gd name="T4" fmla="*/ 0 w 100"/>
                <a:gd name="T5" fmla="*/ 50 h 50"/>
                <a:gd name="T6" fmla="*/ 100 w 100"/>
                <a:gd name="T7" fmla="*/ 25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0"/>
                <a:gd name="T13" fmla="*/ 0 h 50"/>
                <a:gd name="T14" fmla="*/ 100 w 100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0" h="50">
                  <a:moveTo>
                    <a:pt x="100" y="25"/>
                  </a:moveTo>
                  <a:lnTo>
                    <a:pt x="0" y="0"/>
                  </a:lnTo>
                  <a:lnTo>
                    <a:pt x="0" y="50"/>
                  </a:lnTo>
                  <a:lnTo>
                    <a:pt x="10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" name="Freeform 40"/>
            <p:cNvSpPr>
              <a:spLocks/>
            </p:cNvSpPr>
            <p:nvPr/>
          </p:nvSpPr>
          <p:spPr bwMode="auto">
            <a:xfrm>
              <a:off x="2973" y="2180"/>
              <a:ext cx="188" cy="228"/>
            </a:xfrm>
            <a:custGeom>
              <a:avLst/>
              <a:gdLst>
                <a:gd name="T0" fmla="*/ 0 w 188"/>
                <a:gd name="T1" fmla="*/ 228 h 228"/>
                <a:gd name="T2" fmla="*/ 110 w 188"/>
                <a:gd name="T3" fmla="*/ 228 h 228"/>
                <a:gd name="T4" fmla="*/ 110 w 188"/>
                <a:gd name="T5" fmla="*/ 0 h 228"/>
                <a:gd name="T6" fmla="*/ 188 w 188"/>
                <a:gd name="T7" fmla="*/ 0 h 2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"/>
                <a:gd name="T13" fmla="*/ 0 h 228"/>
                <a:gd name="T14" fmla="*/ 188 w 188"/>
                <a:gd name="T15" fmla="*/ 228 h 2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" h="228">
                  <a:moveTo>
                    <a:pt x="0" y="228"/>
                  </a:moveTo>
                  <a:lnTo>
                    <a:pt x="110" y="228"/>
                  </a:lnTo>
                  <a:lnTo>
                    <a:pt x="110" y="0"/>
                  </a:lnTo>
                  <a:lnTo>
                    <a:pt x="188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3" name="Rectangle 41"/>
            <p:cNvSpPr>
              <a:spLocks noChangeArrowheads="1"/>
            </p:cNvSpPr>
            <p:nvPr/>
          </p:nvSpPr>
          <p:spPr bwMode="auto">
            <a:xfrm>
              <a:off x="2701" y="1620"/>
              <a:ext cx="272" cy="27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4" name="Rectangle 42"/>
            <p:cNvSpPr>
              <a:spLocks noChangeArrowheads="1"/>
            </p:cNvSpPr>
            <p:nvPr/>
          </p:nvSpPr>
          <p:spPr bwMode="auto">
            <a:xfrm>
              <a:off x="2701" y="1949"/>
              <a:ext cx="272" cy="26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5" name="Rectangle 43"/>
            <p:cNvSpPr>
              <a:spLocks noChangeArrowheads="1"/>
            </p:cNvSpPr>
            <p:nvPr/>
          </p:nvSpPr>
          <p:spPr bwMode="auto">
            <a:xfrm>
              <a:off x="3248" y="1949"/>
              <a:ext cx="272" cy="26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" name="Rectangle 44"/>
            <p:cNvSpPr>
              <a:spLocks noChangeArrowheads="1"/>
            </p:cNvSpPr>
            <p:nvPr/>
          </p:nvSpPr>
          <p:spPr bwMode="auto">
            <a:xfrm>
              <a:off x="2701" y="2274"/>
              <a:ext cx="272" cy="271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78C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" name="Rectangle 45"/>
            <p:cNvSpPr>
              <a:spLocks noChangeArrowheads="1"/>
            </p:cNvSpPr>
            <p:nvPr/>
          </p:nvSpPr>
          <p:spPr bwMode="auto">
            <a:xfrm>
              <a:off x="2355" y="1589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a</a:t>
              </a:r>
              <a:endParaRPr lang="en-US" altLang="en-US"/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2357" y="1789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c</a:t>
              </a:r>
              <a:endParaRPr lang="en-US" altLang="en-US"/>
            </a:p>
          </p:txBody>
        </p:sp>
        <p:sp>
          <p:nvSpPr>
            <p:cNvPr id="79" name="Rectangle 47"/>
            <p:cNvSpPr>
              <a:spLocks noChangeArrowheads="1"/>
            </p:cNvSpPr>
            <p:nvPr/>
          </p:nvSpPr>
          <p:spPr bwMode="auto">
            <a:xfrm>
              <a:off x="2350" y="1700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b</a:t>
              </a:r>
              <a:endParaRPr lang="en-US" altLang="en-US"/>
            </a:p>
          </p:txBody>
        </p:sp>
        <p:sp>
          <p:nvSpPr>
            <p:cNvPr id="80" name="Rectangle 75"/>
            <p:cNvSpPr>
              <a:spLocks noChangeArrowheads="1"/>
            </p:cNvSpPr>
            <p:nvPr/>
          </p:nvSpPr>
          <p:spPr bwMode="auto">
            <a:xfrm>
              <a:off x="2351" y="1917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d</a:t>
              </a:r>
              <a:endParaRPr lang="en-US" altLang="en-US"/>
            </a:p>
          </p:txBody>
        </p:sp>
        <p:sp>
          <p:nvSpPr>
            <p:cNvPr id="81" name="Rectangle 76"/>
            <p:cNvSpPr>
              <a:spLocks noChangeArrowheads="1"/>
            </p:cNvSpPr>
            <p:nvPr/>
          </p:nvSpPr>
          <p:spPr bwMode="auto">
            <a:xfrm>
              <a:off x="2364" y="2124"/>
              <a:ext cx="2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f</a:t>
              </a:r>
              <a:endParaRPr lang="en-US" altLang="en-US"/>
            </a:p>
          </p:txBody>
        </p:sp>
        <p:sp>
          <p:nvSpPr>
            <p:cNvPr id="82" name="Rectangle 77"/>
            <p:cNvSpPr>
              <a:spLocks noChangeArrowheads="1"/>
            </p:cNvSpPr>
            <p:nvPr/>
          </p:nvSpPr>
          <p:spPr bwMode="auto">
            <a:xfrm>
              <a:off x="2354" y="2014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e</a:t>
              </a:r>
              <a:endParaRPr lang="en-US" altLang="en-US"/>
            </a:p>
          </p:txBody>
        </p:sp>
        <p:sp>
          <p:nvSpPr>
            <p:cNvPr id="83" name="Rectangle 78"/>
            <p:cNvSpPr>
              <a:spLocks noChangeArrowheads="1"/>
            </p:cNvSpPr>
            <p:nvPr/>
          </p:nvSpPr>
          <p:spPr bwMode="auto">
            <a:xfrm>
              <a:off x="2351" y="2242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g</a:t>
              </a:r>
              <a:endParaRPr lang="en-US" altLang="en-US"/>
            </a:p>
          </p:txBody>
        </p:sp>
        <p:sp>
          <p:nvSpPr>
            <p:cNvPr id="84" name="Rectangle 79"/>
            <p:cNvSpPr>
              <a:spLocks noChangeArrowheads="1"/>
            </p:cNvSpPr>
            <p:nvPr/>
          </p:nvSpPr>
          <p:spPr bwMode="auto">
            <a:xfrm>
              <a:off x="2367" y="2439"/>
              <a:ext cx="23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i</a:t>
              </a:r>
              <a:endParaRPr lang="en-US" altLang="en-US"/>
            </a:p>
          </p:txBody>
        </p:sp>
        <p:sp>
          <p:nvSpPr>
            <p:cNvPr id="85" name="Rectangle 80"/>
            <p:cNvSpPr>
              <a:spLocks noChangeArrowheads="1"/>
            </p:cNvSpPr>
            <p:nvPr/>
          </p:nvSpPr>
          <p:spPr bwMode="auto">
            <a:xfrm>
              <a:off x="2351" y="2350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h</a:t>
              </a:r>
              <a:endParaRPr lang="en-US" altLang="en-US"/>
            </a:p>
          </p:txBody>
        </p:sp>
        <p:sp>
          <p:nvSpPr>
            <p:cNvPr id="86" name="Rectangle 81"/>
            <p:cNvSpPr>
              <a:spLocks noChangeArrowheads="1"/>
            </p:cNvSpPr>
            <p:nvPr/>
          </p:nvSpPr>
          <p:spPr bwMode="auto">
            <a:xfrm>
              <a:off x="2770" y="1692"/>
              <a:ext cx="16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3x1</a:t>
              </a:r>
              <a:endParaRPr lang="en-US" altLang="en-US"/>
            </a:p>
          </p:txBody>
        </p:sp>
        <p:sp>
          <p:nvSpPr>
            <p:cNvPr id="87" name="Rectangle 82"/>
            <p:cNvSpPr>
              <a:spLocks noChangeArrowheads="1"/>
            </p:cNvSpPr>
            <p:nvPr/>
          </p:nvSpPr>
          <p:spPr bwMode="auto">
            <a:xfrm>
              <a:off x="2770" y="2022"/>
              <a:ext cx="16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3x1</a:t>
              </a:r>
              <a:endParaRPr lang="en-US" altLang="en-US"/>
            </a:p>
          </p:txBody>
        </p:sp>
        <p:sp>
          <p:nvSpPr>
            <p:cNvPr id="88" name="Rectangle 83"/>
            <p:cNvSpPr>
              <a:spLocks noChangeArrowheads="1"/>
            </p:cNvSpPr>
            <p:nvPr/>
          </p:nvSpPr>
          <p:spPr bwMode="auto">
            <a:xfrm>
              <a:off x="3320" y="2017"/>
              <a:ext cx="16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3x1</a:t>
              </a:r>
              <a:endParaRPr lang="en-US" altLang="en-US"/>
            </a:p>
          </p:txBody>
        </p:sp>
        <p:sp>
          <p:nvSpPr>
            <p:cNvPr id="89" name="Rectangle 84"/>
            <p:cNvSpPr>
              <a:spLocks noChangeArrowheads="1"/>
            </p:cNvSpPr>
            <p:nvPr/>
          </p:nvSpPr>
          <p:spPr bwMode="auto">
            <a:xfrm>
              <a:off x="2770" y="2350"/>
              <a:ext cx="16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3x1</a:t>
              </a:r>
              <a:endParaRPr lang="en-US" altLang="en-US"/>
            </a:p>
          </p:txBody>
        </p:sp>
        <p:sp>
          <p:nvSpPr>
            <p:cNvPr id="90" name="Rectangle 85"/>
            <p:cNvSpPr>
              <a:spLocks noChangeArrowheads="1"/>
            </p:cNvSpPr>
            <p:nvPr/>
          </p:nvSpPr>
          <p:spPr bwMode="auto">
            <a:xfrm>
              <a:off x="3738" y="2031"/>
              <a:ext cx="6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F</a:t>
              </a:r>
              <a:endParaRPr lang="en-US" altLang="en-US"/>
            </a:p>
          </p:txBody>
        </p:sp>
        <p:sp>
          <p:nvSpPr>
            <p:cNvPr id="91" name="Rectangle 89"/>
            <p:cNvSpPr>
              <a:spLocks noChangeArrowheads="1"/>
            </p:cNvSpPr>
            <p:nvPr/>
          </p:nvSpPr>
          <p:spPr bwMode="auto">
            <a:xfrm>
              <a:off x="3013" y="2603"/>
              <a:ext cx="3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(</a:t>
              </a:r>
              <a:endParaRPr lang="en-US" altLang="en-US"/>
            </a:p>
          </p:txBody>
        </p:sp>
        <p:sp>
          <p:nvSpPr>
            <p:cNvPr id="92" name="Rectangle 90"/>
            <p:cNvSpPr>
              <a:spLocks noChangeArrowheads="1"/>
            </p:cNvSpPr>
            <p:nvPr/>
          </p:nvSpPr>
          <p:spPr bwMode="auto">
            <a:xfrm>
              <a:off x="3042" y="2603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b</a:t>
              </a:r>
              <a:endParaRPr lang="en-US" altLang="en-US"/>
            </a:p>
          </p:txBody>
        </p:sp>
        <p:sp>
          <p:nvSpPr>
            <p:cNvPr id="93" name="Rectangle 91"/>
            <p:cNvSpPr>
              <a:spLocks noChangeArrowheads="1"/>
            </p:cNvSpPr>
            <p:nvPr/>
          </p:nvSpPr>
          <p:spPr bwMode="auto">
            <a:xfrm>
              <a:off x="3099" y="2603"/>
              <a:ext cx="3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)</a:t>
              </a:r>
              <a:endParaRPr lang="en-US" altLang="en-US"/>
            </a:p>
          </p:txBody>
        </p:sp>
        <p:sp>
          <p:nvSpPr>
            <p:cNvPr id="94" name="Text Box 113"/>
            <p:cNvSpPr txBox="1">
              <a:spLocks noChangeArrowheads="1"/>
            </p:cNvSpPr>
            <p:nvPr/>
          </p:nvSpPr>
          <p:spPr bwMode="auto">
            <a:xfrm>
              <a:off x="2310" y="2817"/>
              <a:ext cx="129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US" altLang="en-US" sz="1800" dirty="0">
                  <a:latin typeface="+mn-lt"/>
                </a:rPr>
                <a:t>Partitioned among 3x1 LUTs</a:t>
              </a:r>
            </a:p>
          </p:txBody>
        </p:sp>
      </p:grpSp>
      <p:grpSp>
        <p:nvGrpSpPr>
          <p:cNvPr id="95" name="Group 118"/>
          <p:cNvGrpSpPr>
            <a:grpSpLocks/>
          </p:cNvGrpSpPr>
          <p:nvPr/>
        </p:nvGrpSpPr>
        <p:grpSpPr bwMode="auto">
          <a:xfrm>
            <a:off x="5407905" y="2433407"/>
            <a:ext cx="3644900" cy="3190875"/>
            <a:chOff x="3464" y="1614"/>
            <a:chExt cx="2296" cy="2010"/>
          </a:xfrm>
        </p:grpSpPr>
        <p:sp>
          <p:nvSpPr>
            <p:cNvPr id="96" name="Rectangle 5"/>
            <p:cNvSpPr>
              <a:spLocks noChangeArrowheads="1"/>
            </p:cNvSpPr>
            <p:nvPr/>
          </p:nvSpPr>
          <p:spPr bwMode="auto">
            <a:xfrm>
              <a:off x="4745" y="2424"/>
              <a:ext cx="119" cy="118"/>
            </a:xfrm>
            <a:prstGeom prst="rect">
              <a:avLst/>
            </a:prstGeom>
            <a:solidFill>
              <a:srgbClr val="7BAC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7" name="Rectangle 92"/>
            <p:cNvSpPr>
              <a:spLocks noChangeArrowheads="1"/>
            </p:cNvSpPr>
            <p:nvPr/>
          </p:nvSpPr>
          <p:spPr bwMode="auto">
            <a:xfrm>
              <a:off x="4338" y="2622"/>
              <a:ext cx="3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(</a:t>
              </a:r>
              <a:endParaRPr lang="en-US" altLang="en-US"/>
            </a:p>
          </p:txBody>
        </p:sp>
        <p:sp>
          <p:nvSpPr>
            <p:cNvPr id="98" name="Rectangle 93"/>
            <p:cNvSpPr>
              <a:spLocks noChangeArrowheads="1"/>
            </p:cNvSpPr>
            <p:nvPr/>
          </p:nvSpPr>
          <p:spPr bwMode="auto">
            <a:xfrm>
              <a:off x="4366" y="2622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c</a:t>
              </a:r>
              <a:endParaRPr lang="en-US" altLang="en-US"/>
            </a:p>
          </p:txBody>
        </p:sp>
        <p:sp>
          <p:nvSpPr>
            <p:cNvPr id="99" name="Rectangle 94"/>
            <p:cNvSpPr>
              <a:spLocks noChangeArrowheads="1"/>
            </p:cNvSpPr>
            <p:nvPr/>
          </p:nvSpPr>
          <p:spPr bwMode="auto">
            <a:xfrm>
              <a:off x="4411" y="2622"/>
              <a:ext cx="35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)</a:t>
              </a:r>
              <a:endParaRPr lang="en-US" altLang="en-US"/>
            </a:p>
          </p:txBody>
        </p:sp>
        <p:sp>
          <p:nvSpPr>
            <p:cNvPr id="100" name="Rectangle 95"/>
            <p:cNvSpPr>
              <a:spLocks noChangeArrowheads="1"/>
            </p:cNvSpPr>
            <p:nvPr/>
          </p:nvSpPr>
          <p:spPr bwMode="auto">
            <a:xfrm>
              <a:off x="3914" y="1614"/>
              <a:ext cx="950" cy="928"/>
            </a:xfrm>
            <a:prstGeom prst="rect">
              <a:avLst/>
            </a:prstGeom>
            <a:noFill/>
            <a:ln w="15875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1" name="Line 96"/>
            <p:cNvSpPr>
              <a:spLocks noChangeShapeType="1"/>
            </p:cNvSpPr>
            <p:nvPr/>
          </p:nvSpPr>
          <p:spPr bwMode="auto">
            <a:xfrm>
              <a:off x="4508" y="2424"/>
              <a:ext cx="1" cy="118"/>
            </a:xfrm>
            <a:prstGeom prst="line">
              <a:avLst/>
            </a:prstGeom>
            <a:noFill/>
            <a:ln w="15875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" name="Line 97"/>
            <p:cNvSpPr>
              <a:spLocks noChangeShapeType="1"/>
            </p:cNvSpPr>
            <p:nvPr/>
          </p:nvSpPr>
          <p:spPr bwMode="auto">
            <a:xfrm>
              <a:off x="4626" y="2424"/>
              <a:ext cx="1" cy="118"/>
            </a:xfrm>
            <a:prstGeom prst="line">
              <a:avLst/>
            </a:prstGeom>
            <a:noFill/>
            <a:ln w="15875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" name="Line 98"/>
            <p:cNvSpPr>
              <a:spLocks noChangeShapeType="1"/>
            </p:cNvSpPr>
            <p:nvPr/>
          </p:nvSpPr>
          <p:spPr bwMode="auto">
            <a:xfrm>
              <a:off x="4745" y="2424"/>
              <a:ext cx="1" cy="118"/>
            </a:xfrm>
            <a:prstGeom prst="line">
              <a:avLst/>
            </a:prstGeom>
            <a:noFill/>
            <a:ln w="15875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" name="Freeform 99"/>
            <p:cNvSpPr>
              <a:spLocks/>
            </p:cNvSpPr>
            <p:nvPr/>
          </p:nvSpPr>
          <p:spPr bwMode="auto">
            <a:xfrm>
              <a:off x="4389" y="2424"/>
              <a:ext cx="475" cy="118"/>
            </a:xfrm>
            <a:custGeom>
              <a:avLst/>
              <a:gdLst>
                <a:gd name="T0" fmla="*/ 0 w 475"/>
                <a:gd name="T1" fmla="*/ 118 h 118"/>
                <a:gd name="T2" fmla="*/ 0 w 475"/>
                <a:gd name="T3" fmla="*/ 0 h 118"/>
                <a:gd name="T4" fmla="*/ 475 w 475"/>
                <a:gd name="T5" fmla="*/ 0 h 118"/>
                <a:gd name="T6" fmla="*/ 0 60000 65536"/>
                <a:gd name="T7" fmla="*/ 0 60000 65536"/>
                <a:gd name="T8" fmla="*/ 0 60000 65536"/>
                <a:gd name="T9" fmla="*/ 0 w 475"/>
                <a:gd name="T10" fmla="*/ 0 h 118"/>
                <a:gd name="T11" fmla="*/ 475 w 475"/>
                <a:gd name="T12" fmla="*/ 118 h 1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5" h="118">
                  <a:moveTo>
                    <a:pt x="0" y="118"/>
                  </a:moveTo>
                  <a:lnTo>
                    <a:pt x="0" y="0"/>
                  </a:lnTo>
                  <a:lnTo>
                    <a:pt x="475" y="0"/>
                  </a:lnTo>
                </a:path>
              </a:pathLst>
            </a:custGeom>
            <a:noFill/>
            <a:ln w="15875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5" name="Rectangle 100"/>
            <p:cNvSpPr>
              <a:spLocks noChangeArrowheads="1"/>
            </p:cNvSpPr>
            <p:nvPr/>
          </p:nvSpPr>
          <p:spPr bwMode="auto">
            <a:xfrm>
              <a:off x="3990" y="1631"/>
              <a:ext cx="22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512x</a:t>
              </a:r>
              <a:endParaRPr lang="en-US" altLang="en-US"/>
            </a:p>
          </p:txBody>
        </p:sp>
        <p:sp>
          <p:nvSpPr>
            <p:cNvPr id="106" name="Rectangle 102"/>
            <p:cNvSpPr>
              <a:spLocks noChangeArrowheads="1"/>
            </p:cNvSpPr>
            <p:nvPr/>
          </p:nvSpPr>
          <p:spPr bwMode="auto">
            <a:xfrm>
              <a:off x="4199" y="1631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 altLang="en-US"/>
            </a:p>
          </p:txBody>
        </p:sp>
        <p:sp>
          <p:nvSpPr>
            <p:cNvPr id="107" name="Rectangle 103"/>
            <p:cNvSpPr>
              <a:spLocks noChangeArrowheads="1"/>
            </p:cNvSpPr>
            <p:nvPr/>
          </p:nvSpPr>
          <p:spPr bwMode="auto">
            <a:xfrm>
              <a:off x="4272" y="1631"/>
              <a:ext cx="8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M</a:t>
              </a:r>
              <a:endParaRPr lang="en-US" altLang="en-US"/>
            </a:p>
          </p:txBody>
        </p:sp>
        <p:sp>
          <p:nvSpPr>
            <p:cNvPr id="108" name="Rectangle 104"/>
            <p:cNvSpPr>
              <a:spLocks noChangeArrowheads="1"/>
            </p:cNvSpPr>
            <p:nvPr/>
          </p:nvSpPr>
          <p:spPr bwMode="auto">
            <a:xfrm>
              <a:off x="4353" y="1631"/>
              <a:ext cx="17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em.</a:t>
              </a:r>
              <a:endParaRPr lang="en-US" altLang="en-US"/>
            </a:p>
          </p:txBody>
        </p:sp>
        <p:sp>
          <p:nvSpPr>
            <p:cNvPr id="109" name="Rectangle 105"/>
            <p:cNvSpPr>
              <a:spLocks noChangeArrowheads="1"/>
            </p:cNvSpPr>
            <p:nvPr/>
          </p:nvSpPr>
          <p:spPr bwMode="auto">
            <a:xfrm>
              <a:off x="4405" y="2160"/>
              <a:ext cx="11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8x</a:t>
              </a:r>
              <a:endParaRPr lang="en-US" altLang="en-US"/>
            </a:p>
          </p:txBody>
        </p:sp>
        <p:sp>
          <p:nvSpPr>
            <p:cNvPr id="110" name="Rectangle 107"/>
            <p:cNvSpPr>
              <a:spLocks noChangeArrowheads="1"/>
            </p:cNvSpPr>
            <p:nvPr/>
          </p:nvSpPr>
          <p:spPr bwMode="auto">
            <a:xfrm>
              <a:off x="4511" y="2160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1</a:t>
              </a:r>
              <a:endParaRPr lang="en-US" altLang="en-US"/>
            </a:p>
          </p:txBody>
        </p:sp>
        <p:sp>
          <p:nvSpPr>
            <p:cNvPr id="111" name="Rectangle 108"/>
            <p:cNvSpPr>
              <a:spLocks noChangeArrowheads="1"/>
            </p:cNvSpPr>
            <p:nvPr/>
          </p:nvSpPr>
          <p:spPr bwMode="auto">
            <a:xfrm>
              <a:off x="4584" y="2160"/>
              <a:ext cx="8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M</a:t>
              </a:r>
              <a:endParaRPr lang="en-US" altLang="en-US"/>
            </a:p>
          </p:txBody>
        </p:sp>
        <p:sp>
          <p:nvSpPr>
            <p:cNvPr id="112" name="Rectangle 109"/>
            <p:cNvSpPr>
              <a:spLocks noChangeArrowheads="1"/>
            </p:cNvSpPr>
            <p:nvPr/>
          </p:nvSpPr>
          <p:spPr bwMode="auto">
            <a:xfrm>
              <a:off x="4665" y="2160"/>
              <a:ext cx="174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em.</a:t>
              </a:r>
              <a:endParaRPr lang="en-US" altLang="en-US"/>
            </a:p>
          </p:txBody>
        </p:sp>
        <p:sp>
          <p:nvSpPr>
            <p:cNvPr id="113" name="Freeform 110"/>
            <p:cNvSpPr>
              <a:spLocks/>
            </p:cNvSpPr>
            <p:nvPr/>
          </p:nvSpPr>
          <p:spPr bwMode="auto">
            <a:xfrm>
              <a:off x="4608" y="2274"/>
              <a:ext cx="168" cy="146"/>
            </a:xfrm>
            <a:custGeom>
              <a:avLst/>
              <a:gdLst>
                <a:gd name="T0" fmla="*/ 0 w 168"/>
                <a:gd name="T1" fmla="*/ 0 h 146"/>
                <a:gd name="T2" fmla="*/ 168 w 168"/>
                <a:gd name="T3" fmla="*/ 146 h 146"/>
                <a:gd name="T4" fmla="*/ 0 w 168"/>
                <a:gd name="T5" fmla="*/ 0 h 146"/>
                <a:gd name="T6" fmla="*/ 0 60000 65536"/>
                <a:gd name="T7" fmla="*/ 0 60000 65536"/>
                <a:gd name="T8" fmla="*/ 0 60000 65536"/>
                <a:gd name="T9" fmla="*/ 0 w 168"/>
                <a:gd name="T10" fmla="*/ 0 h 146"/>
                <a:gd name="T11" fmla="*/ 168 w 168"/>
                <a:gd name="T12" fmla="*/ 146 h 1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146">
                  <a:moveTo>
                    <a:pt x="0" y="0"/>
                  </a:moveTo>
                  <a:lnTo>
                    <a:pt x="168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4" name="Line 111"/>
            <p:cNvSpPr>
              <a:spLocks noChangeShapeType="1"/>
            </p:cNvSpPr>
            <p:nvPr/>
          </p:nvSpPr>
          <p:spPr bwMode="auto">
            <a:xfrm>
              <a:off x="4608" y="2274"/>
              <a:ext cx="168" cy="146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5" name="Text Box 114"/>
            <p:cNvSpPr txBox="1">
              <a:spLocks noChangeArrowheads="1"/>
            </p:cNvSpPr>
            <p:nvPr/>
          </p:nvSpPr>
          <p:spPr bwMode="auto">
            <a:xfrm>
              <a:off x="3609" y="2825"/>
              <a:ext cx="2151" cy="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latin typeface="+mn-lt"/>
                </a:rPr>
                <a:t>- Requires only 4 3-input LUTs (8x1 memories) </a:t>
              </a:r>
            </a:p>
            <a:p>
              <a:pPr eaLnBrk="1" hangingPunct="1"/>
              <a:r>
                <a:rPr lang="en-US" altLang="en-US" sz="1800" dirty="0">
                  <a:latin typeface="+mn-lt"/>
                </a:rPr>
                <a:t>- Much smaller than a 9-input LUT (512x1 memory</a:t>
              </a:r>
              <a:r>
                <a:rPr lang="en-US" altLang="en-US" sz="2000" dirty="0"/>
                <a:t>)</a:t>
              </a:r>
            </a:p>
          </p:txBody>
        </p:sp>
        <p:sp>
          <p:nvSpPr>
            <p:cNvPr id="116" name="Freeform 115"/>
            <p:cNvSpPr>
              <a:spLocks/>
            </p:cNvSpPr>
            <p:nvPr/>
          </p:nvSpPr>
          <p:spPr bwMode="auto">
            <a:xfrm rot="19479386">
              <a:off x="4997" y="2259"/>
              <a:ext cx="609" cy="682"/>
            </a:xfrm>
            <a:custGeom>
              <a:avLst/>
              <a:gdLst>
                <a:gd name="T0" fmla="*/ 272 w 541"/>
                <a:gd name="T1" fmla="*/ 592 h 611"/>
                <a:gd name="T2" fmla="*/ 496 w 541"/>
                <a:gd name="T3" fmla="*/ 512 h 611"/>
                <a:gd name="T4" fmla="*/ 0 w 541"/>
                <a:gd name="T5" fmla="*/ 0 h 611"/>
                <a:gd name="T6" fmla="*/ 0 60000 65536"/>
                <a:gd name="T7" fmla="*/ 0 60000 65536"/>
                <a:gd name="T8" fmla="*/ 0 60000 65536"/>
                <a:gd name="T9" fmla="*/ 0 w 541"/>
                <a:gd name="T10" fmla="*/ 0 h 611"/>
                <a:gd name="T11" fmla="*/ 541 w 541"/>
                <a:gd name="T12" fmla="*/ 611 h 6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1" h="611">
                  <a:moveTo>
                    <a:pt x="272" y="592"/>
                  </a:moveTo>
                  <a:cubicBezTo>
                    <a:pt x="406" y="601"/>
                    <a:pt x="541" y="611"/>
                    <a:pt x="496" y="512"/>
                  </a:cubicBezTo>
                  <a:cubicBezTo>
                    <a:pt x="451" y="413"/>
                    <a:pt x="225" y="206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7" name="Freeform 116"/>
            <p:cNvSpPr>
              <a:spLocks/>
            </p:cNvSpPr>
            <p:nvPr/>
          </p:nvSpPr>
          <p:spPr bwMode="auto">
            <a:xfrm rot="487620">
              <a:off x="3464" y="1822"/>
              <a:ext cx="432" cy="1802"/>
            </a:xfrm>
            <a:custGeom>
              <a:avLst/>
              <a:gdLst>
                <a:gd name="T0" fmla="*/ 295 w 431"/>
                <a:gd name="T1" fmla="*/ 1584 h 1800"/>
                <a:gd name="T2" fmla="*/ 23 w 431"/>
                <a:gd name="T3" fmla="*/ 1536 h 1800"/>
                <a:gd name="T4" fmla="*/ 431 w 431"/>
                <a:gd name="T5" fmla="*/ 0 h 1800"/>
                <a:gd name="T6" fmla="*/ 0 60000 65536"/>
                <a:gd name="T7" fmla="*/ 0 60000 65536"/>
                <a:gd name="T8" fmla="*/ 0 60000 65536"/>
                <a:gd name="T9" fmla="*/ 0 w 431"/>
                <a:gd name="T10" fmla="*/ 0 h 1800"/>
                <a:gd name="T11" fmla="*/ 431 w 431"/>
                <a:gd name="T12" fmla="*/ 1800 h 18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" h="1800">
                  <a:moveTo>
                    <a:pt x="295" y="1584"/>
                  </a:moveTo>
                  <a:cubicBezTo>
                    <a:pt x="147" y="1692"/>
                    <a:pt x="0" y="1800"/>
                    <a:pt x="23" y="1536"/>
                  </a:cubicBezTo>
                  <a:cubicBezTo>
                    <a:pt x="46" y="1272"/>
                    <a:pt x="238" y="636"/>
                    <a:pt x="431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20" name="Rectangle 3"/>
          <p:cNvSpPr txBox="1">
            <a:spLocks noChangeArrowheads="1"/>
          </p:cNvSpPr>
          <p:nvPr/>
        </p:nvSpPr>
        <p:spPr bwMode="auto">
          <a:xfrm>
            <a:off x="460799" y="1720800"/>
            <a:ext cx="7647445" cy="45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GB" altLang="en-US" kern="0" dirty="0"/>
              <a:t>Example: 9-input circuit more efficient on 8x1 </a:t>
            </a:r>
            <a:r>
              <a:rPr lang="en-GB" altLang="en-US" kern="0" dirty="0" err="1"/>
              <a:t>mems</a:t>
            </a:r>
            <a:r>
              <a:rPr lang="en-GB" altLang="en-US" kern="0" dirty="0"/>
              <a:t> rather than 512x1</a:t>
            </a:r>
          </a:p>
        </p:txBody>
      </p:sp>
    </p:spTree>
    <p:extLst>
      <p:ext uri="{BB962C8B-B14F-4D97-AF65-F5344CB8AC3E}">
        <p14:creationId xmlns:p14="http://schemas.microsoft.com/office/powerpoint/2010/main" val="357025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3.3. Example 3: Underutilized LUTs </a:t>
            </a:r>
          </a:p>
        </p:txBody>
      </p:sp>
      <p:sp>
        <p:nvSpPr>
          <p:cNvPr id="22533" name="Rectangle 7"/>
          <p:cNvSpPr>
            <a:spLocks noChangeArrowheads="1"/>
          </p:cNvSpPr>
          <p:nvPr/>
        </p:nvSpPr>
        <p:spPr bwMode="auto">
          <a:xfrm>
            <a:off x="874236" y="2345820"/>
            <a:ext cx="1708150" cy="1196975"/>
          </a:xfrm>
          <a:prstGeom prst="rect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4" name="Rectangle 8"/>
          <p:cNvSpPr>
            <a:spLocks noChangeArrowheads="1"/>
          </p:cNvSpPr>
          <p:nvPr/>
        </p:nvSpPr>
        <p:spPr bwMode="auto">
          <a:xfrm>
            <a:off x="5975350" y="2667505"/>
            <a:ext cx="1176338" cy="2381250"/>
          </a:xfrm>
          <a:prstGeom prst="rect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5" name="Rectangle 9"/>
          <p:cNvSpPr>
            <a:spLocks noChangeArrowheads="1"/>
          </p:cNvSpPr>
          <p:nvPr/>
        </p:nvSpPr>
        <p:spPr bwMode="auto">
          <a:xfrm>
            <a:off x="7621588" y="2667505"/>
            <a:ext cx="1174750" cy="2381250"/>
          </a:xfrm>
          <a:prstGeom prst="rect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6" name="Line 10"/>
          <p:cNvSpPr>
            <a:spLocks noChangeShapeType="1"/>
          </p:cNvSpPr>
          <p:nvPr/>
        </p:nvSpPr>
        <p:spPr bwMode="auto">
          <a:xfrm>
            <a:off x="571023" y="2779207"/>
            <a:ext cx="904875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7" name="Freeform 11"/>
          <p:cNvSpPr>
            <a:spLocks/>
          </p:cNvSpPr>
          <p:nvPr/>
        </p:nvSpPr>
        <p:spPr bwMode="auto">
          <a:xfrm>
            <a:off x="702786" y="2737932"/>
            <a:ext cx="166687" cy="84138"/>
          </a:xfrm>
          <a:custGeom>
            <a:avLst/>
            <a:gdLst>
              <a:gd name="T0" fmla="*/ 166687 w 105"/>
              <a:gd name="T1" fmla="*/ 41275 h 53"/>
              <a:gd name="T2" fmla="*/ 0 w 105"/>
              <a:gd name="T3" fmla="*/ 0 h 53"/>
              <a:gd name="T4" fmla="*/ 0 w 105"/>
              <a:gd name="T5" fmla="*/ 84138 h 53"/>
              <a:gd name="T6" fmla="*/ 166687 w 105"/>
              <a:gd name="T7" fmla="*/ 41275 h 53"/>
              <a:gd name="T8" fmla="*/ 0 60000 65536"/>
              <a:gd name="T9" fmla="*/ 0 60000 65536"/>
              <a:gd name="T10" fmla="*/ 0 60000 65536"/>
              <a:gd name="T11" fmla="*/ 0 60000 65536"/>
              <a:gd name="T12" fmla="*/ 0 w 105"/>
              <a:gd name="T13" fmla="*/ 0 h 53"/>
              <a:gd name="T14" fmla="*/ 105 w 105"/>
              <a:gd name="T15" fmla="*/ 53 h 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" h="53">
                <a:moveTo>
                  <a:pt x="105" y="26"/>
                </a:moveTo>
                <a:lnTo>
                  <a:pt x="0" y="0"/>
                </a:lnTo>
                <a:lnTo>
                  <a:pt x="0" y="53"/>
                </a:lnTo>
                <a:lnTo>
                  <a:pt x="105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8" name="Freeform 12"/>
          <p:cNvSpPr>
            <a:spLocks/>
          </p:cNvSpPr>
          <p:nvPr/>
        </p:nvSpPr>
        <p:spPr bwMode="auto">
          <a:xfrm>
            <a:off x="702786" y="3255457"/>
            <a:ext cx="166687" cy="82550"/>
          </a:xfrm>
          <a:custGeom>
            <a:avLst/>
            <a:gdLst>
              <a:gd name="T0" fmla="*/ 166687 w 105"/>
              <a:gd name="T1" fmla="*/ 41275 h 52"/>
              <a:gd name="T2" fmla="*/ 0 w 105"/>
              <a:gd name="T3" fmla="*/ 0 h 52"/>
              <a:gd name="T4" fmla="*/ 0 w 105"/>
              <a:gd name="T5" fmla="*/ 82550 h 52"/>
              <a:gd name="T6" fmla="*/ 166687 w 105"/>
              <a:gd name="T7" fmla="*/ 41275 h 52"/>
              <a:gd name="T8" fmla="*/ 0 60000 65536"/>
              <a:gd name="T9" fmla="*/ 0 60000 65536"/>
              <a:gd name="T10" fmla="*/ 0 60000 65536"/>
              <a:gd name="T11" fmla="*/ 0 60000 65536"/>
              <a:gd name="T12" fmla="*/ 0 w 105"/>
              <a:gd name="T13" fmla="*/ 0 h 52"/>
              <a:gd name="T14" fmla="*/ 105 w 105"/>
              <a:gd name="T15" fmla="*/ 52 h 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" h="52">
                <a:moveTo>
                  <a:pt x="105" y="26"/>
                </a:moveTo>
                <a:lnTo>
                  <a:pt x="0" y="0"/>
                </a:lnTo>
                <a:lnTo>
                  <a:pt x="0" y="52"/>
                </a:lnTo>
                <a:lnTo>
                  <a:pt x="105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9" name="Rectangle 13"/>
          <p:cNvSpPr>
            <a:spLocks noChangeArrowheads="1"/>
          </p:cNvSpPr>
          <p:nvPr/>
        </p:nvSpPr>
        <p:spPr bwMode="auto">
          <a:xfrm>
            <a:off x="434498" y="2518857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k</a:t>
            </a:r>
            <a:endParaRPr lang="en-US" altLang="en-US"/>
          </a:p>
        </p:txBody>
      </p:sp>
      <p:sp>
        <p:nvSpPr>
          <p:cNvPr id="22540" name="Rectangle 14"/>
          <p:cNvSpPr>
            <a:spLocks noChangeArrowheads="1"/>
          </p:cNvSpPr>
          <p:nvPr/>
        </p:nvSpPr>
        <p:spPr bwMode="auto">
          <a:xfrm>
            <a:off x="434498" y="2685545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p</a:t>
            </a:r>
            <a:endParaRPr lang="en-US" altLang="en-US"/>
          </a:p>
        </p:txBody>
      </p:sp>
      <p:sp>
        <p:nvSpPr>
          <p:cNvPr id="22541" name="Rectangle 15"/>
          <p:cNvSpPr>
            <a:spLocks noChangeArrowheads="1"/>
          </p:cNvSpPr>
          <p:nvPr/>
        </p:nvSpPr>
        <p:spPr bwMode="auto">
          <a:xfrm>
            <a:off x="434498" y="2885570"/>
            <a:ext cx="825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s</a:t>
            </a:r>
            <a:endParaRPr lang="en-US" altLang="en-US"/>
          </a:p>
        </p:txBody>
      </p:sp>
      <p:sp>
        <p:nvSpPr>
          <p:cNvPr id="22542" name="Rectangle 16"/>
          <p:cNvSpPr>
            <a:spLocks noChangeArrowheads="1"/>
          </p:cNvSpPr>
          <p:nvPr/>
        </p:nvSpPr>
        <p:spPr bwMode="auto">
          <a:xfrm>
            <a:off x="434498" y="3166557"/>
            <a:ext cx="46038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t</a:t>
            </a:r>
            <a:endParaRPr lang="en-US" altLang="en-US"/>
          </a:p>
        </p:txBody>
      </p:sp>
      <p:sp>
        <p:nvSpPr>
          <p:cNvPr id="22543" name="Rectangle 17"/>
          <p:cNvSpPr>
            <a:spLocks noChangeArrowheads="1"/>
          </p:cNvSpPr>
          <p:nvPr/>
        </p:nvSpPr>
        <p:spPr bwMode="auto">
          <a:xfrm>
            <a:off x="2752248" y="2937957"/>
            <a:ext cx="11906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w</a:t>
            </a:r>
            <a:endParaRPr lang="en-US" altLang="en-US"/>
          </a:p>
        </p:txBody>
      </p:sp>
      <p:sp>
        <p:nvSpPr>
          <p:cNvPr id="22544" name="Freeform 18"/>
          <p:cNvSpPr>
            <a:spLocks/>
          </p:cNvSpPr>
          <p:nvPr/>
        </p:nvSpPr>
        <p:spPr bwMode="auto">
          <a:xfrm>
            <a:off x="1469548" y="2571245"/>
            <a:ext cx="433388" cy="469900"/>
          </a:xfrm>
          <a:custGeom>
            <a:avLst/>
            <a:gdLst>
              <a:gd name="T0" fmla="*/ 0 w 83"/>
              <a:gd name="T1" fmla="*/ 469900 h 90"/>
              <a:gd name="T2" fmla="*/ 219305 w 83"/>
              <a:gd name="T3" fmla="*/ 469900 h 90"/>
              <a:gd name="T4" fmla="*/ 433388 w 83"/>
              <a:gd name="T5" fmla="*/ 234950 h 90"/>
              <a:gd name="T6" fmla="*/ 219305 w 83"/>
              <a:gd name="T7" fmla="*/ 0 h 90"/>
              <a:gd name="T8" fmla="*/ 0 w 83"/>
              <a:gd name="T9" fmla="*/ 0 h 90"/>
              <a:gd name="T10" fmla="*/ 0 w 83"/>
              <a:gd name="T11" fmla="*/ 469900 h 9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3"/>
              <a:gd name="T19" fmla="*/ 0 h 90"/>
              <a:gd name="T20" fmla="*/ 83 w 83"/>
              <a:gd name="T21" fmla="*/ 90 h 9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3" h="90">
                <a:moveTo>
                  <a:pt x="0" y="90"/>
                </a:moveTo>
                <a:cubicBezTo>
                  <a:pt x="42" y="90"/>
                  <a:pt x="42" y="90"/>
                  <a:pt x="42" y="90"/>
                </a:cubicBezTo>
                <a:cubicBezTo>
                  <a:pt x="65" y="90"/>
                  <a:pt x="83" y="70"/>
                  <a:pt x="83" y="45"/>
                </a:cubicBezTo>
                <a:cubicBezTo>
                  <a:pt x="83" y="20"/>
                  <a:pt x="65" y="0"/>
                  <a:pt x="42" y="0"/>
                </a:cubicBezTo>
                <a:cubicBezTo>
                  <a:pt x="0" y="0"/>
                  <a:pt x="0" y="0"/>
                  <a:pt x="0" y="0"/>
                </a:cubicBezTo>
                <a:lnTo>
                  <a:pt x="0" y="9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79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45" name="Rectangle 19"/>
          <p:cNvSpPr>
            <a:spLocks noChangeArrowheads="1"/>
          </p:cNvSpPr>
          <p:nvPr/>
        </p:nvSpPr>
        <p:spPr bwMode="auto">
          <a:xfrm>
            <a:off x="1526020" y="3733598"/>
            <a:ext cx="205184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 dirty="0">
                <a:solidFill>
                  <a:srgbClr val="000000"/>
                </a:solidFill>
                <a:latin typeface="Helvetica" pitchFamily="34" charset="0"/>
              </a:rPr>
              <a:t>(a)</a:t>
            </a:r>
            <a:endParaRPr lang="en-US" altLang="en-US" dirty="0"/>
          </a:p>
        </p:txBody>
      </p:sp>
      <p:sp>
        <p:nvSpPr>
          <p:cNvPr id="22548" name="Freeform 22"/>
          <p:cNvSpPr>
            <a:spLocks/>
          </p:cNvSpPr>
          <p:nvPr/>
        </p:nvSpPr>
        <p:spPr bwMode="auto">
          <a:xfrm>
            <a:off x="2064861" y="2961770"/>
            <a:ext cx="423862" cy="419100"/>
          </a:xfrm>
          <a:custGeom>
            <a:avLst/>
            <a:gdLst>
              <a:gd name="T0" fmla="*/ 423862 w 81"/>
              <a:gd name="T1" fmla="*/ 209550 h 80"/>
              <a:gd name="T2" fmla="*/ 0 w 81"/>
              <a:gd name="T3" fmla="*/ 419100 h 80"/>
              <a:gd name="T4" fmla="*/ 62794 w 81"/>
              <a:gd name="T5" fmla="*/ 214789 h 80"/>
              <a:gd name="T6" fmla="*/ 62794 w 81"/>
              <a:gd name="T7" fmla="*/ 209550 h 80"/>
              <a:gd name="T8" fmla="*/ 0 w 81"/>
              <a:gd name="T9" fmla="*/ 0 h 80"/>
              <a:gd name="T10" fmla="*/ 423862 w 81"/>
              <a:gd name="T11" fmla="*/ 209550 h 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1"/>
              <a:gd name="T19" fmla="*/ 0 h 80"/>
              <a:gd name="T20" fmla="*/ 81 w 81"/>
              <a:gd name="T21" fmla="*/ 80 h 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1" h="80">
                <a:moveTo>
                  <a:pt x="81" y="40"/>
                </a:moveTo>
                <a:cubicBezTo>
                  <a:pt x="81" y="40"/>
                  <a:pt x="62" y="80"/>
                  <a:pt x="0" y="80"/>
                </a:cubicBezTo>
                <a:cubicBezTo>
                  <a:pt x="0" y="80"/>
                  <a:pt x="12" y="76"/>
                  <a:pt x="12" y="41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"/>
                  <a:pt x="0" y="0"/>
                  <a:pt x="0" y="0"/>
                </a:cubicBezTo>
                <a:cubicBezTo>
                  <a:pt x="62" y="0"/>
                  <a:pt x="81" y="40"/>
                  <a:pt x="81" y="40"/>
                </a:cubicBezTo>
                <a:close/>
              </a:path>
            </a:pathLst>
          </a:cu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49" name="Line 23"/>
          <p:cNvSpPr>
            <a:spLocks noChangeShapeType="1"/>
          </p:cNvSpPr>
          <p:nvPr/>
        </p:nvSpPr>
        <p:spPr bwMode="auto">
          <a:xfrm>
            <a:off x="2488723" y="3171320"/>
            <a:ext cx="271463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0" name="Freeform 24"/>
          <p:cNvSpPr>
            <a:spLocks/>
          </p:cNvSpPr>
          <p:nvPr/>
        </p:nvSpPr>
        <p:spPr bwMode="auto">
          <a:xfrm>
            <a:off x="2728436" y="3123695"/>
            <a:ext cx="168275" cy="95250"/>
          </a:xfrm>
          <a:custGeom>
            <a:avLst/>
            <a:gdLst>
              <a:gd name="T0" fmla="*/ 0 w 106"/>
              <a:gd name="T1" fmla="*/ 95250 h 60"/>
              <a:gd name="T2" fmla="*/ 168275 w 106"/>
              <a:gd name="T3" fmla="*/ 47625 h 60"/>
              <a:gd name="T4" fmla="*/ 0 w 106"/>
              <a:gd name="T5" fmla="*/ 0 h 60"/>
              <a:gd name="T6" fmla="*/ 0 w 106"/>
              <a:gd name="T7" fmla="*/ 95250 h 60"/>
              <a:gd name="T8" fmla="*/ 0 60000 65536"/>
              <a:gd name="T9" fmla="*/ 0 60000 65536"/>
              <a:gd name="T10" fmla="*/ 0 60000 65536"/>
              <a:gd name="T11" fmla="*/ 0 60000 65536"/>
              <a:gd name="T12" fmla="*/ 0 w 106"/>
              <a:gd name="T13" fmla="*/ 0 h 60"/>
              <a:gd name="T14" fmla="*/ 106 w 106"/>
              <a:gd name="T15" fmla="*/ 60 h 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6" h="60">
                <a:moveTo>
                  <a:pt x="0" y="60"/>
                </a:moveTo>
                <a:lnTo>
                  <a:pt x="106" y="30"/>
                </a:lnTo>
                <a:lnTo>
                  <a:pt x="0" y="0"/>
                </a:lnTo>
                <a:lnTo>
                  <a:pt x="0" y="6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51" name="Line 25"/>
          <p:cNvSpPr>
            <a:spLocks noChangeShapeType="1"/>
          </p:cNvSpPr>
          <p:nvPr/>
        </p:nvSpPr>
        <p:spPr bwMode="auto">
          <a:xfrm>
            <a:off x="8351838" y="5055105"/>
            <a:ext cx="0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2" name="Freeform 26"/>
          <p:cNvSpPr>
            <a:spLocks/>
          </p:cNvSpPr>
          <p:nvPr/>
        </p:nvSpPr>
        <p:spPr bwMode="auto">
          <a:xfrm>
            <a:off x="1893411" y="2822070"/>
            <a:ext cx="230187" cy="265112"/>
          </a:xfrm>
          <a:custGeom>
            <a:avLst/>
            <a:gdLst>
              <a:gd name="T0" fmla="*/ 230187 w 145"/>
              <a:gd name="T1" fmla="*/ 265112 h 167"/>
              <a:gd name="T2" fmla="*/ 120650 w 145"/>
              <a:gd name="T3" fmla="*/ 265112 h 167"/>
              <a:gd name="T4" fmla="*/ 120650 w 145"/>
              <a:gd name="T5" fmla="*/ 0 h 167"/>
              <a:gd name="T6" fmla="*/ 0 w 145"/>
              <a:gd name="T7" fmla="*/ 0 h 167"/>
              <a:gd name="T8" fmla="*/ 0 60000 65536"/>
              <a:gd name="T9" fmla="*/ 0 60000 65536"/>
              <a:gd name="T10" fmla="*/ 0 60000 65536"/>
              <a:gd name="T11" fmla="*/ 0 60000 65536"/>
              <a:gd name="T12" fmla="*/ 0 w 145"/>
              <a:gd name="T13" fmla="*/ 0 h 167"/>
              <a:gd name="T14" fmla="*/ 145 w 145"/>
              <a:gd name="T15" fmla="*/ 167 h 1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5" h="167">
                <a:moveTo>
                  <a:pt x="145" y="167"/>
                </a:moveTo>
                <a:lnTo>
                  <a:pt x="76" y="167"/>
                </a:lnTo>
                <a:lnTo>
                  <a:pt x="76" y="0"/>
                </a:lnTo>
                <a:lnTo>
                  <a:pt x="0" y="0"/>
                </a:lnTo>
              </a:path>
            </a:pathLst>
          </a:cu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7099" name="Rectangle 27"/>
          <p:cNvSpPr>
            <a:spLocks noChangeArrowheads="1"/>
          </p:cNvSpPr>
          <p:nvPr/>
        </p:nvSpPr>
        <p:spPr bwMode="auto">
          <a:xfrm>
            <a:off x="7296150" y="3680330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22554" name="Rectangle 28"/>
          <p:cNvSpPr>
            <a:spLocks noChangeArrowheads="1"/>
          </p:cNvSpPr>
          <p:nvPr/>
        </p:nvSpPr>
        <p:spPr bwMode="auto">
          <a:xfrm>
            <a:off x="4132462" y="4536675"/>
            <a:ext cx="205184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 dirty="0">
                <a:solidFill>
                  <a:srgbClr val="000000"/>
                </a:solidFill>
                <a:latin typeface="Helvetica" pitchFamily="34" charset="0"/>
              </a:rPr>
              <a:t>(b)</a:t>
            </a:r>
            <a:endParaRPr lang="en-US" altLang="en-US" dirty="0"/>
          </a:p>
        </p:txBody>
      </p:sp>
      <p:sp>
        <p:nvSpPr>
          <p:cNvPr id="22557" name="Rectangle 31"/>
          <p:cNvSpPr>
            <a:spLocks noChangeArrowheads="1"/>
          </p:cNvSpPr>
          <p:nvPr/>
        </p:nvSpPr>
        <p:spPr bwMode="auto">
          <a:xfrm>
            <a:off x="6399213" y="2918330"/>
            <a:ext cx="615950" cy="1863725"/>
          </a:xfrm>
          <a:prstGeom prst="rect">
            <a:avLst/>
          </a:prstGeom>
          <a:solidFill>
            <a:srgbClr val="D4E0F3"/>
          </a:solidFill>
          <a:ln w="15875">
            <a:solidFill>
              <a:srgbClr val="0079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58" name="Line 32"/>
          <p:cNvSpPr>
            <a:spLocks noChangeShapeType="1"/>
          </p:cNvSpPr>
          <p:nvPr/>
        </p:nvSpPr>
        <p:spPr bwMode="auto">
          <a:xfrm>
            <a:off x="6399213" y="3153280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9" name="Line 33"/>
          <p:cNvSpPr>
            <a:spLocks noChangeShapeType="1"/>
          </p:cNvSpPr>
          <p:nvPr/>
        </p:nvSpPr>
        <p:spPr bwMode="auto">
          <a:xfrm>
            <a:off x="6399213" y="3383467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0" name="Line 34"/>
          <p:cNvSpPr>
            <a:spLocks noChangeShapeType="1"/>
          </p:cNvSpPr>
          <p:nvPr/>
        </p:nvSpPr>
        <p:spPr bwMode="auto">
          <a:xfrm>
            <a:off x="6399213" y="3618417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1" name="Line 35"/>
          <p:cNvSpPr>
            <a:spLocks noChangeShapeType="1"/>
          </p:cNvSpPr>
          <p:nvPr/>
        </p:nvSpPr>
        <p:spPr bwMode="auto">
          <a:xfrm>
            <a:off x="6399213" y="3853367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2" name="Line 36"/>
          <p:cNvSpPr>
            <a:spLocks noChangeShapeType="1"/>
          </p:cNvSpPr>
          <p:nvPr/>
        </p:nvSpPr>
        <p:spPr bwMode="auto">
          <a:xfrm>
            <a:off x="6399213" y="4083555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3" name="Line 37"/>
          <p:cNvSpPr>
            <a:spLocks noChangeShapeType="1"/>
          </p:cNvSpPr>
          <p:nvPr/>
        </p:nvSpPr>
        <p:spPr bwMode="auto">
          <a:xfrm>
            <a:off x="6399213" y="4318505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4" name="Line 38"/>
          <p:cNvSpPr>
            <a:spLocks noChangeShapeType="1"/>
          </p:cNvSpPr>
          <p:nvPr/>
        </p:nvSpPr>
        <p:spPr bwMode="auto">
          <a:xfrm>
            <a:off x="6399213" y="4553455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5" name="Rectangle 39"/>
          <p:cNvSpPr>
            <a:spLocks noChangeArrowheads="1"/>
          </p:cNvSpPr>
          <p:nvPr/>
        </p:nvSpPr>
        <p:spPr bwMode="auto">
          <a:xfrm>
            <a:off x="6226175" y="2697667"/>
            <a:ext cx="2667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8x1</a:t>
            </a:r>
            <a:endParaRPr lang="en-US" altLang="en-US"/>
          </a:p>
        </p:txBody>
      </p:sp>
      <p:sp>
        <p:nvSpPr>
          <p:cNvPr id="22566" name="Rectangle 42"/>
          <p:cNvSpPr>
            <a:spLocks noChangeArrowheads="1"/>
          </p:cNvSpPr>
          <p:nvPr/>
        </p:nvSpPr>
        <p:spPr bwMode="auto">
          <a:xfrm>
            <a:off x="6494463" y="2697667"/>
            <a:ext cx="3683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Mem</a:t>
            </a:r>
            <a:endParaRPr lang="en-US" altLang="en-US"/>
          </a:p>
        </p:txBody>
      </p:sp>
      <p:sp>
        <p:nvSpPr>
          <p:cNvPr id="22567" name="Rectangle 43"/>
          <p:cNvSpPr>
            <a:spLocks noChangeArrowheads="1"/>
          </p:cNvSpPr>
          <p:nvPr/>
        </p:nvSpPr>
        <p:spPr bwMode="auto">
          <a:xfrm>
            <a:off x="6865938" y="2697667"/>
            <a:ext cx="46037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.</a:t>
            </a:r>
            <a:endParaRPr lang="en-US" altLang="en-US"/>
          </a:p>
        </p:txBody>
      </p:sp>
      <p:grpSp>
        <p:nvGrpSpPr>
          <p:cNvPr id="2" name="Group 165"/>
          <p:cNvGrpSpPr>
            <a:grpSpLocks/>
          </p:cNvGrpSpPr>
          <p:nvPr/>
        </p:nvGrpSpPr>
        <p:grpSpPr bwMode="auto">
          <a:xfrm>
            <a:off x="6661150" y="2950080"/>
            <a:ext cx="92075" cy="1820862"/>
            <a:chOff x="4196" y="1117"/>
            <a:chExt cx="58" cy="1147"/>
          </a:xfrm>
        </p:grpSpPr>
        <p:sp>
          <p:nvSpPr>
            <p:cNvPr id="22687" name="Rectangle 44"/>
            <p:cNvSpPr>
              <a:spLocks noChangeArrowheads="1"/>
            </p:cNvSpPr>
            <p:nvPr/>
          </p:nvSpPr>
          <p:spPr bwMode="auto">
            <a:xfrm>
              <a:off x="4196" y="1117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2688" name="Rectangle 45"/>
            <p:cNvSpPr>
              <a:spLocks noChangeArrowheads="1"/>
            </p:cNvSpPr>
            <p:nvPr/>
          </p:nvSpPr>
          <p:spPr bwMode="auto">
            <a:xfrm>
              <a:off x="4196" y="1263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2689" name="Rectangle 46"/>
            <p:cNvSpPr>
              <a:spLocks noChangeArrowheads="1"/>
            </p:cNvSpPr>
            <p:nvPr/>
          </p:nvSpPr>
          <p:spPr bwMode="auto">
            <a:xfrm>
              <a:off x="4196" y="1410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2690" name="Rectangle 47"/>
            <p:cNvSpPr>
              <a:spLocks noChangeArrowheads="1"/>
            </p:cNvSpPr>
            <p:nvPr/>
          </p:nvSpPr>
          <p:spPr bwMode="auto">
            <a:xfrm>
              <a:off x="4196" y="1555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2691" name="Rectangle 48"/>
            <p:cNvSpPr>
              <a:spLocks noChangeArrowheads="1"/>
            </p:cNvSpPr>
            <p:nvPr/>
          </p:nvSpPr>
          <p:spPr bwMode="auto">
            <a:xfrm>
              <a:off x="4196" y="1704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2692" name="Rectangle 49"/>
            <p:cNvSpPr>
              <a:spLocks noChangeArrowheads="1"/>
            </p:cNvSpPr>
            <p:nvPr/>
          </p:nvSpPr>
          <p:spPr bwMode="auto">
            <a:xfrm>
              <a:off x="4196" y="1849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  <p:sp>
          <p:nvSpPr>
            <p:cNvPr id="22693" name="Rectangle 50"/>
            <p:cNvSpPr>
              <a:spLocks noChangeArrowheads="1"/>
            </p:cNvSpPr>
            <p:nvPr/>
          </p:nvSpPr>
          <p:spPr bwMode="auto">
            <a:xfrm>
              <a:off x="4196" y="1998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1</a:t>
              </a:r>
              <a:endParaRPr lang="en-US" altLang="en-US"/>
            </a:p>
          </p:txBody>
        </p:sp>
        <p:sp>
          <p:nvSpPr>
            <p:cNvPr id="22694" name="Rectangle 51"/>
            <p:cNvSpPr>
              <a:spLocks noChangeArrowheads="1"/>
            </p:cNvSpPr>
            <p:nvPr/>
          </p:nvSpPr>
          <p:spPr bwMode="auto">
            <a:xfrm>
              <a:off x="4196" y="2139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0</a:t>
              </a:r>
              <a:endParaRPr lang="en-US" altLang="en-US"/>
            </a:p>
          </p:txBody>
        </p:sp>
      </p:grpSp>
      <p:sp>
        <p:nvSpPr>
          <p:cNvPr id="22569" name="Rectangle 52"/>
          <p:cNvSpPr>
            <a:spLocks noChangeArrowheads="1"/>
          </p:cNvSpPr>
          <p:nvPr/>
        </p:nvSpPr>
        <p:spPr bwMode="auto">
          <a:xfrm>
            <a:off x="6654800" y="4843967"/>
            <a:ext cx="11906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D</a:t>
            </a:r>
            <a:endParaRPr lang="en-US" altLang="en-US"/>
          </a:p>
        </p:txBody>
      </p:sp>
      <p:sp>
        <p:nvSpPr>
          <p:cNvPr id="22570" name="Rectangle 53"/>
          <p:cNvSpPr>
            <a:spLocks noChangeArrowheads="1"/>
          </p:cNvSpPr>
          <p:nvPr/>
        </p:nvSpPr>
        <p:spPr bwMode="auto">
          <a:xfrm>
            <a:off x="6272213" y="2950080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22571" name="Rectangle 54"/>
          <p:cNvSpPr>
            <a:spLocks noChangeArrowheads="1"/>
          </p:cNvSpPr>
          <p:nvPr/>
        </p:nvSpPr>
        <p:spPr bwMode="auto">
          <a:xfrm>
            <a:off x="6272213" y="3181855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  <p:sp>
        <p:nvSpPr>
          <p:cNvPr id="22572" name="Rectangle 55"/>
          <p:cNvSpPr>
            <a:spLocks noChangeArrowheads="1"/>
          </p:cNvSpPr>
          <p:nvPr/>
        </p:nvSpPr>
        <p:spPr bwMode="auto">
          <a:xfrm>
            <a:off x="6272213" y="3415217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2</a:t>
            </a:r>
            <a:endParaRPr lang="en-US" altLang="en-US"/>
          </a:p>
        </p:txBody>
      </p:sp>
      <p:sp>
        <p:nvSpPr>
          <p:cNvPr id="22573" name="Rectangle 56"/>
          <p:cNvSpPr>
            <a:spLocks noChangeArrowheads="1"/>
          </p:cNvSpPr>
          <p:nvPr/>
        </p:nvSpPr>
        <p:spPr bwMode="auto">
          <a:xfrm>
            <a:off x="6272213" y="3645405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3</a:t>
            </a:r>
            <a:endParaRPr lang="en-US" altLang="en-US"/>
          </a:p>
        </p:txBody>
      </p:sp>
      <p:sp>
        <p:nvSpPr>
          <p:cNvPr id="22574" name="Rectangle 57"/>
          <p:cNvSpPr>
            <a:spLocks noChangeArrowheads="1"/>
          </p:cNvSpPr>
          <p:nvPr/>
        </p:nvSpPr>
        <p:spPr bwMode="auto">
          <a:xfrm>
            <a:off x="6272213" y="3881942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4</a:t>
            </a:r>
            <a:endParaRPr lang="en-US" altLang="en-US"/>
          </a:p>
        </p:txBody>
      </p:sp>
      <p:sp>
        <p:nvSpPr>
          <p:cNvPr id="22575" name="Rectangle 58"/>
          <p:cNvSpPr>
            <a:spLocks noChangeArrowheads="1"/>
          </p:cNvSpPr>
          <p:nvPr/>
        </p:nvSpPr>
        <p:spPr bwMode="auto">
          <a:xfrm>
            <a:off x="6272213" y="4112130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5</a:t>
            </a:r>
            <a:endParaRPr lang="en-US" altLang="en-US"/>
          </a:p>
        </p:txBody>
      </p:sp>
      <p:sp>
        <p:nvSpPr>
          <p:cNvPr id="22576" name="Rectangle 59"/>
          <p:cNvSpPr>
            <a:spLocks noChangeArrowheads="1"/>
          </p:cNvSpPr>
          <p:nvPr/>
        </p:nvSpPr>
        <p:spPr bwMode="auto">
          <a:xfrm>
            <a:off x="6272213" y="4348667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6</a:t>
            </a:r>
            <a:endParaRPr lang="en-US" altLang="en-US"/>
          </a:p>
        </p:txBody>
      </p:sp>
      <p:sp>
        <p:nvSpPr>
          <p:cNvPr id="22577" name="Rectangle 60"/>
          <p:cNvSpPr>
            <a:spLocks noChangeArrowheads="1"/>
          </p:cNvSpPr>
          <p:nvPr/>
        </p:nvSpPr>
        <p:spPr bwMode="auto">
          <a:xfrm>
            <a:off x="6272213" y="4572505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7</a:t>
            </a:r>
            <a:endParaRPr lang="en-US" altLang="en-US"/>
          </a:p>
        </p:txBody>
      </p:sp>
      <p:sp>
        <p:nvSpPr>
          <p:cNvPr id="22578" name="Rectangle 61"/>
          <p:cNvSpPr>
            <a:spLocks noChangeArrowheads="1"/>
          </p:cNvSpPr>
          <p:nvPr/>
        </p:nvSpPr>
        <p:spPr bwMode="auto">
          <a:xfrm>
            <a:off x="6007100" y="3773992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/>
          </a:p>
        </p:txBody>
      </p:sp>
      <p:sp>
        <p:nvSpPr>
          <p:cNvPr id="22579" name="Rectangle 62"/>
          <p:cNvSpPr>
            <a:spLocks noChangeArrowheads="1"/>
          </p:cNvSpPr>
          <p:nvPr/>
        </p:nvSpPr>
        <p:spPr bwMode="auto">
          <a:xfrm>
            <a:off x="6007100" y="3951792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/>
          </a:p>
        </p:txBody>
      </p:sp>
      <p:sp>
        <p:nvSpPr>
          <p:cNvPr id="22580" name="Rectangle 63"/>
          <p:cNvSpPr>
            <a:spLocks noChangeArrowheads="1"/>
          </p:cNvSpPr>
          <p:nvPr/>
        </p:nvSpPr>
        <p:spPr bwMode="auto">
          <a:xfrm>
            <a:off x="6007100" y="4158167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/>
          </a:p>
        </p:txBody>
      </p:sp>
      <p:sp>
        <p:nvSpPr>
          <p:cNvPr id="22581" name="Rectangle 64"/>
          <p:cNvSpPr>
            <a:spLocks noChangeArrowheads="1"/>
          </p:cNvSpPr>
          <p:nvPr/>
        </p:nvSpPr>
        <p:spPr bwMode="auto">
          <a:xfrm>
            <a:off x="5586413" y="3770817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k</a:t>
            </a:r>
            <a:endParaRPr lang="en-US" altLang="en-US"/>
          </a:p>
        </p:txBody>
      </p:sp>
      <p:sp>
        <p:nvSpPr>
          <p:cNvPr id="22582" name="Rectangle 65"/>
          <p:cNvSpPr>
            <a:spLocks noChangeArrowheads="1"/>
          </p:cNvSpPr>
          <p:nvPr/>
        </p:nvSpPr>
        <p:spPr bwMode="auto">
          <a:xfrm>
            <a:off x="5581650" y="3961317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p</a:t>
            </a:r>
            <a:endParaRPr lang="en-US" altLang="en-US"/>
          </a:p>
        </p:txBody>
      </p:sp>
      <p:sp>
        <p:nvSpPr>
          <p:cNvPr id="22583" name="Rectangle 66"/>
          <p:cNvSpPr>
            <a:spLocks noChangeArrowheads="1"/>
          </p:cNvSpPr>
          <p:nvPr/>
        </p:nvSpPr>
        <p:spPr bwMode="auto">
          <a:xfrm>
            <a:off x="5581650" y="4156580"/>
            <a:ext cx="825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s</a:t>
            </a:r>
            <a:endParaRPr lang="en-US" altLang="en-US"/>
          </a:p>
        </p:txBody>
      </p:sp>
      <p:sp>
        <p:nvSpPr>
          <p:cNvPr id="22587" name="Rectangle 71"/>
          <p:cNvSpPr>
            <a:spLocks noChangeArrowheads="1"/>
          </p:cNvSpPr>
          <p:nvPr/>
        </p:nvSpPr>
        <p:spPr bwMode="auto">
          <a:xfrm>
            <a:off x="8043863" y="2918330"/>
            <a:ext cx="611187" cy="1863725"/>
          </a:xfrm>
          <a:prstGeom prst="rect">
            <a:avLst/>
          </a:prstGeom>
          <a:solidFill>
            <a:srgbClr val="D4E0F3"/>
          </a:solidFill>
          <a:ln w="15875">
            <a:solidFill>
              <a:srgbClr val="0079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88" name="Line 72"/>
          <p:cNvSpPr>
            <a:spLocks noChangeShapeType="1"/>
          </p:cNvSpPr>
          <p:nvPr/>
        </p:nvSpPr>
        <p:spPr bwMode="auto">
          <a:xfrm>
            <a:off x="8039100" y="3153280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9" name="Line 73"/>
          <p:cNvSpPr>
            <a:spLocks noChangeShapeType="1"/>
          </p:cNvSpPr>
          <p:nvPr/>
        </p:nvSpPr>
        <p:spPr bwMode="auto">
          <a:xfrm>
            <a:off x="8039100" y="3383467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0" name="Line 74"/>
          <p:cNvSpPr>
            <a:spLocks noChangeShapeType="1"/>
          </p:cNvSpPr>
          <p:nvPr/>
        </p:nvSpPr>
        <p:spPr bwMode="auto">
          <a:xfrm>
            <a:off x="8039100" y="3618417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1" name="Line 75"/>
          <p:cNvSpPr>
            <a:spLocks noChangeShapeType="1"/>
          </p:cNvSpPr>
          <p:nvPr/>
        </p:nvSpPr>
        <p:spPr bwMode="auto">
          <a:xfrm>
            <a:off x="8039100" y="3853367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2" name="Line 76"/>
          <p:cNvSpPr>
            <a:spLocks noChangeShapeType="1"/>
          </p:cNvSpPr>
          <p:nvPr/>
        </p:nvSpPr>
        <p:spPr bwMode="auto">
          <a:xfrm>
            <a:off x="8039100" y="4083555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3" name="Line 77"/>
          <p:cNvSpPr>
            <a:spLocks noChangeShapeType="1"/>
          </p:cNvSpPr>
          <p:nvPr/>
        </p:nvSpPr>
        <p:spPr bwMode="auto">
          <a:xfrm>
            <a:off x="8039100" y="4318505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4" name="Line 78"/>
          <p:cNvSpPr>
            <a:spLocks noChangeShapeType="1"/>
          </p:cNvSpPr>
          <p:nvPr/>
        </p:nvSpPr>
        <p:spPr bwMode="auto">
          <a:xfrm>
            <a:off x="8039100" y="4553455"/>
            <a:ext cx="615950" cy="0"/>
          </a:xfrm>
          <a:prstGeom prst="line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5" name="Rectangle 79"/>
          <p:cNvSpPr>
            <a:spLocks noChangeArrowheads="1"/>
          </p:cNvSpPr>
          <p:nvPr/>
        </p:nvSpPr>
        <p:spPr bwMode="auto">
          <a:xfrm>
            <a:off x="7869238" y="2697667"/>
            <a:ext cx="2667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8x1</a:t>
            </a:r>
            <a:endParaRPr lang="en-US" altLang="en-US"/>
          </a:p>
        </p:txBody>
      </p:sp>
      <p:sp>
        <p:nvSpPr>
          <p:cNvPr id="22596" name="Rectangle 82"/>
          <p:cNvSpPr>
            <a:spLocks noChangeArrowheads="1"/>
          </p:cNvSpPr>
          <p:nvPr/>
        </p:nvSpPr>
        <p:spPr bwMode="auto">
          <a:xfrm>
            <a:off x="8139113" y="2697667"/>
            <a:ext cx="3683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Mem</a:t>
            </a:r>
            <a:endParaRPr lang="en-US" altLang="en-US"/>
          </a:p>
        </p:txBody>
      </p:sp>
      <p:sp>
        <p:nvSpPr>
          <p:cNvPr id="22597" name="Rectangle 83"/>
          <p:cNvSpPr>
            <a:spLocks noChangeArrowheads="1"/>
          </p:cNvSpPr>
          <p:nvPr/>
        </p:nvSpPr>
        <p:spPr bwMode="auto">
          <a:xfrm>
            <a:off x="8510588" y="2697667"/>
            <a:ext cx="46037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.</a:t>
            </a:r>
            <a:endParaRPr lang="en-US" altLang="en-US"/>
          </a:p>
        </p:txBody>
      </p:sp>
      <p:grpSp>
        <p:nvGrpSpPr>
          <p:cNvPr id="3" name="Group 164"/>
          <p:cNvGrpSpPr>
            <a:grpSpLocks/>
          </p:cNvGrpSpPr>
          <p:nvPr/>
        </p:nvGrpSpPr>
        <p:grpSpPr bwMode="auto">
          <a:xfrm>
            <a:off x="8304213" y="2950080"/>
            <a:ext cx="92075" cy="893762"/>
            <a:chOff x="5231" y="1117"/>
            <a:chExt cx="58" cy="563"/>
          </a:xfrm>
        </p:grpSpPr>
        <p:sp>
          <p:nvSpPr>
            <p:cNvPr id="22683" name="Rectangle 84"/>
            <p:cNvSpPr>
              <a:spLocks noChangeArrowheads="1"/>
            </p:cNvSpPr>
            <p:nvPr/>
          </p:nvSpPr>
          <p:spPr bwMode="auto">
            <a:xfrm>
              <a:off x="5231" y="1117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FF0000"/>
                  </a:solidFill>
                  <a:latin typeface="Helvetica" pitchFamily="34" charset="0"/>
                </a:rPr>
                <a:t>0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22684" name="Rectangle 85"/>
            <p:cNvSpPr>
              <a:spLocks noChangeArrowheads="1"/>
            </p:cNvSpPr>
            <p:nvPr/>
          </p:nvSpPr>
          <p:spPr bwMode="auto">
            <a:xfrm>
              <a:off x="5231" y="1263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22685" name="Rectangle 86"/>
            <p:cNvSpPr>
              <a:spLocks noChangeArrowheads="1"/>
            </p:cNvSpPr>
            <p:nvPr/>
          </p:nvSpPr>
          <p:spPr bwMode="auto">
            <a:xfrm>
              <a:off x="5231" y="1410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  <p:sp>
          <p:nvSpPr>
            <p:cNvPr id="22686" name="Rectangle 87"/>
            <p:cNvSpPr>
              <a:spLocks noChangeArrowheads="1"/>
            </p:cNvSpPr>
            <p:nvPr/>
          </p:nvSpPr>
          <p:spPr bwMode="auto">
            <a:xfrm>
              <a:off x="5231" y="1555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FF0000"/>
                  </a:solidFill>
                  <a:latin typeface="Helvetica" pitchFamily="34" charset="0"/>
                </a:rPr>
                <a:t>1</a:t>
              </a:r>
              <a:endParaRPr lang="en-US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Group 167"/>
          <p:cNvGrpSpPr>
            <a:grpSpLocks/>
          </p:cNvGrpSpPr>
          <p:nvPr/>
        </p:nvGrpSpPr>
        <p:grpSpPr bwMode="auto">
          <a:xfrm>
            <a:off x="8304213" y="3881942"/>
            <a:ext cx="92075" cy="889000"/>
            <a:chOff x="5231" y="1704"/>
            <a:chExt cx="58" cy="560"/>
          </a:xfrm>
        </p:grpSpPr>
        <p:sp>
          <p:nvSpPr>
            <p:cNvPr id="22679" name="Rectangle 88"/>
            <p:cNvSpPr>
              <a:spLocks noChangeArrowheads="1"/>
            </p:cNvSpPr>
            <p:nvPr/>
          </p:nvSpPr>
          <p:spPr bwMode="auto">
            <a:xfrm>
              <a:off x="5231" y="1704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 i="1">
                  <a:solidFill>
                    <a:srgbClr val="6600CC"/>
                  </a:solidFill>
                  <a:latin typeface="Helvetica" pitchFamily="34" charset="0"/>
                </a:rPr>
                <a:t>0</a:t>
              </a:r>
              <a:endParaRPr lang="en-US" altLang="en-US">
                <a:solidFill>
                  <a:srgbClr val="6600CC"/>
                </a:solidFill>
              </a:endParaRPr>
            </a:p>
          </p:txBody>
        </p:sp>
        <p:sp>
          <p:nvSpPr>
            <p:cNvPr id="22680" name="Rectangle 89"/>
            <p:cNvSpPr>
              <a:spLocks noChangeArrowheads="1"/>
            </p:cNvSpPr>
            <p:nvPr/>
          </p:nvSpPr>
          <p:spPr bwMode="auto">
            <a:xfrm>
              <a:off x="5231" y="1849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 i="1">
                  <a:solidFill>
                    <a:srgbClr val="6600CC"/>
                  </a:solidFill>
                  <a:latin typeface="Helvetica" pitchFamily="34" charset="0"/>
                </a:rPr>
                <a:t>0</a:t>
              </a:r>
              <a:endParaRPr lang="en-US" altLang="en-US">
                <a:solidFill>
                  <a:srgbClr val="6600CC"/>
                </a:solidFill>
              </a:endParaRPr>
            </a:p>
          </p:txBody>
        </p:sp>
        <p:sp>
          <p:nvSpPr>
            <p:cNvPr id="22681" name="Rectangle 90"/>
            <p:cNvSpPr>
              <a:spLocks noChangeArrowheads="1"/>
            </p:cNvSpPr>
            <p:nvPr/>
          </p:nvSpPr>
          <p:spPr bwMode="auto">
            <a:xfrm>
              <a:off x="5231" y="1998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 i="1">
                  <a:solidFill>
                    <a:srgbClr val="6600CC"/>
                  </a:solidFill>
                  <a:latin typeface="Helvetica" pitchFamily="34" charset="0"/>
                </a:rPr>
                <a:t>0</a:t>
              </a:r>
              <a:endParaRPr lang="en-US" altLang="en-US">
                <a:solidFill>
                  <a:srgbClr val="6600CC"/>
                </a:solidFill>
              </a:endParaRPr>
            </a:p>
          </p:txBody>
        </p:sp>
        <p:sp>
          <p:nvSpPr>
            <p:cNvPr id="22682" name="Rectangle 91"/>
            <p:cNvSpPr>
              <a:spLocks noChangeArrowheads="1"/>
            </p:cNvSpPr>
            <p:nvPr/>
          </p:nvSpPr>
          <p:spPr bwMode="auto">
            <a:xfrm>
              <a:off x="5231" y="2139"/>
              <a:ext cx="58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 i="1">
                  <a:solidFill>
                    <a:srgbClr val="6600CC"/>
                  </a:solidFill>
                  <a:latin typeface="Helvetica" pitchFamily="34" charset="0"/>
                </a:rPr>
                <a:t>0</a:t>
              </a:r>
              <a:endParaRPr lang="en-US" altLang="en-US">
                <a:solidFill>
                  <a:srgbClr val="6600CC"/>
                </a:solidFill>
              </a:endParaRPr>
            </a:p>
          </p:txBody>
        </p:sp>
      </p:grpSp>
      <p:sp>
        <p:nvSpPr>
          <p:cNvPr id="22600" name="Rectangle 92"/>
          <p:cNvSpPr>
            <a:spLocks noChangeArrowheads="1"/>
          </p:cNvSpPr>
          <p:nvPr/>
        </p:nvSpPr>
        <p:spPr bwMode="auto">
          <a:xfrm>
            <a:off x="8293100" y="4843967"/>
            <a:ext cx="11906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D</a:t>
            </a:r>
            <a:endParaRPr lang="en-US" altLang="en-US"/>
          </a:p>
        </p:txBody>
      </p:sp>
      <p:sp>
        <p:nvSpPr>
          <p:cNvPr id="22601" name="Rectangle 93"/>
          <p:cNvSpPr>
            <a:spLocks noChangeArrowheads="1"/>
          </p:cNvSpPr>
          <p:nvPr/>
        </p:nvSpPr>
        <p:spPr bwMode="auto">
          <a:xfrm>
            <a:off x="8712200" y="5074155"/>
            <a:ext cx="119063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w</a:t>
            </a:r>
            <a:endParaRPr lang="en-US" altLang="en-US"/>
          </a:p>
        </p:txBody>
      </p:sp>
      <p:sp>
        <p:nvSpPr>
          <p:cNvPr id="22602" name="Rectangle 94"/>
          <p:cNvSpPr>
            <a:spLocks noChangeArrowheads="1"/>
          </p:cNvSpPr>
          <p:nvPr/>
        </p:nvSpPr>
        <p:spPr bwMode="auto">
          <a:xfrm>
            <a:off x="7916863" y="2950080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0</a:t>
            </a:r>
            <a:endParaRPr lang="en-US" altLang="en-US"/>
          </a:p>
        </p:txBody>
      </p:sp>
      <p:sp>
        <p:nvSpPr>
          <p:cNvPr id="22603" name="Rectangle 95"/>
          <p:cNvSpPr>
            <a:spLocks noChangeArrowheads="1"/>
          </p:cNvSpPr>
          <p:nvPr/>
        </p:nvSpPr>
        <p:spPr bwMode="auto">
          <a:xfrm>
            <a:off x="7916863" y="3181855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1</a:t>
            </a:r>
            <a:endParaRPr lang="en-US" altLang="en-US"/>
          </a:p>
        </p:txBody>
      </p:sp>
      <p:sp>
        <p:nvSpPr>
          <p:cNvPr id="22604" name="Rectangle 96"/>
          <p:cNvSpPr>
            <a:spLocks noChangeArrowheads="1"/>
          </p:cNvSpPr>
          <p:nvPr/>
        </p:nvSpPr>
        <p:spPr bwMode="auto">
          <a:xfrm>
            <a:off x="7916863" y="3415217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2</a:t>
            </a:r>
            <a:endParaRPr lang="en-US" altLang="en-US"/>
          </a:p>
        </p:txBody>
      </p:sp>
      <p:sp>
        <p:nvSpPr>
          <p:cNvPr id="22605" name="Rectangle 97"/>
          <p:cNvSpPr>
            <a:spLocks noChangeArrowheads="1"/>
          </p:cNvSpPr>
          <p:nvPr/>
        </p:nvSpPr>
        <p:spPr bwMode="auto">
          <a:xfrm>
            <a:off x="7916863" y="3645405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3</a:t>
            </a:r>
            <a:endParaRPr lang="en-US" altLang="en-US"/>
          </a:p>
        </p:txBody>
      </p:sp>
      <p:sp>
        <p:nvSpPr>
          <p:cNvPr id="22606" name="Rectangle 98"/>
          <p:cNvSpPr>
            <a:spLocks noChangeArrowheads="1"/>
          </p:cNvSpPr>
          <p:nvPr/>
        </p:nvSpPr>
        <p:spPr bwMode="auto">
          <a:xfrm>
            <a:off x="7916863" y="3881942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4</a:t>
            </a:r>
            <a:endParaRPr lang="en-US" altLang="en-US"/>
          </a:p>
        </p:txBody>
      </p:sp>
      <p:sp>
        <p:nvSpPr>
          <p:cNvPr id="22607" name="Rectangle 99"/>
          <p:cNvSpPr>
            <a:spLocks noChangeArrowheads="1"/>
          </p:cNvSpPr>
          <p:nvPr/>
        </p:nvSpPr>
        <p:spPr bwMode="auto">
          <a:xfrm>
            <a:off x="7916863" y="4112130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5</a:t>
            </a:r>
            <a:endParaRPr lang="en-US" altLang="en-US"/>
          </a:p>
        </p:txBody>
      </p:sp>
      <p:sp>
        <p:nvSpPr>
          <p:cNvPr id="22608" name="Rectangle 100"/>
          <p:cNvSpPr>
            <a:spLocks noChangeArrowheads="1"/>
          </p:cNvSpPr>
          <p:nvPr/>
        </p:nvSpPr>
        <p:spPr bwMode="auto">
          <a:xfrm>
            <a:off x="7916863" y="4348667"/>
            <a:ext cx="920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6</a:t>
            </a:r>
            <a:endParaRPr lang="en-US" altLang="en-US"/>
          </a:p>
        </p:txBody>
      </p:sp>
      <p:sp>
        <p:nvSpPr>
          <p:cNvPr id="22609" name="Rectangle 101"/>
          <p:cNvSpPr>
            <a:spLocks noChangeArrowheads="1"/>
          </p:cNvSpPr>
          <p:nvPr/>
        </p:nvSpPr>
        <p:spPr bwMode="auto">
          <a:xfrm>
            <a:off x="7916863" y="4572505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7</a:t>
            </a:r>
            <a:endParaRPr lang="en-US" altLang="en-US"/>
          </a:p>
        </p:txBody>
      </p:sp>
      <p:sp>
        <p:nvSpPr>
          <p:cNvPr id="22610" name="Rectangle 102"/>
          <p:cNvSpPr>
            <a:spLocks noChangeArrowheads="1"/>
          </p:cNvSpPr>
          <p:nvPr/>
        </p:nvSpPr>
        <p:spPr bwMode="auto">
          <a:xfrm>
            <a:off x="7650163" y="3773992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a2</a:t>
            </a:r>
            <a:endParaRPr lang="en-US" altLang="en-US"/>
          </a:p>
        </p:txBody>
      </p:sp>
      <p:sp>
        <p:nvSpPr>
          <p:cNvPr id="22611" name="Rectangle 103"/>
          <p:cNvSpPr>
            <a:spLocks noChangeArrowheads="1"/>
          </p:cNvSpPr>
          <p:nvPr/>
        </p:nvSpPr>
        <p:spPr bwMode="auto">
          <a:xfrm>
            <a:off x="7650163" y="3951792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a1</a:t>
            </a:r>
            <a:endParaRPr lang="en-US" altLang="en-US"/>
          </a:p>
        </p:txBody>
      </p:sp>
      <p:sp>
        <p:nvSpPr>
          <p:cNvPr id="22612" name="Rectangle 104"/>
          <p:cNvSpPr>
            <a:spLocks noChangeArrowheads="1"/>
          </p:cNvSpPr>
          <p:nvPr/>
        </p:nvSpPr>
        <p:spPr bwMode="auto">
          <a:xfrm>
            <a:off x="7650163" y="4158167"/>
            <a:ext cx="1841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a0</a:t>
            </a:r>
            <a:endParaRPr lang="en-US" altLang="en-US"/>
          </a:p>
        </p:txBody>
      </p:sp>
      <p:sp>
        <p:nvSpPr>
          <p:cNvPr id="22613" name="Line 105"/>
          <p:cNvSpPr>
            <a:spLocks noChangeShapeType="1"/>
          </p:cNvSpPr>
          <p:nvPr/>
        </p:nvSpPr>
        <p:spPr bwMode="auto">
          <a:xfrm>
            <a:off x="219075" y="2927855"/>
            <a:ext cx="0" cy="0"/>
          </a:xfrm>
          <a:prstGeom prst="line">
            <a:avLst/>
          </a:prstGeom>
          <a:noFill/>
          <a:ln w="4763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87178" name="Freeform 106"/>
          <p:cNvSpPr>
            <a:spLocks/>
          </p:cNvSpPr>
          <p:nvPr/>
        </p:nvSpPr>
        <p:spPr bwMode="auto">
          <a:xfrm>
            <a:off x="3436938" y="3283455"/>
            <a:ext cx="1196975" cy="809625"/>
          </a:xfrm>
          <a:custGeom>
            <a:avLst/>
            <a:gdLst>
              <a:gd name="T0" fmla="*/ 721321 w 229"/>
              <a:gd name="T1" fmla="*/ 668594 h 155"/>
              <a:gd name="T2" fmla="*/ 67951 w 229"/>
              <a:gd name="T3" fmla="*/ 652923 h 155"/>
              <a:gd name="T4" fmla="*/ 475654 w 229"/>
              <a:gd name="T5" fmla="*/ 141031 h 155"/>
              <a:gd name="T6" fmla="*/ 1129024 w 229"/>
              <a:gd name="T7" fmla="*/ 156702 h 155"/>
              <a:gd name="T8" fmla="*/ 721321 w 229"/>
              <a:gd name="T9" fmla="*/ 668594 h 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9"/>
              <a:gd name="T16" fmla="*/ 0 h 155"/>
              <a:gd name="T17" fmla="*/ 229 w 229"/>
              <a:gd name="T18" fmla="*/ 155 h 1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9" h="155">
                <a:moveTo>
                  <a:pt x="138" y="128"/>
                </a:moveTo>
                <a:cubicBezTo>
                  <a:pt x="82" y="155"/>
                  <a:pt x="26" y="153"/>
                  <a:pt x="13" y="125"/>
                </a:cubicBezTo>
                <a:cubicBezTo>
                  <a:pt x="0" y="97"/>
                  <a:pt x="35" y="53"/>
                  <a:pt x="91" y="27"/>
                </a:cubicBezTo>
                <a:cubicBezTo>
                  <a:pt x="147" y="0"/>
                  <a:pt x="203" y="2"/>
                  <a:pt x="216" y="30"/>
                </a:cubicBezTo>
                <a:cubicBezTo>
                  <a:pt x="229" y="58"/>
                  <a:pt x="194" y="102"/>
                  <a:pt x="138" y="128"/>
                </a:cubicBezTo>
                <a:close/>
              </a:path>
            </a:pathLst>
          </a:custGeom>
          <a:noFill/>
          <a:ln w="31750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5" name="Group 163"/>
          <p:cNvGrpSpPr>
            <a:grpSpLocks/>
          </p:cNvGrpSpPr>
          <p:nvPr/>
        </p:nvGrpSpPr>
        <p:grpSpPr bwMode="auto">
          <a:xfrm>
            <a:off x="4471988" y="2792917"/>
            <a:ext cx="1733550" cy="522288"/>
            <a:chOff x="2817" y="1018"/>
            <a:chExt cx="1092" cy="329"/>
          </a:xfrm>
        </p:grpSpPr>
        <p:sp>
          <p:nvSpPr>
            <p:cNvPr id="22677" name="Freeform 107"/>
            <p:cNvSpPr>
              <a:spLocks/>
            </p:cNvSpPr>
            <p:nvPr/>
          </p:nvSpPr>
          <p:spPr bwMode="auto">
            <a:xfrm>
              <a:off x="2817" y="1018"/>
              <a:ext cx="1039" cy="329"/>
            </a:xfrm>
            <a:custGeom>
              <a:avLst/>
              <a:gdLst>
                <a:gd name="T0" fmla="*/ 0 w 316"/>
                <a:gd name="T1" fmla="*/ 329 h 100"/>
                <a:gd name="T2" fmla="*/ 1039 w 316"/>
                <a:gd name="T3" fmla="*/ 260 h 100"/>
                <a:gd name="T4" fmla="*/ 0 60000 65536"/>
                <a:gd name="T5" fmla="*/ 0 60000 65536"/>
                <a:gd name="T6" fmla="*/ 0 w 316"/>
                <a:gd name="T7" fmla="*/ 0 h 100"/>
                <a:gd name="T8" fmla="*/ 316 w 316"/>
                <a:gd name="T9" fmla="*/ 100 h 1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6" h="100">
                  <a:moveTo>
                    <a:pt x="0" y="100"/>
                  </a:moveTo>
                  <a:cubicBezTo>
                    <a:pt x="0" y="100"/>
                    <a:pt x="129" y="0"/>
                    <a:pt x="316" y="79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78" name="Freeform 108"/>
            <p:cNvSpPr>
              <a:spLocks/>
            </p:cNvSpPr>
            <p:nvPr/>
          </p:nvSpPr>
          <p:spPr bwMode="auto">
            <a:xfrm>
              <a:off x="3837" y="1255"/>
              <a:ext cx="72" cy="46"/>
            </a:xfrm>
            <a:custGeom>
              <a:avLst/>
              <a:gdLst>
                <a:gd name="T0" fmla="*/ 0 w 72"/>
                <a:gd name="T1" fmla="*/ 36 h 46"/>
                <a:gd name="T2" fmla="*/ 72 w 72"/>
                <a:gd name="T3" fmla="*/ 46 h 46"/>
                <a:gd name="T4" fmla="*/ 16 w 72"/>
                <a:gd name="T5" fmla="*/ 0 h 46"/>
                <a:gd name="T6" fmla="*/ 0 w 72"/>
                <a:gd name="T7" fmla="*/ 36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"/>
                <a:gd name="T13" fmla="*/ 0 h 46"/>
                <a:gd name="T14" fmla="*/ 72 w 72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" h="46">
                  <a:moveTo>
                    <a:pt x="0" y="36"/>
                  </a:moveTo>
                  <a:lnTo>
                    <a:pt x="72" y="46"/>
                  </a:lnTo>
                  <a:lnTo>
                    <a:pt x="16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6" name="Group 166"/>
          <p:cNvGrpSpPr>
            <a:grpSpLocks/>
          </p:cNvGrpSpPr>
          <p:nvPr/>
        </p:nvGrpSpPr>
        <p:grpSpPr bwMode="auto">
          <a:xfrm>
            <a:off x="4921250" y="4245480"/>
            <a:ext cx="2971800" cy="866775"/>
            <a:chOff x="3100" y="1933"/>
            <a:chExt cx="1872" cy="546"/>
          </a:xfrm>
        </p:grpSpPr>
        <p:sp>
          <p:nvSpPr>
            <p:cNvPr id="22675" name="Freeform 109"/>
            <p:cNvSpPr>
              <a:spLocks/>
            </p:cNvSpPr>
            <p:nvPr/>
          </p:nvSpPr>
          <p:spPr bwMode="auto">
            <a:xfrm>
              <a:off x="3100" y="1933"/>
              <a:ext cx="1813" cy="546"/>
            </a:xfrm>
            <a:custGeom>
              <a:avLst/>
              <a:gdLst>
                <a:gd name="T0" fmla="*/ 0 w 551"/>
                <a:gd name="T1" fmla="*/ 0 h 166"/>
                <a:gd name="T2" fmla="*/ 1813 w 551"/>
                <a:gd name="T3" fmla="*/ 316 h 166"/>
                <a:gd name="T4" fmla="*/ 0 60000 65536"/>
                <a:gd name="T5" fmla="*/ 0 60000 65536"/>
                <a:gd name="T6" fmla="*/ 0 w 551"/>
                <a:gd name="T7" fmla="*/ 0 h 166"/>
                <a:gd name="T8" fmla="*/ 551 w 551"/>
                <a:gd name="T9" fmla="*/ 166 h 1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51" h="166">
                  <a:moveTo>
                    <a:pt x="0" y="0"/>
                  </a:moveTo>
                  <a:cubicBezTo>
                    <a:pt x="0" y="0"/>
                    <a:pt x="117" y="166"/>
                    <a:pt x="551" y="9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76" name="Freeform 110"/>
            <p:cNvSpPr>
              <a:spLocks/>
            </p:cNvSpPr>
            <p:nvPr/>
          </p:nvSpPr>
          <p:spPr bwMode="auto">
            <a:xfrm>
              <a:off x="4896" y="2229"/>
              <a:ext cx="76" cy="39"/>
            </a:xfrm>
            <a:custGeom>
              <a:avLst/>
              <a:gdLst>
                <a:gd name="T0" fmla="*/ 7 w 76"/>
                <a:gd name="T1" fmla="*/ 39 h 39"/>
                <a:gd name="T2" fmla="*/ 76 w 76"/>
                <a:gd name="T3" fmla="*/ 10 h 39"/>
                <a:gd name="T4" fmla="*/ 0 w 76"/>
                <a:gd name="T5" fmla="*/ 0 h 39"/>
                <a:gd name="T6" fmla="*/ 7 w 76"/>
                <a:gd name="T7" fmla="*/ 39 h 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39"/>
                <a:gd name="T14" fmla="*/ 76 w 76"/>
                <a:gd name="T15" fmla="*/ 39 h 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39">
                  <a:moveTo>
                    <a:pt x="7" y="39"/>
                  </a:moveTo>
                  <a:lnTo>
                    <a:pt x="76" y="10"/>
                  </a:lnTo>
                  <a:lnTo>
                    <a:pt x="0" y="0"/>
                  </a:lnTo>
                  <a:lnTo>
                    <a:pt x="7" y="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2617" name="Line 111"/>
          <p:cNvSpPr>
            <a:spLocks noChangeShapeType="1"/>
          </p:cNvSpPr>
          <p:nvPr/>
        </p:nvSpPr>
        <p:spPr bwMode="auto">
          <a:xfrm>
            <a:off x="571023" y="2644270"/>
            <a:ext cx="904875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18" name="Line 112"/>
          <p:cNvSpPr>
            <a:spLocks noChangeShapeType="1"/>
          </p:cNvSpPr>
          <p:nvPr/>
        </p:nvSpPr>
        <p:spPr bwMode="auto">
          <a:xfrm>
            <a:off x="571023" y="2988757"/>
            <a:ext cx="904875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19" name="Freeform 113"/>
          <p:cNvSpPr>
            <a:spLocks/>
          </p:cNvSpPr>
          <p:nvPr/>
        </p:nvSpPr>
        <p:spPr bwMode="auto">
          <a:xfrm>
            <a:off x="702786" y="2607757"/>
            <a:ext cx="166687" cy="82550"/>
          </a:xfrm>
          <a:custGeom>
            <a:avLst/>
            <a:gdLst>
              <a:gd name="T0" fmla="*/ 166687 w 105"/>
              <a:gd name="T1" fmla="*/ 41275 h 52"/>
              <a:gd name="T2" fmla="*/ 0 w 105"/>
              <a:gd name="T3" fmla="*/ 0 h 52"/>
              <a:gd name="T4" fmla="*/ 0 w 105"/>
              <a:gd name="T5" fmla="*/ 82550 h 52"/>
              <a:gd name="T6" fmla="*/ 166687 w 105"/>
              <a:gd name="T7" fmla="*/ 41275 h 52"/>
              <a:gd name="T8" fmla="*/ 0 60000 65536"/>
              <a:gd name="T9" fmla="*/ 0 60000 65536"/>
              <a:gd name="T10" fmla="*/ 0 60000 65536"/>
              <a:gd name="T11" fmla="*/ 0 60000 65536"/>
              <a:gd name="T12" fmla="*/ 0 w 105"/>
              <a:gd name="T13" fmla="*/ 0 h 52"/>
              <a:gd name="T14" fmla="*/ 105 w 105"/>
              <a:gd name="T15" fmla="*/ 52 h 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" h="52">
                <a:moveTo>
                  <a:pt x="105" y="26"/>
                </a:moveTo>
                <a:lnTo>
                  <a:pt x="0" y="0"/>
                </a:lnTo>
                <a:lnTo>
                  <a:pt x="0" y="52"/>
                </a:lnTo>
                <a:lnTo>
                  <a:pt x="105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20" name="Freeform 114"/>
          <p:cNvSpPr>
            <a:spLocks/>
          </p:cNvSpPr>
          <p:nvPr/>
        </p:nvSpPr>
        <p:spPr bwMode="auto">
          <a:xfrm>
            <a:off x="702786" y="2947482"/>
            <a:ext cx="166687" cy="82550"/>
          </a:xfrm>
          <a:custGeom>
            <a:avLst/>
            <a:gdLst>
              <a:gd name="T0" fmla="*/ 166687 w 105"/>
              <a:gd name="T1" fmla="*/ 41275 h 52"/>
              <a:gd name="T2" fmla="*/ 0 w 105"/>
              <a:gd name="T3" fmla="*/ 0 h 52"/>
              <a:gd name="T4" fmla="*/ 0 w 105"/>
              <a:gd name="T5" fmla="*/ 82550 h 52"/>
              <a:gd name="T6" fmla="*/ 166687 w 105"/>
              <a:gd name="T7" fmla="*/ 41275 h 52"/>
              <a:gd name="T8" fmla="*/ 0 60000 65536"/>
              <a:gd name="T9" fmla="*/ 0 60000 65536"/>
              <a:gd name="T10" fmla="*/ 0 60000 65536"/>
              <a:gd name="T11" fmla="*/ 0 60000 65536"/>
              <a:gd name="T12" fmla="*/ 0 w 105"/>
              <a:gd name="T13" fmla="*/ 0 h 52"/>
              <a:gd name="T14" fmla="*/ 105 w 105"/>
              <a:gd name="T15" fmla="*/ 52 h 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" h="52">
                <a:moveTo>
                  <a:pt x="105" y="26"/>
                </a:moveTo>
                <a:lnTo>
                  <a:pt x="0" y="0"/>
                </a:lnTo>
                <a:lnTo>
                  <a:pt x="0" y="52"/>
                </a:lnTo>
                <a:lnTo>
                  <a:pt x="105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21" name="Line 115"/>
          <p:cNvSpPr>
            <a:spLocks noChangeShapeType="1"/>
          </p:cNvSpPr>
          <p:nvPr/>
        </p:nvSpPr>
        <p:spPr bwMode="auto">
          <a:xfrm>
            <a:off x="571023" y="3291970"/>
            <a:ext cx="1536700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22" name="Line 116"/>
          <p:cNvSpPr>
            <a:spLocks noChangeShapeType="1"/>
          </p:cNvSpPr>
          <p:nvPr/>
        </p:nvSpPr>
        <p:spPr bwMode="auto">
          <a:xfrm>
            <a:off x="5703888" y="3889880"/>
            <a:ext cx="125412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23" name="Freeform 117"/>
          <p:cNvSpPr>
            <a:spLocks/>
          </p:cNvSpPr>
          <p:nvPr/>
        </p:nvSpPr>
        <p:spPr bwMode="auto">
          <a:xfrm>
            <a:off x="5797550" y="3842255"/>
            <a:ext cx="173038" cy="88900"/>
          </a:xfrm>
          <a:custGeom>
            <a:avLst/>
            <a:gdLst>
              <a:gd name="T0" fmla="*/ 0 w 109"/>
              <a:gd name="T1" fmla="*/ 88900 h 56"/>
              <a:gd name="T2" fmla="*/ 173038 w 109"/>
              <a:gd name="T3" fmla="*/ 47625 h 56"/>
              <a:gd name="T4" fmla="*/ 0 w 109"/>
              <a:gd name="T5" fmla="*/ 0 h 56"/>
              <a:gd name="T6" fmla="*/ 0 w 109"/>
              <a:gd name="T7" fmla="*/ 88900 h 56"/>
              <a:gd name="T8" fmla="*/ 0 60000 65536"/>
              <a:gd name="T9" fmla="*/ 0 60000 65536"/>
              <a:gd name="T10" fmla="*/ 0 60000 65536"/>
              <a:gd name="T11" fmla="*/ 0 60000 65536"/>
              <a:gd name="T12" fmla="*/ 0 w 109"/>
              <a:gd name="T13" fmla="*/ 0 h 56"/>
              <a:gd name="T14" fmla="*/ 109 w 109"/>
              <a:gd name="T15" fmla="*/ 56 h 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9" h="56">
                <a:moveTo>
                  <a:pt x="0" y="56"/>
                </a:moveTo>
                <a:lnTo>
                  <a:pt x="109" y="30"/>
                </a:lnTo>
                <a:lnTo>
                  <a:pt x="0" y="0"/>
                </a:lnTo>
                <a:lnTo>
                  <a:pt x="0" y="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24" name="Line 118"/>
          <p:cNvSpPr>
            <a:spLocks noChangeShapeType="1"/>
          </p:cNvSpPr>
          <p:nvPr/>
        </p:nvSpPr>
        <p:spPr bwMode="auto">
          <a:xfrm>
            <a:off x="5703888" y="4255005"/>
            <a:ext cx="125412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25" name="Freeform 119"/>
          <p:cNvSpPr>
            <a:spLocks/>
          </p:cNvSpPr>
          <p:nvPr/>
        </p:nvSpPr>
        <p:spPr bwMode="auto">
          <a:xfrm>
            <a:off x="5797550" y="4213730"/>
            <a:ext cx="173038" cy="88900"/>
          </a:xfrm>
          <a:custGeom>
            <a:avLst/>
            <a:gdLst>
              <a:gd name="T0" fmla="*/ 0 w 109"/>
              <a:gd name="T1" fmla="*/ 88900 h 56"/>
              <a:gd name="T2" fmla="*/ 173038 w 109"/>
              <a:gd name="T3" fmla="*/ 41275 h 56"/>
              <a:gd name="T4" fmla="*/ 0 w 109"/>
              <a:gd name="T5" fmla="*/ 0 h 56"/>
              <a:gd name="T6" fmla="*/ 0 w 109"/>
              <a:gd name="T7" fmla="*/ 88900 h 56"/>
              <a:gd name="T8" fmla="*/ 0 60000 65536"/>
              <a:gd name="T9" fmla="*/ 0 60000 65536"/>
              <a:gd name="T10" fmla="*/ 0 60000 65536"/>
              <a:gd name="T11" fmla="*/ 0 60000 65536"/>
              <a:gd name="T12" fmla="*/ 0 w 109"/>
              <a:gd name="T13" fmla="*/ 0 h 56"/>
              <a:gd name="T14" fmla="*/ 109 w 109"/>
              <a:gd name="T15" fmla="*/ 56 h 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9" h="56">
                <a:moveTo>
                  <a:pt x="0" y="56"/>
                </a:moveTo>
                <a:lnTo>
                  <a:pt x="109" y="26"/>
                </a:lnTo>
                <a:lnTo>
                  <a:pt x="0" y="0"/>
                </a:lnTo>
                <a:lnTo>
                  <a:pt x="0" y="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26" name="Line 120"/>
          <p:cNvSpPr>
            <a:spLocks noChangeShapeType="1"/>
          </p:cNvSpPr>
          <p:nvPr/>
        </p:nvSpPr>
        <p:spPr bwMode="auto">
          <a:xfrm>
            <a:off x="5703888" y="4072442"/>
            <a:ext cx="125412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27" name="Freeform 121"/>
          <p:cNvSpPr>
            <a:spLocks/>
          </p:cNvSpPr>
          <p:nvPr/>
        </p:nvSpPr>
        <p:spPr bwMode="auto">
          <a:xfrm>
            <a:off x="5797550" y="4024817"/>
            <a:ext cx="173038" cy="95250"/>
          </a:xfrm>
          <a:custGeom>
            <a:avLst/>
            <a:gdLst>
              <a:gd name="T0" fmla="*/ 0 w 109"/>
              <a:gd name="T1" fmla="*/ 95250 h 60"/>
              <a:gd name="T2" fmla="*/ 173038 w 109"/>
              <a:gd name="T3" fmla="*/ 47625 h 60"/>
              <a:gd name="T4" fmla="*/ 0 w 109"/>
              <a:gd name="T5" fmla="*/ 0 h 60"/>
              <a:gd name="T6" fmla="*/ 0 w 109"/>
              <a:gd name="T7" fmla="*/ 95250 h 60"/>
              <a:gd name="T8" fmla="*/ 0 60000 65536"/>
              <a:gd name="T9" fmla="*/ 0 60000 65536"/>
              <a:gd name="T10" fmla="*/ 0 60000 65536"/>
              <a:gd name="T11" fmla="*/ 0 60000 65536"/>
              <a:gd name="T12" fmla="*/ 0 w 109"/>
              <a:gd name="T13" fmla="*/ 0 h 60"/>
              <a:gd name="T14" fmla="*/ 109 w 109"/>
              <a:gd name="T15" fmla="*/ 60 h 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9" h="60">
                <a:moveTo>
                  <a:pt x="0" y="60"/>
                </a:moveTo>
                <a:lnTo>
                  <a:pt x="109" y="30"/>
                </a:lnTo>
                <a:lnTo>
                  <a:pt x="0" y="0"/>
                </a:lnTo>
                <a:lnTo>
                  <a:pt x="0" y="6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28" name="Freeform 122"/>
          <p:cNvSpPr>
            <a:spLocks/>
          </p:cNvSpPr>
          <p:nvPr/>
        </p:nvSpPr>
        <p:spPr bwMode="auto">
          <a:xfrm>
            <a:off x="8342313" y="5059867"/>
            <a:ext cx="369887" cy="244475"/>
          </a:xfrm>
          <a:custGeom>
            <a:avLst/>
            <a:gdLst>
              <a:gd name="T0" fmla="*/ 0 w 233"/>
              <a:gd name="T1" fmla="*/ 0 h 154"/>
              <a:gd name="T2" fmla="*/ 0 w 233"/>
              <a:gd name="T3" fmla="*/ 244475 h 154"/>
              <a:gd name="T4" fmla="*/ 369887 w 233"/>
              <a:gd name="T5" fmla="*/ 244475 h 154"/>
              <a:gd name="T6" fmla="*/ 0 w 233"/>
              <a:gd name="T7" fmla="*/ 0 h 154"/>
              <a:gd name="T8" fmla="*/ 0 60000 65536"/>
              <a:gd name="T9" fmla="*/ 0 60000 65536"/>
              <a:gd name="T10" fmla="*/ 0 60000 65536"/>
              <a:gd name="T11" fmla="*/ 0 60000 65536"/>
              <a:gd name="T12" fmla="*/ 0 w 233"/>
              <a:gd name="T13" fmla="*/ 0 h 154"/>
              <a:gd name="T14" fmla="*/ 233 w 233"/>
              <a:gd name="T15" fmla="*/ 154 h 15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3" h="154">
                <a:moveTo>
                  <a:pt x="0" y="0"/>
                </a:moveTo>
                <a:lnTo>
                  <a:pt x="0" y="154"/>
                </a:lnTo>
                <a:lnTo>
                  <a:pt x="233" y="1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29" name="Freeform 123"/>
          <p:cNvSpPr>
            <a:spLocks/>
          </p:cNvSpPr>
          <p:nvPr/>
        </p:nvSpPr>
        <p:spPr bwMode="auto">
          <a:xfrm>
            <a:off x="8342313" y="5059867"/>
            <a:ext cx="369887" cy="244475"/>
          </a:xfrm>
          <a:custGeom>
            <a:avLst/>
            <a:gdLst>
              <a:gd name="T0" fmla="*/ 0 w 233"/>
              <a:gd name="T1" fmla="*/ 0 h 154"/>
              <a:gd name="T2" fmla="*/ 0 w 233"/>
              <a:gd name="T3" fmla="*/ 244475 h 154"/>
              <a:gd name="T4" fmla="*/ 369887 w 233"/>
              <a:gd name="T5" fmla="*/ 244475 h 154"/>
              <a:gd name="T6" fmla="*/ 0 60000 65536"/>
              <a:gd name="T7" fmla="*/ 0 60000 65536"/>
              <a:gd name="T8" fmla="*/ 0 60000 65536"/>
              <a:gd name="T9" fmla="*/ 0 w 233"/>
              <a:gd name="T10" fmla="*/ 0 h 154"/>
              <a:gd name="T11" fmla="*/ 233 w 23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3" h="154">
                <a:moveTo>
                  <a:pt x="0" y="0"/>
                </a:moveTo>
                <a:lnTo>
                  <a:pt x="0" y="154"/>
                </a:lnTo>
                <a:lnTo>
                  <a:pt x="233" y="154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30" name="Freeform 124"/>
          <p:cNvSpPr>
            <a:spLocks/>
          </p:cNvSpPr>
          <p:nvPr/>
        </p:nvSpPr>
        <p:spPr bwMode="auto">
          <a:xfrm>
            <a:off x="8682038" y="5258305"/>
            <a:ext cx="171450" cy="88900"/>
          </a:xfrm>
          <a:custGeom>
            <a:avLst/>
            <a:gdLst>
              <a:gd name="T0" fmla="*/ 0 w 108"/>
              <a:gd name="T1" fmla="*/ 88900 h 56"/>
              <a:gd name="T2" fmla="*/ 171450 w 108"/>
              <a:gd name="T3" fmla="*/ 46037 h 56"/>
              <a:gd name="T4" fmla="*/ 0 w 108"/>
              <a:gd name="T5" fmla="*/ 0 h 56"/>
              <a:gd name="T6" fmla="*/ 0 w 108"/>
              <a:gd name="T7" fmla="*/ 88900 h 56"/>
              <a:gd name="T8" fmla="*/ 0 60000 65536"/>
              <a:gd name="T9" fmla="*/ 0 60000 65536"/>
              <a:gd name="T10" fmla="*/ 0 60000 65536"/>
              <a:gd name="T11" fmla="*/ 0 60000 65536"/>
              <a:gd name="T12" fmla="*/ 0 w 108"/>
              <a:gd name="T13" fmla="*/ 0 h 56"/>
              <a:gd name="T14" fmla="*/ 108 w 108"/>
              <a:gd name="T15" fmla="*/ 56 h 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" h="56">
                <a:moveTo>
                  <a:pt x="0" y="56"/>
                </a:moveTo>
                <a:lnTo>
                  <a:pt x="108" y="29"/>
                </a:lnTo>
                <a:lnTo>
                  <a:pt x="0" y="0"/>
                </a:lnTo>
                <a:lnTo>
                  <a:pt x="0" y="5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31" name="Freeform 125"/>
          <p:cNvSpPr>
            <a:spLocks/>
          </p:cNvSpPr>
          <p:nvPr/>
        </p:nvSpPr>
        <p:spPr bwMode="auto">
          <a:xfrm>
            <a:off x="8342313" y="5059867"/>
            <a:ext cx="369887" cy="244475"/>
          </a:xfrm>
          <a:custGeom>
            <a:avLst/>
            <a:gdLst>
              <a:gd name="T0" fmla="*/ 0 w 233"/>
              <a:gd name="T1" fmla="*/ 0 h 154"/>
              <a:gd name="T2" fmla="*/ 0 w 233"/>
              <a:gd name="T3" fmla="*/ 244475 h 154"/>
              <a:gd name="T4" fmla="*/ 369887 w 233"/>
              <a:gd name="T5" fmla="*/ 244475 h 154"/>
              <a:gd name="T6" fmla="*/ 0 60000 65536"/>
              <a:gd name="T7" fmla="*/ 0 60000 65536"/>
              <a:gd name="T8" fmla="*/ 0 60000 65536"/>
              <a:gd name="T9" fmla="*/ 0 w 233"/>
              <a:gd name="T10" fmla="*/ 0 h 154"/>
              <a:gd name="T11" fmla="*/ 233 w 233"/>
              <a:gd name="T12" fmla="*/ 154 h 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3" h="154">
                <a:moveTo>
                  <a:pt x="0" y="0"/>
                </a:moveTo>
                <a:lnTo>
                  <a:pt x="0" y="154"/>
                </a:lnTo>
                <a:lnTo>
                  <a:pt x="233" y="154"/>
                </a:lnTo>
              </a:path>
            </a:pathLst>
          </a:cu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32" name="Freeform 126"/>
          <p:cNvSpPr>
            <a:spLocks/>
          </p:cNvSpPr>
          <p:nvPr/>
        </p:nvSpPr>
        <p:spPr bwMode="auto">
          <a:xfrm>
            <a:off x="8682038" y="5258305"/>
            <a:ext cx="171450" cy="88900"/>
          </a:xfrm>
          <a:custGeom>
            <a:avLst/>
            <a:gdLst>
              <a:gd name="T0" fmla="*/ 0 w 108"/>
              <a:gd name="T1" fmla="*/ 88900 h 56"/>
              <a:gd name="T2" fmla="*/ 171450 w 108"/>
              <a:gd name="T3" fmla="*/ 46037 h 56"/>
              <a:gd name="T4" fmla="*/ 0 w 108"/>
              <a:gd name="T5" fmla="*/ 0 h 56"/>
              <a:gd name="T6" fmla="*/ 0 w 108"/>
              <a:gd name="T7" fmla="*/ 88900 h 56"/>
              <a:gd name="T8" fmla="*/ 0 60000 65536"/>
              <a:gd name="T9" fmla="*/ 0 60000 65536"/>
              <a:gd name="T10" fmla="*/ 0 60000 65536"/>
              <a:gd name="T11" fmla="*/ 0 60000 65536"/>
              <a:gd name="T12" fmla="*/ 0 w 108"/>
              <a:gd name="T13" fmla="*/ 0 h 56"/>
              <a:gd name="T14" fmla="*/ 108 w 108"/>
              <a:gd name="T15" fmla="*/ 56 h 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" h="56">
                <a:moveTo>
                  <a:pt x="0" y="56"/>
                </a:moveTo>
                <a:lnTo>
                  <a:pt x="108" y="29"/>
                </a:lnTo>
                <a:lnTo>
                  <a:pt x="0" y="0"/>
                </a:lnTo>
                <a:lnTo>
                  <a:pt x="0" y="5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33" name="Freeform 127"/>
          <p:cNvSpPr>
            <a:spLocks/>
          </p:cNvSpPr>
          <p:nvPr/>
        </p:nvSpPr>
        <p:spPr bwMode="auto">
          <a:xfrm>
            <a:off x="1063148" y="2831595"/>
            <a:ext cx="255588" cy="323850"/>
          </a:xfrm>
          <a:custGeom>
            <a:avLst/>
            <a:gdLst>
              <a:gd name="T0" fmla="*/ 0 w 161"/>
              <a:gd name="T1" fmla="*/ 323850 h 204"/>
              <a:gd name="T2" fmla="*/ 255588 w 161"/>
              <a:gd name="T3" fmla="*/ 161925 h 204"/>
              <a:gd name="T4" fmla="*/ 0 w 161"/>
              <a:gd name="T5" fmla="*/ 0 h 204"/>
              <a:gd name="T6" fmla="*/ 0 w 161"/>
              <a:gd name="T7" fmla="*/ 323850 h 204"/>
              <a:gd name="T8" fmla="*/ 0 60000 65536"/>
              <a:gd name="T9" fmla="*/ 0 60000 65536"/>
              <a:gd name="T10" fmla="*/ 0 60000 65536"/>
              <a:gd name="T11" fmla="*/ 0 60000 65536"/>
              <a:gd name="T12" fmla="*/ 0 w 161"/>
              <a:gd name="T13" fmla="*/ 0 h 204"/>
              <a:gd name="T14" fmla="*/ 161 w 161"/>
              <a:gd name="T15" fmla="*/ 204 h 2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1" h="204">
                <a:moveTo>
                  <a:pt x="0" y="204"/>
                </a:moveTo>
                <a:lnTo>
                  <a:pt x="161" y="102"/>
                </a:lnTo>
                <a:lnTo>
                  <a:pt x="0" y="0"/>
                </a:lnTo>
                <a:lnTo>
                  <a:pt x="0" y="204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79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34" name="Oval 128"/>
          <p:cNvSpPr>
            <a:spLocks noChangeArrowheads="1"/>
          </p:cNvSpPr>
          <p:nvPr/>
        </p:nvSpPr>
        <p:spPr bwMode="auto">
          <a:xfrm>
            <a:off x="1323498" y="2952245"/>
            <a:ext cx="79375" cy="777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9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35" name="Rectangle 129"/>
          <p:cNvSpPr>
            <a:spLocks noChangeArrowheads="1"/>
          </p:cNvSpPr>
          <p:nvPr/>
        </p:nvSpPr>
        <p:spPr bwMode="auto">
          <a:xfrm>
            <a:off x="3395663" y="3194555"/>
            <a:ext cx="1708150" cy="1196975"/>
          </a:xfrm>
          <a:prstGeom prst="rect">
            <a:avLst/>
          </a:pr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36" name="Line 130"/>
          <p:cNvSpPr>
            <a:spLocks noChangeShapeType="1"/>
          </p:cNvSpPr>
          <p:nvPr/>
        </p:nvSpPr>
        <p:spPr bwMode="auto">
          <a:xfrm>
            <a:off x="3092450" y="3627942"/>
            <a:ext cx="903288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37" name="Freeform 131"/>
          <p:cNvSpPr>
            <a:spLocks/>
          </p:cNvSpPr>
          <p:nvPr/>
        </p:nvSpPr>
        <p:spPr bwMode="auto">
          <a:xfrm>
            <a:off x="3222625" y="3586667"/>
            <a:ext cx="166688" cy="84138"/>
          </a:xfrm>
          <a:custGeom>
            <a:avLst/>
            <a:gdLst>
              <a:gd name="T0" fmla="*/ 166688 w 105"/>
              <a:gd name="T1" fmla="*/ 41275 h 53"/>
              <a:gd name="T2" fmla="*/ 0 w 105"/>
              <a:gd name="T3" fmla="*/ 0 h 53"/>
              <a:gd name="T4" fmla="*/ 0 w 105"/>
              <a:gd name="T5" fmla="*/ 84138 h 53"/>
              <a:gd name="T6" fmla="*/ 166688 w 105"/>
              <a:gd name="T7" fmla="*/ 41275 h 53"/>
              <a:gd name="T8" fmla="*/ 0 60000 65536"/>
              <a:gd name="T9" fmla="*/ 0 60000 65536"/>
              <a:gd name="T10" fmla="*/ 0 60000 65536"/>
              <a:gd name="T11" fmla="*/ 0 60000 65536"/>
              <a:gd name="T12" fmla="*/ 0 w 105"/>
              <a:gd name="T13" fmla="*/ 0 h 53"/>
              <a:gd name="T14" fmla="*/ 105 w 105"/>
              <a:gd name="T15" fmla="*/ 53 h 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" h="53">
                <a:moveTo>
                  <a:pt x="105" y="26"/>
                </a:moveTo>
                <a:lnTo>
                  <a:pt x="0" y="0"/>
                </a:lnTo>
                <a:lnTo>
                  <a:pt x="0" y="53"/>
                </a:lnTo>
                <a:lnTo>
                  <a:pt x="105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38" name="Freeform 132"/>
          <p:cNvSpPr>
            <a:spLocks/>
          </p:cNvSpPr>
          <p:nvPr/>
        </p:nvSpPr>
        <p:spPr bwMode="auto">
          <a:xfrm>
            <a:off x="3222625" y="4104192"/>
            <a:ext cx="166688" cy="82550"/>
          </a:xfrm>
          <a:custGeom>
            <a:avLst/>
            <a:gdLst>
              <a:gd name="T0" fmla="*/ 166688 w 105"/>
              <a:gd name="T1" fmla="*/ 41275 h 52"/>
              <a:gd name="T2" fmla="*/ 0 w 105"/>
              <a:gd name="T3" fmla="*/ 0 h 52"/>
              <a:gd name="T4" fmla="*/ 0 w 105"/>
              <a:gd name="T5" fmla="*/ 82550 h 52"/>
              <a:gd name="T6" fmla="*/ 166688 w 105"/>
              <a:gd name="T7" fmla="*/ 41275 h 52"/>
              <a:gd name="T8" fmla="*/ 0 60000 65536"/>
              <a:gd name="T9" fmla="*/ 0 60000 65536"/>
              <a:gd name="T10" fmla="*/ 0 60000 65536"/>
              <a:gd name="T11" fmla="*/ 0 60000 65536"/>
              <a:gd name="T12" fmla="*/ 0 w 105"/>
              <a:gd name="T13" fmla="*/ 0 h 52"/>
              <a:gd name="T14" fmla="*/ 105 w 105"/>
              <a:gd name="T15" fmla="*/ 52 h 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" h="52">
                <a:moveTo>
                  <a:pt x="105" y="26"/>
                </a:moveTo>
                <a:lnTo>
                  <a:pt x="0" y="0"/>
                </a:lnTo>
                <a:lnTo>
                  <a:pt x="0" y="52"/>
                </a:lnTo>
                <a:lnTo>
                  <a:pt x="105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39" name="Rectangle 133"/>
          <p:cNvSpPr>
            <a:spLocks noChangeArrowheads="1"/>
          </p:cNvSpPr>
          <p:nvPr/>
        </p:nvSpPr>
        <p:spPr bwMode="auto">
          <a:xfrm>
            <a:off x="2955925" y="3367592"/>
            <a:ext cx="825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k</a:t>
            </a:r>
            <a:endParaRPr lang="en-US" altLang="en-US"/>
          </a:p>
        </p:txBody>
      </p:sp>
      <p:sp>
        <p:nvSpPr>
          <p:cNvPr id="22640" name="Rectangle 134"/>
          <p:cNvSpPr>
            <a:spLocks noChangeArrowheads="1"/>
          </p:cNvSpPr>
          <p:nvPr/>
        </p:nvSpPr>
        <p:spPr bwMode="auto">
          <a:xfrm>
            <a:off x="2955925" y="3534280"/>
            <a:ext cx="92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p</a:t>
            </a:r>
            <a:endParaRPr lang="en-US" altLang="en-US"/>
          </a:p>
        </p:txBody>
      </p:sp>
      <p:sp>
        <p:nvSpPr>
          <p:cNvPr id="22641" name="Rectangle 135"/>
          <p:cNvSpPr>
            <a:spLocks noChangeArrowheads="1"/>
          </p:cNvSpPr>
          <p:nvPr/>
        </p:nvSpPr>
        <p:spPr bwMode="auto">
          <a:xfrm>
            <a:off x="2955925" y="3734305"/>
            <a:ext cx="825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s</a:t>
            </a:r>
            <a:endParaRPr lang="en-US" altLang="en-US"/>
          </a:p>
        </p:txBody>
      </p:sp>
      <p:sp>
        <p:nvSpPr>
          <p:cNvPr id="22642" name="Rectangle 136"/>
          <p:cNvSpPr>
            <a:spLocks noChangeArrowheads="1"/>
          </p:cNvSpPr>
          <p:nvPr/>
        </p:nvSpPr>
        <p:spPr bwMode="auto">
          <a:xfrm>
            <a:off x="2955925" y="4015292"/>
            <a:ext cx="46038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t</a:t>
            </a:r>
            <a:endParaRPr lang="en-US" altLang="en-US"/>
          </a:p>
        </p:txBody>
      </p:sp>
      <p:sp>
        <p:nvSpPr>
          <p:cNvPr id="22643" name="Rectangle 137"/>
          <p:cNvSpPr>
            <a:spLocks noChangeArrowheads="1"/>
          </p:cNvSpPr>
          <p:nvPr/>
        </p:nvSpPr>
        <p:spPr bwMode="auto">
          <a:xfrm>
            <a:off x="5272088" y="3786692"/>
            <a:ext cx="11906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w</a:t>
            </a:r>
            <a:endParaRPr lang="en-US" altLang="en-US"/>
          </a:p>
        </p:txBody>
      </p:sp>
      <p:sp>
        <p:nvSpPr>
          <p:cNvPr id="22644" name="Freeform 138"/>
          <p:cNvSpPr>
            <a:spLocks/>
          </p:cNvSpPr>
          <p:nvPr/>
        </p:nvSpPr>
        <p:spPr bwMode="auto">
          <a:xfrm>
            <a:off x="3990975" y="3419980"/>
            <a:ext cx="433388" cy="469900"/>
          </a:xfrm>
          <a:custGeom>
            <a:avLst/>
            <a:gdLst>
              <a:gd name="T0" fmla="*/ 0 w 83"/>
              <a:gd name="T1" fmla="*/ 469900 h 90"/>
              <a:gd name="T2" fmla="*/ 219305 w 83"/>
              <a:gd name="T3" fmla="*/ 469900 h 90"/>
              <a:gd name="T4" fmla="*/ 433388 w 83"/>
              <a:gd name="T5" fmla="*/ 234950 h 90"/>
              <a:gd name="T6" fmla="*/ 219305 w 83"/>
              <a:gd name="T7" fmla="*/ 0 h 90"/>
              <a:gd name="T8" fmla="*/ 0 w 83"/>
              <a:gd name="T9" fmla="*/ 0 h 90"/>
              <a:gd name="T10" fmla="*/ 0 w 83"/>
              <a:gd name="T11" fmla="*/ 469900 h 9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3"/>
              <a:gd name="T19" fmla="*/ 0 h 90"/>
              <a:gd name="T20" fmla="*/ 83 w 83"/>
              <a:gd name="T21" fmla="*/ 90 h 9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3" h="90">
                <a:moveTo>
                  <a:pt x="0" y="90"/>
                </a:moveTo>
                <a:cubicBezTo>
                  <a:pt x="42" y="90"/>
                  <a:pt x="42" y="90"/>
                  <a:pt x="42" y="90"/>
                </a:cubicBezTo>
                <a:cubicBezTo>
                  <a:pt x="65" y="90"/>
                  <a:pt x="83" y="70"/>
                  <a:pt x="83" y="45"/>
                </a:cubicBezTo>
                <a:cubicBezTo>
                  <a:pt x="83" y="20"/>
                  <a:pt x="65" y="0"/>
                  <a:pt x="42" y="0"/>
                </a:cubicBezTo>
                <a:cubicBezTo>
                  <a:pt x="0" y="0"/>
                  <a:pt x="0" y="0"/>
                  <a:pt x="0" y="0"/>
                </a:cubicBezTo>
                <a:lnTo>
                  <a:pt x="0" y="9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79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45" name="Freeform 139"/>
          <p:cNvSpPr>
            <a:spLocks/>
          </p:cNvSpPr>
          <p:nvPr/>
        </p:nvSpPr>
        <p:spPr bwMode="auto">
          <a:xfrm>
            <a:off x="4586288" y="3810505"/>
            <a:ext cx="422275" cy="419100"/>
          </a:xfrm>
          <a:custGeom>
            <a:avLst/>
            <a:gdLst>
              <a:gd name="T0" fmla="*/ 422275 w 81"/>
              <a:gd name="T1" fmla="*/ 209550 h 80"/>
              <a:gd name="T2" fmla="*/ 0 w 81"/>
              <a:gd name="T3" fmla="*/ 419100 h 80"/>
              <a:gd name="T4" fmla="*/ 62559 w 81"/>
              <a:gd name="T5" fmla="*/ 214789 h 80"/>
              <a:gd name="T6" fmla="*/ 62559 w 81"/>
              <a:gd name="T7" fmla="*/ 209550 h 80"/>
              <a:gd name="T8" fmla="*/ 0 w 81"/>
              <a:gd name="T9" fmla="*/ 0 h 80"/>
              <a:gd name="T10" fmla="*/ 422275 w 81"/>
              <a:gd name="T11" fmla="*/ 209550 h 8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1"/>
              <a:gd name="T19" fmla="*/ 0 h 80"/>
              <a:gd name="T20" fmla="*/ 81 w 81"/>
              <a:gd name="T21" fmla="*/ 80 h 8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1" h="80">
                <a:moveTo>
                  <a:pt x="81" y="40"/>
                </a:moveTo>
                <a:cubicBezTo>
                  <a:pt x="81" y="40"/>
                  <a:pt x="62" y="80"/>
                  <a:pt x="0" y="80"/>
                </a:cubicBezTo>
                <a:cubicBezTo>
                  <a:pt x="0" y="80"/>
                  <a:pt x="12" y="76"/>
                  <a:pt x="12" y="41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"/>
                  <a:pt x="0" y="0"/>
                  <a:pt x="0" y="0"/>
                </a:cubicBezTo>
                <a:cubicBezTo>
                  <a:pt x="62" y="0"/>
                  <a:pt x="81" y="40"/>
                  <a:pt x="81" y="40"/>
                </a:cubicBezTo>
                <a:close/>
              </a:path>
            </a:pathLst>
          </a:custGeom>
          <a:noFill/>
          <a:ln w="15875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46" name="Line 140"/>
          <p:cNvSpPr>
            <a:spLocks noChangeShapeType="1"/>
          </p:cNvSpPr>
          <p:nvPr/>
        </p:nvSpPr>
        <p:spPr bwMode="auto">
          <a:xfrm>
            <a:off x="5008563" y="4020055"/>
            <a:ext cx="273050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47" name="Freeform 141"/>
          <p:cNvSpPr>
            <a:spLocks/>
          </p:cNvSpPr>
          <p:nvPr/>
        </p:nvSpPr>
        <p:spPr bwMode="auto">
          <a:xfrm>
            <a:off x="5249863" y="3972430"/>
            <a:ext cx="166687" cy="95250"/>
          </a:xfrm>
          <a:custGeom>
            <a:avLst/>
            <a:gdLst>
              <a:gd name="T0" fmla="*/ 0 w 105"/>
              <a:gd name="T1" fmla="*/ 95250 h 60"/>
              <a:gd name="T2" fmla="*/ 166687 w 105"/>
              <a:gd name="T3" fmla="*/ 47625 h 60"/>
              <a:gd name="T4" fmla="*/ 0 w 105"/>
              <a:gd name="T5" fmla="*/ 0 h 60"/>
              <a:gd name="T6" fmla="*/ 0 w 105"/>
              <a:gd name="T7" fmla="*/ 95250 h 60"/>
              <a:gd name="T8" fmla="*/ 0 60000 65536"/>
              <a:gd name="T9" fmla="*/ 0 60000 65536"/>
              <a:gd name="T10" fmla="*/ 0 60000 65536"/>
              <a:gd name="T11" fmla="*/ 0 60000 65536"/>
              <a:gd name="T12" fmla="*/ 0 w 105"/>
              <a:gd name="T13" fmla="*/ 0 h 60"/>
              <a:gd name="T14" fmla="*/ 105 w 105"/>
              <a:gd name="T15" fmla="*/ 60 h 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" h="60">
                <a:moveTo>
                  <a:pt x="0" y="60"/>
                </a:moveTo>
                <a:lnTo>
                  <a:pt x="105" y="30"/>
                </a:lnTo>
                <a:lnTo>
                  <a:pt x="0" y="0"/>
                </a:lnTo>
                <a:lnTo>
                  <a:pt x="0" y="6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48" name="Freeform 142"/>
          <p:cNvSpPr>
            <a:spLocks/>
          </p:cNvSpPr>
          <p:nvPr/>
        </p:nvSpPr>
        <p:spPr bwMode="auto">
          <a:xfrm>
            <a:off x="4413250" y="3670805"/>
            <a:ext cx="230188" cy="265112"/>
          </a:xfrm>
          <a:custGeom>
            <a:avLst/>
            <a:gdLst>
              <a:gd name="T0" fmla="*/ 230188 w 145"/>
              <a:gd name="T1" fmla="*/ 265112 h 167"/>
              <a:gd name="T2" fmla="*/ 120650 w 145"/>
              <a:gd name="T3" fmla="*/ 265112 h 167"/>
              <a:gd name="T4" fmla="*/ 120650 w 145"/>
              <a:gd name="T5" fmla="*/ 0 h 167"/>
              <a:gd name="T6" fmla="*/ 0 w 145"/>
              <a:gd name="T7" fmla="*/ 0 h 167"/>
              <a:gd name="T8" fmla="*/ 0 60000 65536"/>
              <a:gd name="T9" fmla="*/ 0 60000 65536"/>
              <a:gd name="T10" fmla="*/ 0 60000 65536"/>
              <a:gd name="T11" fmla="*/ 0 60000 65536"/>
              <a:gd name="T12" fmla="*/ 0 w 145"/>
              <a:gd name="T13" fmla="*/ 0 h 167"/>
              <a:gd name="T14" fmla="*/ 145 w 145"/>
              <a:gd name="T15" fmla="*/ 167 h 1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5" h="167">
                <a:moveTo>
                  <a:pt x="145" y="167"/>
                </a:moveTo>
                <a:lnTo>
                  <a:pt x="76" y="167"/>
                </a:lnTo>
                <a:lnTo>
                  <a:pt x="76" y="0"/>
                </a:lnTo>
                <a:lnTo>
                  <a:pt x="0" y="0"/>
                </a:lnTo>
              </a:path>
            </a:pathLst>
          </a:cu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49" name="Line 143"/>
          <p:cNvSpPr>
            <a:spLocks noChangeShapeType="1"/>
          </p:cNvSpPr>
          <p:nvPr/>
        </p:nvSpPr>
        <p:spPr bwMode="auto">
          <a:xfrm>
            <a:off x="2873375" y="2927855"/>
            <a:ext cx="0" cy="0"/>
          </a:xfrm>
          <a:prstGeom prst="line">
            <a:avLst/>
          </a:prstGeom>
          <a:noFill/>
          <a:ln w="4763">
            <a:solidFill>
              <a:srgbClr val="0079C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50" name="Line 144"/>
          <p:cNvSpPr>
            <a:spLocks noChangeShapeType="1"/>
          </p:cNvSpPr>
          <p:nvPr/>
        </p:nvSpPr>
        <p:spPr bwMode="auto">
          <a:xfrm>
            <a:off x="3092450" y="3493005"/>
            <a:ext cx="903288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51" name="Line 145"/>
          <p:cNvSpPr>
            <a:spLocks noChangeShapeType="1"/>
          </p:cNvSpPr>
          <p:nvPr/>
        </p:nvSpPr>
        <p:spPr bwMode="auto">
          <a:xfrm>
            <a:off x="3092450" y="3837492"/>
            <a:ext cx="903288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52" name="Freeform 146"/>
          <p:cNvSpPr>
            <a:spLocks/>
          </p:cNvSpPr>
          <p:nvPr/>
        </p:nvSpPr>
        <p:spPr bwMode="auto">
          <a:xfrm>
            <a:off x="3222625" y="3456492"/>
            <a:ext cx="166688" cy="82550"/>
          </a:xfrm>
          <a:custGeom>
            <a:avLst/>
            <a:gdLst>
              <a:gd name="T0" fmla="*/ 166688 w 105"/>
              <a:gd name="T1" fmla="*/ 41275 h 52"/>
              <a:gd name="T2" fmla="*/ 0 w 105"/>
              <a:gd name="T3" fmla="*/ 0 h 52"/>
              <a:gd name="T4" fmla="*/ 0 w 105"/>
              <a:gd name="T5" fmla="*/ 82550 h 52"/>
              <a:gd name="T6" fmla="*/ 166688 w 105"/>
              <a:gd name="T7" fmla="*/ 41275 h 52"/>
              <a:gd name="T8" fmla="*/ 0 60000 65536"/>
              <a:gd name="T9" fmla="*/ 0 60000 65536"/>
              <a:gd name="T10" fmla="*/ 0 60000 65536"/>
              <a:gd name="T11" fmla="*/ 0 60000 65536"/>
              <a:gd name="T12" fmla="*/ 0 w 105"/>
              <a:gd name="T13" fmla="*/ 0 h 52"/>
              <a:gd name="T14" fmla="*/ 105 w 105"/>
              <a:gd name="T15" fmla="*/ 52 h 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" h="52">
                <a:moveTo>
                  <a:pt x="105" y="26"/>
                </a:moveTo>
                <a:lnTo>
                  <a:pt x="0" y="0"/>
                </a:lnTo>
                <a:lnTo>
                  <a:pt x="0" y="52"/>
                </a:lnTo>
                <a:lnTo>
                  <a:pt x="105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53" name="Freeform 147"/>
          <p:cNvSpPr>
            <a:spLocks/>
          </p:cNvSpPr>
          <p:nvPr/>
        </p:nvSpPr>
        <p:spPr bwMode="auto">
          <a:xfrm>
            <a:off x="3222625" y="3796217"/>
            <a:ext cx="166688" cy="82550"/>
          </a:xfrm>
          <a:custGeom>
            <a:avLst/>
            <a:gdLst>
              <a:gd name="T0" fmla="*/ 166688 w 105"/>
              <a:gd name="T1" fmla="*/ 41275 h 52"/>
              <a:gd name="T2" fmla="*/ 0 w 105"/>
              <a:gd name="T3" fmla="*/ 0 h 52"/>
              <a:gd name="T4" fmla="*/ 0 w 105"/>
              <a:gd name="T5" fmla="*/ 82550 h 52"/>
              <a:gd name="T6" fmla="*/ 166688 w 105"/>
              <a:gd name="T7" fmla="*/ 41275 h 52"/>
              <a:gd name="T8" fmla="*/ 0 60000 65536"/>
              <a:gd name="T9" fmla="*/ 0 60000 65536"/>
              <a:gd name="T10" fmla="*/ 0 60000 65536"/>
              <a:gd name="T11" fmla="*/ 0 60000 65536"/>
              <a:gd name="T12" fmla="*/ 0 w 105"/>
              <a:gd name="T13" fmla="*/ 0 h 52"/>
              <a:gd name="T14" fmla="*/ 105 w 105"/>
              <a:gd name="T15" fmla="*/ 52 h 5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" h="52">
                <a:moveTo>
                  <a:pt x="105" y="26"/>
                </a:moveTo>
                <a:lnTo>
                  <a:pt x="0" y="0"/>
                </a:lnTo>
                <a:lnTo>
                  <a:pt x="0" y="52"/>
                </a:lnTo>
                <a:lnTo>
                  <a:pt x="105" y="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54" name="Line 148"/>
          <p:cNvSpPr>
            <a:spLocks noChangeShapeType="1"/>
          </p:cNvSpPr>
          <p:nvPr/>
        </p:nvSpPr>
        <p:spPr bwMode="auto">
          <a:xfrm>
            <a:off x="3092450" y="4140705"/>
            <a:ext cx="1535113" cy="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55" name="Freeform 149"/>
          <p:cNvSpPr>
            <a:spLocks/>
          </p:cNvSpPr>
          <p:nvPr/>
        </p:nvSpPr>
        <p:spPr bwMode="auto">
          <a:xfrm>
            <a:off x="3582988" y="3680330"/>
            <a:ext cx="255587" cy="323850"/>
          </a:xfrm>
          <a:custGeom>
            <a:avLst/>
            <a:gdLst>
              <a:gd name="T0" fmla="*/ 0 w 161"/>
              <a:gd name="T1" fmla="*/ 323850 h 204"/>
              <a:gd name="T2" fmla="*/ 255587 w 161"/>
              <a:gd name="T3" fmla="*/ 161925 h 204"/>
              <a:gd name="T4" fmla="*/ 0 w 161"/>
              <a:gd name="T5" fmla="*/ 0 h 204"/>
              <a:gd name="T6" fmla="*/ 0 w 161"/>
              <a:gd name="T7" fmla="*/ 323850 h 204"/>
              <a:gd name="T8" fmla="*/ 0 60000 65536"/>
              <a:gd name="T9" fmla="*/ 0 60000 65536"/>
              <a:gd name="T10" fmla="*/ 0 60000 65536"/>
              <a:gd name="T11" fmla="*/ 0 60000 65536"/>
              <a:gd name="T12" fmla="*/ 0 w 161"/>
              <a:gd name="T13" fmla="*/ 0 h 204"/>
              <a:gd name="T14" fmla="*/ 161 w 161"/>
              <a:gd name="T15" fmla="*/ 204 h 20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1" h="204">
                <a:moveTo>
                  <a:pt x="0" y="204"/>
                </a:moveTo>
                <a:lnTo>
                  <a:pt x="161" y="102"/>
                </a:lnTo>
                <a:lnTo>
                  <a:pt x="0" y="0"/>
                </a:lnTo>
                <a:lnTo>
                  <a:pt x="0" y="204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79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656" name="Oval 150"/>
          <p:cNvSpPr>
            <a:spLocks noChangeArrowheads="1"/>
          </p:cNvSpPr>
          <p:nvPr/>
        </p:nvSpPr>
        <p:spPr bwMode="auto">
          <a:xfrm>
            <a:off x="3844925" y="3800980"/>
            <a:ext cx="77788" cy="7778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9C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87223" name="Freeform 151"/>
          <p:cNvSpPr>
            <a:spLocks/>
          </p:cNvSpPr>
          <p:nvPr/>
        </p:nvSpPr>
        <p:spPr bwMode="auto">
          <a:xfrm>
            <a:off x="4456113" y="3727955"/>
            <a:ext cx="620712" cy="595312"/>
          </a:xfrm>
          <a:custGeom>
            <a:avLst/>
            <a:gdLst>
              <a:gd name="T0" fmla="*/ 307748 w 119"/>
              <a:gd name="T1" fmla="*/ 590090 h 114"/>
              <a:gd name="T2" fmla="*/ 0 w 119"/>
              <a:gd name="T3" fmla="*/ 292434 h 114"/>
              <a:gd name="T4" fmla="*/ 312964 w 119"/>
              <a:gd name="T5" fmla="*/ 5222 h 114"/>
              <a:gd name="T6" fmla="*/ 620712 w 119"/>
              <a:gd name="T7" fmla="*/ 302878 h 114"/>
              <a:gd name="T8" fmla="*/ 307748 w 119"/>
              <a:gd name="T9" fmla="*/ 590090 h 1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9"/>
              <a:gd name="T16" fmla="*/ 0 h 114"/>
              <a:gd name="T17" fmla="*/ 119 w 119"/>
              <a:gd name="T18" fmla="*/ 114 h 11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9" h="114">
                <a:moveTo>
                  <a:pt x="59" y="113"/>
                </a:moveTo>
                <a:cubicBezTo>
                  <a:pt x="26" y="113"/>
                  <a:pt x="0" y="87"/>
                  <a:pt x="0" y="56"/>
                </a:cubicBezTo>
                <a:cubicBezTo>
                  <a:pt x="1" y="25"/>
                  <a:pt x="27" y="0"/>
                  <a:pt x="60" y="1"/>
                </a:cubicBezTo>
                <a:cubicBezTo>
                  <a:pt x="93" y="1"/>
                  <a:pt x="119" y="27"/>
                  <a:pt x="119" y="58"/>
                </a:cubicBezTo>
                <a:cubicBezTo>
                  <a:pt x="118" y="89"/>
                  <a:pt x="92" y="114"/>
                  <a:pt x="59" y="113"/>
                </a:cubicBezTo>
                <a:close/>
              </a:path>
            </a:pathLst>
          </a:custGeom>
          <a:noFill/>
          <a:ln w="3175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7" name="Group 170"/>
          <p:cNvGrpSpPr>
            <a:grpSpLocks/>
          </p:cNvGrpSpPr>
          <p:nvPr/>
        </p:nvGrpSpPr>
        <p:grpSpPr bwMode="auto">
          <a:xfrm>
            <a:off x="7334250" y="3842255"/>
            <a:ext cx="307975" cy="93662"/>
            <a:chOff x="4620" y="1679"/>
            <a:chExt cx="194" cy="59"/>
          </a:xfrm>
        </p:grpSpPr>
        <p:sp>
          <p:nvSpPr>
            <p:cNvPr id="22670" name="Freeform 152"/>
            <p:cNvSpPr>
              <a:spLocks/>
            </p:cNvSpPr>
            <p:nvPr/>
          </p:nvSpPr>
          <p:spPr bwMode="auto">
            <a:xfrm>
              <a:off x="4620" y="1709"/>
              <a:ext cx="105" cy="0"/>
            </a:xfrm>
            <a:custGeom>
              <a:avLst/>
              <a:gdLst>
                <a:gd name="T0" fmla="*/ 0 w 105"/>
                <a:gd name="T1" fmla="*/ 105 w 105"/>
                <a:gd name="T2" fmla="*/ 0 w 105"/>
                <a:gd name="T3" fmla="*/ 0 60000 65536"/>
                <a:gd name="T4" fmla="*/ 0 60000 65536"/>
                <a:gd name="T5" fmla="*/ 0 60000 65536"/>
                <a:gd name="T6" fmla="*/ 0 w 105"/>
                <a:gd name="T7" fmla="*/ 105 w 105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105">
                  <a:moveTo>
                    <a:pt x="0" y="0"/>
                  </a:moveTo>
                  <a:lnTo>
                    <a:pt x="1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71" name="Line 153"/>
            <p:cNvSpPr>
              <a:spLocks noChangeShapeType="1"/>
            </p:cNvSpPr>
            <p:nvPr/>
          </p:nvSpPr>
          <p:spPr bwMode="auto">
            <a:xfrm>
              <a:off x="4620" y="1709"/>
              <a:ext cx="105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72" name="Freeform 154"/>
            <p:cNvSpPr>
              <a:spLocks/>
            </p:cNvSpPr>
            <p:nvPr/>
          </p:nvSpPr>
          <p:spPr bwMode="auto">
            <a:xfrm>
              <a:off x="4705" y="1679"/>
              <a:ext cx="109" cy="59"/>
            </a:xfrm>
            <a:custGeom>
              <a:avLst/>
              <a:gdLst>
                <a:gd name="T0" fmla="*/ 0 w 109"/>
                <a:gd name="T1" fmla="*/ 59 h 59"/>
                <a:gd name="T2" fmla="*/ 109 w 109"/>
                <a:gd name="T3" fmla="*/ 30 h 59"/>
                <a:gd name="T4" fmla="*/ 0 w 109"/>
                <a:gd name="T5" fmla="*/ 0 h 59"/>
                <a:gd name="T6" fmla="*/ 0 w 109"/>
                <a:gd name="T7" fmla="*/ 59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59"/>
                <a:gd name="T14" fmla="*/ 109 w 109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59">
                  <a:moveTo>
                    <a:pt x="0" y="59"/>
                  </a:moveTo>
                  <a:lnTo>
                    <a:pt x="109" y="30"/>
                  </a:lnTo>
                  <a:lnTo>
                    <a:pt x="0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73" name="Line 155"/>
            <p:cNvSpPr>
              <a:spLocks noChangeShapeType="1"/>
            </p:cNvSpPr>
            <p:nvPr/>
          </p:nvSpPr>
          <p:spPr bwMode="auto">
            <a:xfrm>
              <a:off x="4620" y="1709"/>
              <a:ext cx="105" cy="0"/>
            </a:xfrm>
            <a:prstGeom prst="line">
              <a:avLst/>
            </a:prstGeom>
            <a:noFill/>
            <a:ln w="20638">
              <a:solidFill>
                <a:srgbClr val="66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674" name="Freeform 156"/>
            <p:cNvSpPr>
              <a:spLocks/>
            </p:cNvSpPr>
            <p:nvPr/>
          </p:nvSpPr>
          <p:spPr bwMode="auto">
            <a:xfrm>
              <a:off x="4705" y="1679"/>
              <a:ext cx="109" cy="59"/>
            </a:xfrm>
            <a:custGeom>
              <a:avLst/>
              <a:gdLst>
                <a:gd name="T0" fmla="*/ 0 w 109"/>
                <a:gd name="T1" fmla="*/ 59 h 59"/>
                <a:gd name="T2" fmla="*/ 109 w 109"/>
                <a:gd name="T3" fmla="*/ 30 h 59"/>
                <a:gd name="T4" fmla="*/ 0 w 109"/>
                <a:gd name="T5" fmla="*/ 0 h 59"/>
                <a:gd name="T6" fmla="*/ 0 w 109"/>
                <a:gd name="T7" fmla="*/ 59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59"/>
                <a:gd name="T14" fmla="*/ 109 w 109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59">
                  <a:moveTo>
                    <a:pt x="0" y="59"/>
                  </a:moveTo>
                  <a:lnTo>
                    <a:pt x="109" y="30"/>
                  </a:lnTo>
                  <a:lnTo>
                    <a:pt x="0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6600CC"/>
            </a:solidFill>
            <a:ln w="9525">
              <a:solidFill>
                <a:srgbClr val="6600CC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2659" name="Rectangle 157"/>
          <p:cNvSpPr>
            <a:spLocks noChangeArrowheads="1"/>
          </p:cNvSpPr>
          <p:nvPr/>
        </p:nvSpPr>
        <p:spPr bwMode="auto">
          <a:xfrm>
            <a:off x="4583113" y="3534280"/>
            <a:ext cx="825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00"/>
                </a:solidFill>
                <a:latin typeface="Helvetica" pitchFamily="34" charset="0"/>
              </a:rPr>
              <a:t>x</a:t>
            </a:r>
            <a:endParaRPr lang="en-US" altLang="en-US"/>
          </a:p>
        </p:txBody>
      </p:sp>
      <p:grpSp>
        <p:nvGrpSpPr>
          <p:cNvPr id="8" name="Group 169"/>
          <p:cNvGrpSpPr>
            <a:grpSpLocks/>
          </p:cNvGrpSpPr>
          <p:nvPr/>
        </p:nvGrpSpPr>
        <p:grpSpPr bwMode="auto">
          <a:xfrm>
            <a:off x="5605463" y="4008942"/>
            <a:ext cx="2036762" cy="1349375"/>
            <a:chOff x="3531" y="1784"/>
            <a:chExt cx="1283" cy="850"/>
          </a:xfrm>
        </p:grpSpPr>
        <p:sp>
          <p:nvSpPr>
            <p:cNvPr id="22664" name="Rectangle 67"/>
            <p:cNvSpPr>
              <a:spLocks noChangeArrowheads="1"/>
            </p:cNvSpPr>
            <p:nvPr/>
          </p:nvSpPr>
          <p:spPr bwMode="auto">
            <a:xfrm>
              <a:off x="3531" y="2509"/>
              <a:ext cx="2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t</a:t>
              </a:r>
              <a:endParaRPr lang="en-US" altLang="en-US"/>
            </a:p>
          </p:txBody>
        </p:sp>
        <p:sp>
          <p:nvSpPr>
            <p:cNvPr id="22665" name="Freeform 158"/>
            <p:cNvSpPr>
              <a:spLocks/>
            </p:cNvSpPr>
            <p:nvPr/>
          </p:nvSpPr>
          <p:spPr bwMode="auto">
            <a:xfrm>
              <a:off x="4218" y="1814"/>
              <a:ext cx="507" cy="724"/>
            </a:xfrm>
            <a:custGeom>
              <a:avLst/>
              <a:gdLst>
                <a:gd name="T0" fmla="*/ 507 w 507"/>
                <a:gd name="T1" fmla="*/ 0 h 724"/>
                <a:gd name="T2" fmla="*/ 415 w 507"/>
                <a:gd name="T3" fmla="*/ 0 h 724"/>
                <a:gd name="T4" fmla="*/ 415 w 507"/>
                <a:gd name="T5" fmla="*/ 724 h 724"/>
                <a:gd name="T6" fmla="*/ 0 w 507"/>
                <a:gd name="T7" fmla="*/ 724 h 724"/>
                <a:gd name="T8" fmla="*/ 0 w 507"/>
                <a:gd name="T9" fmla="*/ 632 h 7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07"/>
                <a:gd name="T16" fmla="*/ 0 h 724"/>
                <a:gd name="T17" fmla="*/ 507 w 507"/>
                <a:gd name="T18" fmla="*/ 724 h 7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07" h="724">
                  <a:moveTo>
                    <a:pt x="507" y="0"/>
                  </a:moveTo>
                  <a:lnTo>
                    <a:pt x="415" y="0"/>
                  </a:lnTo>
                  <a:lnTo>
                    <a:pt x="415" y="724"/>
                  </a:lnTo>
                  <a:lnTo>
                    <a:pt x="0" y="724"/>
                  </a:lnTo>
                  <a:lnTo>
                    <a:pt x="0" y="632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6" name="Freeform 159"/>
            <p:cNvSpPr>
              <a:spLocks/>
            </p:cNvSpPr>
            <p:nvPr/>
          </p:nvSpPr>
          <p:spPr bwMode="auto">
            <a:xfrm>
              <a:off x="4705" y="1784"/>
              <a:ext cx="109" cy="60"/>
            </a:xfrm>
            <a:custGeom>
              <a:avLst/>
              <a:gdLst>
                <a:gd name="T0" fmla="*/ 0 w 109"/>
                <a:gd name="T1" fmla="*/ 60 h 60"/>
                <a:gd name="T2" fmla="*/ 109 w 109"/>
                <a:gd name="T3" fmla="*/ 30 h 60"/>
                <a:gd name="T4" fmla="*/ 0 w 109"/>
                <a:gd name="T5" fmla="*/ 0 h 60"/>
                <a:gd name="T6" fmla="*/ 0 w 109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60"/>
                <a:gd name="T14" fmla="*/ 109 w 109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60">
                  <a:moveTo>
                    <a:pt x="0" y="60"/>
                  </a:moveTo>
                  <a:lnTo>
                    <a:pt x="109" y="30"/>
                  </a:lnTo>
                  <a:lnTo>
                    <a:pt x="0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7" name="Freeform 160"/>
            <p:cNvSpPr>
              <a:spLocks/>
            </p:cNvSpPr>
            <p:nvPr/>
          </p:nvSpPr>
          <p:spPr bwMode="auto">
            <a:xfrm>
              <a:off x="3593" y="1939"/>
              <a:ext cx="1132" cy="652"/>
            </a:xfrm>
            <a:custGeom>
              <a:avLst/>
              <a:gdLst>
                <a:gd name="T0" fmla="*/ 1132 w 1132"/>
                <a:gd name="T1" fmla="*/ 0 h 652"/>
                <a:gd name="T2" fmla="*/ 1092 w 1132"/>
                <a:gd name="T3" fmla="*/ 0 h 652"/>
                <a:gd name="T4" fmla="*/ 1089 w 1132"/>
                <a:gd name="T5" fmla="*/ 648 h 652"/>
                <a:gd name="T6" fmla="*/ 0 w 1132"/>
                <a:gd name="T7" fmla="*/ 652 h 6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32"/>
                <a:gd name="T13" fmla="*/ 0 h 652"/>
                <a:gd name="T14" fmla="*/ 1132 w 1132"/>
                <a:gd name="T15" fmla="*/ 652 h 6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32" h="652">
                  <a:moveTo>
                    <a:pt x="1132" y="0"/>
                  </a:moveTo>
                  <a:lnTo>
                    <a:pt x="1092" y="0"/>
                  </a:lnTo>
                  <a:lnTo>
                    <a:pt x="1089" y="648"/>
                  </a:lnTo>
                  <a:lnTo>
                    <a:pt x="0" y="652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8" name="Freeform 161"/>
            <p:cNvSpPr>
              <a:spLocks/>
            </p:cNvSpPr>
            <p:nvPr/>
          </p:nvSpPr>
          <p:spPr bwMode="auto">
            <a:xfrm>
              <a:off x="4705" y="1910"/>
              <a:ext cx="109" cy="59"/>
            </a:xfrm>
            <a:custGeom>
              <a:avLst/>
              <a:gdLst>
                <a:gd name="T0" fmla="*/ 0 w 109"/>
                <a:gd name="T1" fmla="*/ 59 h 59"/>
                <a:gd name="T2" fmla="*/ 109 w 109"/>
                <a:gd name="T3" fmla="*/ 29 h 59"/>
                <a:gd name="T4" fmla="*/ 0 w 109"/>
                <a:gd name="T5" fmla="*/ 0 h 59"/>
                <a:gd name="T6" fmla="*/ 0 w 109"/>
                <a:gd name="T7" fmla="*/ 59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"/>
                <a:gd name="T13" fmla="*/ 0 h 59"/>
                <a:gd name="T14" fmla="*/ 109 w 109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" h="59">
                  <a:moveTo>
                    <a:pt x="0" y="59"/>
                  </a:moveTo>
                  <a:lnTo>
                    <a:pt x="109" y="29"/>
                  </a:lnTo>
                  <a:lnTo>
                    <a:pt x="0" y="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669" name="Rectangle 162"/>
            <p:cNvSpPr>
              <a:spLocks noChangeArrowheads="1"/>
            </p:cNvSpPr>
            <p:nvPr/>
          </p:nvSpPr>
          <p:spPr bwMode="auto">
            <a:xfrm>
              <a:off x="4124" y="2439"/>
              <a:ext cx="5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00"/>
                  </a:solidFill>
                  <a:latin typeface="Helvetica" pitchFamily="34" charset="0"/>
                </a:rPr>
                <a:t>x</a:t>
              </a:r>
              <a:endParaRPr lang="en-US" altLang="en-US"/>
            </a:p>
          </p:txBody>
        </p:sp>
      </p:grpSp>
      <p:sp>
        <p:nvSpPr>
          <p:cNvPr id="387240" name="Text Box 168"/>
          <p:cNvSpPr txBox="1">
            <a:spLocks noChangeArrowheads="1"/>
          </p:cNvSpPr>
          <p:nvPr/>
        </p:nvSpPr>
        <p:spPr bwMode="auto">
          <a:xfrm>
            <a:off x="4060031" y="4808344"/>
            <a:ext cx="14128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Sub-circuit has only 2 inputs</a:t>
            </a:r>
          </a:p>
        </p:txBody>
      </p:sp>
      <p:sp>
        <p:nvSpPr>
          <p:cNvPr id="165" name="TextBox 164"/>
          <p:cNvSpPr txBox="1">
            <a:spLocks noChangeArrowheads="1"/>
          </p:cNvSpPr>
          <p:nvPr/>
        </p:nvSpPr>
        <p:spPr bwMode="auto">
          <a:xfrm>
            <a:off x="6800850" y="5739317"/>
            <a:ext cx="22558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400" i="1"/>
              <a:t>Italics: contents don’t matter</a:t>
            </a:r>
          </a:p>
        </p:txBody>
      </p:sp>
      <p:cxnSp>
        <p:nvCxnSpPr>
          <p:cNvPr id="167" name="Straight Connector 166"/>
          <p:cNvCxnSpPr>
            <a:cxnSpLocks/>
          </p:cNvCxnSpPr>
          <p:nvPr/>
        </p:nvCxnSpPr>
        <p:spPr>
          <a:xfrm flipV="1">
            <a:off x="7445377" y="4662992"/>
            <a:ext cx="831848" cy="1169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tangle 3"/>
          <p:cNvSpPr txBox="1">
            <a:spLocks noChangeArrowheads="1"/>
          </p:cNvSpPr>
          <p:nvPr/>
        </p:nvSpPr>
        <p:spPr bwMode="auto">
          <a:xfrm>
            <a:off x="460800" y="1720800"/>
            <a:ext cx="87249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200" indent="-23495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1644650" indent="-24606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2066925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2489200" indent="-24288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29464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34036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38608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4318000" indent="-242888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kern="0" dirty="0"/>
              <a:t>Find the mapping of the circuit shown in Example 2 if the input d is dropped</a:t>
            </a:r>
          </a:p>
        </p:txBody>
      </p:sp>
      <p:sp>
        <p:nvSpPr>
          <p:cNvPr id="16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505907" y="6322681"/>
            <a:ext cx="2133600" cy="365125"/>
          </a:xfrm>
        </p:spPr>
        <p:txBody>
          <a:bodyPr/>
          <a:lstStyle/>
          <a:p>
            <a:fld id="{678EF7AC-325E-49D0-8897-E637594B55B4}" type="slidenum">
              <a:rPr lang="de-DE" smtClean="0"/>
              <a:pPr/>
              <a:t>31</a:t>
            </a:fld>
            <a:endParaRPr lang="de-DE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891005-7E2D-9E4E-B8D9-D9C081DE6C4A}"/>
              </a:ext>
            </a:extLst>
          </p:cNvPr>
          <p:cNvCxnSpPr>
            <a:cxnSpLocks/>
          </p:cNvCxnSpPr>
          <p:nvPr/>
        </p:nvCxnSpPr>
        <p:spPr>
          <a:xfrm flipH="1">
            <a:off x="4704954" y="4348667"/>
            <a:ext cx="61515" cy="495300"/>
          </a:xfrm>
          <a:prstGeom prst="line">
            <a:avLst/>
          </a:prstGeom>
          <a:noFill/>
          <a:ln w="3175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cxnSp>
      <p:sp>
        <p:nvSpPr>
          <p:cNvPr id="166" name="Rectangle 28">
            <a:extLst>
              <a:ext uri="{FF2B5EF4-FFF2-40B4-BE49-F238E27FC236}">
                <a16:creationId xmlns:a16="http://schemas.microsoft.com/office/drawing/2014/main" id="{F1489912-3B8A-DA45-91F4-3B64EA7BD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797" y="5421802"/>
            <a:ext cx="195566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altLang="en-US" sz="1300" dirty="0">
                <a:solidFill>
                  <a:srgbClr val="000000"/>
                </a:solidFill>
                <a:latin typeface="Helvetica" pitchFamily="34" charset="0"/>
              </a:rPr>
              <a:t>(c)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8168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184 -0.03009 L -0.00643 -0.00926 " pathEditMode="relative" ptsTypes="AA">
                                      <p:cBhvr>
                                        <p:cTn id="15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8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7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7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9479 0.08472 L 1.11111E-6 2.22222E-6 " pathEditMode="relative" ptsTypes="AA">
                                      <p:cBhvr>
                                        <p:cTn id="3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87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7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354 0.06389 L 4.44444E-6 2.59259E-6 " pathEditMode="relative" ptsTypes="AA">
                                      <p:cBhvr>
                                        <p:cTn id="5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99" grpId="0"/>
      <p:bldP spid="387178" grpId="0" animBg="1"/>
      <p:bldP spid="387223" grpId="0" animBg="1"/>
      <p:bldP spid="387240" grpId="0"/>
      <p:bldP spid="16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0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5.9|1.5|1|1.4|3.8|0.7|1.6|8.2|8.3|40|3.4|4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|38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34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1|1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|7.9|18.6|4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9|4.8|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9|15.7|21.4|18.5|15.2|15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9"/>
</p:tagLst>
</file>

<file path=ppt/theme/theme1.xml><?xml version="1.0" encoding="utf-8"?>
<a:theme xmlns:a="http://schemas.openxmlformats.org/drawingml/2006/main" name="Standarddesign">
  <a:themeElements>
    <a:clrScheme name="">
      <a:dk1>
        <a:srgbClr val="000000"/>
      </a:dk1>
      <a:lt1>
        <a:srgbClr val="FFFFFF"/>
      </a:lt1>
      <a:dk2>
        <a:srgbClr val="179C7D"/>
      </a:dk2>
      <a:lt2>
        <a:srgbClr val="A8AFAF"/>
      </a:lt2>
      <a:accent1>
        <a:srgbClr val="EB6A0A"/>
      </a:accent1>
      <a:accent2>
        <a:srgbClr val="006E92"/>
      </a:accent2>
      <a:accent3>
        <a:srgbClr val="FFFFFF"/>
      </a:accent3>
      <a:accent4>
        <a:srgbClr val="000000"/>
      </a:accent4>
      <a:accent5>
        <a:srgbClr val="F3B9AA"/>
      </a:accent5>
      <a:accent6>
        <a:srgbClr val="006384"/>
      </a:accent6>
      <a:hlink>
        <a:srgbClr val="25BAE2"/>
      </a:hlink>
      <a:folHlink>
        <a:srgbClr val="B1C800"/>
      </a:folHlink>
    </a:clrScheme>
    <a:fontScheme name="Standarddesign">
      <a:majorFont>
        <a:latin typeface="Frutiger LT Com 45 Light"/>
        <a:ea typeface=""/>
        <a:cs typeface=""/>
      </a:majorFont>
      <a:minorFont>
        <a:latin typeface="Frutiger LT Com 55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3">
        <a:dk1>
          <a:srgbClr val="000000"/>
        </a:dk1>
        <a:lt1>
          <a:srgbClr val="FFFFFF"/>
        </a:lt1>
        <a:dk2>
          <a:srgbClr val="000000"/>
        </a:dk2>
        <a:lt2>
          <a:srgbClr val="A8AFAF"/>
        </a:lt2>
        <a:accent1>
          <a:srgbClr val="00947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14">
        <a:dk1>
          <a:srgbClr val="000000"/>
        </a:dk1>
        <a:lt1>
          <a:srgbClr val="FFFFFF"/>
        </a:lt1>
        <a:dk2>
          <a:srgbClr val="000000"/>
        </a:dk2>
        <a:lt2>
          <a:srgbClr val="A8AFAF"/>
        </a:lt2>
        <a:accent1>
          <a:srgbClr val="009475"/>
        </a:accent1>
        <a:accent2>
          <a:srgbClr val="009475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008669"/>
        </a:accent6>
        <a:hlink>
          <a:srgbClr val="009475"/>
        </a:hlink>
        <a:folHlink>
          <a:srgbClr val="0094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15">
        <a:dk1>
          <a:srgbClr val="000000"/>
        </a:dk1>
        <a:lt1>
          <a:srgbClr val="FFFFFF"/>
        </a:lt1>
        <a:dk2>
          <a:srgbClr val="009475"/>
        </a:dk2>
        <a:lt2>
          <a:srgbClr val="A8AFAF"/>
        </a:lt2>
        <a:accent1>
          <a:srgbClr val="25BAE2"/>
        </a:accent1>
        <a:accent2>
          <a:srgbClr val="006E92"/>
        </a:accent2>
        <a:accent3>
          <a:srgbClr val="FFFFFF"/>
        </a:accent3>
        <a:accent4>
          <a:srgbClr val="000000"/>
        </a:accent4>
        <a:accent5>
          <a:srgbClr val="ACD9EE"/>
        </a:accent5>
        <a:accent6>
          <a:srgbClr val="006384"/>
        </a:accent6>
        <a:hlink>
          <a:srgbClr val="4C636F"/>
        </a:hlink>
        <a:folHlink>
          <a:srgbClr val="9E1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16">
        <a:dk1>
          <a:srgbClr val="000000"/>
        </a:dk1>
        <a:lt1>
          <a:srgbClr val="FFFFFF"/>
        </a:lt1>
        <a:dk2>
          <a:srgbClr val="009475"/>
        </a:dk2>
        <a:lt2>
          <a:srgbClr val="25BAE2"/>
        </a:lt2>
        <a:accent1>
          <a:srgbClr val="009475"/>
        </a:accent1>
        <a:accent2>
          <a:srgbClr val="006E92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006384"/>
        </a:accent6>
        <a:hlink>
          <a:srgbClr val="4C636F"/>
        </a:hlink>
        <a:folHlink>
          <a:srgbClr val="9E1C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tandarddesign">
  <a:themeElements>
    <a:clrScheme name="">
      <a:dk1>
        <a:srgbClr val="000000"/>
      </a:dk1>
      <a:lt1>
        <a:srgbClr val="FFFFFF"/>
      </a:lt1>
      <a:dk2>
        <a:srgbClr val="179C7D"/>
      </a:dk2>
      <a:lt2>
        <a:srgbClr val="A8AFAF"/>
      </a:lt2>
      <a:accent1>
        <a:srgbClr val="EB6A0A"/>
      </a:accent1>
      <a:accent2>
        <a:srgbClr val="006E92"/>
      </a:accent2>
      <a:accent3>
        <a:srgbClr val="FFFFFF"/>
      </a:accent3>
      <a:accent4>
        <a:srgbClr val="000000"/>
      </a:accent4>
      <a:accent5>
        <a:srgbClr val="F3B9AA"/>
      </a:accent5>
      <a:accent6>
        <a:srgbClr val="006384"/>
      </a:accent6>
      <a:hlink>
        <a:srgbClr val="25BAE2"/>
      </a:hlink>
      <a:folHlink>
        <a:srgbClr val="B1C800"/>
      </a:folHlink>
    </a:clrScheme>
    <a:fontScheme name="1_Standarddesign">
      <a:majorFont>
        <a:latin typeface="Frutiger LT Com 45 Light"/>
        <a:ea typeface=""/>
        <a:cs typeface=""/>
      </a:majorFont>
      <a:minorFont>
        <a:latin typeface="Frutiger LT Com 55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13">
        <a:dk1>
          <a:srgbClr val="000000"/>
        </a:dk1>
        <a:lt1>
          <a:srgbClr val="FFFFFF"/>
        </a:lt1>
        <a:dk2>
          <a:srgbClr val="000000"/>
        </a:dk2>
        <a:lt2>
          <a:srgbClr val="A8AFAF"/>
        </a:lt2>
        <a:accent1>
          <a:srgbClr val="00947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14">
        <a:dk1>
          <a:srgbClr val="000000"/>
        </a:dk1>
        <a:lt1>
          <a:srgbClr val="FFFFFF"/>
        </a:lt1>
        <a:dk2>
          <a:srgbClr val="000000"/>
        </a:dk2>
        <a:lt2>
          <a:srgbClr val="A8AFAF"/>
        </a:lt2>
        <a:accent1>
          <a:srgbClr val="009475"/>
        </a:accent1>
        <a:accent2>
          <a:srgbClr val="009475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008669"/>
        </a:accent6>
        <a:hlink>
          <a:srgbClr val="009475"/>
        </a:hlink>
        <a:folHlink>
          <a:srgbClr val="0094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15">
        <a:dk1>
          <a:srgbClr val="000000"/>
        </a:dk1>
        <a:lt1>
          <a:srgbClr val="FFFFFF"/>
        </a:lt1>
        <a:dk2>
          <a:srgbClr val="009475"/>
        </a:dk2>
        <a:lt2>
          <a:srgbClr val="A8AFAF"/>
        </a:lt2>
        <a:accent1>
          <a:srgbClr val="25BAE2"/>
        </a:accent1>
        <a:accent2>
          <a:srgbClr val="006E92"/>
        </a:accent2>
        <a:accent3>
          <a:srgbClr val="FFFFFF"/>
        </a:accent3>
        <a:accent4>
          <a:srgbClr val="000000"/>
        </a:accent4>
        <a:accent5>
          <a:srgbClr val="ACD9EE"/>
        </a:accent5>
        <a:accent6>
          <a:srgbClr val="006384"/>
        </a:accent6>
        <a:hlink>
          <a:srgbClr val="4C636F"/>
        </a:hlink>
        <a:folHlink>
          <a:srgbClr val="9E1C2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16">
        <a:dk1>
          <a:srgbClr val="000000"/>
        </a:dk1>
        <a:lt1>
          <a:srgbClr val="FFFFFF"/>
        </a:lt1>
        <a:dk2>
          <a:srgbClr val="009475"/>
        </a:dk2>
        <a:lt2>
          <a:srgbClr val="25BAE2"/>
        </a:lt2>
        <a:accent1>
          <a:srgbClr val="009475"/>
        </a:accent1>
        <a:accent2>
          <a:srgbClr val="006E92"/>
        </a:accent2>
        <a:accent3>
          <a:srgbClr val="FFFFFF"/>
        </a:accent3>
        <a:accent4>
          <a:srgbClr val="000000"/>
        </a:accent4>
        <a:accent5>
          <a:srgbClr val="AAC8BD"/>
        </a:accent5>
        <a:accent6>
          <a:srgbClr val="006384"/>
        </a:accent6>
        <a:hlink>
          <a:srgbClr val="4C636F"/>
        </a:hlink>
        <a:folHlink>
          <a:srgbClr val="9E1C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52121</TotalTime>
  <Words>2516</Words>
  <Application>Microsoft Macintosh PowerPoint</Application>
  <PresentationFormat>全屏显示(4:3)</PresentationFormat>
  <Paragraphs>1306</Paragraphs>
  <Slides>31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Frutiger LT Com 45 Light</vt:lpstr>
      <vt:lpstr>Frutiger LT Com 55 Roman</vt:lpstr>
      <vt:lpstr>Myriad Pro</vt:lpstr>
      <vt:lpstr>Myriad Roman</vt:lpstr>
      <vt:lpstr>Arial</vt:lpstr>
      <vt:lpstr>Calibri</vt:lpstr>
      <vt:lpstr>Cambria Math</vt:lpstr>
      <vt:lpstr>Helvetica</vt:lpstr>
      <vt:lpstr>Times</vt:lpstr>
      <vt:lpstr>Times New Roman</vt:lpstr>
      <vt:lpstr>Times-Roman</vt:lpstr>
      <vt:lpstr>Wingdings</vt:lpstr>
      <vt:lpstr>Standarddesign</vt:lpstr>
      <vt:lpstr>1_Standarddesign</vt:lpstr>
      <vt:lpstr>PowerPoint 演示文稿</vt:lpstr>
      <vt:lpstr>Objectives</vt:lpstr>
      <vt:lpstr>Programmable Logic Devices (PLDs)</vt:lpstr>
      <vt:lpstr>1. FPGA Architecture</vt:lpstr>
      <vt:lpstr>1.1. FPGA Architecture</vt:lpstr>
      <vt:lpstr>1.2. FPGA Categories (Structure)</vt:lpstr>
      <vt:lpstr>1.2. FPGA Categories (Floor Plan)</vt:lpstr>
      <vt:lpstr>1.3. FPGA Logic Elements</vt:lpstr>
      <vt:lpstr>1.3. FPGA Logic Elements</vt:lpstr>
      <vt:lpstr>1.3. FPGA Logic Elements</vt:lpstr>
      <vt:lpstr>1.4. Modern Commercial FPGAs</vt:lpstr>
      <vt:lpstr>1.4. Circuit Size Metrics</vt:lpstr>
      <vt:lpstr>2. FPGA Lookup Tables (LUTs) </vt:lpstr>
      <vt:lpstr>2. FPGA Look up Tables (LUTs)</vt:lpstr>
      <vt:lpstr>2.1. Example 1</vt:lpstr>
      <vt:lpstr>2.2. Managing the Size of LUTS</vt:lpstr>
      <vt:lpstr>2.3. Example 2: Mapping into 3-input LUTs </vt:lpstr>
      <vt:lpstr>2.3. Example 2: Solution</vt:lpstr>
      <vt:lpstr>2.3. Example 2: Solution</vt:lpstr>
      <vt:lpstr>2.3. Example 2: Solution</vt:lpstr>
      <vt:lpstr>3. FPGA Switching Matrices </vt:lpstr>
      <vt:lpstr>3.1. Multiplexer Version </vt:lpstr>
      <vt:lpstr>3.2. Mapping Sequential Circuits </vt:lpstr>
      <vt:lpstr>3.3. Example 3: Mapping into 3-input LUTs </vt:lpstr>
      <vt:lpstr>3.3. Example 3: Solution</vt:lpstr>
      <vt:lpstr>3.3. Example 3: Solution</vt:lpstr>
      <vt:lpstr>Programming an FPGA </vt:lpstr>
      <vt:lpstr>Summary</vt:lpstr>
      <vt:lpstr>Mapping to 3x2 LUTs </vt:lpstr>
      <vt:lpstr>FPGAs With Numerous Small LUTS</vt:lpstr>
      <vt:lpstr>3.3. Example 3: Underutilized LUTs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"KLIMALA programmierung"</dc:creator>
  <cp:lastModifiedBy>Zhang, Zhongming</cp:lastModifiedBy>
  <cp:revision>1675</cp:revision>
  <cp:lastPrinted>2014-05-14T13:51:58Z</cp:lastPrinted>
  <dcterms:created xsi:type="dcterms:W3CDTF">2009-05-22T06:46:16Z</dcterms:created>
  <dcterms:modified xsi:type="dcterms:W3CDTF">2024-08-24T13:36:00Z</dcterms:modified>
</cp:coreProperties>
</file>