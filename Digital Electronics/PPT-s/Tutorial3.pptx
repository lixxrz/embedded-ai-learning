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 id="280" r:id="rId24"/>
    <p:sldId id="281" r:id="rId25"/>
    <p:sldId id="282" r:id="rId26"/>
    <p:sldId id="283" r:id="rId27"/>
    <p:sldId id="284" r:id="rId28"/>
    <p:sldId id="285" r:id="rId2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111" d="100"/>
          <a:sy n="111" d="100"/>
        </p:scale>
        <p:origin x="44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we'll practise reading and checking VHDL code. We'll start with a few small errors, then look at signals, variables and delta cycles. For each question, try to explain why you chose your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look at this code. We want to add the single bit b to the four-bit unsigned value a, and keep the lower four bits. Can we use the plus sign with these types and this package? How would you fix the arithmetic?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is the addition. STD_LOGIC_1164 does not provide a suitable plus operation here. We can use NUMERIC_STD and convert a and b to unsigned values. The expression on the right makes b a one-bit unsigned value. Then we convert the result back to a standard logic vector. We keep four bits, so fifteen plus one wraps back to zero. Also, end followed by a semicolon is valid. Adding the architecture name is optional.</a:t>
            </a:r>
          </a:p>
          <a:p>
            <a:endParaRPr/>
          </a:p>
          <a:p>
            <a:r>
              <a:t>References (not spoken):</a:t>
            </a:r>
          </a:p>
          <a:p>
            <a:r>
              <a:t>https://www.vhdl-online.tu-chemnitz.de/vhdl_reference_93/architecture</a:t>
            </a:r>
          </a:p>
          <a:p>
            <a:r>
              <a:t>https://github.com/ghdl/ghdl/blob/master/libraries/ieee2008/numeric_std.vhdl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code should describe a simple AND gate, but some syntax is missing. Find all five errors. Check the ends of the statements and the architecture declaration. The vertical cursor in the screenshot is not part of the code.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need four semicolons: after the use statement, after the declaration of b, after end MyEntity, and after the assignment to y. We also need the word is at the end of the architecture declaration. With these changes, the code describes an AND 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check this multiplexer. There are four syntax errors. Look at the port list, the entity ending, the architecture declaration and the process sensitivity list. Once you've fixed them, explain how sel controls the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port list, the comma after sel must be a semicolon. We also need a semicolon after end Mux, and the word is after the architecture declaration. In the sensitivity list, we need a comma between a and b. For normal zero and one inputs, sel equal to zero selects a. Sel equal to one selects 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the intended function is a AND b, then OR with c. Look at the assignment in the screenshot. Is this expression valid VHDL? Add the brackets needed to describe the intended function.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VHDL, we need brackets when we mix and and or like this. For the intended function, put brackets around a AND b. Moving the brackets changes the function. For example, when a and b are zero and c is one, the first expression gives one, but the second gives zero. So the brackets affect both the syntax and the meaning.</a:t>
            </a:r>
          </a:p>
          <a:p>
            <a:endParaRPr/>
          </a:p>
          <a:p>
            <a:r>
              <a:t>References (not spoken):</a:t>
            </a:r>
          </a:p>
          <a:p>
            <a:r>
              <a:t>https://www.vhdl-online.tu-chemnitz.de/courses/system_design/vhdl_language_and_syntax/operators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read this counter. Assume the older arithmetic packages are available, reset has happened, and nothing outside the circuit drives B. How many bits does it have? Does it count up or down? Does reset need a clock edge? Also, explain the hexadecimal values in the question.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thirty-two-bit up-counter. Reset is active high and asynchronous, so it clears the count without waiting for a clock edge. Each rising edge then adds one. The x introduces a hexadecimal bit string. Eight hexadecimal digits give thirty-two bits. After all bits are one, the next count wraps to zero. The version here uses NUMERIC_STD and an internal unsigned signal. B only needs to be an output. The older version can work in tools that support its packages.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question, read the code as hardware. Draw the logic for x and y first. Then look at the process and decide what stores the result. Make sure your drawing includes the clock and reset, and explain what reset does.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an AND gate combines a and b to make x. An OR gate combines x and c to make y. A D flip-flop stores y in q on each rising clock edge. When reset is high, q clears to zero without waiting for the clock. For normal sampling, we assume the inputs and the combinational logic have settled before the edge.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process contains one variable, v, and one signal, y. Two assignment operators are wrong. Correct them first. Then work out y after the first and second rising edges. Remember that the process variable keeps its value between activations.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variable uses colon-equals, and a signal uses the signal assignment operator. At the first edge, v changes from zero to one straight away. The next statement reads that new value and schedules one for y. At the second edge, v becomes two and y later becomes two. The declaration sets the starting value of v only once. It does not reset v on every edge.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code has no syntax error. But does it describe a complete multiplexer? Think about what happens when sel is zero. Does the process assign anything to y? Then change the code so it selects a for sel equal to one, and b for sel equal to zero.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original code, nothing assigns y when sel is zero. So y keeps its previous value, which normally gives us a latch. Adding the else branch fixes that. Now the process assigns y on every path, so it describes a complete two-input multiplexer.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compare a signal and a variable in the same process. Everything starts at zero. Work through the statements in order, and give s, qs, v and qv after each rising edge has fully settled. Does the next statement see the new value of s? Does it see the new value of 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the first edge, the assignment to s schedules one, but s is still zero while the process runs. So qs reads zero. The variable v changes to one immediately, so qv reads one. After the signal updates, we get s equal to one, qs equal to zero, v equal to one and qv equal to one. At the second edge, these become two, one, two and two. The key difference is when each new value becomes available.</a:t>
            </a:r>
          </a:p>
          <a:p>
            <a:endParaRPr/>
          </a:p>
          <a:p>
            <a:r>
              <a:t>References (not spoken):</a:t>
            </a:r>
          </a:p>
          <a:p>
            <a:r>
              <a:t>https://www.vhdl-online.de/courses/system_design/vhdl_language_and_syntax/process_execution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x starts at four. The same process assigns x twice, then updates the variable v several times. Work through each statement and predict x, y, v and z after the first rising edge has settled. Keep the current signal value separate from the value scheduled for its next update.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expressions for x read its current value, four. The first schedules five, and the second replaces that with six. This works because both assignments use the same driver and the same update time. y still reads four. The variable starts this calculation at four, then becomes five, then seven. So z gets seven. The final values are x equal to six, y equal to four, and both v and z equal to seven. This rule for x does not mean that the last process to run wins.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s and q start at zero, and d is already one before the first rising edge. Predict s and q after that edge. If we wait for more delta cycles, will q become one before the next edge? Also, would splitting the assignments into two processes with the same rising-edge condition change the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dashed lines mark the two rising clock edges. d is already one. At the first edge, s gets one, but q reads the old s, so q stays zero. At the second edge, q reads one. More delta cycles cannot create another clock edge. The orange trace shows the variable version: v gets d immediately, so q reaches one after the first edge. The small gaps after the edges show signal updates. They are expanded for clarity and do not show a real propagation delay. Two separate processes with the same rising-edge condition still give the two-register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check the main ideas. A variable changes when its assignment runs. A signal assignment without an explicit delay schedules an update for a later signal-update phase. A concurrent chain can need several delta cycles before it settles. But a clocked process still needs a new rising edge before it samples again. Try to explain these differences in your own words.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an extra question about vector width. Both signals are unsigned, but a has four bits and y has five. Does a direct assignment automatically add a zero on the left? Rewrite it so a fits into y, then give the result for the value shown.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direct assignment does not automatically extend the vector. We need matching lengths. The resize function makes a the same width as y. Because a is unsigned, resize adds a zero on the left. So one-zero-one-one becomes zero-one-zero-one-one. We could also join a zero bit to the front of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last question, the circuit has already settled. a is one, b is zero, and y is zero. Now only b changes to one. Look carefully at the sensitivity list. Will that change wake up the process? Predict y, then fix the list.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process is sensitive only to a, so a change in b does not wake it up. In this simulation, y stays zero. Adding b to the sensitivity list fixes the problem. Then the change in b runs the process, and y becomes one after a signal update. In VHDL-2008, we can also use process all. For a combinational process, the sensitivity list must cover all signals that the process reads.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6BBB8B-C10B-36BF-C6C5-84A4BA76D4E3}"/>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a:extLst>
              <a:ext uri="{FF2B5EF4-FFF2-40B4-BE49-F238E27FC236}">
                <a16:creationId xmlns:a16="http://schemas.microsoft.com/office/drawing/2014/main" id="{FC5664B8-9A2F-FFA5-CE1F-3FED90635D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a:extLst>
              <a:ext uri="{FF2B5EF4-FFF2-40B4-BE49-F238E27FC236}">
                <a16:creationId xmlns:a16="http://schemas.microsoft.com/office/drawing/2014/main" id="{467BEF84-4285-F8B5-00FF-D88CE8CFF0D6}"/>
              </a:ext>
            </a:extLst>
          </p:cNvPr>
          <p:cNvSpPr>
            <a:spLocks noGrp="1"/>
          </p:cNvSpPr>
          <p:nvPr>
            <p:ph type="dt" idx="10"/>
          </p:nvPr>
        </p:nvSpPr>
        <p:spPr/>
        <p:txBody>
          <a:bodyPr/>
          <a:lstStyle/>
          <a:p>
            <a:fld id="{EBCB734E-07DD-9441-9ADC-535B96F304F0}" type="datetimeFigureOut">
              <a:t>2026/10/19</a:t>
            </a:fld>
            <a:endParaRPr/>
          </a:p>
        </p:txBody>
      </p:sp>
      <p:sp>
        <p:nvSpPr>
          <p:cNvPr id="5" name="页脚占位符 4">
            <a:extLst>
              <a:ext uri="{FF2B5EF4-FFF2-40B4-BE49-F238E27FC236}">
                <a16:creationId xmlns:a16="http://schemas.microsoft.com/office/drawing/2014/main" id="{EF0ACC3A-6386-7F66-F63C-FD87D70426AF}"/>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509C6345-046C-0038-E599-920C7CB6F591}"/>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33C27B-87EB-1388-ADEA-E517577E5E09}"/>
              </a:ext>
            </a:extLst>
          </p:cNvPr>
          <p:cNvSpPr>
            <a:spLocks noGrp="1"/>
          </p:cNvSpPr>
          <p:nvPr>
            <p:ph type="title"/>
          </p:nvPr>
        </p:nvSpPr>
        <p:spPr/>
        <p:txBody>
          <a:bodyPr/>
          <a:lstStyle/>
          <a:p>
            <a:r>
              <a:t>单击此处编辑母版标题样式</a:t>
            </a:r>
          </a:p>
        </p:txBody>
      </p:sp>
      <p:sp>
        <p:nvSpPr>
          <p:cNvPr id="3" name="内容占位符 2">
            <a:extLst>
              <a:ext uri="{FF2B5EF4-FFF2-40B4-BE49-F238E27FC236}">
                <a16:creationId xmlns:a16="http://schemas.microsoft.com/office/drawing/2014/main" id="{0E96D4C7-C18F-1E4F-381D-EA9408856491}"/>
              </a:ext>
            </a:extLst>
          </p:cNvPr>
          <p:cNvSpPr>
            <a:spLocks noGrp="1"/>
          </p:cNvSpPr>
          <p:nvPr>
            <p:ph idx="1"/>
          </p:nvPr>
        </p:nvSpPr>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08BB0CC6-A955-0736-20A8-80902354889D}"/>
              </a:ext>
            </a:extLst>
          </p:cNvPr>
          <p:cNvSpPr>
            <a:spLocks noGrp="1"/>
          </p:cNvSpPr>
          <p:nvPr>
            <p:ph type="dt" idx="10"/>
          </p:nvPr>
        </p:nvSpPr>
        <p:spPr/>
        <p:txBody>
          <a:bodyPr/>
          <a:lstStyle/>
          <a:p>
            <a:fld id="{EBCB734E-07DD-9441-9ADC-535B96F304F0}" type="datetimeFigureOut">
              <a:t>2026/10/19</a:t>
            </a:fld>
            <a:endParaRPr/>
          </a:p>
        </p:txBody>
      </p:sp>
      <p:sp>
        <p:nvSpPr>
          <p:cNvPr id="5" name="页脚占位符 4">
            <a:extLst>
              <a:ext uri="{FF2B5EF4-FFF2-40B4-BE49-F238E27FC236}">
                <a16:creationId xmlns:a16="http://schemas.microsoft.com/office/drawing/2014/main" id="{C1EBF555-5F68-AD47-4857-28A23E5AF688}"/>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1932435B-C161-A955-2923-0DC53DC622AD}"/>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B81289-FB10-0F6F-F316-39B54A563461}"/>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文本占位符 2">
            <a:extLst>
              <a:ext uri="{FF2B5EF4-FFF2-40B4-BE49-F238E27FC236}">
                <a16:creationId xmlns:a16="http://schemas.microsoft.com/office/drawing/2014/main" id="{C94C3DDE-DE94-007D-2407-0936107379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单击此处编辑母版文本样式</a:t>
            </a:r>
          </a:p>
        </p:txBody>
      </p:sp>
      <p:sp>
        <p:nvSpPr>
          <p:cNvPr id="4" name="日期占位符 3">
            <a:extLst>
              <a:ext uri="{FF2B5EF4-FFF2-40B4-BE49-F238E27FC236}">
                <a16:creationId xmlns:a16="http://schemas.microsoft.com/office/drawing/2014/main" id="{A4B218E7-1644-BE87-0028-E77B8BE3631D}"/>
              </a:ext>
            </a:extLst>
          </p:cNvPr>
          <p:cNvSpPr>
            <a:spLocks noGrp="1"/>
          </p:cNvSpPr>
          <p:nvPr>
            <p:ph type="dt" idx="10"/>
          </p:nvPr>
        </p:nvSpPr>
        <p:spPr/>
        <p:txBody>
          <a:bodyPr/>
          <a:lstStyle/>
          <a:p>
            <a:fld id="{EBCB734E-07DD-9441-9ADC-535B96F304F0}" type="datetimeFigureOut">
              <a:t>2026/10/19</a:t>
            </a:fld>
            <a:endParaRPr/>
          </a:p>
        </p:txBody>
      </p:sp>
      <p:sp>
        <p:nvSpPr>
          <p:cNvPr id="5" name="页脚占位符 4">
            <a:extLst>
              <a:ext uri="{FF2B5EF4-FFF2-40B4-BE49-F238E27FC236}">
                <a16:creationId xmlns:a16="http://schemas.microsoft.com/office/drawing/2014/main" id="{5A3CDC03-CEC2-7714-66F0-4A54A687B7B7}"/>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9E0C6188-7F35-380A-2A94-61D962B58B64}"/>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D3CBDC-EE3A-51C3-90C9-3AA1530E39C0}"/>
              </a:ext>
            </a:extLst>
          </p:cNvPr>
          <p:cNvSpPr>
            <a:spLocks noGrp="1"/>
          </p:cNvSpPr>
          <p:nvPr>
            <p:ph type="title"/>
          </p:nvPr>
        </p:nvSpPr>
        <p:spPr/>
        <p:txBody>
          <a:bodyPr/>
          <a:lstStyle/>
          <a:p>
            <a:r>
              <a:t>单击此处编辑母版标题样式</a:t>
            </a:r>
          </a:p>
        </p:txBody>
      </p:sp>
      <p:sp>
        <p:nvSpPr>
          <p:cNvPr id="3" name="内容占位符 2">
            <a:extLst>
              <a:ext uri="{FF2B5EF4-FFF2-40B4-BE49-F238E27FC236}">
                <a16:creationId xmlns:a16="http://schemas.microsoft.com/office/drawing/2014/main" id="{61E1FAD7-E85F-D103-F3A6-D7E8D6BF4F2C}"/>
              </a:ext>
            </a:extLst>
          </p:cNvPr>
          <p:cNvSpPr>
            <a:spLocks noGrp="1"/>
          </p:cNvSpPr>
          <p:nvPr>
            <p:ph idx="1"/>
          </p:nvPr>
        </p:nvSpPr>
        <p:spPr>
          <a:xfrm>
            <a:off x="838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内容占位符 3">
            <a:extLst>
              <a:ext uri="{FF2B5EF4-FFF2-40B4-BE49-F238E27FC236}">
                <a16:creationId xmlns:a16="http://schemas.microsoft.com/office/drawing/2014/main" id="{0BF6B7EB-4CF8-A46A-469E-34821FD44874}"/>
              </a:ext>
            </a:extLst>
          </p:cNvPr>
          <p:cNvSpPr>
            <a:spLocks noGrp="1"/>
          </p:cNvSpPr>
          <p:nvPr>
            <p:ph idx="2"/>
          </p:nvPr>
        </p:nvSpPr>
        <p:spPr>
          <a:xfrm>
            <a:off x="6172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日期占位符 4">
            <a:extLst>
              <a:ext uri="{FF2B5EF4-FFF2-40B4-BE49-F238E27FC236}">
                <a16:creationId xmlns:a16="http://schemas.microsoft.com/office/drawing/2014/main" id="{4431762F-F30E-1A2E-7A15-8CDE18135657}"/>
              </a:ext>
            </a:extLst>
          </p:cNvPr>
          <p:cNvSpPr>
            <a:spLocks noGrp="1"/>
          </p:cNvSpPr>
          <p:nvPr>
            <p:ph type="dt" idx="10"/>
          </p:nvPr>
        </p:nvSpPr>
        <p:spPr/>
        <p:txBody>
          <a:bodyPr/>
          <a:lstStyle/>
          <a:p>
            <a:fld id="{EBCB734E-07DD-9441-9ADC-535B96F304F0}" type="datetimeFigureOut">
              <a:t>2026/10/19</a:t>
            </a:fld>
            <a:endParaRPr/>
          </a:p>
        </p:txBody>
      </p:sp>
      <p:sp>
        <p:nvSpPr>
          <p:cNvPr id="6" name="页脚占位符 5">
            <a:extLst>
              <a:ext uri="{FF2B5EF4-FFF2-40B4-BE49-F238E27FC236}">
                <a16:creationId xmlns:a16="http://schemas.microsoft.com/office/drawing/2014/main" id="{5445E79F-8F3A-26D7-B708-3E2D806DC597}"/>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A4A58E73-6075-D3D6-B27F-54571160CDD5}"/>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6B617B-0547-69A6-1F86-5E96910470B3}"/>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A9DF40CC-0682-A957-E143-FC661992A4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EB1F15F8-2BB6-2C8C-3924-7B7E886A6115}"/>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1B4367AF-82F5-70DB-1FA2-5C03BD00737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851B318B-D1AB-A1F2-E22E-69448E636E62}"/>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2EB8EF44-027B-627E-3C93-22C4710A6C0A}"/>
              </a:ext>
            </a:extLst>
          </p:cNvPr>
          <p:cNvSpPr>
            <a:spLocks noGrp="1"/>
          </p:cNvSpPr>
          <p:nvPr>
            <p:ph type="dt" idx="10"/>
          </p:nvPr>
        </p:nvSpPr>
        <p:spPr/>
        <p:txBody>
          <a:bodyPr/>
          <a:lstStyle/>
          <a:p>
            <a:fld id="{EBCB734E-07DD-9441-9ADC-535B96F304F0}" type="datetimeFigureOut">
              <a:t>2026/10/19</a:t>
            </a:fld>
            <a:endParaRPr/>
          </a:p>
        </p:txBody>
      </p:sp>
      <p:sp>
        <p:nvSpPr>
          <p:cNvPr id="8" name="页脚占位符 7">
            <a:extLst>
              <a:ext uri="{FF2B5EF4-FFF2-40B4-BE49-F238E27FC236}">
                <a16:creationId xmlns:a16="http://schemas.microsoft.com/office/drawing/2014/main" id="{911EAD38-DF66-47A2-B746-368C8B99BE3F}"/>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F75C0048-920E-5935-1C7C-00B75AD96C97}"/>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973A8-169F-A8F6-B43A-058164982AEE}"/>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C2B8554F-FB23-137A-EF36-4C1F40D49480}"/>
              </a:ext>
            </a:extLst>
          </p:cNvPr>
          <p:cNvSpPr>
            <a:spLocks noGrp="1"/>
          </p:cNvSpPr>
          <p:nvPr>
            <p:ph type="dt" idx="10"/>
          </p:nvPr>
        </p:nvSpPr>
        <p:spPr/>
        <p:txBody>
          <a:bodyPr/>
          <a:lstStyle/>
          <a:p>
            <a:fld id="{EBCB734E-07DD-9441-9ADC-535B96F304F0}" type="datetimeFigureOut">
              <a:t>2026/10/19</a:t>
            </a:fld>
            <a:endParaRPr/>
          </a:p>
        </p:txBody>
      </p:sp>
      <p:sp>
        <p:nvSpPr>
          <p:cNvPr id="4" name="页脚占位符 3">
            <a:extLst>
              <a:ext uri="{FF2B5EF4-FFF2-40B4-BE49-F238E27FC236}">
                <a16:creationId xmlns:a16="http://schemas.microsoft.com/office/drawing/2014/main" id="{99852E05-D925-5ABD-D1ED-385AE8F95DF0}"/>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D3D0B28-F7F8-5D66-51EB-FF63A06027D3}"/>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EE388C-B183-E5C0-40C4-FDDA4CE54A9A}"/>
              </a:ext>
            </a:extLst>
          </p:cNvPr>
          <p:cNvSpPr>
            <a:spLocks noGrp="1"/>
          </p:cNvSpPr>
          <p:nvPr>
            <p:ph type="dt" idx="10"/>
          </p:nvPr>
        </p:nvSpPr>
        <p:spPr/>
        <p:txBody>
          <a:bodyPr/>
          <a:lstStyle/>
          <a:p>
            <a:fld id="{EBCB734E-07DD-9441-9ADC-535B96F304F0}" type="datetimeFigureOut">
              <a:t>2026/10/19</a:t>
            </a:fld>
            <a:endParaRPr/>
          </a:p>
        </p:txBody>
      </p:sp>
      <p:sp>
        <p:nvSpPr>
          <p:cNvPr id="3" name="页脚占位符 2">
            <a:extLst>
              <a:ext uri="{FF2B5EF4-FFF2-40B4-BE49-F238E27FC236}">
                <a16:creationId xmlns:a16="http://schemas.microsoft.com/office/drawing/2014/main" id="{BB0A998E-BEDD-E30D-3743-308A2F957488}"/>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A7C31FBE-D165-26A4-DD8D-1039F0C01A75}"/>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E54FEC-5B73-B400-28C0-ED48368D2236}"/>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9C55104A-01C9-2FA1-3892-010A1460A0D4}"/>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E79BE544-CCF3-478C-7BC7-52548DA76168}"/>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019518A6-B929-B54B-6100-1D391383D7E3}"/>
              </a:ext>
            </a:extLst>
          </p:cNvPr>
          <p:cNvSpPr>
            <a:spLocks noGrp="1"/>
          </p:cNvSpPr>
          <p:nvPr>
            <p:ph type="dt" idx="10"/>
          </p:nvPr>
        </p:nvSpPr>
        <p:spPr/>
        <p:txBody>
          <a:bodyPr/>
          <a:lstStyle/>
          <a:p>
            <a:fld id="{EBCB734E-07DD-9441-9ADC-535B96F304F0}" type="datetimeFigureOut">
              <a:t>2026/10/19</a:t>
            </a:fld>
            <a:endParaRPr/>
          </a:p>
        </p:txBody>
      </p:sp>
      <p:sp>
        <p:nvSpPr>
          <p:cNvPr id="6" name="页脚占位符 5">
            <a:extLst>
              <a:ext uri="{FF2B5EF4-FFF2-40B4-BE49-F238E27FC236}">
                <a16:creationId xmlns:a16="http://schemas.microsoft.com/office/drawing/2014/main" id="{3F51CE57-2E95-26A8-0BF7-4744F496ED7D}"/>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FE7888F6-A3A1-1F6B-5D5F-AD5BF0BB7E74}"/>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1D12AC-72D7-587E-2780-28FF77E49A73}"/>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5F14F775-AE0E-C299-DD82-C084107697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51D1D4D5-D0B2-6AC2-2395-D85ED46F22AC}"/>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95F3DA47-B938-E7D7-FF79-3C9912E7D1E5}"/>
              </a:ext>
            </a:extLst>
          </p:cNvPr>
          <p:cNvSpPr>
            <a:spLocks noGrp="1"/>
          </p:cNvSpPr>
          <p:nvPr>
            <p:ph type="dt" idx="10"/>
          </p:nvPr>
        </p:nvSpPr>
        <p:spPr/>
        <p:txBody>
          <a:bodyPr/>
          <a:lstStyle/>
          <a:p>
            <a:fld id="{EBCB734E-07DD-9441-9ADC-535B96F304F0}" type="datetimeFigureOut">
              <a:t>2026/10/19</a:t>
            </a:fld>
            <a:endParaRPr/>
          </a:p>
        </p:txBody>
      </p:sp>
      <p:sp>
        <p:nvSpPr>
          <p:cNvPr id="6" name="页脚占位符 5">
            <a:extLst>
              <a:ext uri="{FF2B5EF4-FFF2-40B4-BE49-F238E27FC236}">
                <a16:creationId xmlns:a16="http://schemas.microsoft.com/office/drawing/2014/main" id="{EB252DBF-3BCB-D08E-989B-58F8907D9A1E}"/>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33FBB901-EBCD-6401-A175-F0A8F0F0F6BE}"/>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A7462-001C-A699-DCF1-C7200C20BAC5}"/>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B6B77281-AA11-8BBB-B8AE-0686CCE3F976}"/>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4F9D14D-9B91-67CA-4AE0-30645FCF4DDE}"/>
              </a:ext>
            </a:extLst>
          </p:cNvPr>
          <p:cNvSpPr>
            <a:spLocks noGrp="1"/>
          </p:cNvSpPr>
          <p:nvPr>
            <p:ph type="dt" idx="10"/>
          </p:nvPr>
        </p:nvSpPr>
        <p:spPr/>
        <p:txBody>
          <a:bodyPr/>
          <a:lstStyle/>
          <a:p>
            <a:fld id="{EBCB734E-07DD-9441-9ADC-535B96F304F0}" type="datetimeFigureOut">
              <a:t>2026/10/19</a:t>
            </a:fld>
            <a:endParaRPr/>
          </a:p>
        </p:txBody>
      </p:sp>
      <p:sp>
        <p:nvSpPr>
          <p:cNvPr id="5" name="页脚占位符 4">
            <a:extLst>
              <a:ext uri="{FF2B5EF4-FFF2-40B4-BE49-F238E27FC236}">
                <a16:creationId xmlns:a16="http://schemas.microsoft.com/office/drawing/2014/main" id="{DFE0373A-1512-641F-AE87-E991D467922D}"/>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C5939C78-428D-6A28-B421-E262EECA3538}"/>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1ACA2D1-396D-08E0-66CC-21C8C420FDD2}"/>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D7C8CA3E-4085-19B0-E827-4523B5068319}"/>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5BCC8A0F-D31F-EB42-03B8-ABC8805AAB94}"/>
              </a:ext>
            </a:extLst>
          </p:cNvPr>
          <p:cNvSpPr>
            <a:spLocks noGrp="1"/>
          </p:cNvSpPr>
          <p:nvPr>
            <p:ph type="dt" idx="10"/>
          </p:nvPr>
        </p:nvSpPr>
        <p:spPr/>
        <p:txBody>
          <a:bodyPr/>
          <a:lstStyle/>
          <a:p>
            <a:fld id="{EBCB734E-07DD-9441-9ADC-535B96F304F0}" type="datetimeFigureOut">
              <a:t>2026/10/19</a:t>
            </a:fld>
            <a:endParaRPr/>
          </a:p>
        </p:txBody>
      </p:sp>
      <p:sp>
        <p:nvSpPr>
          <p:cNvPr id="5" name="页脚占位符 4">
            <a:extLst>
              <a:ext uri="{FF2B5EF4-FFF2-40B4-BE49-F238E27FC236}">
                <a16:creationId xmlns:a16="http://schemas.microsoft.com/office/drawing/2014/main" id="{4DBF4E56-8583-1CB1-9BF5-1FA3D26305DC}"/>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3B382CA1-1A9B-34A7-BEC1-653913A0D0E6}"/>
              </a:ext>
            </a:extLst>
          </p:cNvPr>
          <p:cNvSpPr>
            <a:spLocks noGrp="1"/>
          </p:cNvSpPr>
          <p:nvPr>
            <p:ph type="sldNum" idx="12"/>
          </p:nvPr>
        </p:nvSpPr>
        <p:spPr/>
        <p:txBody>
          <a:bodyPr/>
          <a:lstStyle/>
          <a:p>
            <a:fld id="{F83E638D-EB30-3D4D-973C-5A8D234BB93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864933C-47C5-DA58-94ED-A34E7C7718AC}"/>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6CFCF5E9-B62C-4488-FD52-BD2710BE5F5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E4DBC92F-8C75-E1AB-AA3C-9FE276008932}"/>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EBCB734E-07DD-9441-9ADC-535B96F304F0}" type="datetimeFigureOut">
              <a:t>2026/10/19</a:t>
            </a:fld>
            <a:endParaRPr/>
          </a:p>
        </p:txBody>
      </p:sp>
      <p:sp>
        <p:nvSpPr>
          <p:cNvPr id="5" name="页脚占位符 4">
            <a:extLst>
              <a:ext uri="{FF2B5EF4-FFF2-40B4-BE49-F238E27FC236}">
                <a16:creationId xmlns:a16="http://schemas.microsoft.com/office/drawing/2014/main" id="{17F857D3-CAD4-675B-33FB-6E806B40B2BF}"/>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780104B6-6D61-6E61-DB8D-9909DA369C7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83E638D-EB30-3D4D-973C-5A8D234BB93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9CA45E-2E76-9F85-5D8F-0C9BDEA93A1E}"/>
              </a:ext>
            </a:extLst>
          </p:cNvPr>
          <p:cNvSpPr>
            <a:spLocks noGrp="1"/>
          </p:cNvSpPr>
          <p:nvPr>
            <p:ph type="ctrTitle"/>
          </p:nvPr>
        </p:nvSpPr>
        <p:spPr/>
        <p:txBody>
          <a:bodyPr/>
          <a:lstStyle/>
          <a:p>
            <a:r>
              <a:t>CNENGR228 Tutorial 3</a:t>
            </a:r>
          </a:p>
        </p:txBody>
      </p:sp>
      <p:sp>
        <p:nvSpPr>
          <p:cNvPr id="3" name="副标题 2">
            <a:extLst>
              <a:ext uri="{FF2B5EF4-FFF2-40B4-BE49-F238E27FC236}">
                <a16:creationId xmlns:a16="http://schemas.microsoft.com/office/drawing/2014/main" id="{1B60E5A0-2245-49B9-8E24-A0DFA92C9CFE}"/>
              </a:ext>
            </a:extLst>
          </p:cNvPr>
          <p:cNvSpPr>
            <a:spLocks noGrp="1"/>
          </p:cNvSpPr>
          <p:nvPr>
            <p:ph type="subTitle" idx="1"/>
          </p:nvPr>
        </p:nvSpPr>
        <p:spPr/>
        <p:txBody>
          <a:bodyPr/>
          <a:lstStyle/>
          <a:p>
            <a:r>
              <a:t>Dr Zhongming Zhang</a:t>
            </a:r>
          </a:p>
        </p:txBody>
      </p:sp>
      <p:sp>
        <p:nvSpPr>
          <p:cNvPr id="4" name="矩形 3">
            <a:extLst>
              <a:ext uri="{FF2B5EF4-FFF2-40B4-BE49-F238E27FC236}">
                <a16:creationId xmlns:a16="http://schemas.microsoft.com/office/drawing/2014/main" id="{58027B10-C950-4226-A2C9-CF5C40348B61}"/>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1</a:t>
            </a:r>
          </a:p>
        </p:txBody>
      </p:sp>
    </p:spTree>
    <p:extLst>
      <p:ext uri="{BB962C8B-B14F-4D97-AF65-F5344CB8AC3E}">
        <p14:creationId xmlns:p14="http://schemas.microsoft.com/office/powerpoint/2010/main" val="2648641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5A31EB0-24C8-4211-9176-5723F60F31FE}"/>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Q1  Arithmetic types</a:t>
            </a:r>
          </a:p>
        </p:txBody>
      </p:sp>
      <p:sp>
        <p:nvSpPr>
          <p:cNvPr id="2" name="矩形 1">
            <a:extLst>
              <a:ext uri="{FF2B5EF4-FFF2-40B4-BE49-F238E27FC236}">
                <a16:creationId xmlns:a16="http://schemas.microsoft.com/office/drawing/2014/main" id="{8CC6C350-D266-49E2-A0F0-A0DAA9661A07}"/>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Identify the arithmetic error and repair it.</a:t>
            </a:r>
          </a:p>
        </p:txBody>
      </p:sp>
      <p:pic>
        <p:nvPicPr>
          <p:cNvPr id="3" name="图片 2">
            <a:extLst>
              <a:ext uri="{FF2B5EF4-FFF2-40B4-BE49-F238E27FC236}">
                <a16:creationId xmlns:a16="http://schemas.microsoft.com/office/drawing/2014/main" id="{8761801D-5AC5-4F3E-AC13-D5436EE0711F}"/>
              </a:ext>
            </a:extLst>
          </p:cNvPr>
          <p:cNvPicPr>
            <a:picLocks noChangeAspect="1"/>
          </p:cNvPicPr>
          <p:nvPr/>
        </p:nvPicPr>
        <p:blipFill>
          <a:blip r:embed="rId3"/>
          <a:stretch/>
        </p:blipFill>
        <p:spPr>
          <a:xfrm>
            <a:off x="1544926" y="1238250"/>
            <a:ext cx="9102148" cy="5048250"/>
          </a:xfrm>
          <a:prstGeom prst="rect">
            <a:avLst/>
          </a:prstGeom>
        </p:spPr>
      </p:pic>
      <p:sp>
        <p:nvSpPr>
          <p:cNvPr id="4" name="矩形 3">
            <a:extLst>
              <a:ext uri="{FF2B5EF4-FFF2-40B4-BE49-F238E27FC236}">
                <a16:creationId xmlns:a16="http://schemas.microsoft.com/office/drawing/2014/main" id="{825CE3A9-CB83-429F-84F6-A565D70B1A03}"/>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2</a:t>
            </a:r>
          </a:p>
        </p:txBody>
      </p:sp>
    </p:spTree>
    <p:extLst>
      <p:ext uri="{BB962C8B-B14F-4D97-AF65-F5344CB8AC3E}">
        <p14:creationId xmlns:p14="http://schemas.microsoft.com/office/powerpoint/2010/main" val="939846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5CE0123-C484-4140-8322-785DAFE9C553}"/>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Q1  Answer</a:t>
            </a:r>
          </a:p>
        </p:txBody>
      </p:sp>
      <p:sp>
        <p:nvSpPr>
          <p:cNvPr id="2" name="矩形 1">
            <a:extLst>
              <a:ext uri="{FF2B5EF4-FFF2-40B4-BE49-F238E27FC236}">
                <a16:creationId xmlns:a16="http://schemas.microsoft.com/office/drawing/2014/main" id="{04B12CE1-20E9-4A48-AA4D-84E748913759}"/>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Use NUMERIC_STD and unsigned arithmetic</a:t>
            </a:r>
          </a:p>
        </p:txBody>
      </p:sp>
      <p:sp>
        <p:nvSpPr>
          <p:cNvPr id="3" name="矩形 2">
            <a:extLst>
              <a:ext uri="{FF2B5EF4-FFF2-40B4-BE49-F238E27FC236}">
                <a16:creationId xmlns:a16="http://schemas.microsoft.com/office/drawing/2014/main" id="{63D52898-0906-457F-A97F-48EFB53983E6}"/>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3</a:t>
            </a:r>
          </a:p>
        </p:txBody>
      </p:sp>
      <p:sp>
        <p:nvSpPr>
          <p:cNvPr id="4" name="矩形 3">
            <a:extLst>
              <a:ext uri="{FF2B5EF4-FFF2-40B4-BE49-F238E27FC236}">
                <a16:creationId xmlns:a16="http://schemas.microsoft.com/office/drawing/2014/main" id="{5D7771FB-BD4A-4B26-BCA1-1717A48769A1}"/>
              </a:ext>
            </a:extLst>
          </p:cNvPr>
          <p:cNvSpPr>
            <a:spLocks noGrp="1"/>
          </p:cNvSpPr>
          <p:nvPr/>
        </p:nvSpPr>
        <p:spPr>
          <a:xfrm>
            <a:off x="666750" y="1571625"/>
            <a:ext cx="10858500" cy="2238375"/>
          </a:xfrm>
          <a:prstGeom prst="rect">
            <a:avLst/>
          </a:prstGeom>
          <a:noFill/>
          <a:ln w="0">
            <a:noFill/>
            <a:prstDash val="solid"/>
          </a:ln>
        </p:spPr>
        <p:txBody>
          <a:bodyPr lIns="0" tIns="0" rIns="0" bIns="0"/>
          <a:lstStyle>
            <a:defPPr>
              <a:defRPr sz="2325" b="0">
                <a:solidFill>
                  <a:srgbClr val="111111"/>
                </a:solidFill>
                <a:latin typeface="DejaVu Sans Mono"/>
                <a:ea typeface="DejaVu Sans Mono"/>
                <a:cs typeface="DejaVu Sans Mono"/>
              </a:defRPr>
            </a:defPPr>
            <a:lvl1pPr>
              <a:defRPr sz="2325" b="0">
                <a:solidFill>
                  <a:srgbClr val="111111"/>
                </a:solidFill>
                <a:latin typeface="DejaVu Sans Mono"/>
                <a:ea typeface="DejaVu Sans Mono"/>
                <a:cs typeface="DejaVu Sans Mono"/>
              </a:defRPr>
            </a:lvl1pPr>
            <a:lvl2pPr>
              <a:defRPr sz="2325" b="0">
                <a:solidFill>
                  <a:srgbClr val="111111"/>
                </a:solidFill>
                <a:latin typeface="DejaVu Sans Mono"/>
                <a:ea typeface="DejaVu Sans Mono"/>
                <a:cs typeface="DejaVu Sans Mono"/>
              </a:defRPr>
            </a:lvl2pPr>
            <a:lvl3pPr>
              <a:defRPr sz="2325" b="0">
                <a:solidFill>
                  <a:srgbClr val="111111"/>
                </a:solidFill>
                <a:latin typeface="DejaVu Sans Mono"/>
                <a:ea typeface="DejaVu Sans Mono"/>
                <a:cs typeface="DejaVu Sans Mono"/>
              </a:defRPr>
            </a:lvl3pPr>
            <a:lvl4pPr>
              <a:defRPr sz="2325" b="0">
                <a:solidFill>
                  <a:srgbClr val="111111"/>
                </a:solidFill>
                <a:latin typeface="DejaVu Sans Mono"/>
                <a:ea typeface="DejaVu Sans Mono"/>
                <a:cs typeface="DejaVu Sans Mono"/>
              </a:defRPr>
            </a:lvl4pPr>
            <a:lvl5pPr>
              <a:defRPr sz="2325" b="0">
                <a:solidFill>
                  <a:srgbClr val="111111"/>
                </a:solidFill>
                <a:latin typeface="DejaVu Sans Mono"/>
                <a:ea typeface="DejaVu Sans Mono"/>
                <a:cs typeface="DejaVu Sans Mono"/>
              </a:defRPr>
            </a:lvl5pPr>
            <a:lvl6pPr>
              <a:defRPr sz="2325" b="0">
                <a:solidFill>
                  <a:srgbClr val="111111"/>
                </a:solidFill>
                <a:latin typeface="DejaVu Sans Mono"/>
                <a:ea typeface="DejaVu Sans Mono"/>
                <a:cs typeface="DejaVu Sans Mono"/>
              </a:defRPr>
            </a:lvl6pPr>
            <a:lvl7pPr>
              <a:defRPr sz="2325" b="0">
                <a:solidFill>
                  <a:srgbClr val="111111"/>
                </a:solidFill>
                <a:latin typeface="DejaVu Sans Mono"/>
                <a:ea typeface="DejaVu Sans Mono"/>
                <a:cs typeface="DejaVu Sans Mono"/>
              </a:defRPr>
            </a:lvl7pPr>
            <a:lvl8pPr>
              <a:defRPr sz="2325" b="0">
                <a:solidFill>
                  <a:srgbClr val="111111"/>
                </a:solidFill>
                <a:latin typeface="DejaVu Sans Mono"/>
                <a:ea typeface="DejaVu Sans Mono"/>
                <a:cs typeface="DejaVu Sans Mono"/>
              </a:defRPr>
            </a:lvl8pPr>
            <a:lvl9pPr>
              <a:defRPr sz="2325" b="0">
                <a:solidFill>
                  <a:srgbClr val="111111"/>
                </a:solidFill>
                <a:latin typeface="DejaVu Sans Mono"/>
                <a:ea typeface="DejaVu Sans Mono"/>
                <a:cs typeface="DejaVu Sans Mono"/>
              </a:defRPr>
            </a:lvl9pPr>
          </a:lstStyle>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use IEEE.NUMERIC_STD.ALL;</a:t>
            </a:r>
          </a:p>
          <a:p>
            <a:endParaRPr sz="2325" b="0">
              <a:solidFill>
                <a:srgbClr val="111111"/>
              </a:solidFill>
              <a:latin typeface="DejaVu Sans Mono"/>
              <a:ea typeface="DejaVu Sans Mono"/>
              <a:cs typeface="DejaVu Sans Mono"/>
            </a:endParaRP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y &lt;= std_logic_vector(</a:t>
            </a: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  unsigned(a) + unsigned'(0 =&gt; b));</a:t>
            </a:r>
          </a:p>
        </p:txBody>
      </p:sp>
      <p:sp>
        <p:nvSpPr>
          <p:cNvPr id="5" name="矩形 4">
            <a:extLst>
              <a:ext uri="{FF2B5EF4-FFF2-40B4-BE49-F238E27FC236}">
                <a16:creationId xmlns:a16="http://schemas.microsoft.com/office/drawing/2014/main" id="{1F42EC8D-39A5-44F2-A655-D2FEDAD2B77F}"/>
              </a:ext>
            </a:extLst>
          </p:cNvPr>
          <p:cNvSpPr>
            <a:spLocks noGrp="1"/>
          </p:cNvSpPr>
          <p:nvPr/>
        </p:nvSpPr>
        <p:spPr>
          <a:xfrm>
            <a:off x="666750" y="4333875"/>
            <a:ext cx="10858500" cy="4476750"/>
          </a:xfrm>
          <a:prstGeom prst="rect">
            <a:avLst/>
          </a:prstGeom>
          <a:noFill/>
          <a:ln w="0">
            <a:noFill/>
            <a:prstDash val="solid"/>
          </a:ln>
        </p:spPr>
        <p:txBody>
          <a:bodyPr lIns="0" tIns="0" rIns="0" bIns="0"/>
          <a:lstStyle>
            <a:defPPr>
              <a:defRPr sz="2325" b="0">
                <a:solidFill>
                  <a:srgbClr val="111111"/>
                </a:solidFill>
                <a:latin typeface="Arial"/>
                <a:ea typeface="Arial"/>
                <a:cs typeface="Arial"/>
              </a:defRPr>
            </a:defPPr>
            <a:lvl1pPr>
              <a:defRPr sz="2325" b="0">
                <a:solidFill>
                  <a:srgbClr val="111111"/>
                </a:solidFill>
                <a:latin typeface="Arial"/>
                <a:ea typeface="Arial"/>
                <a:cs typeface="Arial"/>
              </a:defRPr>
            </a:lvl1pPr>
            <a:lvl2pPr>
              <a:defRPr sz="2325" b="0">
                <a:solidFill>
                  <a:srgbClr val="111111"/>
                </a:solidFill>
                <a:latin typeface="Arial"/>
                <a:ea typeface="Arial"/>
                <a:cs typeface="Arial"/>
              </a:defRPr>
            </a:lvl2pPr>
            <a:lvl3pPr>
              <a:defRPr sz="2325" b="0">
                <a:solidFill>
                  <a:srgbClr val="111111"/>
                </a:solidFill>
                <a:latin typeface="Arial"/>
                <a:ea typeface="Arial"/>
                <a:cs typeface="Arial"/>
              </a:defRPr>
            </a:lvl3pPr>
            <a:lvl4pPr>
              <a:defRPr sz="2325" b="0">
                <a:solidFill>
                  <a:srgbClr val="111111"/>
                </a:solidFill>
                <a:latin typeface="Arial"/>
                <a:ea typeface="Arial"/>
                <a:cs typeface="Arial"/>
              </a:defRPr>
            </a:lvl4pPr>
            <a:lvl5pPr>
              <a:defRPr sz="2325" b="0">
                <a:solidFill>
                  <a:srgbClr val="111111"/>
                </a:solidFill>
                <a:latin typeface="Arial"/>
                <a:ea typeface="Arial"/>
                <a:cs typeface="Arial"/>
              </a:defRPr>
            </a:lvl5pPr>
            <a:lvl6pPr>
              <a:defRPr sz="2325" b="0">
                <a:solidFill>
                  <a:srgbClr val="111111"/>
                </a:solidFill>
                <a:latin typeface="Arial"/>
                <a:ea typeface="Arial"/>
                <a:cs typeface="Arial"/>
              </a:defRPr>
            </a:lvl6pPr>
            <a:lvl7pPr>
              <a:defRPr sz="2325" b="0">
                <a:solidFill>
                  <a:srgbClr val="111111"/>
                </a:solidFill>
                <a:latin typeface="Arial"/>
                <a:ea typeface="Arial"/>
                <a:cs typeface="Arial"/>
              </a:defRPr>
            </a:lvl7pPr>
            <a:lvl8pPr>
              <a:defRPr sz="2325" b="0">
                <a:solidFill>
                  <a:srgbClr val="111111"/>
                </a:solidFill>
                <a:latin typeface="Arial"/>
                <a:ea typeface="Arial"/>
                <a:cs typeface="Arial"/>
              </a:defRPr>
            </a:lvl8pPr>
            <a:lvl9pPr>
              <a:defRPr sz="2325" b="0">
                <a:solidFill>
                  <a:srgbClr val="111111"/>
                </a:solidFill>
                <a:latin typeface="Arial"/>
                <a:ea typeface="Arial"/>
                <a:cs typeface="Arial"/>
              </a:defRPr>
            </a:lvl9pPr>
          </a:lstStyle>
          <a:p>
            <a:pPr>
              <a:defRPr sz="2325" b="0">
                <a:solidFill>
                  <a:srgbClr val="111111"/>
                </a:solidFill>
                <a:latin typeface="Arial"/>
                <a:ea typeface="Arial"/>
                <a:cs typeface="Arial"/>
              </a:defRPr>
            </a:pPr>
            <a:r>
              <a:rPr sz="2325" b="0">
                <a:solidFill>
                  <a:srgbClr val="111111"/>
                </a:solidFill>
                <a:latin typeface="Arial"/>
                <a:ea typeface="Arial"/>
                <a:cs typeface="Arial"/>
              </a:rPr>
              <a:t>The result keeps four bits: 1111 + 1 = 0000.</a:t>
            </a:r>
          </a:p>
          <a:p>
            <a:endParaRPr sz="2325" b="0">
              <a:solidFill>
                <a:srgbClr val="111111"/>
              </a:solidFill>
              <a:latin typeface="Arial"/>
              <a:ea typeface="Arial"/>
              <a:cs typeface="Arial"/>
            </a:endParaRPr>
          </a:p>
          <a:p>
            <a:pPr>
              <a:defRPr sz="2325" b="0">
                <a:solidFill>
                  <a:srgbClr val="111111"/>
                </a:solidFill>
                <a:latin typeface="Arial"/>
                <a:ea typeface="Arial"/>
                <a:cs typeface="Arial"/>
              </a:defRPr>
            </a:pPr>
            <a:r>
              <a:rPr sz="2325" b="0">
                <a:solidFill>
                  <a:srgbClr val="111111"/>
                </a:solidFill>
                <a:latin typeface="Arial"/>
                <a:ea typeface="Arial"/>
                <a:cs typeface="Arial"/>
              </a:rPr>
              <a:t>end; is valid. The architecture name is optional.</a:t>
            </a:r>
          </a:p>
        </p:txBody>
      </p:sp>
    </p:spTree>
    <p:extLst>
      <p:ext uri="{BB962C8B-B14F-4D97-AF65-F5344CB8AC3E}">
        <p14:creationId xmlns:p14="http://schemas.microsoft.com/office/powerpoint/2010/main" val="1604660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21FFA70-5E9B-49B2-800E-78F59E468A78}"/>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Q2  Missing syntax</a:t>
            </a:r>
          </a:p>
        </p:txBody>
      </p:sp>
      <p:sp>
        <p:nvSpPr>
          <p:cNvPr id="2" name="矩形 1">
            <a:extLst>
              <a:ext uri="{FF2B5EF4-FFF2-40B4-BE49-F238E27FC236}">
                <a16:creationId xmlns:a16="http://schemas.microsoft.com/office/drawing/2014/main" id="{844EC5B8-6F7D-441D-B361-819F4647B92A}"/>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Find all five syntax errors.</a:t>
            </a:r>
          </a:p>
        </p:txBody>
      </p:sp>
      <p:pic>
        <p:nvPicPr>
          <p:cNvPr id="3" name="图片 2">
            <a:extLst>
              <a:ext uri="{FF2B5EF4-FFF2-40B4-BE49-F238E27FC236}">
                <a16:creationId xmlns:a16="http://schemas.microsoft.com/office/drawing/2014/main" id="{91A9A35D-33C3-47B2-9A6A-FEC92AF3C79E}"/>
              </a:ext>
            </a:extLst>
          </p:cNvPr>
          <p:cNvPicPr>
            <a:picLocks noChangeAspect="1"/>
          </p:cNvPicPr>
          <p:nvPr/>
        </p:nvPicPr>
        <p:blipFill>
          <a:blip r:embed="rId3"/>
          <a:stretch/>
        </p:blipFill>
        <p:spPr>
          <a:xfrm>
            <a:off x="1546437" y="1238250"/>
            <a:ext cx="9099125" cy="5048250"/>
          </a:xfrm>
          <a:prstGeom prst="rect">
            <a:avLst/>
          </a:prstGeom>
        </p:spPr>
      </p:pic>
      <p:sp>
        <p:nvSpPr>
          <p:cNvPr id="4" name="矩形 3">
            <a:extLst>
              <a:ext uri="{FF2B5EF4-FFF2-40B4-BE49-F238E27FC236}">
                <a16:creationId xmlns:a16="http://schemas.microsoft.com/office/drawing/2014/main" id="{9FCBDFA3-EE11-44EA-89B2-EEEBA03FF3A4}"/>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4</a:t>
            </a:r>
          </a:p>
        </p:txBody>
      </p:sp>
    </p:spTree>
    <p:extLst>
      <p:ext uri="{BB962C8B-B14F-4D97-AF65-F5344CB8AC3E}">
        <p14:creationId xmlns:p14="http://schemas.microsoft.com/office/powerpoint/2010/main" val="1576361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4343FB0-7F21-49FE-9FC8-5272637EC93B}"/>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Q2  Answer</a:t>
            </a:r>
          </a:p>
        </p:txBody>
      </p:sp>
      <p:sp>
        <p:nvSpPr>
          <p:cNvPr id="2" name="矩形 1">
            <a:extLst>
              <a:ext uri="{FF2B5EF4-FFF2-40B4-BE49-F238E27FC236}">
                <a16:creationId xmlns:a16="http://schemas.microsoft.com/office/drawing/2014/main" id="{92E58F1E-AD86-4EC1-AF47-E0648BF7FAFE}"/>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Five repairs</a:t>
            </a:r>
          </a:p>
        </p:txBody>
      </p:sp>
      <p:sp>
        <p:nvSpPr>
          <p:cNvPr id="3" name="矩形 2">
            <a:extLst>
              <a:ext uri="{FF2B5EF4-FFF2-40B4-BE49-F238E27FC236}">
                <a16:creationId xmlns:a16="http://schemas.microsoft.com/office/drawing/2014/main" id="{12ACA5D7-73AC-42D6-8C58-5EDC01DC0033}"/>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5</a:t>
            </a:r>
          </a:p>
        </p:txBody>
      </p:sp>
      <p:graphicFrame>
        <p:nvGraphicFramePr>
          <p:cNvPr id="4" name="表格 3">
            <a:extLst>
              <a:ext uri="{FF2B5EF4-FFF2-40B4-BE49-F238E27FC236}">
                <a16:creationId xmlns:a16="http://schemas.microsoft.com/office/drawing/2014/main" id="{FB2FAC15-238F-4962-8A42-D98280F07A38}"/>
              </a:ext>
            </a:extLst>
          </p:cNvPr>
          <p:cNvGraphicFramePr/>
          <p:nvPr/>
        </p:nvGraphicFramePr>
        <p:xfrm>
          <a:off x="666750" y="1476375"/>
          <a:ext cx="10858500" cy="3714750"/>
        </p:xfrm>
        <a:graphic>
          <a:graphicData uri="http://schemas.openxmlformats.org/drawingml/2006/table">
            <a:tbl>
              <a:tblPr/>
              <a:tblGrid>
                <a:gridCol w="2476500">
                  <a:extLst>
                    <a:ext uri="{9D8B030D-6E8A-4147-A177-3AD203B41FA5}">
                      <a16:colId xmlns:a16="http://schemas.microsoft.com/office/drawing/2014/main" val="20000"/>
                    </a:ext>
                  </a:extLst>
                </a:gridCol>
                <a:gridCol w="8382000">
                  <a:extLst>
                    <a:ext uri="{9D8B030D-6E8A-4147-A177-3AD203B41FA5}">
                      <a16:colId xmlns:a16="http://schemas.microsoft.com/office/drawing/2014/main" val="20001"/>
                    </a:ext>
                  </a:extLst>
                </a:gridCol>
              </a:tblGrid>
              <a:tr h="619125">
                <a:tc>
                  <a:txBody>
                    <a:bodyPr/>
                    <a:lstStyle/>
                    <a:p>
                      <a:r>
                        <a:rPr sz="2025" b="1">
                          <a:solidFill>
                            <a:srgbClr val="111111"/>
                          </a:solidFill>
                          <a:latin typeface="Arial"/>
                          <a:ea typeface="Arial"/>
                          <a:cs typeface="Arial"/>
                        </a:rPr>
                        <a:t>Original line</a:t>
                      </a:r>
                    </a:p>
                  </a:txBody>
                  <a:tcPr>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tc>
                  <a:txBody>
                    <a:bodyPr/>
                    <a:lstStyle/>
                    <a:p>
                      <a:r>
                        <a:rPr sz="2025" b="1">
                          <a:solidFill>
                            <a:srgbClr val="111111"/>
                          </a:solidFill>
                          <a:latin typeface="Arial"/>
                          <a:ea typeface="Arial"/>
                          <a:cs typeface="Arial"/>
                        </a:rPr>
                        <a:t>Repair</a:t>
                      </a:r>
                    </a:p>
                  </a:txBody>
                  <a:tcPr>
                    <a:lnL w="9525" cap="flat" cmpd="sng" algn="ctr">
                      <a:solidFill>
                        <a:srgbClr val="CCCCCC"/>
                      </a:solidFill>
                      <a:prstDash val="solid"/>
                      <a:round/>
                      <a:headEnd type="none" w="med" len="med"/>
                      <a:tailEnd type="none" w="med" len="me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extLst>
                  <a:ext uri="{0D108BD9-81ED-4DB2-BD59-A6C34878D82A}">
                    <a16:rowId xmlns:a16="http://schemas.microsoft.com/office/drawing/2014/main" val="10000"/>
                  </a:ext>
                </a:extLst>
              </a:tr>
              <a:tr h="619125">
                <a:tc>
                  <a:txBody>
                    <a:bodyPr/>
                    <a:lstStyle/>
                    <a:p>
                      <a:r>
                        <a:rPr sz="2025" b="0">
                          <a:solidFill>
                            <a:srgbClr val="111111"/>
                          </a:solidFill>
                          <a:latin typeface="Arial"/>
                          <a:ea typeface="Arial"/>
                          <a:cs typeface="Arial"/>
                        </a:rPr>
                        <a:t>2</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Add ; after the use statement</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1"/>
                  </a:ext>
                </a:extLst>
              </a:tr>
              <a:tr h="619125">
                <a:tc>
                  <a:txBody>
                    <a:bodyPr/>
                    <a:lstStyle/>
                    <a:p>
                      <a:r>
                        <a:rPr sz="2025" b="0">
                          <a:solidFill>
                            <a:srgbClr val="111111"/>
                          </a:solidFill>
                          <a:latin typeface="Arial"/>
                          <a:ea typeface="Arial"/>
                          <a:cs typeface="Arial"/>
                        </a:rPr>
                        <a:t>6</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Add ; after the declaration of b</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2"/>
                  </a:ext>
                </a:extLst>
              </a:tr>
              <a:tr h="619125">
                <a:tc>
                  <a:txBody>
                    <a:bodyPr/>
                    <a:lstStyle/>
                    <a:p>
                      <a:r>
                        <a:rPr sz="2025" b="0">
                          <a:solidFill>
                            <a:srgbClr val="111111"/>
                          </a:solidFill>
                          <a:latin typeface="Arial"/>
                          <a:ea typeface="Arial"/>
                          <a:cs typeface="Arial"/>
                        </a:rPr>
                        <a:t>8</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Add ; after end MyEntity</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3"/>
                  </a:ext>
                </a:extLst>
              </a:tr>
              <a:tr h="619125">
                <a:tc>
                  <a:txBody>
                    <a:bodyPr/>
                    <a:lstStyle/>
                    <a:p>
                      <a:r>
                        <a:rPr sz="2025" b="0">
                          <a:solidFill>
                            <a:srgbClr val="111111"/>
                          </a:solidFill>
                          <a:latin typeface="Arial"/>
                          <a:ea typeface="Arial"/>
                          <a:cs typeface="Arial"/>
                        </a:rPr>
                        <a:t>10</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Add is</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4"/>
                  </a:ext>
                </a:extLst>
              </a:tr>
              <a:tr h="619125">
                <a:tc>
                  <a:txBody>
                    <a:bodyPr/>
                    <a:lstStyle/>
                    <a:p>
                      <a:r>
                        <a:rPr sz="2025" b="0">
                          <a:solidFill>
                            <a:srgbClr val="111111"/>
                          </a:solidFill>
                          <a:latin typeface="Arial"/>
                          <a:ea typeface="Arial"/>
                          <a:cs typeface="Arial"/>
                        </a:rPr>
                        <a:t>12</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Add ; after y &lt;= a and b</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矩形 4">
            <a:extLst>
              <a:ext uri="{FF2B5EF4-FFF2-40B4-BE49-F238E27FC236}">
                <a16:creationId xmlns:a16="http://schemas.microsoft.com/office/drawing/2014/main" id="{2EAE9FB5-2358-46BB-9BAC-C1B9A67D9A80}"/>
              </a:ext>
            </a:extLst>
          </p:cNvPr>
          <p:cNvSpPr>
            <a:spLocks noGrp="1"/>
          </p:cNvSpPr>
          <p:nvPr/>
        </p:nvSpPr>
        <p:spPr>
          <a:xfrm>
            <a:off x="666750" y="5619750"/>
            <a:ext cx="10858500" cy="476250"/>
          </a:xfrm>
          <a:prstGeom prst="rect">
            <a:avLst/>
          </a:prstGeom>
          <a:noFill/>
          <a:ln w="0">
            <a:noFill/>
            <a:prstDash val="solid"/>
          </a:ln>
        </p:spPr>
        <p:txBody>
          <a:bodyPr lIns="0" tIns="0" rIns="0" bIns="0"/>
          <a:lstStyle>
            <a:defPPr>
              <a:defRPr sz="2400" b="1">
                <a:solidFill>
                  <a:srgbClr val="155CAA"/>
                </a:solidFill>
                <a:latin typeface="Arial"/>
                <a:ea typeface="Arial"/>
                <a:cs typeface="Arial"/>
              </a:defRPr>
            </a:defPPr>
            <a:lvl1pPr>
              <a:defRPr sz="2400" b="1">
                <a:solidFill>
                  <a:srgbClr val="155CAA"/>
                </a:solidFill>
                <a:latin typeface="Arial"/>
                <a:ea typeface="Arial"/>
                <a:cs typeface="Arial"/>
              </a:defRPr>
            </a:lvl1pPr>
            <a:lvl2pPr>
              <a:defRPr sz="2400" b="1">
                <a:solidFill>
                  <a:srgbClr val="155CAA"/>
                </a:solidFill>
                <a:latin typeface="Arial"/>
                <a:ea typeface="Arial"/>
                <a:cs typeface="Arial"/>
              </a:defRPr>
            </a:lvl2pPr>
            <a:lvl3pPr>
              <a:defRPr sz="2400" b="1">
                <a:solidFill>
                  <a:srgbClr val="155CAA"/>
                </a:solidFill>
                <a:latin typeface="Arial"/>
                <a:ea typeface="Arial"/>
                <a:cs typeface="Arial"/>
              </a:defRPr>
            </a:lvl3pPr>
            <a:lvl4pPr>
              <a:defRPr sz="2400" b="1">
                <a:solidFill>
                  <a:srgbClr val="155CAA"/>
                </a:solidFill>
                <a:latin typeface="Arial"/>
                <a:ea typeface="Arial"/>
                <a:cs typeface="Arial"/>
              </a:defRPr>
            </a:lvl4pPr>
            <a:lvl5pPr>
              <a:defRPr sz="2400" b="1">
                <a:solidFill>
                  <a:srgbClr val="155CAA"/>
                </a:solidFill>
                <a:latin typeface="Arial"/>
                <a:ea typeface="Arial"/>
                <a:cs typeface="Arial"/>
              </a:defRPr>
            </a:lvl5pPr>
            <a:lvl6pPr>
              <a:defRPr sz="2400" b="1">
                <a:solidFill>
                  <a:srgbClr val="155CAA"/>
                </a:solidFill>
                <a:latin typeface="Arial"/>
                <a:ea typeface="Arial"/>
                <a:cs typeface="Arial"/>
              </a:defRPr>
            </a:lvl6pPr>
            <a:lvl7pPr>
              <a:defRPr sz="2400" b="1">
                <a:solidFill>
                  <a:srgbClr val="155CAA"/>
                </a:solidFill>
                <a:latin typeface="Arial"/>
                <a:ea typeface="Arial"/>
                <a:cs typeface="Arial"/>
              </a:defRPr>
            </a:lvl7pPr>
            <a:lvl8pPr>
              <a:defRPr sz="2400" b="1">
                <a:solidFill>
                  <a:srgbClr val="155CAA"/>
                </a:solidFill>
                <a:latin typeface="Arial"/>
                <a:ea typeface="Arial"/>
                <a:cs typeface="Arial"/>
              </a:defRPr>
            </a:lvl8pPr>
            <a:lvl9pPr>
              <a:defRPr sz="2400" b="1">
                <a:solidFill>
                  <a:srgbClr val="155CAA"/>
                </a:solidFill>
                <a:latin typeface="Arial"/>
                <a:ea typeface="Arial"/>
                <a:cs typeface="Arial"/>
              </a:defRPr>
            </a:lvl9pPr>
          </a:lstStyle>
          <a:p>
            <a:pPr>
              <a:defRPr sz="2400" b="1">
                <a:solidFill>
                  <a:srgbClr val="155CAA"/>
                </a:solidFill>
                <a:latin typeface="Arial"/>
                <a:ea typeface="Arial"/>
                <a:cs typeface="Arial"/>
              </a:defRPr>
            </a:pPr>
            <a:r>
              <a:rPr sz="2400" b="1">
                <a:solidFill>
                  <a:srgbClr val="155CAA"/>
                </a:solidFill>
                <a:latin typeface="Arial"/>
                <a:ea typeface="Arial"/>
                <a:cs typeface="Arial"/>
              </a:rPr>
              <a:t>Result: an AND gate</a:t>
            </a:r>
          </a:p>
        </p:txBody>
      </p:sp>
    </p:spTree>
    <p:extLst>
      <p:ext uri="{BB962C8B-B14F-4D97-AF65-F5344CB8AC3E}">
        <p14:creationId xmlns:p14="http://schemas.microsoft.com/office/powerpoint/2010/main" val="157684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67E048BB-B195-4EFA-B7D5-E6A5A89555B4}"/>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Q3  Multiplexer syntax</a:t>
            </a:r>
          </a:p>
        </p:txBody>
      </p:sp>
      <p:sp>
        <p:nvSpPr>
          <p:cNvPr id="2" name="矩形 1">
            <a:extLst>
              <a:ext uri="{FF2B5EF4-FFF2-40B4-BE49-F238E27FC236}">
                <a16:creationId xmlns:a16="http://schemas.microsoft.com/office/drawing/2014/main" id="{943FB487-B8F1-48BA-85D8-9A6608ADB630}"/>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Find four errors and state the function.</a:t>
            </a:r>
          </a:p>
        </p:txBody>
      </p:sp>
      <p:sp>
        <p:nvSpPr>
          <p:cNvPr id="3" name="矩形 2">
            <a:extLst>
              <a:ext uri="{FF2B5EF4-FFF2-40B4-BE49-F238E27FC236}">
                <a16:creationId xmlns:a16="http://schemas.microsoft.com/office/drawing/2014/main" id="{87B4F6E7-CB6F-45C3-B322-7F44D8EFC7B8}"/>
              </a:ext>
            </a:extLst>
          </p:cNvPr>
          <p:cNvSpPr>
            <a:spLocks noGrp="1"/>
          </p:cNvSpPr>
          <p:nvPr/>
        </p:nvSpPr>
        <p:spPr>
          <a:xfrm>
            <a:off x="1714500" y="1238250"/>
            <a:ext cx="9048750" cy="5095875"/>
          </a:xfrm>
          <a:prstGeom prst="rect">
            <a:avLst/>
          </a:prstGeom>
          <a:noFill/>
          <a:ln w="0">
            <a:noFill/>
            <a:prstDash val="solid"/>
          </a:ln>
        </p:spPr>
        <p:txBody>
          <a:bodyPr lIns="0" tIns="0" rIns="0" bIns="0"/>
          <a:lstStyle>
            <a:defPPr>
              <a:defRPr sz="1800" b="0">
                <a:solidFill>
                  <a:srgbClr val="111111"/>
                </a:solidFill>
                <a:latin typeface="DejaVu Sans Mono"/>
                <a:ea typeface="DejaVu Sans Mono"/>
                <a:cs typeface="DejaVu Sans Mono"/>
              </a:defRPr>
            </a:defPPr>
            <a:lvl1pPr>
              <a:buNone/>
              <a:defRPr sz="1800" b="0">
                <a:solidFill>
                  <a:srgbClr val="111111"/>
                </a:solidFill>
                <a:latin typeface="DejaVu Sans Mono"/>
                <a:ea typeface="DejaVu Sans Mono"/>
                <a:cs typeface="DejaVu Sans Mono"/>
              </a:defRPr>
            </a:lvl1pPr>
            <a:lvl2pPr>
              <a:buNone/>
              <a:defRPr sz="1800" b="0">
                <a:solidFill>
                  <a:srgbClr val="111111"/>
                </a:solidFill>
                <a:latin typeface="DejaVu Sans Mono"/>
                <a:ea typeface="DejaVu Sans Mono"/>
                <a:cs typeface="DejaVu Sans Mono"/>
              </a:defRPr>
            </a:lvl2pPr>
            <a:lvl3pPr>
              <a:buNone/>
              <a:defRPr sz="1800" b="0">
                <a:solidFill>
                  <a:srgbClr val="111111"/>
                </a:solidFill>
                <a:latin typeface="DejaVu Sans Mono"/>
                <a:ea typeface="DejaVu Sans Mono"/>
                <a:cs typeface="DejaVu Sans Mono"/>
              </a:defRPr>
            </a:lvl3pPr>
            <a:lvl4pPr>
              <a:buNone/>
              <a:defRPr sz="1800" b="0">
                <a:solidFill>
                  <a:srgbClr val="111111"/>
                </a:solidFill>
                <a:latin typeface="DejaVu Sans Mono"/>
                <a:ea typeface="DejaVu Sans Mono"/>
                <a:cs typeface="DejaVu Sans Mono"/>
              </a:defRPr>
            </a:lvl4pPr>
            <a:lvl5pPr>
              <a:buNone/>
              <a:defRPr sz="1800" b="0">
                <a:solidFill>
                  <a:srgbClr val="111111"/>
                </a:solidFill>
                <a:latin typeface="DejaVu Sans Mono"/>
                <a:ea typeface="DejaVu Sans Mono"/>
                <a:cs typeface="DejaVu Sans Mono"/>
              </a:defRPr>
            </a:lvl5pPr>
            <a:lvl6pPr>
              <a:buNone/>
              <a:defRPr sz="1800" b="0">
                <a:solidFill>
                  <a:srgbClr val="111111"/>
                </a:solidFill>
                <a:latin typeface="DejaVu Sans Mono"/>
                <a:ea typeface="DejaVu Sans Mono"/>
                <a:cs typeface="DejaVu Sans Mono"/>
              </a:defRPr>
            </a:lvl6pPr>
            <a:lvl7pPr>
              <a:buNone/>
              <a:defRPr sz="1800" b="0">
                <a:solidFill>
                  <a:srgbClr val="111111"/>
                </a:solidFill>
                <a:latin typeface="DejaVu Sans Mono"/>
                <a:ea typeface="DejaVu Sans Mono"/>
                <a:cs typeface="DejaVu Sans Mono"/>
              </a:defRPr>
            </a:lvl7pPr>
            <a:lvl8pPr>
              <a:buNone/>
              <a:defRPr sz="1800" b="0">
                <a:solidFill>
                  <a:srgbClr val="111111"/>
                </a:solidFill>
                <a:latin typeface="DejaVu Sans Mono"/>
                <a:ea typeface="DejaVu Sans Mono"/>
                <a:cs typeface="DejaVu Sans Mono"/>
              </a:defRPr>
            </a:lvl8pPr>
            <a:lvl9pPr>
              <a:buNone/>
              <a:defRPr sz="1800" b="0">
                <a:solidFill>
                  <a:srgbClr val="111111"/>
                </a:solidFill>
                <a:latin typeface="DejaVu Sans Mono"/>
                <a:ea typeface="DejaVu Sans Mono"/>
                <a:cs typeface="DejaVu Sans Mono"/>
              </a:defRPr>
            </a:lvl9pPr>
          </a:lstStyle>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  library IEEE;</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2  use IEEE.STD_LOGIC_1164.ALL;</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4  entity Mux is</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5    port(a, b : in std_logic;</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6         sel : in std_logic,</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7         y : out std_logic);</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8  end Mux</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10 architecture Behav of Mux</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11 begin</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12   process(a b, sel)</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13   begin</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14     if sel = '0' then</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15       y &lt;= a;</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16     else</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17       y &lt;= b;</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18     end if;</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19   end process;</a:t>
            </a:r>
          </a:p>
          <a:p>
            <a:pPr>
              <a:buNone/>
              <a:defRPr sz="1800" b="0">
                <a:solidFill>
                  <a:srgbClr val="111111"/>
                </a:solidFill>
                <a:latin typeface="DejaVu Sans Mono"/>
                <a:ea typeface="DejaVu Sans Mono"/>
                <a:cs typeface="DejaVu Sans Mono"/>
              </a:defRPr>
            </a:pPr>
            <a:r>
              <a:rPr sz="1800" b="0">
                <a:solidFill>
                  <a:srgbClr val="111111"/>
                </a:solidFill>
                <a:latin typeface="DejaVu Sans Mono"/>
                <a:ea typeface="DejaVu Sans Mono"/>
                <a:cs typeface="DejaVu Sans Mono"/>
              </a:rPr>
              <a:t>20 end Behav;</a:t>
            </a:r>
          </a:p>
        </p:txBody>
      </p:sp>
      <p:sp>
        <p:nvSpPr>
          <p:cNvPr id="4" name="矩形 3">
            <a:extLst>
              <a:ext uri="{FF2B5EF4-FFF2-40B4-BE49-F238E27FC236}">
                <a16:creationId xmlns:a16="http://schemas.microsoft.com/office/drawing/2014/main" id="{21240C97-19DF-4F68-AB59-40B3AD1CAF73}"/>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6</a:t>
            </a:r>
          </a:p>
        </p:txBody>
      </p:sp>
    </p:spTree>
    <p:extLst>
      <p:ext uri="{BB962C8B-B14F-4D97-AF65-F5344CB8AC3E}">
        <p14:creationId xmlns:p14="http://schemas.microsoft.com/office/powerpoint/2010/main" val="3169935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90FCF1D-EFAA-4AA6-AE07-82974C082110}"/>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Q3  Answer</a:t>
            </a:r>
          </a:p>
        </p:txBody>
      </p:sp>
      <p:sp>
        <p:nvSpPr>
          <p:cNvPr id="2" name="矩形 1">
            <a:extLst>
              <a:ext uri="{FF2B5EF4-FFF2-40B4-BE49-F238E27FC236}">
                <a16:creationId xmlns:a16="http://schemas.microsoft.com/office/drawing/2014/main" id="{B9B81AB4-F2E1-4B6D-A366-8581F01D6D9A}"/>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Four repairs</a:t>
            </a:r>
          </a:p>
        </p:txBody>
      </p:sp>
      <p:sp>
        <p:nvSpPr>
          <p:cNvPr id="3" name="矩形 2">
            <a:extLst>
              <a:ext uri="{FF2B5EF4-FFF2-40B4-BE49-F238E27FC236}">
                <a16:creationId xmlns:a16="http://schemas.microsoft.com/office/drawing/2014/main" id="{FD7615B0-8051-49DD-B92B-8EEE5E211B2A}"/>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7</a:t>
            </a:r>
          </a:p>
        </p:txBody>
      </p:sp>
      <p:graphicFrame>
        <p:nvGraphicFramePr>
          <p:cNvPr id="4" name="表格 3">
            <a:extLst>
              <a:ext uri="{FF2B5EF4-FFF2-40B4-BE49-F238E27FC236}">
                <a16:creationId xmlns:a16="http://schemas.microsoft.com/office/drawing/2014/main" id="{5022AC20-DA20-4C83-8DC9-FBD84ACD6024}"/>
              </a:ext>
            </a:extLst>
          </p:cNvPr>
          <p:cNvGraphicFramePr/>
          <p:nvPr/>
        </p:nvGraphicFramePr>
        <p:xfrm>
          <a:off x="666750" y="1476375"/>
          <a:ext cx="10858500" cy="3238500"/>
        </p:xfrm>
        <a:graphic>
          <a:graphicData uri="http://schemas.openxmlformats.org/drawingml/2006/table">
            <a:tbl>
              <a:tblPr/>
              <a:tblGrid>
                <a:gridCol w="2476500">
                  <a:extLst>
                    <a:ext uri="{9D8B030D-6E8A-4147-A177-3AD203B41FA5}">
                      <a16:colId xmlns:a16="http://schemas.microsoft.com/office/drawing/2014/main" val="20000"/>
                    </a:ext>
                  </a:extLst>
                </a:gridCol>
                <a:gridCol w="8382000">
                  <a:extLst>
                    <a:ext uri="{9D8B030D-6E8A-4147-A177-3AD203B41FA5}">
                      <a16:colId xmlns:a16="http://schemas.microsoft.com/office/drawing/2014/main" val="20001"/>
                    </a:ext>
                  </a:extLst>
                </a:gridCol>
              </a:tblGrid>
              <a:tr h="647700">
                <a:tc>
                  <a:txBody>
                    <a:bodyPr/>
                    <a:lstStyle/>
                    <a:p>
                      <a:r>
                        <a:rPr sz="2025" b="1">
                          <a:solidFill>
                            <a:srgbClr val="111111"/>
                          </a:solidFill>
                          <a:latin typeface="Arial"/>
                          <a:ea typeface="Arial"/>
                          <a:cs typeface="Arial"/>
                        </a:rPr>
                        <a:t>Original line</a:t>
                      </a:r>
                    </a:p>
                  </a:txBody>
                  <a:tcPr>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tc>
                  <a:txBody>
                    <a:bodyPr/>
                    <a:lstStyle/>
                    <a:p>
                      <a:r>
                        <a:rPr sz="2025" b="1">
                          <a:solidFill>
                            <a:srgbClr val="111111"/>
                          </a:solidFill>
                          <a:latin typeface="Arial"/>
                          <a:ea typeface="Arial"/>
                          <a:cs typeface="Arial"/>
                        </a:rPr>
                        <a:t>Repair</a:t>
                      </a:r>
                    </a:p>
                  </a:txBody>
                  <a:tcPr>
                    <a:lnL w="9525" cap="flat" cmpd="sng" algn="ctr">
                      <a:solidFill>
                        <a:srgbClr val="CCCCCC"/>
                      </a:solidFill>
                      <a:prstDash val="solid"/>
                      <a:round/>
                      <a:headEnd type="none" w="med" len="med"/>
                      <a:tailEnd type="none" w="med" len="me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extLst>
                  <a:ext uri="{0D108BD9-81ED-4DB2-BD59-A6C34878D82A}">
                    <a16:rowId xmlns:a16="http://schemas.microsoft.com/office/drawing/2014/main" val="10000"/>
                  </a:ext>
                </a:extLst>
              </a:tr>
              <a:tr h="647700">
                <a:tc>
                  <a:txBody>
                    <a:bodyPr/>
                    <a:lstStyle/>
                    <a:p>
                      <a:r>
                        <a:rPr sz="2025" b="0">
                          <a:solidFill>
                            <a:srgbClr val="111111"/>
                          </a:solidFill>
                          <a:latin typeface="Arial"/>
                          <a:ea typeface="Arial"/>
                          <a:cs typeface="Arial"/>
                        </a:rPr>
                        <a:t>6</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Replace the comma with ;</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1"/>
                  </a:ext>
                </a:extLst>
              </a:tr>
              <a:tr h="647700">
                <a:tc>
                  <a:txBody>
                    <a:bodyPr/>
                    <a:lstStyle/>
                    <a:p>
                      <a:r>
                        <a:rPr sz="2025" b="0">
                          <a:solidFill>
                            <a:srgbClr val="111111"/>
                          </a:solidFill>
                          <a:latin typeface="Arial"/>
                          <a:ea typeface="Arial"/>
                          <a:cs typeface="Arial"/>
                        </a:rPr>
                        <a:t>8</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Add ; after end Mux</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2"/>
                  </a:ext>
                </a:extLst>
              </a:tr>
              <a:tr h="647700">
                <a:tc>
                  <a:txBody>
                    <a:bodyPr/>
                    <a:lstStyle/>
                    <a:p>
                      <a:r>
                        <a:rPr sz="2025" b="0">
                          <a:solidFill>
                            <a:srgbClr val="111111"/>
                          </a:solidFill>
                          <a:latin typeface="Arial"/>
                          <a:ea typeface="Arial"/>
                          <a:cs typeface="Arial"/>
                        </a:rPr>
                        <a:t>10</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Add is</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3"/>
                  </a:ext>
                </a:extLst>
              </a:tr>
              <a:tr h="647700">
                <a:tc>
                  <a:txBody>
                    <a:bodyPr/>
                    <a:lstStyle/>
                    <a:p>
                      <a:r>
                        <a:rPr sz="2025" b="0">
                          <a:solidFill>
                            <a:srgbClr val="111111"/>
                          </a:solidFill>
                          <a:latin typeface="Arial"/>
                          <a:ea typeface="Arial"/>
                          <a:cs typeface="Arial"/>
                        </a:rPr>
                        <a:t>12</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Use process(a, b, sel)</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矩形 4">
            <a:extLst>
              <a:ext uri="{FF2B5EF4-FFF2-40B4-BE49-F238E27FC236}">
                <a16:creationId xmlns:a16="http://schemas.microsoft.com/office/drawing/2014/main" id="{7AAB4DCD-548F-4BE2-BB70-419738A51A43}"/>
              </a:ext>
            </a:extLst>
          </p:cNvPr>
          <p:cNvSpPr>
            <a:spLocks noGrp="1"/>
          </p:cNvSpPr>
          <p:nvPr/>
        </p:nvSpPr>
        <p:spPr>
          <a:xfrm>
            <a:off x="666750" y="5238750"/>
            <a:ext cx="10858500" cy="904875"/>
          </a:xfrm>
          <a:prstGeom prst="rect">
            <a:avLst/>
          </a:prstGeom>
          <a:noFill/>
          <a:ln w="0">
            <a:noFill/>
            <a:prstDash val="solid"/>
          </a:ln>
        </p:spPr>
        <p:txBody>
          <a:bodyPr lIns="0" tIns="0" rIns="0" bIns="0"/>
          <a:lstStyle>
            <a:defPPr>
              <a:defRPr sz="2325" b="0">
                <a:solidFill>
                  <a:srgbClr val="111111"/>
                </a:solidFill>
                <a:latin typeface="DejaVu Sans Mono"/>
                <a:ea typeface="DejaVu Sans Mono"/>
                <a:cs typeface="DejaVu Sans Mono"/>
              </a:defRPr>
            </a:defPPr>
            <a:lvl1pPr>
              <a:defRPr sz="2325" b="0">
                <a:solidFill>
                  <a:srgbClr val="111111"/>
                </a:solidFill>
                <a:latin typeface="DejaVu Sans Mono"/>
                <a:ea typeface="DejaVu Sans Mono"/>
                <a:cs typeface="DejaVu Sans Mono"/>
              </a:defRPr>
            </a:lvl1pPr>
            <a:lvl2pPr>
              <a:defRPr sz="2325" b="0">
                <a:solidFill>
                  <a:srgbClr val="111111"/>
                </a:solidFill>
                <a:latin typeface="DejaVu Sans Mono"/>
                <a:ea typeface="DejaVu Sans Mono"/>
                <a:cs typeface="DejaVu Sans Mono"/>
              </a:defRPr>
            </a:lvl2pPr>
            <a:lvl3pPr>
              <a:defRPr sz="2325" b="0">
                <a:solidFill>
                  <a:srgbClr val="111111"/>
                </a:solidFill>
                <a:latin typeface="DejaVu Sans Mono"/>
                <a:ea typeface="DejaVu Sans Mono"/>
                <a:cs typeface="DejaVu Sans Mono"/>
              </a:defRPr>
            </a:lvl3pPr>
            <a:lvl4pPr>
              <a:defRPr sz="2325" b="0">
                <a:solidFill>
                  <a:srgbClr val="111111"/>
                </a:solidFill>
                <a:latin typeface="DejaVu Sans Mono"/>
                <a:ea typeface="DejaVu Sans Mono"/>
                <a:cs typeface="DejaVu Sans Mono"/>
              </a:defRPr>
            </a:lvl4pPr>
            <a:lvl5pPr>
              <a:defRPr sz="2325" b="0">
                <a:solidFill>
                  <a:srgbClr val="111111"/>
                </a:solidFill>
                <a:latin typeface="DejaVu Sans Mono"/>
                <a:ea typeface="DejaVu Sans Mono"/>
                <a:cs typeface="DejaVu Sans Mono"/>
              </a:defRPr>
            </a:lvl5pPr>
            <a:lvl6pPr>
              <a:defRPr sz="2325" b="0">
                <a:solidFill>
                  <a:srgbClr val="111111"/>
                </a:solidFill>
                <a:latin typeface="DejaVu Sans Mono"/>
                <a:ea typeface="DejaVu Sans Mono"/>
                <a:cs typeface="DejaVu Sans Mono"/>
              </a:defRPr>
            </a:lvl6pPr>
            <a:lvl7pPr>
              <a:defRPr sz="2325" b="0">
                <a:solidFill>
                  <a:srgbClr val="111111"/>
                </a:solidFill>
                <a:latin typeface="DejaVu Sans Mono"/>
                <a:ea typeface="DejaVu Sans Mono"/>
                <a:cs typeface="DejaVu Sans Mono"/>
              </a:defRPr>
            </a:lvl7pPr>
            <a:lvl8pPr>
              <a:defRPr sz="2325" b="0">
                <a:solidFill>
                  <a:srgbClr val="111111"/>
                </a:solidFill>
                <a:latin typeface="DejaVu Sans Mono"/>
                <a:ea typeface="DejaVu Sans Mono"/>
                <a:cs typeface="DejaVu Sans Mono"/>
              </a:defRPr>
            </a:lvl8pPr>
            <a:lvl9pPr>
              <a:defRPr sz="2325" b="0">
                <a:solidFill>
                  <a:srgbClr val="111111"/>
                </a:solidFill>
                <a:latin typeface="DejaVu Sans Mono"/>
                <a:ea typeface="DejaVu Sans Mono"/>
                <a:cs typeface="DejaVu Sans Mono"/>
              </a:defRPr>
            </a:lvl9pPr>
          </a:lstStyle>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sel = '0': y = a</a:t>
            </a: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sel = '1': y = b</a:t>
            </a:r>
          </a:p>
        </p:txBody>
      </p:sp>
    </p:spTree>
    <p:extLst>
      <p:ext uri="{BB962C8B-B14F-4D97-AF65-F5344CB8AC3E}">
        <p14:creationId xmlns:p14="http://schemas.microsoft.com/office/powerpoint/2010/main" val="1370852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FA8094D-C7FA-4196-849D-ECF5E33A008A}"/>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Q4  Mixed logical operators</a:t>
            </a:r>
          </a:p>
        </p:txBody>
      </p:sp>
      <p:sp>
        <p:nvSpPr>
          <p:cNvPr id="2" name="矩形 1">
            <a:extLst>
              <a:ext uri="{FF2B5EF4-FFF2-40B4-BE49-F238E27FC236}">
                <a16:creationId xmlns:a16="http://schemas.microsoft.com/office/drawing/2014/main" id="{A51783DC-7326-4604-87CB-242340F6810F}"/>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Repair the expression for y = (a AND b) OR c.</a:t>
            </a:r>
          </a:p>
        </p:txBody>
      </p:sp>
      <p:pic>
        <p:nvPicPr>
          <p:cNvPr id="3" name="图片 2">
            <a:extLst>
              <a:ext uri="{FF2B5EF4-FFF2-40B4-BE49-F238E27FC236}">
                <a16:creationId xmlns:a16="http://schemas.microsoft.com/office/drawing/2014/main" id="{3F248DD8-8B46-4BD2-ADE2-C0DC9CADD336}"/>
              </a:ext>
            </a:extLst>
          </p:cNvPr>
          <p:cNvPicPr>
            <a:picLocks noChangeAspect="1"/>
          </p:cNvPicPr>
          <p:nvPr/>
        </p:nvPicPr>
        <p:blipFill>
          <a:blip r:embed="rId3"/>
          <a:stretch/>
        </p:blipFill>
        <p:spPr>
          <a:xfrm>
            <a:off x="1895447" y="1333500"/>
            <a:ext cx="8401106" cy="4762500"/>
          </a:xfrm>
          <a:prstGeom prst="rect">
            <a:avLst/>
          </a:prstGeom>
        </p:spPr>
      </p:pic>
      <p:sp>
        <p:nvSpPr>
          <p:cNvPr id="4" name="矩形 3">
            <a:extLst>
              <a:ext uri="{FF2B5EF4-FFF2-40B4-BE49-F238E27FC236}">
                <a16:creationId xmlns:a16="http://schemas.microsoft.com/office/drawing/2014/main" id="{D4D566DC-9028-45BD-91BE-D25C6740478F}"/>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8</a:t>
            </a:r>
          </a:p>
        </p:txBody>
      </p:sp>
    </p:spTree>
    <p:extLst>
      <p:ext uri="{BB962C8B-B14F-4D97-AF65-F5344CB8AC3E}">
        <p14:creationId xmlns:p14="http://schemas.microsoft.com/office/powerpoint/2010/main" val="1428837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50585C5-E866-4A66-8E19-B82C19FD0E48}"/>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Q4  Answer</a:t>
            </a:r>
          </a:p>
        </p:txBody>
      </p:sp>
      <p:sp>
        <p:nvSpPr>
          <p:cNvPr id="2" name="矩形 1">
            <a:extLst>
              <a:ext uri="{FF2B5EF4-FFF2-40B4-BE49-F238E27FC236}">
                <a16:creationId xmlns:a16="http://schemas.microsoft.com/office/drawing/2014/main" id="{A1FE1217-2630-484C-84FE-6EC92C0F8435}"/>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Use brackets to group the intended function</a:t>
            </a:r>
          </a:p>
        </p:txBody>
      </p:sp>
      <p:sp>
        <p:nvSpPr>
          <p:cNvPr id="3" name="矩形 2">
            <a:extLst>
              <a:ext uri="{FF2B5EF4-FFF2-40B4-BE49-F238E27FC236}">
                <a16:creationId xmlns:a16="http://schemas.microsoft.com/office/drawing/2014/main" id="{9B4FFD45-64C5-4A5D-A60E-4CAC4A5ECBF8}"/>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9</a:t>
            </a:r>
          </a:p>
        </p:txBody>
      </p:sp>
      <p:sp>
        <p:nvSpPr>
          <p:cNvPr id="4" name="矩形 3">
            <a:extLst>
              <a:ext uri="{FF2B5EF4-FFF2-40B4-BE49-F238E27FC236}">
                <a16:creationId xmlns:a16="http://schemas.microsoft.com/office/drawing/2014/main" id="{1BFF920D-DB42-418A-883C-AF87840481B2}"/>
              </a:ext>
            </a:extLst>
          </p:cNvPr>
          <p:cNvSpPr>
            <a:spLocks noGrp="1"/>
          </p:cNvSpPr>
          <p:nvPr/>
        </p:nvSpPr>
        <p:spPr>
          <a:xfrm>
            <a:off x="666750" y="1714500"/>
            <a:ext cx="10858500" cy="809625"/>
          </a:xfrm>
          <a:prstGeom prst="rect">
            <a:avLst/>
          </a:prstGeom>
          <a:noFill/>
          <a:ln w="0">
            <a:noFill/>
            <a:prstDash val="solid"/>
          </a:ln>
        </p:spPr>
        <p:txBody>
          <a:bodyPr lIns="0" tIns="0" rIns="0" bIns="0"/>
          <a:lstStyle>
            <a:defPPr>
              <a:defRPr sz="2850" b="0">
                <a:solidFill>
                  <a:srgbClr val="111111"/>
                </a:solidFill>
                <a:latin typeface="DejaVu Sans Mono"/>
                <a:ea typeface="DejaVu Sans Mono"/>
                <a:cs typeface="DejaVu Sans Mono"/>
              </a:defRPr>
            </a:defPPr>
            <a:lvl1pPr>
              <a:defRPr sz="2850" b="0">
                <a:solidFill>
                  <a:srgbClr val="111111"/>
                </a:solidFill>
                <a:latin typeface="DejaVu Sans Mono"/>
                <a:ea typeface="DejaVu Sans Mono"/>
                <a:cs typeface="DejaVu Sans Mono"/>
              </a:defRPr>
            </a:lvl1pPr>
            <a:lvl2pPr>
              <a:defRPr sz="2850" b="0">
                <a:solidFill>
                  <a:srgbClr val="111111"/>
                </a:solidFill>
                <a:latin typeface="DejaVu Sans Mono"/>
                <a:ea typeface="DejaVu Sans Mono"/>
                <a:cs typeface="DejaVu Sans Mono"/>
              </a:defRPr>
            </a:lvl2pPr>
            <a:lvl3pPr>
              <a:defRPr sz="2850" b="0">
                <a:solidFill>
                  <a:srgbClr val="111111"/>
                </a:solidFill>
                <a:latin typeface="DejaVu Sans Mono"/>
                <a:ea typeface="DejaVu Sans Mono"/>
                <a:cs typeface="DejaVu Sans Mono"/>
              </a:defRPr>
            </a:lvl3pPr>
            <a:lvl4pPr>
              <a:defRPr sz="2850" b="0">
                <a:solidFill>
                  <a:srgbClr val="111111"/>
                </a:solidFill>
                <a:latin typeface="DejaVu Sans Mono"/>
                <a:ea typeface="DejaVu Sans Mono"/>
                <a:cs typeface="DejaVu Sans Mono"/>
              </a:defRPr>
            </a:lvl4pPr>
            <a:lvl5pPr>
              <a:defRPr sz="2850" b="0">
                <a:solidFill>
                  <a:srgbClr val="111111"/>
                </a:solidFill>
                <a:latin typeface="DejaVu Sans Mono"/>
                <a:ea typeface="DejaVu Sans Mono"/>
                <a:cs typeface="DejaVu Sans Mono"/>
              </a:defRPr>
            </a:lvl5pPr>
            <a:lvl6pPr>
              <a:defRPr sz="2850" b="0">
                <a:solidFill>
                  <a:srgbClr val="111111"/>
                </a:solidFill>
                <a:latin typeface="DejaVu Sans Mono"/>
                <a:ea typeface="DejaVu Sans Mono"/>
                <a:cs typeface="DejaVu Sans Mono"/>
              </a:defRPr>
            </a:lvl6pPr>
            <a:lvl7pPr>
              <a:defRPr sz="2850" b="0">
                <a:solidFill>
                  <a:srgbClr val="111111"/>
                </a:solidFill>
                <a:latin typeface="DejaVu Sans Mono"/>
                <a:ea typeface="DejaVu Sans Mono"/>
                <a:cs typeface="DejaVu Sans Mono"/>
              </a:defRPr>
            </a:lvl7pPr>
            <a:lvl8pPr>
              <a:defRPr sz="2850" b="0">
                <a:solidFill>
                  <a:srgbClr val="111111"/>
                </a:solidFill>
                <a:latin typeface="DejaVu Sans Mono"/>
                <a:ea typeface="DejaVu Sans Mono"/>
                <a:cs typeface="DejaVu Sans Mono"/>
              </a:defRPr>
            </a:lvl8pPr>
            <a:lvl9pPr>
              <a:defRPr sz="2850" b="0">
                <a:solidFill>
                  <a:srgbClr val="111111"/>
                </a:solidFill>
                <a:latin typeface="DejaVu Sans Mono"/>
                <a:ea typeface="DejaVu Sans Mono"/>
                <a:cs typeface="DejaVu Sans Mono"/>
              </a:defRPr>
            </a:lvl9pPr>
          </a:lstStyle>
          <a:p>
            <a:pPr>
              <a:defRPr sz="2850" b="0">
                <a:solidFill>
                  <a:srgbClr val="111111"/>
                </a:solidFill>
                <a:latin typeface="DejaVu Sans Mono"/>
                <a:ea typeface="DejaVu Sans Mono"/>
                <a:cs typeface="DejaVu Sans Mono"/>
              </a:defRPr>
            </a:pPr>
            <a:r>
              <a:rPr sz="2850" b="0">
                <a:solidFill>
                  <a:srgbClr val="111111"/>
                </a:solidFill>
                <a:latin typeface="DejaVu Sans Mono"/>
                <a:ea typeface="DejaVu Sans Mono"/>
                <a:cs typeface="DejaVu Sans Mono"/>
              </a:rPr>
              <a:t>y &lt;= (a and b) or c;</a:t>
            </a:r>
          </a:p>
        </p:txBody>
      </p:sp>
      <p:sp>
        <p:nvSpPr>
          <p:cNvPr id="5" name="矩形 4">
            <a:extLst>
              <a:ext uri="{FF2B5EF4-FFF2-40B4-BE49-F238E27FC236}">
                <a16:creationId xmlns:a16="http://schemas.microsoft.com/office/drawing/2014/main" id="{A41092AE-DE14-4992-9EF4-11B63A1DBC14}"/>
              </a:ext>
            </a:extLst>
          </p:cNvPr>
          <p:cNvSpPr>
            <a:spLocks noGrp="1"/>
          </p:cNvSpPr>
          <p:nvPr/>
        </p:nvSpPr>
        <p:spPr>
          <a:xfrm>
            <a:off x="666750" y="3095625"/>
            <a:ext cx="10858500" cy="523875"/>
          </a:xfrm>
          <a:prstGeom prst="rect">
            <a:avLst/>
          </a:prstGeom>
          <a:noFill/>
          <a:ln w="0">
            <a:noFill/>
            <a:prstDash val="solid"/>
          </a:ln>
        </p:spPr>
        <p:txBody>
          <a:bodyPr lIns="0" tIns="0" rIns="0" bIns="0"/>
          <a:lstStyle>
            <a:defPPr>
              <a:defRPr sz="2325" b="0">
                <a:solidFill>
                  <a:srgbClr val="111111"/>
                </a:solidFill>
                <a:latin typeface="Arial"/>
                <a:ea typeface="Arial"/>
                <a:cs typeface="Arial"/>
              </a:defRPr>
            </a:defPPr>
            <a:lvl1pPr>
              <a:defRPr sz="2325" b="0">
                <a:solidFill>
                  <a:srgbClr val="111111"/>
                </a:solidFill>
                <a:latin typeface="Arial"/>
                <a:ea typeface="Arial"/>
                <a:cs typeface="Arial"/>
              </a:defRPr>
            </a:lvl1pPr>
            <a:lvl2pPr>
              <a:defRPr sz="2325" b="0">
                <a:solidFill>
                  <a:srgbClr val="111111"/>
                </a:solidFill>
                <a:latin typeface="Arial"/>
                <a:ea typeface="Arial"/>
                <a:cs typeface="Arial"/>
              </a:defRPr>
            </a:lvl2pPr>
            <a:lvl3pPr>
              <a:defRPr sz="2325" b="0">
                <a:solidFill>
                  <a:srgbClr val="111111"/>
                </a:solidFill>
                <a:latin typeface="Arial"/>
                <a:ea typeface="Arial"/>
                <a:cs typeface="Arial"/>
              </a:defRPr>
            </a:lvl3pPr>
            <a:lvl4pPr>
              <a:defRPr sz="2325" b="0">
                <a:solidFill>
                  <a:srgbClr val="111111"/>
                </a:solidFill>
                <a:latin typeface="Arial"/>
                <a:ea typeface="Arial"/>
                <a:cs typeface="Arial"/>
              </a:defRPr>
            </a:lvl4pPr>
            <a:lvl5pPr>
              <a:defRPr sz="2325" b="0">
                <a:solidFill>
                  <a:srgbClr val="111111"/>
                </a:solidFill>
                <a:latin typeface="Arial"/>
                <a:ea typeface="Arial"/>
                <a:cs typeface="Arial"/>
              </a:defRPr>
            </a:lvl5pPr>
            <a:lvl6pPr>
              <a:defRPr sz="2325" b="0">
                <a:solidFill>
                  <a:srgbClr val="111111"/>
                </a:solidFill>
                <a:latin typeface="Arial"/>
                <a:ea typeface="Arial"/>
                <a:cs typeface="Arial"/>
              </a:defRPr>
            </a:lvl6pPr>
            <a:lvl7pPr>
              <a:defRPr sz="2325" b="0">
                <a:solidFill>
                  <a:srgbClr val="111111"/>
                </a:solidFill>
                <a:latin typeface="Arial"/>
                <a:ea typeface="Arial"/>
                <a:cs typeface="Arial"/>
              </a:defRPr>
            </a:lvl7pPr>
            <a:lvl8pPr>
              <a:defRPr sz="2325" b="0">
                <a:solidFill>
                  <a:srgbClr val="111111"/>
                </a:solidFill>
                <a:latin typeface="Arial"/>
                <a:ea typeface="Arial"/>
                <a:cs typeface="Arial"/>
              </a:defRPr>
            </a:lvl8pPr>
            <a:lvl9pPr>
              <a:defRPr sz="2325" b="0">
                <a:solidFill>
                  <a:srgbClr val="111111"/>
                </a:solidFill>
                <a:latin typeface="Arial"/>
                <a:ea typeface="Arial"/>
                <a:cs typeface="Arial"/>
              </a:defRPr>
            </a:lvl9pPr>
          </a:lstStyle>
          <a:p>
            <a:pPr>
              <a:defRPr sz="2325" b="0">
                <a:solidFill>
                  <a:srgbClr val="111111"/>
                </a:solidFill>
                <a:latin typeface="Arial"/>
                <a:ea typeface="Arial"/>
                <a:cs typeface="Arial"/>
              </a:defRPr>
            </a:pPr>
            <a:r>
              <a:rPr sz="2325" b="0">
                <a:solidFill>
                  <a:srgbClr val="111111"/>
                </a:solidFill>
                <a:latin typeface="Arial"/>
                <a:ea typeface="Arial"/>
                <a:cs typeface="Arial"/>
              </a:rPr>
              <a:t>Different brackets give a different function:</a:t>
            </a:r>
          </a:p>
        </p:txBody>
      </p:sp>
      <p:sp>
        <p:nvSpPr>
          <p:cNvPr id="6" name="矩形 5">
            <a:extLst>
              <a:ext uri="{FF2B5EF4-FFF2-40B4-BE49-F238E27FC236}">
                <a16:creationId xmlns:a16="http://schemas.microsoft.com/office/drawing/2014/main" id="{F0FB7878-F4DB-42D7-8E27-E0DBAAF564F4}"/>
              </a:ext>
            </a:extLst>
          </p:cNvPr>
          <p:cNvSpPr>
            <a:spLocks noGrp="1"/>
          </p:cNvSpPr>
          <p:nvPr/>
        </p:nvSpPr>
        <p:spPr>
          <a:xfrm>
            <a:off x="666750" y="3857625"/>
            <a:ext cx="10858500" cy="857250"/>
          </a:xfrm>
          <a:prstGeom prst="rect">
            <a:avLst/>
          </a:prstGeom>
          <a:noFill/>
          <a:ln w="0">
            <a:noFill/>
            <a:prstDash val="solid"/>
          </a:ln>
        </p:spPr>
        <p:txBody>
          <a:bodyPr lIns="0" tIns="0" rIns="0" bIns="0"/>
          <a:lstStyle>
            <a:defPPr>
              <a:defRPr sz="2550" b="0">
                <a:solidFill>
                  <a:srgbClr val="111111"/>
                </a:solidFill>
                <a:latin typeface="DejaVu Sans Mono"/>
                <a:ea typeface="DejaVu Sans Mono"/>
                <a:cs typeface="DejaVu Sans Mono"/>
              </a:defRPr>
            </a:defPPr>
            <a:lvl1pPr>
              <a:defRPr sz="2550" b="0">
                <a:solidFill>
                  <a:srgbClr val="111111"/>
                </a:solidFill>
                <a:latin typeface="DejaVu Sans Mono"/>
                <a:ea typeface="DejaVu Sans Mono"/>
                <a:cs typeface="DejaVu Sans Mono"/>
              </a:defRPr>
            </a:lvl1pPr>
            <a:lvl2pPr>
              <a:defRPr sz="2550" b="0">
                <a:solidFill>
                  <a:srgbClr val="111111"/>
                </a:solidFill>
                <a:latin typeface="DejaVu Sans Mono"/>
                <a:ea typeface="DejaVu Sans Mono"/>
                <a:cs typeface="DejaVu Sans Mono"/>
              </a:defRPr>
            </a:lvl2pPr>
            <a:lvl3pPr>
              <a:defRPr sz="2550" b="0">
                <a:solidFill>
                  <a:srgbClr val="111111"/>
                </a:solidFill>
                <a:latin typeface="DejaVu Sans Mono"/>
                <a:ea typeface="DejaVu Sans Mono"/>
                <a:cs typeface="DejaVu Sans Mono"/>
              </a:defRPr>
            </a:lvl3pPr>
            <a:lvl4pPr>
              <a:defRPr sz="2550" b="0">
                <a:solidFill>
                  <a:srgbClr val="111111"/>
                </a:solidFill>
                <a:latin typeface="DejaVu Sans Mono"/>
                <a:ea typeface="DejaVu Sans Mono"/>
                <a:cs typeface="DejaVu Sans Mono"/>
              </a:defRPr>
            </a:lvl4pPr>
            <a:lvl5pPr>
              <a:defRPr sz="2550" b="0">
                <a:solidFill>
                  <a:srgbClr val="111111"/>
                </a:solidFill>
                <a:latin typeface="DejaVu Sans Mono"/>
                <a:ea typeface="DejaVu Sans Mono"/>
                <a:cs typeface="DejaVu Sans Mono"/>
              </a:defRPr>
            </a:lvl5pPr>
            <a:lvl6pPr>
              <a:defRPr sz="2550" b="0">
                <a:solidFill>
                  <a:srgbClr val="111111"/>
                </a:solidFill>
                <a:latin typeface="DejaVu Sans Mono"/>
                <a:ea typeface="DejaVu Sans Mono"/>
                <a:cs typeface="DejaVu Sans Mono"/>
              </a:defRPr>
            </a:lvl6pPr>
            <a:lvl7pPr>
              <a:defRPr sz="2550" b="0">
                <a:solidFill>
                  <a:srgbClr val="111111"/>
                </a:solidFill>
                <a:latin typeface="DejaVu Sans Mono"/>
                <a:ea typeface="DejaVu Sans Mono"/>
                <a:cs typeface="DejaVu Sans Mono"/>
              </a:defRPr>
            </a:lvl7pPr>
            <a:lvl8pPr>
              <a:defRPr sz="2550" b="0">
                <a:solidFill>
                  <a:srgbClr val="111111"/>
                </a:solidFill>
                <a:latin typeface="DejaVu Sans Mono"/>
                <a:ea typeface="DejaVu Sans Mono"/>
                <a:cs typeface="DejaVu Sans Mono"/>
              </a:defRPr>
            </a:lvl8pPr>
            <a:lvl9pPr>
              <a:defRPr sz="2550" b="0">
                <a:solidFill>
                  <a:srgbClr val="111111"/>
                </a:solidFill>
                <a:latin typeface="DejaVu Sans Mono"/>
                <a:ea typeface="DejaVu Sans Mono"/>
                <a:cs typeface="DejaVu Sans Mono"/>
              </a:defRPr>
            </a:lvl9pPr>
          </a:lstStyle>
          <a:p>
            <a:pPr>
              <a:defRPr sz="2550" b="0">
                <a:solidFill>
                  <a:srgbClr val="111111"/>
                </a:solidFill>
                <a:latin typeface="DejaVu Sans Mono"/>
                <a:ea typeface="DejaVu Sans Mono"/>
                <a:cs typeface="DejaVu Sans Mono"/>
              </a:defRPr>
            </a:pPr>
            <a:r>
              <a:rPr sz="2550" b="0">
                <a:solidFill>
                  <a:srgbClr val="111111"/>
                </a:solidFill>
                <a:latin typeface="DejaVu Sans Mono"/>
                <a:ea typeface="DejaVu Sans Mono"/>
                <a:cs typeface="DejaVu Sans Mono"/>
              </a:rPr>
              <a:t>y &lt;= a and (b or c);</a:t>
            </a:r>
          </a:p>
        </p:txBody>
      </p:sp>
      <p:sp>
        <p:nvSpPr>
          <p:cNvPr id="7" name="矩形 6">
            <a:extLst>
              <a:ext uri="{FF2B5EF4-FFF2-40B4-BE49-F238E27FC236}">
                <a16:creationId xmlns:a16="http://schemas.microsoft.com/office/drawing/2014/main" id="{21A5058E-A2F6-478B-8CFB-C35E98DF6EE0}"/>
              </a:ext>
            </a:extLst>
          </p:cNvPr>
          <p:cNvSpPr>
            <a:spLocks noGrp="1"/>
          </p:cNvSpPr>
          <p:nvPr/>
        </p:nvSpPr>
        <p:spPr>
          <a:xfrm>
            <a:off x="666750" y="5334000"/>
            <a:ext cx="10858500" cy="809625"/>
          </a:xfrm>
          <a:prstGeom prst="rect">
            <a:avLst/>
          </a:prstGeom>
          <a:noFill/>
          <a:ln w="0">
            <a:noFill/>
            <a:prstDash val="solid"/>
          </a:ln>
        </p:spPr>
        <p:txBody>
          <a:bodyPr lIns="0" tIns="0" rIns="0" bIns="0"/>
          <a:lstStyle>
            <a:defPPr>
              <a:defRPr sz="2175" b="0">
                <a:solidFill>
                  <a:srgbClr val="111111"/>
                </a:solidFill>
                <a:latin typeface="Arial"/>
                <a:ea typeface="Arial"/>
                <a:cs typeface="Arial"/>
              </a:defRPr>
            </a:defPPr>
            <a:lvl1pPr>
              <a:defRPr sz="2175" b="0">
                <a:solidFill>
                  <a:srgbClr val="111111"/>
                </a:solidFill>
                <a:latin typeface="Arial"/>
                <a:ea typeface="Arial"/>
                <a:cs typeface="Arial"/>
              </a:defRPr>
            </a:lvl1pPr>
            <a:lvl2pPr>
              <a:defRPr sz="2175" b="0">
                <a:solidFill>
                  <a:srgbClr val="111111"/>
                </a:solidFill>
                <a:latin typeface="Arial"/>
                <a:ea typeface="Arial"/>
                <a:cs typeface="Arial"/>
              </a:defRPr>
            </a:lvl2pPr>
            <a:lvl3pPr>
              <a:defRPr sz="2175" b="0">
                <a:solidFill>
                  <a:srgbClr val="111111"/>
                </a:solidFill>
                <a:latin typeface="Arial"/>
                <a:ea typeface="Arial"/>
                <a:cs typeface="Arial"/>
              </a:defRPr>
            </a:lvl3pPr>
            <a:lvl4pPr>
              <a:defRPr sz="2175" b="0">
                <a:solidFill>
                  <a:srgbClr val="111111"/>
                </a:solidFill>
                <a:latin typeface="Arial"/>
                <a:ea typeface="Arial"/>
                <a:cs typeface="Arial"/>
              </a:defRPr>
            </a:lvl4pPr>
            <a:lvl5pPr>
              <a:defRPr sz="2175" b="0">
                <a:solidFill>
                  <a:srgbClr val="111111"/>
                </a:solidFill>
                <a:latin typeface="Arial"/>
                <a:ea typeface="Arial"/>
                <a:cs typeface="Arial"/>
              </a:defRPr>
            </a:lvl5pPr>
            <a:lvl6pPr>
              <a:defRPr sz="2175" b="0">
                <a:solidFill>
                  <a:srgbClr val="111111"/>
                </a:solidFill>
                <a:latin typeface="Arial"/>
                <a:ea typeface="Arial"/>
                <a:cs typeface="Arial"/>
              </a:defRPr>
            </a:lvl6pPr>
            <a:lvl7pPr>
              <a:defRPr sz="2175" b="0">
                <a:solidFill>
                  <a:srgbClr val="111111"/>
                </a:solidFill>
                <a:latin typeface="Arial"/>
                <a:ea typeface="Arial"/>
                <a:cs typeface="Arial"/>
              </a:defRPr>
            </a:lvl7pPr>
            <a:lvl8pPr>
              <a:defRPr sz="2175" b="0">
                <a:solidFill>
                  <a:srgbClr val="111111"/>
                </a:solidFill>
                <a:latin typeface="Arial"/>
                <a:ea typeface="Arial"/>
                <a:cs typeface="Arial"/>
              </a:defRPr>
            </a:lvl8pPr>
            <a:lvl9pPr>
              <a:defRPr sz="2175" b="0">
                <a:solidFill>
                  <a:srgbClr val="111111"/>
                </a:solidFill>
                <a:latin typeface="Arial"/>
                <a:ea typeface="Arial"/>
                <a:cs typeface="Arial"/>
              </a:defRPr>
            </a:lvl9pPr>
          </a:lstStyle>
          <a:p>
            <a:pPr>
              <a:defRPr sz="2175" b="0">
                <a:solidFill>
                  <a:srgbClr val="111111"/>
                </a:solidFill>
                <a:latin typeface="Arial"/>
                <a:ea typeface="Arial"/>
                <a:cs typeface="Arial"/>
              </a:defRPr>
            </a:pPr>
            <a:r>
              <a:rPr sz="2175" b="0">
                <a:solidFill>
                  <a:srgbClr val="111111"/>
                </a:solidFill>
                <a:latin typeface="Arial"/>
                <a:ea typeface="Arial"/>
                <a:cs typeface="Arial"/>
              </a:rPr>
              <a:t>Example: a = 0, b = 0, c = 1 gives 1 in the first case and 0 in the second.</a:t>
            </a:r>
          </a:p>
        </p:txBody>
      </p:sp>
    </p:spTree>
    <p:extLst>
      <p:ext uri="{BB962C8B-B14F-4D97-AF65-F5344CB8AC3E}">
        <p14:creationId xmlns:p14="http://schemas.microsoft.com/office/powerpoint/2010/main" val="1600280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37E04C3-0C3D-4B66-B35F-A7703B4765BD}"/>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Q5  Counter behaviour</a:t>
            </a:r>
          </a:p>
        </p:txBody>
      </p:sp>
      <p:sp>
        <p:nvSpPr>
          <p:cNvPr id="2" name="矩形 1">
            <a:extLst>
              <a:ext uri="{FF2B5EF4-FFF2-40B4-BE49-F238E27FC236}">
                <a16:creationId xmlns:a16="http://schemas.microsoft.com/office/drawing/2014/main" id="{FCB4CFD2-2EC3-4251-8A43-8A4136EBD03D}"/>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Assume the legacy packages are available.</a:t>
            </a:r>
          </a:p>
        </p:txBody>
      </p:sp>
      <p:pic>
        <p:nvPicPr>
          <p:cNvPr id="3" name="图片 2">
            <a:extLst>
              <a:ext uri="{FF2B5EF4-FFF2-40B4-BE49-F238E27FC236}">
                <a16:creationId xmlns:a16="http://schemas.microsoft.com/office/drawing/2014/main" id="{42655064-3DC5-4647-ADD6-9527A8DBD4B9}"/>
              </a:ext>
            </a:extLst>
          </p:cNvPr>
          <p:cNvPicPr>
            <a:picLocks noChangeAspect="1"/>
          </p:cNvPicPr>
          <p:nvPr/>
        </p:nvPicPr>
        <p:blipFill>
          <a:blip r:embed="rId3"/>
          <a:stretch/>
        </p:blipFill>
        <p:spPr>
          <a:xfrm>
            <a:off x="1146793" y="1314450"/>
            <a:ext cx="5516914" cy="4857750"/>
          </a:xfrm>
          <a:prstGeom prst="rect">
            <a:avLst/>
          </a:prstGeom>
        </p:spPr>
      </p:pic>
      <p:sp>
        <p:nvSpPr>
          <p:cNvPr id="4" name="矩形 3">
            <a:extLst>
              <a:ext uri="{FF2B5EF4-FFF2-40B4-BE49-F238E27FC236}">
                <a16:creationId xmlns:a16="http://schemas.microsoft.com/office/drawing/2014/main" id="{32BF8933-651B-4637-94DF-7CB0E876E71D}"/>
              </a:ext>
            </a:extLst>
          </p:cNvPr>
          <p:cNvSpPr>
            <a:spLocks noGrp="1"/>
          </p:cNvSpPr>
          <p:nvPr/>
        </p:nvSpPr>
        <p:spPr>
          <a:xfrm>
            <a:off x="7572375" y="1381125"/>
            <a:ext cx="3952875" cy="4667250"/>
          </a:xfrm>
          <a:prstGeom prst="rect">
            <a:avLst/>
          </a:prstGeom>
          <a:noFill/>
          <a:ln w="0">
            <a:noFill/>
            <a:prstDash val="solid"/>
          </a:ln>
        </p:spPr>
        <p:txBody>
          <a:bodyPr lIns="0" tIns="0" rIns="0" bIns="0"/>
          <a:lstStyle>
            <a:defPPr>
              <a:defRPr sz="1875" b="0">
                <a:solidFill>
                  <a:srgbClr val="111111"/>
                </a:solidFill>
                <a:latin typeface="Arial"/>
                <a:ea typeface="Arial"/>
                <a:cs typeface="Arial"/>
              </a:defRPr>
            </a:defPPr>
            <a:lvl1pPr>
              <a:buNone/>
              <a:defRPr sz="1875" b="0">
                <a:solidFill>
                  <a:srgbClr val="111111"/>
                </a:solidFill>
                <a:latin typeface="Arial"/>
                <a:ea typeface="Arial"/>
                <a:cs typeface="Arial"/>
              </a:defRPr>
            </a:lvl1pPr>
            <a:lvl2pPr>
              <a:buNone/>
              <a:defRPr sz="1875" b="0">
                <a:solidFill>
                  <a:srgbClr val="111111"/>
                </a:solidFill>
                <a:latin typeface="Arial"/>
                <a:ea typeface="Arial"/>
                <a:cs typeface="Arial"/>
              </a:defRPr>
            </a:lvl2pPr>
            <a:lvl3pPr>
              <a:buNone/>
              <a:defRPr sz="1875" b="0">
                <a:solidFill>
                  <a:srgbClr val="111111"/>
                </a:solidFill>
                <a:latin typeface="Arial"/>
                <a:ea typeface="Arial"/>
                <a:cs typeface="Arial"/>
              </a:defRPr>
            </a:lvl3pPr>
            <a:lvl4pPr>
              <a:buNone/>
              <a:defRPr sz="1875" b="0">
                <a:solidFill>
                  <a:srgbClr val="111111"/>
                </a:solidFill>
                <a:latin typeface="Arial"/>
                <a:ea typeface="Arial"/>
                <a:cs typeface="Arial"/>
              </a:defRPr>
            </a:lvl4pPr>
            <a:lvl5pPr>
              <a:buNone/>
              <a:defRPr sz="1875" b="0">
                <a:solidFill>
                  <a:srgbClr val="111111"/>
                </a:solidFill>
                <a:latin typeface="Arial"/>
                <a:ea typeface="Arial"/>
                <a:cs typeface="Arial"/>
              </a:defRPr>
            </a:lvl5pPr>
            <a:lvl6pPr>
              <a:buNone/>
              <a:defRPr sz="1875" b="0">
                <a:solidFill>
                  <a:srgbClr val="111111"/>
                </a:solidFill>
                <a:latin typeface="Arial"/>
                <a:ea typeface="Arial"/>
                <a:cs typeface="Arial"/>
              </a:defRPr>
            </a:lvl6pPr>
            <a:lvl7pPr>
              <a:buNone/>
              <a:defRPr sz="1875" b="0">
                <a:solidFill>
                  <a:srgbClr val="111111"/>
                </a:solidFill>
                <a:latin typeface="Arial"/>
                <a:ea typeface="Arial"/>
                <a:cs typeface="Arial"/>
              </a:defRPr>
            </a:lvl7pPr>
            <a:lvl8pPr>
              <a:buNone/>
              <a:defRPr sz="1875" b="0">
                <a:solidFill>
                  <a:srgbClr val="111111"/>
                </a:solidFill>
                <a:latin typeface="Arial"/>
                <a:ea typeface="Arial"/>
                <a:cs typeface="Arial"/>
              </a:defRPr>
            </a:lvl8pPr>
            <a:lvl9pPr>
              <a:buNone/>
              <a:defRPr sz="1875" b="0">
                <a:solidFill>
                  <a:srgbClr val="111111"/>
                </a:solidFill>
                <a:latin typeface="Arial"/>
                <a:ea typeface="Arial"/>
                <a:cs typeface="Arial"/>
              </a:defRPr>
            </a:lvl9pPr>
          </a:lstStyle>
          <a:p>
            <a:pPr>
              <a:buNone/>
              <a:defRPr sz="1875" b="0">
                <a:solidFill>
                  <a:srgbClr val="111111"/>
                </a:solidFill>
                <a:latin typeface="Arial"/>
                <a:ea typeface="Arial"/>
                <a:cs typeface="Arial"/>
              </a:defRPr>
            </a:pPr>
            <a:r>
              <a:rPr sz="1875" b="0">
                <a:solidFill>
                  <a:srgbClr val="111111"/>
                </a:solidFill>
                <a:latin typeface="Arial"/>
                <a:ea typeface="Arial"/>
                <a:cs typeface="Arial"/>
              </a:rPr>
              <a:t>1. What are the width and count direction?</a:t>
            </a:r>
          </a:p>
          <a:p>
            <a:endParaRPr sz="1875" b="0">
              <a:solidFill>
                <a:srgbClr val="111111"/>
              </a:solidFill>
              <a:latin typeface="Arial"/>
              <a:ea typeface="Arial"/>
              <a:cs typeface="Arial"/>
            </a:endParaRPr>
          </a:p>
          <a:p>
            <a:pPr>
              <a:buNone/>
              <a:defRPr sz="1875" b="0">
                <a:solidFill>
                  <a:srgbClr val="111111"/>
                </a:solidFill>
                <a:latin typeface="Arial"/>
                <a:ea typeface="Arial"/>
                <a:cs typeface="Arial"/>
              </a:defRPr>
            </a:pPr>
            <a:r>
              <a:rPr sz="1875" b="0">
                <a:solidFill>
                  <a:srgbClr val="111111"/>
                </a:solidFill>
                <a:latin typeface="Arial"/>
                <a:ea typeface="Arial"/>
                <a:cs typeface="Arial"/>
              </a:rPr>
              <a:t>2. Is reset synchronous or asynchronous?</a:t>
            </a:r>
          </a:p>
          <a:p>
            <a:endParaRPr sz="1875" b="0">
              <a:solidFill>
                <a:srgbClr val="111111"/>
              </a:solidFill>
              <a:latin typeface="Arial"/>
              <a:ea typeface="Arial"/>
              <a:cs typeface="Arial"/>
            </a:endParaRPr>
          </a:p>
          <a:p>
            <a:pPr>
              <a:buNone/>
              <a:defRPr sz="1875" b="0">
                <a:solidFill>
                  <a:srgbClr val="111111"/>
                </a:solidFill>
                <a:latin typeface="Arial"/>
                <a:ea typeface="Arial"/>
                <a:cs typeface="Arial"/>
              </a:defRPr>
            </a:pPr>
            <a:r>
              <a:rPr sz="1875" b="0">
                <a:solidFill>
                  <a:srgbClr val="111111"/>
                </a:solidFill>
                <a:latin typeface="Arial"/>
                <a:ea typeface="Arial"/>
                <a:cs typeface="Arial"/>
              </a:rPr>
              <a:t>3. What does x"00000000" mean?</a:t>
            </a:r>
          </a:p>
          <a:p>
            <a:endParaRPr sz="1875" b="0">
              <a:solidFill>
                <a:srgbClr val="111111"/>
              </a:solidFill>
              <a:latin typeface="Arial"/>
              <a:ea typeface="Arial"/>
              <a:cs typeface="Arial"/>
            </a:endParaRPr>
          </a:p>
          <a:p>
            <a:pPr>
              <a:buNone/>
              <a:defRPr sz="1875" b="0">
                <a:solidFill>
                  <a:srgbClr val="111111"/>
                </a:solidFill>
                <a:latin typeface="Arial"/>
                <a:ea typeface="Arial"/>
                <a:cs typeface="Arial"/>
              </a:defRPr>
            </a:pPr>
            <a:r>
              <a:rPr sz="1875" b="0">
                <a:solidFill>
                  <a:srgbClr val="111111"/>
                </a:solidFill>
                <a:latin typeface="Arial"/>
                <a:ea typeface="Arial"/>
                <a:cs typeface="Arial"/>
              </a:rPr>
              <a:t>4. What follows x"FFFFFFFF"?</a:t>
            </a:r>
          </a:p>
          <a:p>
            <a:endParaRPr sz="1875" b="0">
              <a:solidFill>
                <a:srgbClr val="111111"/>
              </a:solidFill>
              <a:latin typeface="Arial"/>
              <a:ea typeface="Arial"/>
              <a:cs typeface="Arial"/>
            </a:endParaRPr>
          </a:p>
          <a:p>
            <a:pPr>
              <a:buNone/>
              <a:defRPr sz="1875" b="0">
                <a:solidFill>
                  <a:srgbClr val="111111"/>
                </a:solidFill>
                <a:latin typeface="Arial"/>
                <a:ea typeface="Arial"/>
                <a:cs typeface="Arial"/>
              </a:defRPr>
            </a:pPr>
            <a:r>
              <a:rPr sz="1875" b="0">
                <a:solidFill>
                  <a:srgbClr val="111111"/>
                </a:solidFill>
                <a:latin typeface="Arial"/>
                <a:ea typeface="Arial"/>
                <a:cs typeface="Arial"/>
              </a:rPr>
              <a:t>Assume reset has occurred and B has no external driver.</a:t>
            </a:r>
          </a:p>
        </p:txBody>
      </p:sp>
      <p:sp>
        <p:nvSpPr>
          <p:cNvPr id="5" name="矩形 4">
            <a:extLst>
              <a:ext uri="{FF2B5EF4-FFF2-40B4-BE49-F238E27FC236}">
                <a16:creationId xmlns:a16="http://schemas.microsoft.com/office/drawing/2014/main" id="{57D52CE2-EB97-467A-8D31-AEBFEF79D0ED}"/>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10</a:t>
            </a:r>
          </a:p>
        </p:txBody>
      </p:sp>
    </p:spTree>
    <p:extLst>
      <p:ext uri="{BB962C8B-B14F-4D97-AF65-F5344CB8AC3E}">
        <p14:creationId xmlns:p14="http://schemas.microsoft.com/office/powerpoint/2010/main" val="3707255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8A7F658-2FFD-43B6-88AB-3F56BE1A02E1}"/>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Q5  Answer</a:t>
            </a:r>
          </a:p>
        </p:txBody>
      </p:sp>
      <p:sp>
        <p:nvSpPr>
          <p:cNvPr id="2" name="矩形 1">
            <a:extLst>
              <a:ext uri="{FF2B5EF4-FFF2-40B4-BE49-F238E27FC236}">
                <a16:creationId xmlns:a16="http://schemas.microsoft.com/office/drawing/2014/main" id="{4B0D196C-EBB1-401D-B683-1A47EDBEED6F}"/>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32-bit up-counter, active-high asynchronous reset</a:t>
            </a:r>
          </a:p>
        </p:txBody>
      </p:sp>
      <p:sp>
        <p:nvSpPr>
          <p:cNvPr id="3" name="矩形 2">
            <a:extLst>
              <a:ext uri="{FF2B5EF4-FFF2-40B4-BE49-F238E27FC236}">
                <a16:creationId xmlns:a16="http://schemas.microsoft.com/office/drawing/2014/main" id="{DEDFABA6-EA70-419D-9F07-1E57D4AA3D69}"/>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11</a:t>
            </a:r>
          </a:p>
        </p:txBody>
      </p:sp>
      <p:sp>
        <p:nvSpPr>
          <p:cNvPr id="4" name="矩形 3">
            <a:extLst>
              <a:ext uri="{FF2B5EF4-FFF2-40B4-BE49-F238E27FC236}">
                <a16:creationId xmlns:a16="http://schemas.microsoft.com/office/drawing/2014/main" id="{4BAE5746-6A4A-4F10-A401-DF88AC64E98A}"/>
              </a:ext>
            </a:extLst>
          </p:cNvPr>
          <p:cNvSpPr>
            <a:spLocks noGrp="1"/>
          </p:cNvSpPr>
          <p:nvPr/>
        </p:nvSpPr>
        <p:spPr>
          <a:xfrm>
            <a:off x="666750" y="1571625"/>
            <a:ext cx="10858500" cy="2571750"/>
          </a:xfrm>
          <a:prstGeom prst="rect">
            <a:avLst/>
          </a:prstGeom>
          <a:noFill/>
          <a:ln w="0">
            <a:noFill/>
            <a:prstDash val="solid"/>
          </a:ln>
        </p:spPr>
        <p:txBody>
          <a:bodyPr lIns="0" tIns="0" rIns="0" bIns="0"/>
          <a:lstStyle>
            <a:defPPr>
              <a:defRPr sz="2175" b="0">
                <a:solidFill>
                  <a:srgbClr val="111111"/>
                </a:solidFill>
                <a:latin typeface="DejaVu Sans Mono"/>
                <a:ea typeface="DejaVu Sans Mono"/>
                <a:cs typeface="DejaVu Sans Mono"/>
              </a:defRPr>
            </a:defPPr>
            <a:lvl1pPr>
              <a:defRPr sz="2175" b="0">
                <a:solidFill>
                  <a:srgbClr val="111111"/>
                </a:solidFill>
                <a:latin typeface="DejaVu Sans Mono"/>
                <a:ea typeface="DejaVu Sans Mono"/>
                <a:cs typeface="DejaVu Sans Mono"/>
              </a:defRPr>
            </a:lvl1pPr>
            <a:lvl2pPr>
              <a:defRPr sz="2175" b="0">
                <a:solidFill>
                  <a:srgbClr val="111111"/>
                </a:solidFill>
                <a:latin typeface="DejaVu Sans Mono"/>
                <a:ea typeface="DejaVu Sans Mono"/>
                <a:cs typeface="DejaVu Sans Mono"/>
              </a:defRPr>
            </a:lvl2pPr>
            <a:lvl3pPr>
              <a:defRPr sz="2175" b="0">
                <a:solidFill>
                  <a:srgbClr val="111111"/>
                </a:solidFill>
                <a:latin typeface="DejaVu Sans Mono"/>
                <a:ea typeface="DejaVu Sans Mono"/>
                <a:cs typeface="DejaVu Sans Mono"/>
              </a:defRPr>
            </a:lvl3pPr>
            <a:lvl4pPr>
              <a:defRPr sz="2175" b="0">
                <a:solidFill>
                  <a:srgbClr val="111111"/>
                </a:solidFill>
                <a:latin typeface="DejaVu Sans Mono"/>
                <a:ea typeface="DejaVu Sans Mono"/>
                <a:cs typeface="DejaVu Sans Mono"/>
              </a:defRPr>
            </a:lvl4pPr>
            <a:lvl5pPr>
              <a:defRPr sz="2175" b="0">
                <a:solidFill>
                  <a:srgbClr val="111111"/>
                </a:solidFill>
                <a:latin typeface="DejaVu Sans Mono"/>
                <a:ea typeface="DejaVu Sans Mono"/>
                <a:cs typeface="DejaVu Sans Mono"/>
              </a:defRPr>
            </a:lvl5pPr>
            <a:lvl6pPr>
              <a:defRPr sz="2175" b="0">
                <a:solidFill>
                  <a:srgbClr val="111111"/>
                </a:solidFill>
                <a:latin typeface="DejaVu Sans Mono"/>
                <a:ea typeface="DejaVu Sans Mono"/>
                <a:cs typeface="DejaVu Sans Mono"/>
              </a:defRPr>
            </a:lvl6pPr>
            <a:lvl7pPr>
              <a:defRPr sz="2175" b="0">
                <a:solidFill>
                  <a:srgbClr val="111111"/>
                </a:solidFill>
                <a:latin typeface="DejaVu Sans Mono"/>
                <a:ea typeface="DejaVu Sans Mono"/>
                <a:cs typeface="DejaVu Sans Mono"/>
              </a:defRPr>
            </a:lvl7pPr>
            <a:lvl8pPr>
              <a:defRPr sz="2175" b="0">
                <a:solidFill>
                  <a:srgbClr val="111111"/>
                </a:solidFill>
                <a:latin typeface="DejaVu Sans Mono"/>
                <a:ea typeface="DejaVu Sans Mono"/>
                <a:cs typeface="DejaVu Sans Mono"/>
              </a:defRPr>
            </a:lvl8pPr>
            <a:lvl9pPr>
              <a:defRPr sz="2175" b="0">
                <a:solidFill>
                  <a:srgbClr val="111111"/>
                </a:solidFill>
                <a:latin typeface="DejaVu Sans Mono"/>
                <a:ea typeface="DejaVu Sans Mono"/>
                <a:cs typeface="DejaVu Sans Mono"/>
              </a:defRPr>
            </a:lvl9pPr>
          </a:lstStyle>
          <a:p>
            <a:pPr>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 NUMERIC_STD version: clocked process fragment</a:t>
            </a:r>
          </a:p>
          <a:p>
            <a:pPr>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if rst = '1' then</a:t>
            </a:r>
          </a:p>
          <a:p>
            <a:pPr>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  count &lt;= (others =&gt; '0');</a:t>
            </a:r>
          </a:p>
          <a:p>
            <a:pPr>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elsif rising_edge(clk) then</a:t>
            </a:r>
          </a:p>
          <a:p>
            <a:pPr>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  count &lt;= count + 1;</a:t>
            </a:r>
          </a:p>
          <a:p>
            <a:pPr>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end if;</a:t>
            </a:r>
          </a:p>
        </p:txBody>
      </p:sp>
      <p:sp>
        <p:nvSpPr>
          <p:cNvPr id="5" name="矩形 4">
            <a:extLst>
              <a:ext uri="{FF2B5EF4-FFF2-40B4-BE49-F238E27FC236}">
                <a16:creationId xmlns:a16="http://schemas.microsoft.com/office/drawing/2014/main" id="{FA22C0E6-4B37-45FC-8494-695A8615C125}"/>
              </a:ext>
            </a:extLst>
          </p:cNvPr>
          <p:cNvSpPr>
            <a:spLocks noGrp="1"/>
          </p:cNvSpPr>
          <p:nvPr/>
        </p:nvSpPr>
        <p:spPr>
          <a:xfrm>
            <a:off x="666750" y="4524375"/>
            <a:ext cx="10858500" cy="4476750"/>
          </a:xfrm>
          <a:prstGeom prst="rect">
            <a:avLst/>
          </a:prstGeom>
          <a:noFill/>
          <a:ln w="0">
            <a:noFill/>
            <a:prstDash val="solid"/>
          </a:ln>
        </p:spPr>
        <p:txBody>
          <a:bodyPr lIns="0" tIns="0" rIns="0" bIns="0"/>
          <a:lstStyle>
            <a:defPPr>
              <a:defRPr sz="2175" b="0">
                <a:solidFill>
                  <a:srgbClr val="111111"/>
                </a:solidFill>
                <a:latin typeface="Arial"/>
                <a:ea typeface="Arial"/>
                <a:cs typeface="Arial"/>
              </a:defRPr>
            </a:defPPr>
            <a:lvl1pPr>
              <a:defRPr sz="2175" b="0">
                <a:solidFill>
                  <a:srgbClr val="111111"/>
                </a:solidFill>
                <a:latin typeface="Arial"/>
                <a:ea typeface="Arial"/>
                <a:cs typeface="Arial"/>
              </a:defRPr>
            </a:lvl1pPr>
            <a:lvl2pPr>
              <a:defRPr sz="2175" b="0">
                <a:solidFill>
                  <a:srgbClr val="111111"/>
                </a:solidFill>
                <a:latin typeface="Arial"/>
                <a:ea typeface="Arial"/>
                <a:cs typeface="Arial"/>
              </a:defRPr>
            </a:lvl2pPr>
            <a:lvl3pPr>
              <a:defRPr sz="2175" b="0">
                <a:solidFill>
                  <a:srgbClr val="111111"/>
                </a:solidFill>
                <a:latin typeface="Arial"/>
                <a:ea typeface="Arial"/>
                <a:cs typeface="Arial"/>
              </a:defRPr>
            </a:lvl3pPr>
            <a:lvl4pPr>
              <a:defRPr sz="2175" b="0">
                <a:solidFill>
                  <a:srgbClr val="111111"/>
                </a:solidFill>
                <a:latin typeface="Arial"/>
                <a:ea typeface="Arial"/>
                <a:cs typeface="Arial"/>
              </a:defRPr>
            </a:lvl4pPr>
            <a:lvl5pPr>
              <a:defRPr sz="2175" b="0">
                <a:solidFill>
                  <a:srgbClr val="111111"/>
                </a:solidFill>
                <a:latin typeface="Arial"/>
                <a:ea typeface="Arial"/>
                <a:cs typeface="Arial"/>
              </a:defRPr>
            </a:lvl5pPr>
            <a:lvl6pPr>
              <a:defRPr sz="2175" b="0">
                <a:solidFill>
                  <a:srgbClr val="111111"/>
                </a:solidFill>
                <a:latin typeface="Arial"/>
                <a:ea typeface="Arial"/>
                <a:cs typeface="Arial"/>
              </a:defRPr>
            </a:lvl6pPr>
            <a:lvl7pPr>
              <a:defRPr sz="2175" b="0">
                <a:solidFill>
                  <a:srgbClr val="111111"/>
                </a:solidFill>
                <a:latin typeface="Arial"/>
                <a:ea typeface="Arial"/>
                <a:cs typeface="Arial"/>
              </a:defRPr>
            </a:lvl7pPr>
            <a:lvl8pPr>
              <a:defRPr sz="2175" b="0">
                <a:solidFill>
                  <a:srgbClr val="111111"/>
                </a:solidFill>
                <a:latin typeface="Arial"/>
                <a:ea typeface="Arial"/>
                <a:cs typeface="Arial"/>
              </a:defRPr>
            </a:lvl8pPr>
            <a:lvl9pPr>
              <a:defRPr sz="2175" b="0">
                <a:solidFill>
                  <a:srgbClr val="111111"/>
                </a:solidFill>
                <a:latin typeface="Arial"/>
                <a:ea typeface="Arial"/>
                <a:cs typeface="Arial"/>
              </a:defRPr>
            </a:lvl9pPr>
          </a:lstStyle>
          <a:p>
            <a:pPr>
              <a:defRPr sz="2175" b="0">
                <a:solidFill>
                  <a:srgbClr val="111111"/>
                </a:solidFill>
                <a:latin typeface="Arial"/>
                <a:ea typeface="Arial"/>
                <a:cs typeface="Arial"/>
              </a:defRPr>
            </a:pPr>
            <a:r>
              <a:rPr sz="2175" b="0">
                <a:solidFill>
                  <a:srgbClr val="111111"/>
                </a:solidFill>
                <a:latin typeface="Arial"/>
                <a:ea typeface="Arial"/>
                <a:cs typeface="Arial"/>
              </a:rPr>
              <a:t>count is unsigned(31 downto 0).</a:t>
            </a:r>
          </a:p>
          <a:p>
            <a:pPr>
              <a:defRPr sz="2175" b="0">
                <a:solidFill>
                  <a:srgbClr val="111111"/>
                </a:solidFill>
                <a:latin typeface="Arial"/>
                <a:ea typeface="Arial"/>
                <a:cs typeface="Arial"/>
              </a:defRPr>
            </a:pPr>
            <a:r>
              <a:rPr sz="2175" b="0">
                <a:solidFill>
                  <a:srgbClr val="111111"/>
                </a:solidFill>
                <a:latin typeface="Arial"/>
                <a:ea typeface="Arial"/>
                <a:cs typeface="Arial"/>
              </a:rPr>
              <a:t>x"00000000" means 32 zero bits.</a:t>
            </a:r>
          </a:p>
          <a:p>
            <a:pPr>
              <a:defRPr sz="2175" b="0">
                <a:solidFill>
                  <a:srgbClr val="111111"/>
                </a:solidFill>
                <a:latin typeface="Arial"/>
                <a:ea typeface="Arial"/>
                <a:cs typeface="Arial"/>
              </a:defRPr>
            </a:pPr>
            <a:r>
              <a:rPr sz="2175" b="0">
                <a:solidFill>
                  <a:srgbClr val="111111"/>
                </a:solidFill>
                <a:latin typeface="Arial"/>
                <a:ea typeface="Arial"/>
                <a:cs typeface="Arial"/>
              </a:rPr>
              <a:t>x"FFFFFFFF" + 1 wraps to zero.</a:t>
            </a:r>
          </a:p>
          <a:p>
            <a:pPr>
              <a:defRPr sz="2175" b="0">
                <a:solidFill>
                  <a:srgbClr val="111111"/>
                </a:solidFill>
                <a:latin typeface="Arial"/>
                <a:ea typeface="Arial"/>
                <a:cs typeface="Arial"/>
              </a:defRPr>
            </a:pPr>
            <a:r>
              <a:rPr sz="2175" b="0">
                <a:solidFill>
                  <a:srgbClr val="111111"/>
                </a:solidFill>
                <a:latin typeface="Arial"/>
                <a:ea typeface="Arial"/>
                <a:cs typeface="Arial"/>
              </a:rPr>
              <a:t>Use an internal count signal, with B as an output.</a:t>
            </a:r>
          </a:p>
        </p:txBody>
      </p:sp>
    </p:spTree>
    <p:extLst>
      <p:ext uri="{BB962C8B-B14F-4D97-AF65-F5344CB8AC3E}">
        <p14:creationId xmlns:p14="http://schemas.microsoft.com/office/powerpoint/2010/main" val="289532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878B288-A5B0-44E6-930A-8CC9D6AD4A5A}"/>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Q6  Circuit interpretation</a:t>
            </a:r>
          </a:p>
        </p:txBody>
      </p:sp>
      <p:sp>
        <p:nvSpPr>
          <p:cNvPr id="2" name="矩形 1">
            <a:extLst>
              <a:ext uri="{FF2B5EF4-FFF2-40B4-BE49-F238E27FC236}">
                <a16:creationId xmlns:a16="http://schemas.microsoft.com/office/drawing/2014/main" id="{B14AD21A-0AE1-4CB4-B039-C80C2E36B746}"/>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Draw the circuit and state the reset behaviour.</a:t>
            </a:r>
          </a:p>
        </p:txBody>
      </p:sp>
      <p:sp>
        <p:nvSpPr>
          <p:cNvPr id="3" name="矩形 2">
            <a:extLst>
              <a:ext uri="{FF2B5EF4-FFF2-40B4-BE49-F238E27FC236}">
                <a16:creationId xmlns:a16="http://schemas.microsoft.com/office/drawing/2014/main" id="{3CA7B272-1802-4662-865E-4CB4336B5A6D}"/>
              </a:ext>
            </a:extLst>
          </p:cNvPr>
          <p:cNvSpPr>
            <a:spLocks noGrp="1"/>
          </p:cNvSpPr>
          <p:nvPr/>
        </p:nvSpPr>
        <p:spPr>
          <a:xfrm>
            <a:off x="666750" y="1333500"/>
            <a:ext cx="10763250" cy="4619625"/>
          </a:xfrm>
          <a:prstGeom prst="rect">
            <a:avLst/>
          </a:prstGeom>
          <a:noFill/>
          <a:ln w="0">
            <a:noFill/>
            <a:prstDash val="solid"/>
          </a:ln>
        </p:spPr>
        <p:txBody>
          <a:bodyPr lIns="0" tIns="0" rIns="0" bIns="0"/>
          <a:lstStyle>
            <a:defPPr>
              <a:defRPr sz="2025" b="0">
                <a:solidFill>
                  <a:srgbClr val="111111"/>
                </a:solidFill>
                <a:latin typeface="DejaVu Sans Mono"/>
                <a:ea typeface="DejaVu Sans Mono"/>
                <a:cs typeface="DejaVu Sans Mono"/>
              </a:defRPr>
            </a:defPPr>
            <a:lvl1pPr>
              <a:buNone/>
              <a:defRPr sz="2025" b="0">
                <a:solidFill>
                  <a:srgbClr val="111111"/>
                </a:solidFill>
                <a:latin typeface="DejaVu Sans Mono"/>
                <a:ea typeface="DejaVu Sans Mono"/>
                <a:cs typeface="DejaVu Sans Mono"/>
              </a:defRPr>
            </a:lvl1pPr>
            <a:lvl2pPr>
              <a:buNone/>
              <a:defRPr sz="2025" b="0">
                <a:solidFill>
                  <a:srgbClr val="111111"/>
                </a:solidFill>
                <a:latin typeface="DejaVu Sans Mono"/>
                <a:ea typeface="DejaVu Sans Mono"/>
                <a:cs typeface="DejaVu Sans Mono"/>
              </a:defRPr>
            </a:lvl2pPr>
            <a:lvl3pPr>
              <a:buNone/>
              <a:defRPr sz="2025" b="0">
                <a:solidFill>
                  <a:srgbClr val="111111"/>
                </a:solidFill>
                <a:latin typeface="DejaVu Sans Mono"/>
                <a:ea typeface="DejaVu Sans Mono"/>
                <a:cs typeface="DejaVu Sans Mono"/>
              </a:defRPr>
            </a:lvl3pPr>
            <a:lvl4pPr>
              <a:buNone/>
              <a:defRPr sz="2025" b="0">
                <a:solidFill>
                  <a:srgbClr val="111111"/>
                </a:solidFill>
                <a:latin typeface="DejaVu Sans Mono"/>
                <a:ea typeface="DejaVu Sans Mono"/>
                <a:cs typeface="DejaVu Sans Mono"/>
              </a:defRPr>
            </a:lvl4pPr>
            <a:lvl5pPr>
              <a:buNone/>
              <a:defRPr sz="2025" b="0">
                <a:solidFill>
                  <a:srgbClr val="111111"/>
                </a:solidFill>
                <a:latin typeface="DejaVu Sans Mono"/>
                <a:ea typeface="DejaVu Sans Mono"/>
                <a:cs typeface="DejaVu Sans Mono"/>
              </a:defRPr>
            </a:lvl5pPr>
            <a:lvl6pPr>
              <a:buNone/>
              <a:defRPr sz="2025" b="0">
                <a:solidFill>
                  <a:srgbClr val="111111"/>
                </a:solidFill>
                <a:latin typeface="DejaVu Sans Mono"/>
                <a:ea typeface="DejaVu Sans Mono"/>
                <a:cs typeface="DejaVu Sans Mono"/>
              </a:defRPr>
            </a:lvl6pPr>
            <a:lvl7pPr>
              <a:buNone/>
              <a:defRPr sz="2025" b="0">
                <a:solidFill>
                  <a:srgbClr val="111111"/>
                </a:solidFill>
                <a:latin typeface="DejaVu Sans Mono"/>
                <a:ea typeface="DejaVu Sans Mono"/>
                <a:cs typeface="DejaVu Sans Mono"/>
              </a:defRPr>
            </a:lvl7pPr>
            <a:lvl8pPr>
              <a:buNone/>
              <a:defRPr sz="2025" b="0">
                <a:solidFill>
                  <a:srgbClr val="111111"/>
                </a:solidFill>
                <a:latin typeface="DejaVu Sans Mono"/>
                <a:ea typeface="DejaVu Sans Mono"/>
                <a:cs typeface="DejaVu Sans Mono"/>
              </a:defRPr>
            </a:lvl8pPr>
            <a:lvl9pPr>
              <a:buNone/>
              <a:defRPr sz="2025" b="0">
                <a:solidFill>
                  <a:srgbClr val="111111"/>
                </a:solidFill>
                <a:latin typeface="DejaVu Sans Mono"/>
                <a:ea typeface="DejaVu Sans Mono"/>
                <a:cs typeface="DejaVu Sans Mono"/>
              </a:defRPr>
            </a:lvl9pPr>
          </a:lstStyle>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signal x, y : std_logic;</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a, b, c, clk, reset and q are std_logic ports</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begin</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x &lt;= a and b;</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y &lt;= x or c;</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process(clk, reset)</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begin</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if reset = '1' then</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q &lt;= '0';</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elsif rising_edge(clk) then</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q &lt;= y;</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end if;</a:t>
            </a:r>
          </a:p>
          <a:p>
            <a:pPr>
              <a:buNone/>
              <a:defRPr sz="2025" b="0">
                <a:solidFill>
                  <a:srgbClr val="111111"/>
                </a:solidFill>
                <a:latin typeface="DejaVu Sans Mono"/>
                <a:ea typeface="DejaVu Sans Mono"/>
                <a:cs typeface="DejaVu Sans Mono"/>
              </a:defRPr>
            </a:pPr>
            <a:r>
              <a:rPr sz="2025" b="0">
                <a:solidFill>
                  <a:srgbClr val="111111"/>
                </a:solidFill>
                <a:latin typeface="DejaVu Sans Mono"/>
                <a:ea typeface="DejaVu Sans Mono"/>
                <a:cs typeface="DejaVu Sans Mono"/>
              </a:rPr>
              <a:t>  end process;</a:t>
            </a:r>
          </a:p>
        </p:txBody>
      </p:sp>
      <p:sp>
        <p:nvSpPr>
          <p:cNvPr id="4" name="矩形 3">
            <a:extLst>
              <a:ext uri="{FF2B5EF4-FFF2-40B4-BE49-F238E27FC236}">
                <a16:creationId xmlns:a16="http://schemas.microsoft.com/office/drawing/2014/main" id="{4E309958-3A5A-4446-9FF0-C313D35052D4}"/>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12</a:t>
            </a:r>
          </a:p>
        </p:txBody>
      </p:sp>
    </p:spTree>
    <p:extLst>
      <p:ext uri="{BB962C8B-B14F-4D97-AF65-F5344CB8AC3E}">
        <p14:creationId xmlns:p14="http://schemas.microsoft.com/office/powerpoint/2010/main" val="3269626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C832581A-1B3B-4CD0-91CF-616F191A288B}"/>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Q6  Answer</a:t>
            </a:r>
          </a:p>
        </p:txBody>
      </p:sp>
      <p:sp>
        <p:nvSpPr>
          <p:cNvPr id="2" name="矩形 1">
            <a:extLst>
              <a:ext uri="{FF2B5EF4-FFF2-40B4-BE49-F238E27FC236}">
                <a16:creationId xmlns:a16="http://schemas.microsoft.com/office/drawing/2014/main" id="{47724FEA-110F-4D59-88BF-BFB8073B1B82}"/>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AND gate + OR gate + D flip-flop</a:t>
            </a:r>
          </a:p>
        </p:txBody>
      </p:sp>
      <p:sp>
        <p:nvSpPr>
          <p:cNvPr id="3" name="矩形 2">
            <a:extLst>
              <a:ext uri="{FF2B5EF4-FFF2-40B4-BE49-F238E27FC236}">
                <a16:creationId xmlns:a16="http://schemas.microsoft.com/office/drawing/2014/main" id="{6F0F1837-F1F3-415A-A8AE-46BD5C6D08A3}"/>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13</a:t>
            </a:r>
          </a:p>
        </p:txBody>
      </p:sp>
      <p:pic>
        <p:nvPicPr>
          <p:cNvPr id="4" name="图片 3">
            <a:extLst>
              <a:ext uri="{FF2B5EF4-FFF2-40B4-BE49-F238E27FC236}">
                <a16:creationId xmlns:a16="http://schemas.microsoft.com/office/drawing/2014/main" id="{8BD8E68E-6FC9-4688-8D05-2F0EBB8E476B}"/>
              </a:ext>
            </a:extLst>
          </p:cNvPr>
          <p:cNvPicPr>
            <a:picLocks noChangeAspect="1"/>
          </p:cNvPicPr>
          <p:nvPr/>
        </p:nvPicPr>
        <p:blipFill>
          <a:blip r:embed="rId3"/>
          <a:stretch/>
        </p:blipFill>
        <p:spPr>
          <a:xfrm>
            <a:off x="1869504" y="1524000"/>
            <a:ext cx="8452992" cy="3333750"/>
          </a:xfrm>
          <a:prstGeom prst="rect">
            <a:avLst/>
          </a:prstGeom>
        </p:spPr>
      </p:pic>
      <p:sp>
        <p:nvSpPr>
          <p:cNvPr id="5" name="矩形 4">
            <a:extLst>
              <a:ext uri="{FF2B5EF4-FFF2-40B4-BE49-F238E27FC236}">
                <a16:creationId xmlns:a16="http://schemas.microsoft.com/office/drawing/2014/main" id="{08470FC2-74BE-49AF-AAD5-7F718D61C869}"/>
              </a:ext>
            </a:extLst>
          </p:cNvPr>
          <p:cNvSpPr>
            <a:spLocks noGrp="1"/>
          </p:cNvSpPr>
          <p:nvPr/>
        </p:nvSpPr>
        <p:spPr>
          <a:xfrm>
            <a:off x="666750" y="5334000"/>
            <a:ext cx="10858500" cy="4476750"/>
          </a:xfrm>
          <a:prstGeom prst="rect">
            <a:avLst/>
          </a:prstGeom>
          <a:noFill/>
          <a:ln w="0">
            <a:noFill/>
            <a:prstDash val="solid"/>
          </a:ln>
        </p:spPr>
        <p:txBody>
          <a:bodyPr lIns="0" tIns="0" rIns="0" bIns="0"/>
          <a:lstStyle>
            <a:defPPr>
              <a:defRPr sz="2250" b="0">
                <a:solidFill>
                  <a:srgbClr val="111111"/>
                </a:solidFill>
                <a:latin typeface="Arial"/>
                <a:ea typeface="Arial"/>
                <a:cs typeface="Arial"/>
              </a:defRPr>
            </a:defPPr>
            <a:lvl1pPr>
              <a:defRPr sz="2250" b="0">
                <a:solidFill>
                  <a:srgbClr val="111111"/>
                </a:solidFill>
                <a:latin typeface="Arial"/>
                <a:ea typeface="Arial"/>
                <a:cs typeface="Arial"/>
              </a:defRPr>
            </a:lvl1pPr>
            <a:lvl2pPr>
              <a:defRPr sz="2250" b="0">
                <a:solidFill>
                  <a:srgbClr val="111111"/>
                </a:solidFill>
                <a:latin typeface="Arial"/>
                <a:ea typeface="Arial"/>
                <a:cs typeface="Arial"/>
              </a:defRPr>
            </a:lvl2pPr>
            <a:lvl3pPr>
              <a:defRPr sz="2250" b="0">
                <a:solidFill>
                  <a:srgbClr val="111111"/>
                </a:solidFill>
                <a:latin typeface="Arial"/>
                <a:ea typeface="Arial"/>
                <a:cs typeface="Arial"/>
              </a:defRPr>
            </a:lvl3pPr>
            <a:lvl4pPr>
              <a:defRPr sz="2250" b="0">
                <a:solidFill>
                  <a:srgbClr val="111111"/>
                </a:solidFill>
                <a:latin typeface="Arial"/>
                <a:ea typeface="Arial"/>
                <a:cs typeface="Arial"/>
              </a:defRPr>
            </a:lvl4pPr>
            <a:lvl5pPr>
              <a:defRPr sz="2250" b="0">
                <a:solidFill>
                  <a:srgbClr val="111111"/>
                </a:solidFill>
                <a:latin typeface="Arial"/>
                <a:ea typeface="Arial"/>
                <a:cs typeface="Arial"/>
              </a:defRPr>
            </a:lvl5pPr>
            <a:lvl6pPr>
              <a:defRPr sz="2250" b="0">
                <a:solidFill>
                  <a:srgbClr val="111111"/>
                </a:solidFill>
                <a:latin typeface="Arial"/>
                <a:ea typeface="Arial"/>
                <a:cs typeface="Arial"/>
              </a:defRPr>
            </a:lvl6pPr>
            <a:lvl7pPr>
              <a:defRPr sz="2250" b="0">
                <a:solidFill>
                  <a:srgbClr val="111111"/>
                </a:solidFill>
                <a:latin typeface="Arial"/>
                <a:ea typeface="Arial"/>
                <a:cs typeface="Arial"/>
              </a:defRPr>
            </a:lvl7pPr>
            <a:lvl8pPr>
              <a:defRPr sz="2250" b="0">
                <a:solidFill>
                  <a:srgbClr val="111111"/>
                </a:solidFill>
                <a:latin typeface="Arial"/>
                <a:ea typeface="Arial"/>
                <a:cs typeface="Arial"/>
              </a:defRPr>
            </a:lvl8pPr>
            <a:lvl9pPr>
              <a:defRPr sz="2250" b="0">
                <a:solidFill>
                  <a:srgbClr val="111111"/>
                </a:solidFill>
                <a:latin typeface="Arial"/>
                <a:ea typeface="Arial"/>
                <a:cs typeface="Arial"/>
              </a:defRPr>
            </a:lvl9pPr>
          </a:lstStyle>
          <a:p>
            <a:pPr>
              <a:defRPr sz="2250" b="0">
                <a:solidFill>
                  <a:srgbClr val="111111"/>
                </a:solidFill>
                <a:latin typeface="Arial"/>
                <a:ea typeface="Arial"/>
                <a:cs typeface="Arial"/>
              </a:defRPr>
            </a:pPr>
            <a:r>
              <a:rPr sz="2250" b="0">
                <a:solidFill>
                  <a:srgbClr val="111111"/>
                </a:solidFill>
                <a:latin typeface="Arial"/>
                <a:ea typeface="Arial"/>
                <a:cs typeface="Arial"/>
              </a:rPr>
              <a:t>reset = 1: q clears to 0 without a clock edge.</a:t>
            </a:r>
          </a:p>
          <a:p>
            <a:pPr>
              <a:defRPr sz="2250" b="0">
                <a:solidFill>
                  <a:srgbClr val="111111"/>
                </a:solidFill>
                <a:latin typeface="Arial"/>
                <a:ea typeface="Arial"/>
                <a:cs typeface="Arial"/>
              </a:defRPr>
            </a:pPr>
            <a:r>
              <a:rPr sz="2250" b="0">
                <a:solidFill>
                  <a:srgbClr val="111111"/>
                </a:solidFill>
                <a:latin typeface="Arial"/>
                <a:ea typeface="Arial"/>
                <a:cs typeface="Arial"/>
              </a:rPr>
              <a:t>Otherwise, each rising edge stores (a AND b) OR c in q.</a:t>
            </a:r>
          </a:p>
        </p:txBody>
      </p:sp>
    </p:spTree>
    <p:extLst>
      <p:ext uri="{BB962C8B-B14F-4D97-AF65-F5344CB8AC3E}">
        <p14:creationId xmlns:p14="http://schemas.microsoft.com/office/powerpoint/2010/main" val="2411266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0A3EEA8-8213-4A65-8BB3-004E22F3700D}"/>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Q7  Assignment operators</a:t>
            </a:r>
          </a:p>
        </p:txBody>
      </p:sp>
      <p:sp>
        <p:nvSpPr>
          <p:cNvPr id="2" name="矩形 1">
            <a:extLst>
              <a:ext uri="{FF2B5EF4-FFF2-40B4-BE49-F238E27FC236}">
                <a16:creationId xmlns:a16="http://schemas.microsoft.com/office/drawing/2014/main" id="{CD53797E-D9A4-47F4-BAE9-52AC30A9FA58}"/>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Repair two assignments, then predict y.</a:t>
            </a:r>
          </a:p>
        </p:txBody>
      </p:sp>
      <p:sp>
        <p:nvSpPr>
          <p:cNvPr id="3" name="矩形 2">
            <a:extLst>
              <a:ext uri="{FF2B5EF4-FFF2-40B4-BE49-F238E27FC236}">
                <a16:creationId xmlns:a16="http://schemas.microsoft.com/office/drawing/2014/main" id="{2E7EB0DE-276B-465F-8D1C-919454AC33CA}"/>
              </a:ext>
            </a:extLst>
          </p:cNvPr>
          <p:cNvSpPr>
            <a:spLocks noGrp="1"/>
          </p:cNvSpPr>
          <p:nvPr/>
        </p:nvSpPr>
        <p:spPr>
          <a:xfrm>
            <a:off x="666750" y="1381125"/>
            <a:ext cx="8096250" cy="4476750"/>
          </a:xfrm>
          <a:prstGeom prst="rect">
            <a:avLst/>
          </a:prstGeom>
          <a:noFill/>
          <a:ln w="0">
            <a:noFill/>
            <a:prstDash val="solid"/>
          </a:ln>
        </p:spPr>
        <p:txBody>
          <a:bodyPr lIns="0" tIns="0" rIns="0" bIns="0"/>
          <a:lstStyle>
            <a:defPPr>
              <a:defRPr sz="2100" b="0">
                <a:solidFill>
                  <a:srgbClr val="111111"/>
                </a:solidFill>
                <a:latin typeface="DejaVu Sans Mono"/>
                <a:ea typeface="DejaVu Sans Mono"/>
                <a:cs typeface="DejaVu Sans Mono"/>
              </a:defRPr>
            </a:defPPr>
            <a:lvl1pPr>
              <a:buNone/>
              <a:defRPr sz="2100" b="0">
                <a:solidFill>
                  <a:srgbClr val="111111"/>
                </a:solidFill>
                <a:latin typeface="DejaVu Sans Mono"/>
                <a:ea typeface="DejaVu Sans Mono"/>
                <a:cs typeface="DejaVu Sans Mono"/>
              </a:defRPr>
            </a:lvl1pPr>
            <a:lvl2pPr>
              <a:buNone/>
              <a:defRPr sz="2100" b="0">
                <a:solidFill>
                  <a:srgbClr val="111111"/>
                </a:solidFill>
                <a:latin typeface="DejaVu Sans Mono"/>
                <a:ea typeface="DejaVu Sans Mono"/>
                <a:cs typeface="DejaVu Sans Mono"/>
              </a:defRPr>
            </a:lvl2pPr>
            <a:lvl3pPr>
              <a:buNone/>
              <a:defRPr sz="2100" b="0">
                <a:solidFill>
                  <a:srgbClr val="111111"/>
                </a:solidFill>
                <a:latin typeface="DejaVu Sans Mono"/>
                <a:ea typeface="DejaVu Sans Mono"/>
                <a:cs typeface="DejaVu Sans Mono"/>
              </a:defRPr>
            </a:lvl3pPr>
            <a:lvl4pPr>
              <a:buNone/>
              <a:defRPr sz="2100" b="0">
                <a:solidFill>
                  <a:srgbClr val="111111"/>
                </a:solidFill>
                <a:latin typeface="DejaVu Sans Mono"/>
                <a:ea typeface="DejaVu Sans Mono"/>
                <a:cs typeface="DejaVu Sans Mono"/>
              </a:defRPr>
            </a:lvl4pPr>
            <a:lvl5pPr>
              <a:buNone/>
              <a:defRPr sz="2100" b="0">
                <a:solidFill>
                  <a:srgbClr val="111111"/>
                </a:solidFill>
                <a:latin typeface="DejaVu Sans Mono"/>
                <a:ea typeface="DejaVu Sans Mono"/>
                <a:cs typeface="DejaVu Sans Mono"/>
              </a:defRPr>
            </a:lvl5pPr>
            <a:lvl6pPr>
              <a:buNone/>
              <a:defRPr sz="2100" b="0">
                <a:solidFill>
                  <a:srgbClr val="111111"/>
                </a:solidFill>
                <a:latin typeface="DejaVu Sans Mono"/>
                <a:ea typeface="DejaVu Sans Mono"/>
                <a:cs typeface="DejaVu Sans Mono"/>
              </a:defRPr>
            </a:lvl6pPr>
            <a:lvl7pPr>
              <a:buNone/>
              <a:defRPr sz="2100" b="0">
                <a:solidFill>
                  <a:srgbClr val="111111"/>
                </a:solidFill>
                <a:latin typeface="DejaVu Sans Mono"/>
                <a:ea typeface="DejaVu Sans Mono"/>
                <a:cs typeface="DejaVu Sans Mono"/>
              </a:defRPr>
            </a:lvl7pPr>
            <a:lvl8pPr>
              <a:buNone/>
              <a:defRPr sz="2100" b="0">
                <a:solidFill>
                  <a:srgbClr val="111111"/>
                </a:solidFill>
                <a:latin typeface="DejaVu Sans Mono"/>
                <a:ea typeface="DejaVu Sans Mono"/>
                <a:cs typeface="DejaVu Sans Mono"/>
              </a:defRPr>
            </a:lvl8pPr>
            <a:lvl9pPr>
              <a:buNone/>
              <a:defRPr sz="2100" b="0">
                <a:solidFill>
                  <a:srgbClr val="111111"/>
                </a:solidFill>
                <a:latin typeface="DejaVu Sans Mono"/>
                <a:ea typeface="DejaVu Sans Mono"/>
                <a:cs typeface="DejaVu Sans Mono"/>
              </a:defRPr>
            </a:lvl9pPr>
          </a:lstStyle>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clk is a std_logic input.</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y is an integer signal, initially 0.</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process(clk)</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variable v : integer := 0;</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begin</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if rising_edge(clk) then</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v &lt;= v + 1;</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y := v;</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end if;</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end process;</a:t>
            </a:r>
          </a:p>
        </p:txBody>
      </p:sp>
      <p:sp>
        <p:nvSpPr>
          <p:cNvPr id="4" name="矩形 3">
            <a:extLst>
              <a:ext uri="{FF2B5EF4-FFF2-40B4-BE49-F238E27FC236}">
                <a16:creationId xmlns:a16="http://schemas.microsoft.com/office/drawing/2014/main" id="{8C575A0E-4B21-4E58-B40C-F670E8D524DD}"/>
              </a:ext>
            </a:extLst>
          </p:cNvPr>
          <p:cNvSpPr>
            <a:spLocks noGrp="1"/>
          </p:cNvSpPr>
          <p:nvPr/>
        </p:nvSpPr>
        <p:spPr>
          <a:xfrm>
            <a:off x="8953500" y="1524000"/>
            <a:ext cx="2571750" cy="3333750"/>
          </a:xfrm>
          <a:prstGeom prst="rect">
            <a:avLst/>
          </a:prstGeom>
          <a:noFill/>
          <a:ln w="0">
            <a:noFill/>
            <a:prstDash val="solid"/>
          </a:ln>
        </p:spPr>
        <p:txBody>
          <a:bodyPr lIns="0" tIns="0" rIns="0" bIns="0"/>
          <a:lstStyle>
            <a:defPPr>
              <a:defRPr sz="1950" b="0">
                <a:solidFill>
                  <a:srgbClr val="111111"/>
                </a:solidFill>
                <a:latin typeface="Arial"/>
                <a:ea typeface="Arial"/>
                <a:cs typeface="Arial"/>
              </a:defRPr>
            </a:defPPr>
            <a:lvl1pPr>
              <a:buNone/>
              <a:defRPr sz="1950" b="0">
                <a:solidFill>
                  <a:srgbClr val="111111"/>
                </a:solidFill>
                <a:latin typeface="Arial"/>
                <a:ea typeface="Arial"/>
                <a:cs typeface="Arial"/>
              </a:defRPr>
            </a:lvl1pPr>
            <a:lvl2pPr>
              <a:buNone/>
              <a:defRPr sz="1950" b="0">
                <a:solidFill>
                  <a:srgbClr val="111111"/>
                </a:solidFill>
                <a:latin typeface="Arial"/>
                <a:ea typeface="Arial"/>
                <a:cs typeface="Arial"/>
              </a:defRPr>
            </a:lvl2pPr>
            <a:lvl3pPr>
              <a:buNone/>
              <a:defRPr sz="1950" b="0">
                <a:solidFill>
                  <a:srgbClr val="111111"/>
                </a:solidFill>
                <a:latin typeface="Arial"/>
                <a:ea typeface="Arial"/>
                <a:cs typeface="Arial"/>
              </a:defRPr>
            </a:lvl3pPr>
            <a:lvl4pPr>
              <a:buNone/>
              <a:defRPr sz="1950" b="0">
                <a:solidFill>
                  <a:srgbClr val="111111"/>
                </a:solidFill>
                <a:latin typeface="Arial"/>
                <a:ea typeface="Arial"/>
                <a:cs typeface="Arial"/>
              </a:defRPr>
            </a:lvl4pPr>
            <a:lvl5pPr>
              <a:buNone/>
              <a:defRPr sz="1950" b="0">
                <a:solidFill>
                  <a:srgbClr val="111111"/>
                </a:solidFill>
                <a:latin typeface="Arial"/>
                <a:ea typeface="Arial"/>
                <a:cs typeface="Arial"/>
              </a:defRPr>
            </a:lvl5pPr>
            <a:lvl6pPr>
              <a:buNone/>
              <a:defRPr sz="1950" b="0">
                <a:solidFill>
                  <a:srgbClr val="111111"/>
                </a:solidFill>
                <a:latin typeface="Arial"/>
                <a:ea typeface="Arial"/>
                <a:cs typeface="Arial"/>
              </a:defRPr>
            </a:lvl6pPr>
            <a:lvl7pPr>
              <a:buNone/>
              <a:defRPr sz="1950" b="0">
                <a:solidFill>
                  <a:srgbClr val="111111"/>
                </a:solidFill>
                <a:latin typeface="Arial"/>
                <a:ea typeface="Arial"/>
                <a:cs typeface="Arial"/>
              </a:defRPr>
            </a:lvl7pPr>
            <a:lvl8pPr>
              <a:buNone/>
              <a:defRPr sz="1950" b="0">
                <a:solidFill>
                  <a:srgbClr val="111111"/>
                </a:solidFill>
                <a:latin typeface="Arial"/>
                <a:ea typeface="Arial"/>
                <a:cs typeface="Arial"/>
              </a:defRPr>
            </a:lvl8pPr>
            <a:lvl9pPr>
              <a:buNone/>
              <a:defRPr sz="1950" b="0">
                <a:solidFill>
                  <a:srgbClr val="111111"/>
                </a:solidFill>
                <a:latin typeface="Arial"/>
                <a:ea typeface="Arial"/>
                <a:cs typeface="Arial"/>
              </a:defRPr>
            </a:lvl9pPr>
          </a:lstStyle>
          <a:p>
            <a:pPr>
              <a:buNone/>
              <a:defRPr sz="1950" b="0">
                <a:solidFill>
                  <a:srgbClr val="111111"/>
                </a:solidFill>
                <a:latin typeface="Arial"/>
                <a:ea typeface="Arial"/>
                <a:cs typeface="Arial"/>
              </a:defRPr>
            </a:pPr>
            <a:r>
              <a:rPr sz="1950" b="0">
                <a:solidFill>
                  <a:srgbClr val="111111"/>
                </a:solidFill>
                <a:latin typeface="Arial"/>
                <a:ea typeface="Arial"/>
                <a:cs typeface="Arial"/>
              </a:rPr>
              <a:t>Predict y after the first and second rising edges.</a:t>
            </a:r>
          </a:p>
          <a:p>
            <a:endParaRPr sz="1950" b="0">
              <a:solidFill>
                <a:srgbClr val="111111"/>
              </a:solidFill>
              <a:latin typeface="Arial"/>
              <a:ea typeface="Arial"/>
              <a:cs typeface="Arial"/>
            </a:endParaRPr>
          </a:p>
          <a:p>
            <a:pPr>
              <a:buNone/>
              <a:defRPr sz="1950" b="0">
                <a:solidFill>
                  <a:srgbClr val="111111"/>
                </a:solidFill>
                <a:latin typeface="Arial"/>
                <a:ea typeface="Arial"/>
                <a:cs typeface="Arial"/>
              </a:defRPr>
            </a:pPr>
            <a:r>
              <a:rPr sz="1950" b="0">
                <a:solidFill>
                  <a:srgbClr val="111111"/>
                </a:solidFill>
                <a:latin typeface="Arial"/>
                <a:ea typeface="Arial"/>
                <a:cs typeface="Arial"/>
              </a:rPr>
              <a:t>The process variable keeps its value between activations.</a:t>
            </a:r>
          </a:p>
        </p:txBody>
      </p:sp>
      <p:sp>
        <p:nvSpPr>
          <p:cNvPr id="5" name="矩形 4">
            <a:extLst>
              <a:ext uri="{FF2B5EF4-FFF2-40B4-BE49-F238E27FC236}">
                <a16:creationId xmlns:a16="http://schemas.microsoft.com/office/drawing/2014/main" id="{82CE72FE-4E4A-460B-A163-228BF602156A}"/>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14</a:t>
            </a:r>
          </a:p>
        </p:txBody>
      </p:sp>
    </p:spTree>
    <p:extLst>
      <p:ext uri="{BB962C8B-B14F-4D97-AF65-F5344CB8AC3E}">
        <p14:creationId xmlns:p14="http://schemas.microsoft.com/office/powerpoint/2010/main" val="1308345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593D12E-E18D-4902-830C-F468DA8D92C1}"/>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Q7  Answer</a:t>
            </a:r>
          </a:p>
        </p:txBody>
      </p:sp>
      <p:sp>
        <p:nvSpPr>
          <p:cNvPr id="2" name="矩形 1">
            <a:extLst>
              <a:ext uri="{FF2B5EF4-FFF2-40B4-BE49-F238E27FC236}">
                <a16:creationId xmlns:a16="http://schemas.microsoft.com/office/drawing/2014/main" id="{2F5F1E63-2E36-4301-9529-0B732FC95804}"/>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Use := for the variable, and &lt;= for the signal</a:t>
            </a:r>
          </a:p>
        </p:txBody>
      </p:sp>
      <p:sp>
        <p:nvSpPr>
          <p:cNvPr id="3" name="矩形 2">
            <a:extLst>
              <a:ext uri="{FF2B5EF4-FFF2-40B4-BE49-F238E27FC236}">
                <a16:creationId xmlns:a16="http://schemas.microsoft.com/office/drawing/2014/main" id="{89F1C5E8-7218-48A3-B908-3D68F016C6CA}"/>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15</a:t>
            </a:r>
          </a:p>
        </p:txBody>
      </p:sp>
      <p:sp>
        <p:nvSpPr>
          <p:cNvPr id="4" name="矩形 3">
            <a:extLst>
              <a:ext uri="{FF2B5EF4-FFF2-40B4-BE49-F238E27FC236}">
                <a16:creationId xmlns:a16="http://schemas.microsoft.com/office/drawing/2014/main" id="{DB18A48E-B618-4A9B-AB88-52B1CF1941B8}"/>
              </a:ext>
            </a:extLst>
          </p:cNvPr>
          <p:cNvSpPr>
            <a:spLocks noGrp="1"/>
          </p:cNvSpPr>
          <p:nvPr/>
        </p:nvSpPr>
        <p:spPr>
          <a:xfrm>
            <a:off x="666750" y="1666875"/>
            <a:ext cx="6286500" cy="1238250"/>
          </a:xfrm>
          <a:prstGeom prst="rect">
            <a:avLst/>
          </a:prstGeom>
          <a:noFill/>
          <a:ln w="0">
            <a:noFill/>
            <a:prstDash val="solid"/>
          </a:ln>
        </p:spPr>
        <p:txBody>
          <a:bodyPr lIns="0" tIns="0" rIns="0" bIns="0"/>
          <a:lstStyle>
            <a:defPPr>
              <a:defRPr sz="2850" b="0">
                <a:solidFill>
                  <a:srgbClr val="111111"/>
                </a:solidFill>
                <a:latin typeface="DejaVu Sans Mono"/>
                <a:ea typeface="DejaVu Sans Mono"/>
                <a:cs typeface="DejaVu Sans Mono"/>
              </a:defRPr>
            </a:defPPr>
            <a:lvl1pPr>
              <a:defRPr sz="2850" b="0">
                <a:solidFill>
                  <a:srgbClr val="111111"/>
                </a:solidFill>
                <a:latin typeface="DejaVu Sans Mono"/>
                <a:ea typeface="DejaVu Sans Mono"/>
                <a:cs typeface="DejaVu Sans Mono"/>
              </a:defRPr>
            </a:lvl1pPr>
            <a:lvl2pPr>
              <a:defRPr sz="2850" b="0">
                <a:solidFill>
                  <a:srgbClr val="111111"/>
                </a:solidFill>
                <a:latin typeface="DejaVu Sans Mono"/>
                <a:ea typeface="DejaVu Sans Mono"/>
                <a:cs typeface="DejaVu Sans Mono"/>
              </a:defRPr>
            </a:lvl2pPr>
            <a:lvl3pPr>
              <a:defRPr sz="2850" b="0">
                <a:solidFill>
                  <a:srgbClr val="111111"/>
                </a:solidFill>
                <a:latin typeface="DejaVu Sans Mono"/>
                <a:ea typeface="DejaVu Sans Mono"/>
                <a:cs typeface="DejaVu Sans Mono"/>
              </a:defRPr>
            </a:lvl3pPr>
            <a:lvl4pPr>
              <a:defRPr sz="2850" b="0">
                <a:solidFill>
                  <a:srgbClr val="111111"/>
                </a:solidFill>
                <a:latin typeface="DejaVu Sans Mono"/>
                <a:ea typeface="DejaVu Sans Mono"/>
                <a:cs typeface="DejaVu Sans Mono"/>
              </a:defRPr>
            </a:lvl4pPr>
            <a:lvl5pPr>
              <a:defRPr sz="2850" b="0">
                <a:solidFill>
                  <a:srgbClr val="111111"/>
                </a:solidFill>
                <a:latin typeface="DejaVu Sans Mono"/>
                <a:ea typeface="DejaVu Sans Mono"/>
                <a:cs typeface="DejaVu Sans Mono"/>
              </a:defRPr>
            </a:lvl5pPr>
            <a:lvl6pPr>
              <a:defRPr sz="2850" b="0">
                <a:solidFill>
                  <a:srgbClr val="111111"/>
                </a:solidFill>
                <a:latin typeface="DejaVu Sans Mono"/>
                <a:ea typeface="DejaVu Sans Mono"/>
                <a:cs typeface="DejaVu Sans Mono"/>
              </a:defRPr>
            </a:lvl6pPr>
            <a:lvl7pPr>
              <a:defRPr sz="2850" b="0">
                <a:solidFill>
                  <a:srgbClr val="111111"/>
                </a:solidFill>
                <a:latin typeface="DejaVu Sans Mono"/>
                <a:ea typeface="DejaVu Sans Mono"/>
                <a:cs typeface="DejaVu Sans Mono"/>
              </a:defRPr>
            </a:lvl7pPr>
            <a:lvl8pPr>
              <a:defRPr sz="2850" b="0">
                <a:solidFill>
                  <a:srgbClr val="111111"/>
                </a:solidFill>
                <a:latin typeface="DejaVu Sans Mono"/>
                <a:ea typeface="DejaVu Sans Mono"/>
                <a:cs typeface="DejaVu Sans Mono"/>
              </a:defRPr>
            </a:lvl8pPr>
            <a:lvl9pPr>
              <a:defRPr sz="2850" b="0">
                <a:solidFill>
                  <a:srgbClr val="111111"/>
                </a:solidFill>
                <a:latin typeface="DejaVu Sans Mono"/>
                <a:ea typeface="DejaVu Sans Mono"/>
                <a:cs typeface="DejaVu Sans Mono"/>
              </a:defRPr>
            </a:lvl9pPr>
          </a:lstStyle>
          <a:p>
            <a:pPr>
              <a:defRPr sz="2850" b="0">
                <a:solidFill>
                  <a:srgbClr val="111111"/>
                </a:solidFill>
                <a:latin typeface="DejaVu Sans Mono"/>
                <a:ea typeface="DejaVu Sans Mono"/>
                <a:cs typeface="DejaVu Sans Mono"/>
              </a:defRPr>
            </a:pPr>
            <a:r>
              <a:rPr sz="2850" b="0">
                <a:solidFill>
                  <a:srgbClr val="111111"/>
                </a:solidFill>
                <a:latin typeface="DejaVu Sans Mono"/>
                <a:ea typeface="DejaVu Sans Mono"/>
                <a:cs typeface="DejaVu Sans Mono"/>
              </a:rPr>
              <a:t>v := v + 1;</a:t>
            </a:r>
          </a:p>
          <a:p>
            <a:pPr>
              <a:defRPr sz="2850" b="0">
                <a:solidFill>
                  <a:srgbClr val="111111"/>
                </a:solidFill>
                <a:latin typeface="DejaVu Sans Mono"/>
                <a:ea typeface="DejaVu Sans Mono"/>
                <a:cs typeface="DejaVu Sans Mono"/>
              </a:defRPr>
            </a:pPr>
            <a:r>
              <a:rPr sz="2850" b="0">
                <a:solidFill>
                  <a:srgbClr val="111111"/>
                </a:solidFill>
                <a:latin typeface="DejaVu Sans Mono"/>
                <a:ea typeface="DejaVu Sans Mono"/>
                <a:cs typeface="DejaVu Sans Mono"/>
              </a:rPr>
              <a:t>y &lt;= v;</a:t>
            </a:r>
          </a:p>
        </p:txBody>
      </p:sp>
      <p:graphicFrame>
        <p:nvGraphicFramePr>
          <p:cNvPr id="5" name="表格 4">
            <a:extLst>
              <a:ext uri="{FF2B5EF4-FFF2-40B4-BE49-F238E27FC236}">
                <a16:creationId xmlns:a16="http://schemas.microsoft.com/office/drawing/2014/main" id="{10BC836E-C014-456C-BEC6-6227D2298A14}"/>
              </a:ext>
            </a:extLst>
          </p:cNvPr>
          <p:cNvGraphicFramePr/>
          <p:nvPr/>
        </p:nvGraphicFramePr>
        <p:xfrm>
          <a:off x="7715250" y="1619250"/>
          <a:ext cx="3810000" cy="2286000"/>
        </p:xfrm>
        <a:graphic>
          <a:graphicData uri="http://schemas.openxmlformats.org/drawingml/2006/table">
            <a:tbl>
              <a:tblPr/>
              <a:tblGrid>
                <a:gridCol w="133350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762000">
                <a:tc>
                  <a:txBody>
                    <a:bodyPr/>
                    <a:lstStyle/>
                    <a:p>
                      <a:r>
                        <a:rPr sz="2025" b="1">
                          <a:solidFill>
                            <a:srgbClr val="111111"/>
                          </a:solidFill>
                          <a:latin typeface="Arial"/>
                          <a:ea typeface="Arial"/>
                          <a:cs typeface="Arial"/>
                        </a:rPr>
                        <a:t>Edge</a:t>
                      </a:r>
                    </a:p>
                  </a:txBody>
                  <a:tcPr>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tc>
                  <a:txBody>
                    <a:bodyPr/>
                    <a:lstStyle/>
                    <a:p>
                      <a:r>
                        <a:rPr sz="2025" b="1">
                          <a:solidFill>
                            <a:srgbClr val="111111"/>
                          </a:solidFill>
                          <a:latin typeface="Arial"/>
                          <a:ea typeface="Arial"/>
                          <a:cs typeface="Arial"/>
                        </a:rPr>
                        <a:t>v</a:t>
                      </a:r>
                    </a:p>
                  </a:txBody>
                  <a:tcPr>
                    <a:lnL w="9525" cap="flat" cmpd="sng" algn="ctr">
                      <a:solidFill>
                        <a:srgbClr val="CCCCCC"/>
                      </a:solidFill>
                      <a:prstDash val="solid"/>
                      <a:round/>
                      <a:headEnd type="none" w="med" len="med"/>
                      <a:tailEnd type="none" w="med" len="me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tc>
                  <a:txBody>
                    <a:bodyPr/>
                    <a:lstStyle/>
                    <a:p>
                      <a:r>
                        <a:rPr sz="2025" b="1">
                          <a:solidFill>
                            <a:srgbClr val="111111"/>
                          </a:solidFill>
                          <a:latin typeface="Arial"/>
                          <a:ea typeface="Arial"/>
                          <a:cs typeface="Arial"/>
                        </a:rPr>
                        <a:t>y</a:t>
                      </a:r>
                    </a:p>
                  </a:txBody>
                  <a:tcPr>
                    <a:lnL w="9525" cap="flat" cmpd="sng" algn="ctr">
                      <a:solidFill>
                        <a:srgbClr val="CCCCCC"/>
                      </a:solidFill>
                      <a:prstDash val="solid"/>
                      <a:round/>
                      <a:headEnd type="none" w="med" len="med"/>
                      <a:tailEnd type="none" w="med" len="me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extLst>
                  <a:ext uri="{0D108BD9-81ED-4DB2-BD59-A6C34878D82A}">
                    <a16:rowId xmlns:a16="http://schemas.microsoft.com/office/drawing/2014/main" val="10000"/>
                  </a:ext>
                </a:extLst>
              </a:tr>
              <a:tr h="762000">
                <a:tc>
                  <a:txBody>
                    <a:bodyPr/>
                    <a:lstStyle/>
                    <a:p>
                      <a:r>
                        <a:rPr sz="2025" b="0">
                          <a:solidFill>
                            <a:srgbClr val="111111"/>
                          </a:solidFill>
                          <a:latin typeface="Arial"/>
                          <a:ea typeface="Arial"/>
                          <a:cs typeface="Arial"/>
                        </a:rPr>
                        <a:t>1</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1</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1</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1"/>
                  </a:ext>
                </a:extLst>
              </a:tr>
              <a:tr h="762000">
                <a:tc>
                  <a:txBody>
                    <a:bodyPr/>
                    <a:lstStyle/>
                    <a:p>
                      <a:r>
                        <a:rPr sz="2025" b="0">
                          <a:solidFill>
                            <a:srgbClr val="111111"/>
                          </a:solidFill>
                          <a:latin typeface="Arial"/>
                          <a:ea typeface="Arial"/>
                          <a:cs typeface="Arial"/>
                        </a:rPr>
                        <a:t>2</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2</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2</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6" name="矩形 5">
            <a:extLst>
              <a:ext uri="{FF2B5EF4-FFF2-40B4-BE49-F238E27FC236}">
                <a16:creationId xmlns:a16="http://schemas.microsoft.com/office/drawing/2014/main" id="{22723C9A-73CE-460D-A8A1-4EE4D4102079}"/>
              </a:ext>
            </a:extLst>
          </p:cNvPr>
          <p:cNvSpPr>
            <a:spLocks noGrp="1"/>
          </p:cNvSpPr>
          <p:nvPr/>
        </p:nvSpPr>
        <p:spPr>
          <a:xfrm>
            <a:off x="666750" y="4810125"/>
            <a:ext cx="10858500" cy="619125"/>
          </a:xfrm>
          <a:prstGeom prst="rect">
            <a:avLst/>
          </a:prstGeom>
          <a:noFill/>
          <a:ln w="0">
            <a:noFill/>
            <a:prstDash val="solid"/>
          </a:ln>
        </p:spPr>
        <p:txBody>
          <a:bodyPr lIns="0" tIns="0" rIns="0" bIns="0"/>
          <a:lstStyle>
            <a:defPPr>
              <a:defRPr sz="2475" b="0">
                <a:solidFill>
                  <a:srgbClr val="111111"/>
                </a:solidFill>
                <a:latin typeface="Arial"/>
                <a:ea typeface="Arial"/>
                <a:cs typeface="Arial"/>
              </a:defRPr>
            </a:defPPr>
            <a:lvl1pPr>
              <a:defRPr sz="2475" b="0">
                <a:solidFill>
                  <a:srgbClr val="111111"/>
                </a:solidFill>
                <a:latin typeface="Arial"/>
                <a:ea typeface="Arial"/>
                <a:cs typeface="Arial"/>
              </a:defRPr>
            </a:lvl1pPr>
            <a:lvl2pPr>
              <a:defRPr sz="2475" b="0">
                <a:solidFill>
                  <a:srgbClr val="111111"/>
                </a:solidFill>
                <a:latin typeface="Arial"/>
                <a:ea typeface="Arial"/>
                <a:cs typeface="Arial"/>
              </a:defRPr>
            </a:lvl2pPr>
            <a:lvl3pPr>
              <a:defRPr sz="2475" b="0">
                <a:solidFill>
                  <a:srgbClr val="111111"/>
                </a:solidFill>
                <a:latin typeface="Arial"/>
                <a:ea typeface="Arial"/>
                <a:cs typeface="Arial"/>
              </a:defRPr>
            </a:lvl3pPr>
            <a:lvl4pPr>
              <a:defRPr sz="2475" b="0">
                <a:solidFill>
                  <a:srgbClr val="111111"/>
                </a:solidFill>
                <a:latin typeface="Arial"/>
                <a:ea typeface="Arial"/>
                <a:cs typeface="Arial"/>
              </a:defRPr>
            </a:lvl4pPr>
            <a:lvl5pPr>
              <a:defRPr sz="2475" b="0">
                <a:solidFill>
                  <a:srgbClr val="111111"/>
                </a:solidFill>
                <a:latin typeface="Arial"/>
                <a:ea typeface="Arial"/>
                <a:cs typeface="Arial"/>
              </a:defRPr>
            </a:lvl5pPr>
            <a:lvl6pPr>
              <a:defRPr sz="2475" b="0">
                <a:solidFill>
                  <a:srgbClr val="111111"/>
                </a:solidFill>
                <a:latin typeface="Arial"/>
                <a:ea typeface="Arial"/>
                <a:cs typeface="Arial"/>
              </a:defRPr>
            </a:lvl6pPr>
            <a:lvl7pPr>
              <a:defRPr sz="2475" b="0">
                <a:solidFill>
                  <a:srgbClr val="111111"/>
                </a:solidFill>
                <a:latin typeface="Arial"/>
                <a:ea typeface="Arial"/>
                <a:cs typeface="Arial"/>
              </a:defRPr>
            </a:lvl7pPr>
            <a:lvl8pPr>
              <a:defRPr sz="2475" b="0">
                <a:solidFill>
                  <a:srgbClr val="111111"/>
                </a:solidFill>
                <a:latin typeface="Arial"/>
                <a:ea typeface="Arial"/>
                <a:cs typeface="Arial"/>
              </a:defRPr>
            </a:lvl8pPr>
            <a:lvl9pPr>
              <a:defRPr sz="2475" b="0">
                <a:solidFill>
                  <a:srgbClr val="111111"/>
                </a:solidFill>
                <a:latin typeface="Arial"/>
                <a:ea typeface="Arial"/>
                <a:cs typeface="Arial"/>
              </a:defRPr>
            </a:lvl9pPr>
          </a:lstStyle>
          <a:p>
            <a:pPr>
              <a:defRPr sz="2475" b="0">
                <a:solidFill>
                  <a:srgbClr val="111111"/>
                </a:solidFill>
                <a:latin typeface="Arial"/>
                <a:ea typeface="Arial"/>
                <a:cs typeface="Arial"/>
              </a:defRPr>
            </a:pPr>
            <a:r>
              <a:rPr sz="2475" b="0">
                <a:solidFill>
                  <a:srgbClr val="111111"/>
                </a:solidFill>
                <a:latin typeface="Arial"/>
                <a:ea typeface="Arial"/>
                <a:cs typeface="Arial"/>
              </a:rPr>
              <a:t>v changes immediately. y updates afterwards.</a:t>
            </a:r>
          </a:p>
        </p:txBody>
      </p:sp>
      <p:sp>
        <p:nvSpPr>
          <p:cNvPr id="7" name="矩形 6">
            <a:extLst>
              <a:ext uri="{FF2B5EF4-FFF2-40B4-BE49-F238E27FC236}">
                <a16:creationId xmlns:a16="http://schemas.microsoft.com/office/drawing/2014/main" id="{F07866E0-4A46-4ACF-A45B-3DED33F0492D}"/>
              </a:ext>
            </a:extLst>
          </p:cNvPr>
          <p:cNvSpPr>
            <a:spLocks noGrp="1"/>
          </p:cNvSpPr>
          <p:nvPr/>
        </p:nvSpPr>
        <p:spPr>
          <a:xfrm>
            <a:off x="666750" y="5572125"/>
            <a:ext cx="10858500" cy="523875"/>
          </a:xfrm>
          <a:prstGeom prst="rect">
            <a:avLst/>
          </a:prstGeom>
          <a:noFill/>
          <a:ln w="0">
            <a:noFill/>
            <a:prstDash val="solid"/>
          </a:ln>
        </p:spPr>
        <p:txBody>
          <a:bodyPr lIns="0" tIns="0" rIns="0" bIns="0"/>
          <a:lstStyle>
            <a:defPPr>
              <a:defRPr sz="2175" b="0">
                <a:solidFill>
                  <a:srgbClr val="111111"/>
                </a:solidFill>
                <a:latin typeface="Arial"/>
                <a:ea typeface="Arial"/>
                <a:cs typeface="Arial"/>
              </a:defRPr>
            </a:defPPr>
            <a:lvl1pPr>
              <a:defRPr sz="2175" b="0">
                <a:solidFill>
                  <a:srgbClr val="111111"/>
                </a:solidFill>
                <a:latin typeface="Arial"/>
                <a:ea typeface="Arial"/>
                <a:cs typeface="Arial"/>
              </a:defRPr>
            </a:lvl1pPr>
            <a:lvl2pPr>
              <a:defRPr sz="2175" b="0">
                <a:solidFill>
                  <a:srgbClr val="111111"/>
                </a:solidFill>
                <a:latin typeface="Arial"/>
                <a:ea typeface="Arial"/>
                <a:cs typeface="Arial"/>
              </a:defRPr>
            </a:lvl2pPr>
            <a:lvl3pPr>
              <a:defRPr sz="2175" b="0">
                <a:solidFill>
                  <a:srgbClr val="111111"/>
                </a:solidFill>
                <a:latin typeface="Arial"/>
                <a:ea typeface="Arial"/>
                <a:cs typeface="Arial"/>
              </a:defRPr>
            </a:lvl3pPr>
            <a:lvl4pPr>
              <a:defRPr sz="2175" b="0">
                <a:solidFill>
                  <a:srgbClr val="111111"/>
                </a:solidFill>
                <a:latin typeface="Arial"/>
                <a:ea typeface="Arial"/>
                <a:cs typeface="Arial"/>
              </a:defRPr>
            </a:lvl4pPr>
            <a:lvl5pPr>
              <a:defRPr sz="2175" b="0">
                <a:solidFill>
                  <a:srgbClr val="111111"/>
                </a:solidFill>
                <a:latin typeface="Arial"/>
                <a:ea typeface="Arial"/>
                <a:cs typeface="Arial"/>
              </a:defRPr>
            </a:lvl5pPr>
            <a:lvl6pPr>
              <a:defRPr sz="2175" b="0">
                <a:solidFill>
                  <a:srgbClr val="111111"/>
                </a:solidFill>
                <a:latin typeface="Arial"/>
                <a:ea typeface="Arial"/>
                <a:cs typeface="Arial"/>
              </a:defRPr>
            </a:lvl6pPr>
            <a:lvl7pPr>
              <a:defRPr sz="2175" b="0">
                <a:solidFill>
                  <a:srgbClr val="111111"/>
                </a:solidFill>
                <a:latin typeface="Arial"/>
                <a:ea typeface="Arial"/>
                <a:cs typeface="Arial"/>
              </a:defRPr>
            </a:lvl7pPr>
            <a:lvl8pPr>
              <a:defRPr sz="2175" b="0">
                <a:solidFill>
                  <a:srgbClr val="111111"/>
                </a:solidFill>
                <a:latin typeface="Arial"/>
                <a:ea typeface="Arial"/>
                <a:cs typeface="Arial"/>
              </a:defRPr>
            </a:lvl8pPr>
            <a:lvl9pPr>
              <a:defRPr sz="2175" b="0">
                <a:solidFill>
                  <a:srgbClr val="111111"/>
                </a:solidFill>
                <a:latin typeface="Arial"/>
                <a:ea typeface="Arial"/>
                <a:cs typeface="Arial"/>
              </a:defRPr>
            </a:lvl9pPr>
          </a:lstStyle>
          <a:p>
            <a:pPr>
              <a:defRPr sz="2175" b="0">
                <a:solidFill>
                  <a:srgbClr val="111111"/>
                </a:solidFill>
                <a:latin typeface="Arial"/>
                <a:ea typeface="Arial"/>
                <a:cs typeface="Arial"/>
              </a:defRPr>
            </a:pPr>
            <a:r>
              <a:rPr sz="2175" b="0">
                <a:solidFill>
                  <a:srgbClr val="111111"/>
                </a:solidFill>
                <a:latin typeface="Arial"/>
                <a:ea typeface="Arial"/>
                <a:cs typeface="Arial"/>
              </a:rPr>
              <a:t>v keeps its value between activations.</a:t>
            </a:r>
          </a:p>
        </p:txBody>
      </p:sp>
    </p:spTree>
    <p:extLst>
      <p:ext uri="{BB962C8B-B14F-4D97-AF65-F5344CB8AC3E}">
        <p14:creationId xmlns:p14="http://schemas.microsoft.com/office/powerpoint/2010/main" val="1984483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3F7BC31-B208-4268-BDC2-855DB8B4D62B}"/>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Q8  Complete combinational assignment</a:t>
            </a:r>
          </a:p>
        </p:txBody>
      </p:sp>
      <p:sp>
        <p:nvSpPr>
          <p:cNvPr id="2" name="矩形 1">
            <a:extLst>
              <a:ext uri="{FF2B5EF4-FFF2-40B4-BE49-F238E27FC236}">
                <a16:creationId xmlns:a16="http://schemas.microsoft.com/office/drawing/2014/main" id="{F6758AB7-72A8-4B54-962E-A85218E2E2A4}"/>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Does this code describe a complete multiplexer?</a:t>
            </a:r>
          </a:p>
        </p:txBody>
      </p:sp>
      <p:sp>
        <p:nvSpPr>
          <p:cNvPr id="3" name="矩形 2">
            <a:extLst>
              <a:ext uri="{FF2B5EF4-FFF2-40B4-BE49-F238E27FC236}">
                <a16:creationId xmlns:a16="http://schemas.microsoft.com/office/drawing/2014/main" id="{770AB759-7A0F-4DD4-94E7-A3B90FB4F0EA}"/>
              </a:ext>
            </a:extLst>
          </p:cNvPr>
          <p:cNvSpPr>
            <a:spLocks noGrp="1"/>
          </p:cNvSpPr>
          <p:nvPr/>
        </p:nvSpPr>
        <p:spPr>
          <a:xfrm>
            <a:off x="666750" y="1428750"/>
            <a:ext cx="8096250" cy="3524250"/>
          </a:xfrm>
          <a:prstGeom prst="rect">
            <a:avLst/>
          </a:prstGeom>
          <a:noFill/>
          <a:ln w="0">
            <a:noFill/>
            <a:prstDash val="solid"/>
          </a:ln>
        </p:spPr>
        <p:txBody>
          <a:bodyPr lIns="0" tIns="0" rIns="0" bIns="0"/>
          <a:lstStyle>
            <a:defPPr>
              <a:defRPr sz="2250" b="0">
                <a:solidFill>
                  <a:srgbClr val="111111"/>
                </a:solidFill>
                <a:latin typeface="DejaVu Sans Mono"/>
                <a:ea typeface="DejaVu Sans Mono"/>
                <a:cs typeface="DejaVu Sans Mono"/>
              </a:defRPr>
            </a:defPPr>
            <a:lvl1pPr>
              <a:buNone/>
              <a:defRPr sz="2250" b="0">
                <a:solidFill>
                  <a:srgbClr val="111111"/>
                </a:solidFill>
                <a:latin typeface="DejaVu Sans Mono"/>
                <a:ea typeface="DejaVu Sans Mono"/>
                <a:cs typeface="DejaVu Sans Mono"/>
              </a:defRPr>
            </a:lvl1pPr>
            <a:lvl2pPr>
              <a:buNone/>
              <a:defRPr sz="2250" b="0">
                <a:solidFill>
                  <a:srgbClr val="111111"/>
                </a:solidFill>
                <a:latin typeface="DejaVu Sans Mono"/>
                <a:ea typeface="DejaVu Sans Mono"/>
                <a:cs typeface="DejaVu Sans Mono"/>
              </a:defRPr>
            </a:lvl2pPr>
            <a:lvl3pPr>
              <a:buNone/>
              <a:defRPr sz="2250" b="0">
                <a:solidFill>
                  <a:srgbClr val="111111"/>
                </a:solidFill>
                <a:latin typeface="DejaVu Sans Mono"/>
                <a:ea typeface="DejaVu Sans Mono"/>
                <a:cs typeface="DejaVu Sans Mono"/>
              </a:defRPr>
            </a:lvl3pPr>
            <a:lvl4pPr>
              <a:buNone/>
              <a:defRPr sz="2250" b="0">
                <a:solidFill>
                  <a:srgbClr val="111111"/>
                </a:solidFill>
                <a:latin typeface="DejaVu Sans Mono"/>
                <a:ea typeface="DejaVu Sans Mono"/>
                <a:cs typeface="DejaVu Sans Mono"/>
              </a:defRPr>
            </a:lvl4pPr>
            <a:lvl5pPr>
              <a:buNone/>
              <a:defRPr sz="2250" b="0">
                <a:solidFill>
                  <a:srgbClr val="111111"/>
                </a:solidFill>
                <a:latin typeface="DejaVu Sans Mono"/>
                <a:ea typeface="DejaVu Sans Mono"/>
                <a:cs typeface="DejaVu Sans Mono"/>
              </a:defRPr>
            </a:lvl5pPr>
            <a:lvl6pPr>
              <a:buNone/>
              <a:defRPr sz="2250" b="0">
                <a:solidFill>
                  <a:srgbClr val="111111"/>
                </a:solidFill>
                <a:latin typeface="DejaVu Sans Mono"/>
                <a:ea typeface="DejaVu Sans Mono"/>
                <a:cs typeface="DejaVu Sans Mono"/>
              </a:defRPr>
            </a:lvl6pPr>
            <a:lvl7pPr>
              <a:buNone/>
              <a:defRPr sz="2250" b="0">
                <a:solidFill>
                  <a:srgbClr val="111111"/>
                </a:solidFill>
                <a:latin typeface="DejaVu Sans Mono"/>
                <a:ea typeface="DejaVu Sans Mono"/>
                <a:cs typeface="DejaVu Sans Mono"/>
              </a:defRPr>
            </a:lvl7pPr>
            <a:lvl8pPr>
              <a:buNone/>
              <a:defRPr sz="2250" b="0">
                <a:solidFill>
                  <a:srgbClr val="111111"/>
                </a:solidFill>
                <a:latin typeface="DejaVu Sans Mono"/>
                <a:ea typeface="DejaVu Sans Mono"/>
                <a:cs typeface="DejaVu Sans Mono"/>
              </a:defRPr>
            </a:lvl8pPr>
            <a:lvl9pPr>
              <a:buNone/>
              <a:defRPr sz="2250" b="0">
                <a:solidFill>
                  <a:srgbClr val="111111"/>
                </a:solidFill>
                <a:latin typeface="DejaVu Sans Mono"/>
                <a:ea typeface="DejaVu Sans Mono"/>
                <a:cs typeface="DejaVu Sans Mono"/>
              </a:defRPr>
            </a:lvl9pPr>
          </a:lstStyle>
          <a:p>
            <a:pPr>
              <a:buNone/>
              <a:defRPr sz="2250" b="0">
                <a:solidFill>
                  <a:srgbClr val="111111"/>
                </a:solidFill>
                <a:latin typeface="DejaVu Sans Mono"/>
                <a:ea typeface="DejaVu Sans Mono"/>
                <a:cs typeface="DejaVu Sans Mono"/>
              </a:defRPr>
            </a:pPr>
            <a:r>
              <a:rPr sz="2250" b="0">
                <a:solidFill>
                  <a:srgbClr val="111111"/>
                </a:solidFill>
                <a:latin typeface="DejaVu Sans Mono"/>
                <a:ea typeface="DejaVu Sans Mono"/>
                <a:cs typeface="DejaVu Sans Mono"/>
              </a:rPr>
              <a:t>-- a, b, sel and y are std_logic.</a:t>
            </a:r>
          </a:p>
          <a:p>
            <a:pPr>
              <a:buNone/>
              <a:defRPr sz="2250" b="0">
                <a:solidFill>
                  <a:srgbClr val="111111"/>
                </a:solidFill>
                <a:latin typeface="DejaVu Sans Mono"/>
                <a:ea typeface="DejaVu Sans Mono"/>
                <a:cs typeface="DejaVu Sans Mono"/>
              </a:defRPr>
            </a:pPr>
            <a:r>
              <a:rPr sz="2250" b="0">
                <a:solidFill>
                  <a:srgbClr val="111111"/>
                </a:solidFill>
                <a:latin typeface="DejaVu Sans Mono"/>
                <a:ea typeface="DejaVu Sans Mono"/>
                <a:cs typeface="DejaVu Sans Mono"/>
              </a:rPr>
              <a:t>process(a, b, sel)</a:t>
            </a:r>
          </a:p>
          <a:p>
            <a:pPr>
              <a:buNone/>
              <a:defRPr sz="2250" b="0">
                <a:solidFill>
                  <a:srgbClr val="111111"/>
                </a:solidFill>
                <a:latin typeface="DejaVu Sans Mono"/>
                <a:ea typeface="DejaVu Sans Mono"/>
                <a:cs typeface="DejaVu Sans Mono"/>
              </a:defRPr>
            </a:pPr>
            <a:r>
              <a:rPr sz="2250" b="0">
                <a:solidFill>
                  <a:srgbClr val="111111"/>
                </a:solidFill>
                <a:latin typeface="DejaVu Sans Mono"/>
                <a:ea typeface="DejaVu Sans Mono"/>
                <a:cs typeface="DejaVu Sans Mono"/>
              </a:rPr>
              <a:t>begin</a:t>
            </a:r>
          </a:p>
          <a:p>
            <a:pPr>
              <a:buNone/>
              <a:defRPr sz="2250" b="0">
                <a:solidFill>
                  <a:srgbClr val="111111"/>
                </a:solidFill>
                <a:latin typeface="DejaVu Sans Mono"/>
                <a:ea typeface="DejaVu Sans Mono"/>
                <a:cs typeface="DejaVu Sans Mono"/>
              </a:defRPr>
            </a:pPr>
            <a:r>
              <a:rPr sz="2250" b="0">
                <a:solidFill>
                  <a:srgbClr val="111111"/>
                </a:solidFill>
                <a:latin typeface="DejaVu Sans Mono"/>
                <a:ea typeface="DejaVu Sans Mono"/>
                <a:cs typeface="DejaVu Sans Mono"/>
              </a:rPr>
              <a:t>  if sel = '1' then</a:t>
            </a:r>
          </a:p>
          <a:p>
            <a:pPr>
              <a:buNone/>
              <a:defRPr sz="2250" b="0">
                <a:solidFill>
                  <a:srgbClr val="111111"/>
                </a:solidFill>
                <a:latin typeface="DejaVu Sans Mono"/>
                <a:ea typeface="DejaVu Sans Mono"/>
                <a:cs typeface="DejaVu Sans Mono"/>
              </a:defRPr>
            </a:pPr>
            <a:r>
              <a:rPr sz="2250" b="0">
                <a:solidFill>
                  <a:srgbClr val="111111"/>
                </a:solidFill>
                <a:latin typeface="DejaVu Sans Mono"/>
                <a:ea typeface="DejaVu Sans Mono"/>
                <a:cs typeface="DejaVu Sans Mono"/>
              </a:rPr>
              <a:t>    y &lt;= a;</a:t>
            </a:r>
          </a:p>
          <a:p>
            <a:pPr>
              <a:buNone/>
              <a:defRPr sz="2250" b="0">
                <a:solidFill>
                  <a:srgbClr val="111111"/>
                </a:solidFill>
                <a:latin typeface="DejaVu Sans Mono"/>
                <a:ea typeface="DejaVu Sans Mono"/>
                <a:cs typeface="DejaVu Sans Mono"/>
              </a:defRPr>
            </a:pPr>
            <a:r>
              <a:rPr sz="2250" b="0">
                <a:solidFill>
                  <a:srgbClr val="111111"/>
                </a:solidFill>
                <a:latin typeface="DejaVu Sans Mono"/>
                <a:ea typeface="DejaVu Sans Mono"/>
                <a:cs typeface="DejaVu Sans Mono"/>
              </a:rPr>
              <a:t>  end if;</a:t>
            </a:r>
          </a:p>
          <a:p>
            <a:pPr>
              <a:buNone/>
              <a:defRPr sz="2250" b="0">
                <a:solidFill>
                  <a:srgbClr val="111111"/>
                </a:solidFill>
                <a:latin typeface="DejaVu Sans Mono"/>
                <a:ea typeface="DejaVu Sans Mono"/>
                <a:cs typeface="DejaVu Sans Mono"/>
              </a:defRPr>
            </a:pPr>
            <a:r>
              <a:rPr sz="2250" b="0">
                <a:solidFill>
                  <a:srgbClr val="111111"/>
                </a:solidFill>
                <a:latin typeface="DejaVu Sans Mono"/>
                <a:ea typeface="DejaVu Sans Mono"/>
                <a:cs typeface="DejaVu Sans Mono"/>
              </a:rPr>
              <a:t>end process;</a:t>
            </a:r>
          </a:p>
        </p:txBody>
      </p:sp>
      <p:sp>
        <p:nvSpPr>
          <p:cNvPr id="4" name="矩形 3">
            <a:extLst>
              <a:ext uri="{FF2B5EF4-FFF2-40B4-BE49-F238E27FC236}">
                <a16:creationId xmlns:a16="http://schemas.microsoft.com/office/drawing/2014/main" id="{F855B902-3CC5-41A1-BEB1-9A5B3E9685CB}"/>
              </a:ext>
            </a:extLst>
          </p:cNvPr>
          <p:cNvSpPr>
            <a:spLocks noGrp="1"/>
          </p:cNvSpPr>
          <p:nvPr/>
        </p:nvSpPr>
        <p:spPr>
          <a:xfrm>
            <a:off x="666750" y="5286375"/>
            <a:ext cx="10858500" cy="4857750"/>
          </a:xfrm>
          <a:prstGeom prst="rect">
            <a:avLst/>
          </a:prstGeom>
          <a:noFill/>
          <a:ln w="0">
            <a:noFill/>
            <a:prstDash val="solid"/>
          </a:ln>
        </p:spPr>
        <p:txBody>
          <a:bodyPr lIns="0" tIns="0" rIns="0" bIns="0"/>
          <a:lstStyle>
            <a:defPPr>
              <a:defRPr sz="2100" b="0">
                <a:solidFill>
                  <a:srgbClr val="111111"/>
                </a:solidFill>
                <a:latin typeface="Arial"/>
                <a:ea typeface="Arial"/>
                <a:cs typeface="Arial"/>
              </a:defRPr>
            </a:defPPr>
            <a:lvl1pPr>
              <a:buNone/>
              <a:defRPr sz="2100" b="0">
                <a:solidFill>
                  <a:srgbClr val="111111"/>
                </a:solidFill>
                <a:latin typeface="Arial"/>
                <a:ea typeface="Arial"/>
                <a:cs typeface="Arial"/>
              </a:defRPr>
            </a:lvl1pPr>
            <a:lvl2pPr>
              <a:buNone/>
              <a:defRPr sz="2100" b="0">
                <a:solidFill>
                  <a:srgbClr val="111111"/>
                </a:solidFill>
                <a:latin typeface="Arial"/>
                <a:ea typeface="Arial"/>
                <a:cs typeface="Arial"/>
              </a:defRPr>
            </a:lvl2pPr>
            <a:lvl3pPr>
              <a:buNone/>
              <a:defRPr sz="2100" b="0">
                <a:solidFill>
                  <a:srgbClr val="111111"/>
                </a:solidFill>
                <a:latin typeface="Arial"/>
                <a:ea typeface="Arial"/>
                <a:cs typeface="Arial"/>
              </a:defRPr>
            </a:lvl3pPr>
            <a:lvl4pPr>
              <a:buNone/>
              <a:defRPr sz="2100" b="0">
                <a:solidFill>
                  <a:srgbClr val="111111"/>
                </a:solidFill>
                <a:latin typeface="Arial"/>
                <a:ea typeface="Arial"/>
                <a:cs typeface="Arial"/>
              </a:defRPr>
            </a:lvl4pPr>
            <a:lvl5pPr>
              <a:buNone/>
              <a:defRPr sz="2100" b="0">
                <a:solidFill>
                  <a:srgbClr val="111111"/>
                </a:solidFill>
                <a:latin typeface="Arial"/>
                <a:ea typeface="Arial"/>
                <a:cs typeface="Arial"/>
              </a:defRPr>
            </a:lvl5pPr>
            <a:lvl6pPr>
              <a:buNone/>
              <a:defRPr sz="2100" b="0">
                <a:solidFill>
                  <a:srgbClr val="111111"/>
                </a:solidFill>
                <a:latin typeface="Arial"/>
                <a:ea typeface="Arial"/>
                <a:cs typeface="Arial"/>
              </a:defRPr>
            </a:lvl6pPr>
            <a:lvl7pPr>
              <a:buNone/>
              <a:defRPr sz="2100" b="0">
                <a:solidFill>
                  <a:srgbClr val="111111"/>
                </a:solidFill>
                <a:latin typeface="Arial"/>
                <a:ea typeface="Arial"/>
                <a:cs typeface="Arial"/>
              </a:defRPr>
            </a:lvl7pPr>
            <a:lvl8pPr>
              <a:buNone/>
              <a:defRPr sz="2100" b="0">
                <a:solidFill>
                  <a:srgbClr val="111111"/>
                </a:solidFill>
                <a:latin typeface="Arial"/>
                <a:ea typeface="Arial"/>
                <a:cs typeface="Arial"/>
              </a:defRPr>
            </a:lvl8pPr>
            <a:lvl9pPr>
              <a:buNone/>
              <a:defRPr sz="2100" b="0">
                <a:solidFill>
                  <a:srgbClr val="111111"/>
                </a:solidFill>
                <a:latin typeface="Arial"/>
                <a:ea typeface="Arial"/>
                <a:cs typeface="Arial"/>
              </a:defRPr>
            </a:lvl9pPr>
          </a:lstStyle>
          <a:p>
            <a:pPr>
              <a:buNone/>
              <a:defRPr sz="2100" b="0">
                <a:solidFill>
                  <a:srgbClr val="111111"/>
                </a:solidFill>
                <a:latin typeface="Arial"/>
                <a:ea typeface="Arial"/>
                <a:cs typeface="Arial"/>
              </a:defRPr>
            </a:pPr>
            <a:r>
              <a:rPr sz="2100" b="0">
                <a:solidFill>
                  <a:srgbClr val="111111"/>
                </a:solidFill>
                <a:latin typeface="Arial"/>
                <a:ea typeface="Arial"/>
                <a:cs typeface="Arial"/>
              </a:rPr>
              <a:t>What happens when sel = 0?</a:t>
            </a:r>
          </a:p>
          <a:p>
            <a:pPr>
              <a:buNone/>
              <a:defRPr sz="2100" b="0">
                <a:solidFill>
                  <a:srgbClr val="111111"/>
                </a:solidFill>
                <a:latin typeface="Arial"/>
                <a:ea typeface="Arial"/>
                <a:cs typeface="Arial"/>
              </a:defRPr>
            </a:pPr>
            <a:r>
              <a:rPr sz="2100" b="0">
                <a:solidFill>
                  <a:srgbClr val="111111"/>
                </a:solidFill>
                <a:latin typeface="Arial"/>
                <a:ea typeface="Arial"/>
                <a:cs typeface="Arial"/>
              </a:rPr>
              <a:t>Rewrite the process so y selects a for sel = 1 and b for sel = 0.</a:t>
            </a:r>
          </a:p>
        </p:txBody>
      </p:sp>
      <p:sp>
        <p:nvSpPr>
          <p:cNvPr id="5" name="矩形 4">
            <a:extLst>
              <a:ext uri="{FF2B5EF4-FFF2-40B4-BE49-F238E27FC236}">
                <a16:creationId xmlns:a16="http://schemas.microsoft.com/office/drawing/2014/main" id="{A7A27CDE-5841-4B71-B212-7CAD0FF03F10}"/>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16</a:t>
            </a:r>
          </a:p>
        </p:txBody>
      </p:sp>
    </p:spTree>
    <p:extLst>
      <p:ext uri="{BB962C8B-B14F-4D97-AF65-F5344CB8AC3E}">
        <p14:creationId xmlns:p14="http://schemas.microsoft.com/office/powerpoint/2010/main" val="910300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87830E63-4D53-4C13-9CD8-018A3E27FEA7}"/>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Q8  Answer</a:t>
            </a:r>
          </a:p>
        </p:txBody>
      </p:sp>
      <p:sp>
        <p:nvSpPr>
          <p:cNvPr id="2" name="矩形 1">
            <a:extLst>
              <a:ext uri="{FF2B5EF4-FFF2-40B4-BE49-F238E27FC236}">
                <a16:creationId xmlns:a16="http://schemas.microsoft.com/office/drawing/2014/main" id="{2F6D458A-47BB-4EED-93C3-395922B3B211}"/>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Add the missing else branch</a:t>
            </a:r>
          </a:p>
        </p:txBody>
      </p:sp>
      <p:sp>
        <p:nvSpPr>
          <p:cNvPr id="3" name="矩形 2">
            <a:extLst>
              <a:ext uri="{FF2B5EF4-FFF2-40B4-BE49-F238E27FC236}">
                <a16:creationId xmlns:a16="http://schemas.microsoft.com/office/drawing/2014/main" id="{1BAE19FB-B6C9-4AFC-BD1E-0A7809936FB7}"/>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17</a:t>
            </a:r>
          </a:p>
        </p:txBody>
      </p:sp>
      <p:sp>
        <p:nvSpPr>
          <p:cNvPr id="4" name="矩形 3">
            <a:extLst>
              <a:ext uri="{FF2B5EF4-FFF2-40B4-BE49-F238E27FC236}">
                <a16:creationId xmlns:a16="http://schemas.microsoft.com/office/drawing/2014/main" id="{D17048B5-A08D-43AD-82D6-781126A68CA7}"/>
              </a:ext>
            </a:extLst>
          </p:cNvPr>
          <p:cNvSpPr>
            <a:spLocks noGrp="1"/>
          </p:cNvSpPr>
          <p:nvPr/>
        </p:nvSpPr>
        <p:spPr>
          <a:xfrm>
            <a:off x="666750" y="1476375"/>
            <a:ext cx="10858500" cy="3619500"/>
          </a:xfrm>
          <a:prstGeom prst="rect">
            <a:avLst/>
          </a:prstGeom>
          <a:noFill/>
          <a:ln w="0">
            <a:noFill/>
            <a:prstDash val="solid"/>
          </a:ln>
        </p:spPr>
        <p:txBody>
          <a:bodyPr lIns="0" tIns="0" rIns="0" bIns="0"/>
          <a:lstStyle>
            <a:defPPr>
              <a:defRPr sz="2325" b="0">
                <a:solidFill>
                  <a:srgbClr val="111111"/>
                </a:solidFill>
                <a:latin typeface="DejaVu Sans Mono"/>
                <a:ea typeface="DejaVu Sans Mono"/>
                <a:cs typeface="DejaVu Sans Mono"/>
              </a:defRPr>
            </a:defPPr>
            <a:lvl1pPr>
              <a:defRPr sz="2325" b="0">
                <a:solidFill>
                  <a:srgbClr val="111111"/>
                </a:solidFill>
                <a:latin typeface="DejaVu Sans Mono"/>
                <a:ea typeface="DejaVu Sans Mono"/>
                <a:cs typeface="DejaVu Sans Mono"/>
              </a:defRPr>
            </a:lvl1pPr>
            <a:lvl2pPr>
              <a:defRPr sz="2325" b="0">
                <a:solidFill>
                  <a:srgbClr val="111111"/>
                </a:solidFill>
                <a:latin typeface="DejaVu Sans Mono"/>
                <a:ea typeface="DejaVu Sans Mono"/>
                <a:cs typeface="DejaVu Sans Mono"/>
              </a:defRPr>
            </a:lvl2pPr>
            <a:lvl3pPr>
              <a:defRPr sz="2325" b="0">
                <a:solidFill>
                  <a:srgbClr val="111111"/>
                </a:solidFill>
                <a:latin typeface="DejaVu Sans Mono"/>
                <a:ea typeface="DejaVu Sans Mono"/>
                <a:cs typeface="DejaVu Sans Mono"/>
              </a:defRPr>
            </a:lvl3pPr>
            <a:lvl4pPr>
              <a:defRPr sz="2325" b="0">
                <a:solidFill>
                  <a:srgbClr val="111111"/>
                </a:solidFill>
                <a:latin typeface="DejaVu Sans Mono"/>
                <a:ea typeface="DejaVu Sans Mono"/>
                <a:cs typeface="DejaVu Sans Mono"/>
              </a:defRPr>
            </a:lvl4pPr>
            <a:lvl5pPr>
              <a:defRPr sz="2325" b="0">
                <a:solidFill>
                  <a:srgbClr val="111111"/>
                </a:solidFill>
                <a:latin typeface="DejaVu Sans Mono"/>
                <a:ea typeface="DejaVu Sans Mono"/>
                <a:cs typeface="DejaVu Sans Mono"/>
              </a:defRPr>
            </a:lvl5pPr>
            <a:lvl6pPr>
              <a:defRPr sz="2325" b="0">
                <a:solidFill>
                  <a:srgbClr val="111111"/>
                </a:solidFill>
                <a:latin typeface="DejaVu Sans Mono"/>
                <a:ea typeface="DejaVu Sans Mono"/>
                <a:cs typeface="DejaVu Sans Mono"/>
              </a:defRPr>
            </a:lvl6pPr>
            <a:lvl7pPr>
              <a:defRPr sz="2325" b="0">
                <a:solidFill>
                  <a:srgbClr val="111111"/>
                </a:solidFill>
                <a:latin typeface="DejaVu Sans Mono"/>
                <a:ea typeface="DejaVu Sans Mono"/>
                <a:cs typeface="DejaVu Sans Mono"/>
              </a:defRPr>
            </a:lvl7pPr>
            <a:lvl8pPr>
              <a:defRPr sz="2325" b="0">
                <a:solidFill>
                  <a:srgbClr val="111111"/>
                </a:solidFill>
                <a:latin typeface="DejaVu Sans Mono"/>
                <a:ea typeface="DejaVu Sans Mono"/>
                <a:cs typeface="DejaVu Sans Mono"/>
              </a:defRPr>
            </a:lvl8pPr>
            <a:lvl9pPr>
              <a:defRPr sz="2325" b="0">
                <a:solidFill>
                  <a:srgbClr val="111111"/>
                </a:solidFill>
                <a:latin typeface="DejaVu Sans Mono"/>
                <a:ea typeface="DejaVu Sans Mono"/>
                <a:cs typeface="DejaVu Sans Mono"/>
              </a:defRPr>
            </a:lvl9pPr>
          </a:lstStyle>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process(a, b, sel)</a:t>
            </a: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begin</a:t>
            </a: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  if sel = '1' then</a:t>
            </a: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    y &lt;= a;</a:t>
            </a: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  else</a:t>
            </a: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    y &lt;= b;</a:t>
            </a: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  end if;</a:t>
            </a:r>
          </a:p>
          <a:p>
            <a:pPr>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end process;</a:t>
            </a:r>
          </a:p>
        </p:txBody>
      </p:sp>
      <p:sp>
        <p:nvSpPr>
          <p:cNvPr id="5" name="矩形 4">
            <a:extLst>
              <a:ext uri="{FF2B5EF4-FFF2-40B4-BE49-F238E27FC236}">
                <a16:creationId xmlns:a16="http://schemas.microsoft.com/office/drawing/2014/main" id="{49B54D2E-DE90-49A2-B46F-ACEC24328A9F}"/>
              </a:ext>
            </a:extLst>
          </p:cNvPr>
          <p:cNvSpPr>
            <a:spLocks noGrp="1"/>
          </p:cNvSpPr>
          <p:nvPr/>
        </p:nvSpPr>
        <p:spPr>
          <a:xfrm>
            <a:off x="666750" y="5572125"/>
            <a:ext cx="10858500" cy="571500"/>
          </a:xfrm>
          <a:prstGeom prst="rect">
            <a:avLst/>
          </a:prstGeom>
          <a:noFill/>
          <a:ln w="0">
            <a:noFill/>
            <a:prstDash val="solid"/>
          </a:ln>
        </p:spPr>
        <p:txBody>
          <a:bodyPr lIns="0" tIns="0" rIns="0" bIns="0"/>
          <a:lstStyle>
            <a:defPPr>
              <a:defRPr sz="2250" b="0">
                <a:solidFill>
                  <a:srgbClr val="111111"/>
                </a:solidFill>
                <a:latin typeface="Arial"/>
                <a:ea typeface="Arial"/>
                <a:cs typeface="Arial"/>
              </a:defRPr>
            </a:defPPr>
            <a:lvl1pPr>
              <a:defRPr sz="2250" b="0">
                <a:solidFill>
                  <a:srgbClr val="111111"/>
                </a:solidFill>
                <a:latin typeface="Arial"/>
                <a:ea typeface="Arial"/>
                <a:cs typeface="Arial"/>
              </a:defRPr>
            </a:lvl1pPr>
            <a:lvl2pPr>
              <a:defRPr sz="2250" b="0">
                <a:solidFill>
                  <a:srgbClr val="111111"/>
                </a:solidFill>
                <a:latin typeface="Arial"/>
                <a:ea typeface="Arial"/>
                <a:cs typeface="Arial"/>
              </a:defRPr>
            </a:lvl2pPr>
            <a:lvl3pPr>
              <a:defRPr sz="2250" b="0">
                <a:solidFill>
                  <a:srgbClr val="111111"/>
                </a:solidFill>
                <a:latin typeface="Arial"/>
                <a:ea typeface="Arial"/>
                <a:cs typeface="Arial"/>
              </a:defRPr>
            </a:lvl3pPr>
            <a:lvl4pPr>
              <a:defRPr sz="2250" b="0">
                <a:solidFill>
                  <a:srgbClr val="111111"/>
                </a:solidFill>
                <a:latin typeface="Arial"/>
                <a:ea typeface="Arial"/>
                <a:cs typeface="Arial"/>
              </a:defRPr>
            </a:lvl4pPr>
            <a:lvl5pPr>
              <a:defRPr sz="2250" b="0">
                <a:solidFill>
                  <a:srgbClr val="111111"/>
                </a:solidFill>
                <a:latin typeface="Arial"/>
                <a:ea typeface="Arial"/>
                <a:cs typeface="Arial"/>
              </a:defRPr>
            </a:lvl5pPr>
            <a:lvl6pPr>
              <a:defRPr sz="2250" b="0">
                <a:solidFill>
                  <a:srgbClr val="111111"/>
                </a:solidFill>
                <a:latin typeface="Arial"/>
                <a:ea typeface="Arial"/>
                <a:cs typeface="Arial"/>
              </a:defRPr>
            </a:lvl6pPr>
            <a:lvl7pPr>
              <a:defRPr sz="2250" b="0">
                <a:solidFill>
                  <a:srgbClr val="111111"/>
                </a:solidFill>
                <a:latin typeface="Arial"/>
                <a:ea typeface="Arial"/>
                <a:cs typeface="Arial"/>
              </a:defRPr>
            </a:lvl7pPr>
            <a:lvl8pPr>
              <a:defRPr sz="2250" b="0">
                <a:solidFill>
                  <a:srgbClr val="111111"/>
                </a:solidFill>
                <a:latin typeface="Arial"/>
                <a:ea typeface="Arial"/>
                <a:cs typeface="Arial"/>
              </a:defRPr>
            </a:lvl8pPr>
            <a:lvl9pPr>
              <a:defRPr sz="2250" b="0">
                <a:solidFill>
                  <a:srgbClr val="111111"/>
                </a:solidFill>
                <a:latin typeface="Arial"/>
                <a:ea typeface="Arial"/>
                <a:cs typeface="Arial"/>
              </a:defRPr>
            </a:lvl9pPr>
          </a:lstStyle>
          <a:p>
            <a:pPr>
              <a:defRPr sz="2250" b="0">
                <a:solidFill>
                  <a:srgbClr val="111111"/>
                </a:solidFill>
                <a:latin typeface="Arial"/>
                <a:ea typeface="Arial"/>
                <a:cs typeface="Arial"/>
              </a:defRPr>
            </a:pPr>
            <a:r>
              <a:rPr sz="2250" b="0">
                <a:solidFill>
                  <a:srgbClr val="111111"/>
                </a:solidFill>
                <a:latin typeface="Arial"/>
                <a:ea typeface="Arial"/>
                <a:cs typeface="Arial"/>
              </a:rPr>
              <a:t>Without else: y holds its value, so the code can infer a latch.</a:t>
            </a:r>
          </a:p>
        </p:txBody>
      </p:sp>
    </p:spTree>
    <p:extLst>
      <p:ext uri="{BB962C8B-B14F-4D97-AF65-F5344CB8AC3E}">
        <p14:creationId xmlns:p14="http://schemas.microsoft.com/office/powerpoint/2010/main" val="686753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D1A4476-EAFF-4F32-A3A4-00B81AB65E2B}"/>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Q9  Signal and variable values</a:t>
            </a:r>
          </a:p>
        </p:txBody>
      </p:sp>
      <p:sp>
        <p:nvSpPr>
          <p:cNvPr id="2" name="矩形 1">
            <a:extLst>
              <a:ext uri="{FF2B5EF4-FFF2-40B4-BE49-F238E27FC236}">
                <a16:creationId xmlns:a16="http://schemas.microsoft.com/office/drawing/2014/main" id="{7600FBD0-FC7B-4CA8-9CDB-198543575C26}"/>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Complete the values after two rising edges.</a:t>
            </a:r>
          </a:p>
        </p:txBody>
      </p:sp>
      <p:sp>
        <p:nvSpPr>
          <p:cNvPr id="3" name="矩形 2">
            <a:extLst>
              <a:ext uri="{FF2B5EF4-FFF2-40B4-BE49-F238E27FC236}">
                <a16:creationId xmlns:a16="http://schemas.microsoft.com/office/drawing/2014/main" id="{C3075DD7-5FFB-4025-813C-AED495EC732D}"/>
              </a:ext>
            </a:extLst>
          </p:cNvPr>
          <p:cNvSpPr>
            <a:spLocks noGrp="1"/>
          </p:cNvSpPr>
          <p:nvPr/>
        </p:nvSpPr>
        <p:spPr>
          <a:xfrm>
            <a:off x="666750" y="1381125"/>
            <a:ext cx="7762875" cy="4476750"/>
          </a:xfrm>
          <a:prstGeom prst="rect">
            <a:avLst/>
          </a:prstGeom>
          <a:noFill/>
          <a:ln w="0">
            <a:noFill/>
            <a:prstDash val="solid"/>
          </a:ln>
        </p:spPr>
        <p:txBody>
          <a:bodyPr lIns="0" tIns="0" rIns="0" bIns="0"/>
          <a:lstStyle>
            <a:defPPr>
              <a:defRPr sz="2100" b="0">
                <a:solidFill>
                  <a:srgbClr val="111111"/>
                </a:solidFill>
                <a:latin typeface="DejaVu Sans Mono"/>
                <a:ea typeface="DejaVu Sans Mono"/>
                <a:cs typeface="DejaVu Sans Mono"/>
              </a:defRPr>
            </a:defPPr>
            <a:lvl1pPr>
              <a:buNone/>
              <a:defRPr sz="2100" b="0">
                <a:solidFill>
                  <a:srgbClr val="111111"/>
                </a:solidFill>
                <a:latin typeface="DejaVu Sans Mono"/>
                <a:ea typeface="DejaVu Sans Mono"/>
                <a:cs typeface="DejaVu Sans Mono"/>
              </a:defRPr>
            </a:lvl1pPr>
            <a:lvl2pPr>
              <a:buNone/>
              <a:defRPr sz="2100" b="0">
                <a:solidFill>
                  <a:srgbClr val="111111"/>
                </a:solidFill>
                <a:latin typeface="DejaVu Sans Mono"/>
                <a:ea typeface="DejaVu Sans Mono"/>
                <a:cs typeface="DejaVu Sans Mono"/>
              </a:defRPr>
            </a:lvl2pPr>
            <a:lvl3pPr>
              <a:buNone/>
              <a:defRPr sz="2100" b="0">
                <a:solidFill>
                  <a:srgbClr val="111111"/>
                </a:solidFill>
                <a:latin typeface="DejaVu Sans Mono"/>
                <a:ea typeface="DejaVu Sans Mono"/>
                <a:cs typeface="DejaVu Sans Mono"/>
              </a:defRPr>
            </a:lvl3pPr>
            <a:lvl4pPr>
              <a:buNone/>
              <a:defRPr sz="2100" b="0">
                <a:solidFill>
                  <a:srgbClr val="111111"/>
                </a:solidFill>
                <a:latin typeface="DejaVu Sans Mono"/>
                <a:ea typeface="DejaVu Sans Mono"/>
                <a:cs typeface="DejaVu Sans Mono"/>
              </a:defRPr>
            </a:lvl4pPr>
            <a:lvl5pPr>
              <a:buNone/>
              <a:defRPr sz="2100" b="0">
                <a:solidFill>
                  <a:srgbClr val="111111"/>
                </a:solidFill>
                <a:latin typeface="DejaVu Sans Mono"/>
                <a:ea typeface="DejaVu Sans Mono"/>
                <a:cs typeface="DejaVu Sans Mono"/>
              </a:defRPr>
            </a:lvl5pPr>
            <a:lvl6pPr>
              <a:buNone/>
              <a:defRPr sz="2100" b="0">
                <a:solidFill>
                  <a:srgbClr val="111111"/>
                </a:solidFill>
                <a:latin typeface="DejaVu Sans Mono"/>
                <a:ea typeface="DejaVu Sans Mono"/>
                <a:cs typeface="DejaVu Sans Mono"/>
              </a:defRPr>
            </a:lvl6pPr>
            <a:lvl7pPr>
              <a:buNone/>
              <a:defRPr sz="2100" b="0">
                <a:solidFill>
                  <a:srgbClr val="111111"/>
                </a:solidFill>
                <a:latin typeface="DejaVu Sans Mono"/>
                <a:ea typeface="DejaVu Sans Mono"/>
                <a:cs typeface="DejaVu Sans Mono"/>
              </a:defRPr>
            </a:lvl7pPr>
            <a:lvl8pPr>
              <a:buNone/>
              <a:defRPr sz="2100" b="0">
                <a:solidFill>
                  <a:srgbClr val="111111"/>
                </a:solidFill>
                <a:latin typeface="DejaVu Sans Mono"/>
                <a:ea typeface="DejaVu Sans Mono"/>
                <a:cs typeface="DejaVu Sans Mono"/>
              </a:defRPr>
            </a:lvl8pPr>
            <a:lvl9pPr>
              <a:buNone/>
              <a:defRPr sz="2100" b="0">
                <a:solidFill>
                  <a:srgbClr val="111111"/>
                </a:solidFill>
                <a:latin typeface="DejaVu Sans Mono"/>
                <a:ea typeface="DejaVu Sans Mono"/>
                <a:cs typeface="DejaVu Sans Mono"/>
              </a:defRPr>
            </a:lvl9pPr>
          </a:lstStyle>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signal s, qs, qv : integer := 0;</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process(clk)</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variable v : integer := 0;</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begin</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if rising_edge(clk) then</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s &lt;= s + 1;</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qs &lt;= s;</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v := v + 1;</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qv &lt;= v;</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end if;</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end process;</a:t>
            </a:r>
          </a:p>
        </p:txBody>
      </p:sp>
      <p:sp>
        <p:nvSpPr>
          <p:cNvPr id="4" name="矩形 3">
            <a:extLst>
              <a:ext uri="{FF2B5EF4-FFF2-40B4-BE49-F238E27FC236}">
                <a16:creationId xmlns:a16="http://schemas.microsoft.com/office/drawing/2014/main" id="{01D6F827-3522-4289-A168-C260C82AB47E}"/>
              </a:ext>
            </a:extLst>
          </p:cNvPr>
          <p:cNvSpPr>
            <a:spLocks noGrp="1"/>
          </p:cNvSpPr>
          <p:nvPr/>
        </p:nvSpPr>
        <p:spPr>
          <a:xfrm>
            <a:off x="8763000" y="1476375"/>
            <a:ext cx="2762250" cy="4000500"/>
          </a:xfrm>
          <a:prstGeom prst="rect">
            <a:avLst/>
          </a:prstGeom>
          <a:noFill/>
          <a:ln w="0">
            <a:noFill/>
            <a:prstDash val="solid"/>
          </a:ln>
        </p:spPr>
        <p:txBody>
          <a:bodyPr lIns="0" tIns="0" rIns="0" bIns="0"/>
          <a:lstStyle>
            <a:defPPr>
              <a:defRPr sz="1950" b="0">
                <a:solidFill>
                  <a:srgbClr val="111111"/>
                </a:solidFill>
                <a:latin typeface="Arial"/>
                <a:ea typeface="Arial"/>
                <a:cs typeface="Arial"/>
              </a:defRPr>
            </a:defPPr>
            <a:lvl1pPr>
              <a:buNone/>
              <a:defRPr sz="1950" b="0">
                <a:solidFill>
                  <a:srgbClr val="111111"/>
                </a:solidFill>
                <a:latin typeface="Arial"/>
                <a:ea typeface="Arial"/>
                <a:cs typeface="Arial"/>
              </a:defRPr>
            </a:lvl1pPr>
            <a:lvl2pPr>
              <a:buNone/>
              <a:defRPr sz="1950" b="0">
                <a:solidFill>
                  <a:srgbClr val="111111"/>
                </a:solidFill>
                <a:latin typeface="Arial"/>
                <a:ea typeface="Arial"/>
                <a:cs typeface="Arial"/>
              </a:defRPr>
            </a:lvl2pPr>
            <a:lvl3pPr>
              <a:buNone/>
              <a:defRPr sz="1950" b="0">
                <a:solidFill>
                  <a:srgbClr val="111111"/>
                </a:solidFill>
                <a:latin typeface="Arial"/>
                <a:ea typeface="Arial"/>
                <a:cs typeface="Arial"/>
              </a:defRPr>
            </a:lvl3pPr>
            <a:lvl4pPr>
              <a:buNone/>
              <a:defRPr sz="1950" b="0">
                <a:solidFill>
                  <a:srgbClr val="111111"/>
                </a:solidFill>
                <a:latin typeface="Arial"/>
                <a:ea typeface="Arial"/>
                <a:cs typeface="Arial"/>
              </a:defRPr>
            </a:lvl4pPr>
            <a:lvl5pPr>
              <a:buNone/>
              <a:defRPr sz="1950" b="0">
                <a:solidFill>
                  <a:srgbClr val="111111"/>
                </a:solidFill>
                <a:latin typeface="Arial"/>
                <a:ea typeface="Arial"/>
                <a:cs typeface="Arial"/>
              </a:defRPr>
            </a:lvl5pPr>
            <a:lvl6pPr>
              <a:buNone/>
              <a:defRPr sz="1950" b="0">
                <a:solidFill>
                  <a:srgbClr val="111111"/>
                </a:solidFill>
                <a:latin typeface="Arial"/>
                <a:ea typeface="Arial"/>
                <a:cs typeface="Arial"/>
              </a:defRPr>
            </a:lvl6pPr>
            <a:lvl7pPr>
              <a:buNone/>
              <a:defRPr sz="1950" b="0">
                <a:solidFill>
                  <a:srgbClr val="111111"/>
                </a:solidFill>
                <a:latin typeface="Arial"/>
                <a:ea typeface="Arial"/>
                <a:cs typeface="Arial"/>
              </a:defRPr>
            </a:lvl7pPr>
            <a:lvl8pPr>
              <a:buNone/>
              <a:defRPr sz="1950" b="0">
                <a:solidFill>
                  <a:srgbClr val="111111"/>
                </a:solidFill>
                <a:latin typeface="Arial"/>
                <a:ea typeface="Arial"/>
                <a:cs typeface="Arial"/>
              </a:defRPr>
            </a:lvl8pPr>
            <a:lvl9pPr>
              <a:buNone/>
              <a:defRPr sz="1950" b="0">
                <a:solidFill>
                  <a:srgbClr val="111111"/>
                </a:solidFill>
                <a:latin typeface="Arial"/>
                <a:ea typeface="Arial"/>
                <a:cs typeface="Arial"/>
              </a:defRPr>
            </a:lvl9pPr>
          </a:lstStyle>
          <a:p>
            <a:pPr>
              <a:buNone/>
              <a:defRPr sz="1950" b="0">
                <a:solidFill>
                  <a:srgbClr val="111111"/>
                </a:solidFill>
                <a:latin typeface="Arial"/>
                <a:ea typeface="Arial"/>
                <a:cs typeface="Arial"/>
              </a:defRPr>
            </a:pPr>
            <a:r>
              <a:rPr sz="1950" b="0">
                <a:solidFill>
                  <a:srgbClr val="111111"/>
                </a:solidFill>
                <a:latin typeface="Arial"/>
                <a:ea typeface="Arial"/>
                <a:cs typeface="Arial"/>
              </a:rPr>
              <a:t>Record s, qs, v and qv after all delta cycles at each edge.</a:t>
            </a:r>
          </a:p>
          <a:p>
            <a:endParaRPr sz="1950" b="0">
              <a:solidFill>
                <a:srgbClr val="111111"/>
              </a:solidFill>
              <a:latin typeface="Arial"/>
              <a:ea typeface="Arial"/>
              <a:cs typeface="Arial"/>
            </a:endParaRPr>
          </a:p>
          <a:p>
            <a:pPr>
              <a:buNone/>
              <a:defRPr sz="1950" b="0">
                <a:solidFill>
                  <a:srgbClr val="111111"/>
                </a:solidFill>
                <a:latin typeface="Arial"/>
                <a:ea typeface="Arial"/>
                <a:cs typeface="Arial"/>
              </a:defRPr>
            </a:pPr>
            <a:r>
              <a:rPr sz="1950" b="0">
                <a:solidFill>
                  <a:srgbClr val="111111"/>
                </a:solidFill>
                <a:latin typeface="Arial"/>
                <a:ea typeface="Arial"/>
                <a:cs typeface="Arial"/>
              </a:rPr>
              <a:t>There are no other drivers.</a:t>
            </a:r>
          </a:p>
          <a:p>
            <a:endParaRPr sz="1950" b="0">
              <a:solidFill>
                <a:srgbClr val="111111"/>
              </a:solidFill>
              <a:latin typeface="Arial"/>
              <a:ea typeface="Arial"/>
              <a:cs typeface="Arial"/>
            </a:endParaRPr>
          </a:p>
          <a:p>
            <a:pPr>
              <a:buNone/>
              <a:defRPr sz="1950" b="0">
                <a:solidFill>
                  <a:srgbClr val="111111"/>
                </a:solidFill>
                <a:latin typeface="Arial"/>
                <a:ea typeface="Arial"/>
                <a:cs typeface="Arial"/>
              </a:defRPr>
            </a:pPr>
            <a:r>
              <a:rPr sz="1950" b="0">
                <a:solidFill>
                  <a:srgbClr val="111111"/>
                </a:solidFill>
                <a:latin typeface="Arial"/>
                <a:ea typeface="Arial"/>
                <a:cs typeface="Arial"/>
              </a:rPr>
              <a:t>v keeps its value between activations.</a:t>
            </a:r>
          </a:p>
        </p:txBody>
      </p:sp>
      <p:sp>
        <p:nvSpPr>
          <p:cNvPr id="5" name="矩形 4">
            <a:extLst>
              <a:ext uri="{FF2B5EF4-FFF2-40B4-BE49-F238E27FC236}">
                <a16:creationId xmlns:a16="http://schemas.microsoft.com/office/drawing/2014/main" id="{81EC230E-0E5B-4154-BEEC-47FCE17746A5}"/>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18</a:t>
            </a:r>
          </a:p>
        </p:txBody>
      </p:sp>
    </p:spTree>
    <p:extLst>
      <p:ext uri="{BB962C8B-B14F-4D97-AF65-F5344CB8AC3E}">
        <p14:creationId xmlns:p14="http://schemas.microsoft.com/office/powerpoint/2010/main" val="441198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C3A97D22-30DD-433D-B02B-1369611A296E}"/>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Q9  Answer</a:t>
            </a:r>
          </a:p>
        </p:txBody>
      </p:sp>
      <p:sp>
        <p:nvSpPr>
          <p:cNvPr id="2" name="矩形 1">
            <a:extLst>
              <a:ext uri="{FF2B5EF4-FFF2-40B4-BE49-F238E27FC236}">
                <a16:creationId xmlns:a16="http://schemas.microsoft.com/office/drawing/2014/main" id="{27485779-9DC1-4820-9D20-F443D049BC60}"/>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Signals keep their current values while this process runs</a:t>
            </a:r>
          </a:p>
        </p:txBody>
      </p:sp>
      <p:sp>
        <p:nvSpPr>
          <p:cNvPr id="3" name="矩形 2">
            <a:extLst>
              <a:ext uri="{FF2B5EF4-FFF2-40B4-BE49-F238E27FC236}">
                <a16:creationId xmlns:a16="http://schemas.microsoft.com/office/drawing/2014/main" id="{27BC15F1-04B5-4344-909B-E2B18510FC0A}"/>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19</a:t>
            </a:r>
          </a:p>
        </p:txBody>
      </p:sp>
      <p:graphicFrame>
        <p:nvGraphicFramePr>
          <p:cNvPr id="4" name="表格 3">
            <a:extLst>
              <a:ext uri="{FF2B5EF4-FFF2-40B4-BE49-F238E27FC236}">
                <a16:creationId xmlns:a16="http://schemas.microsoft.com/office/drawing/2014/main" id="{12440CDA-054D-48C6-9BDE-E5DD49119A74}"/>
              </a:ext>
            </a:extLst>
          </p:cNvPr>
          <p:cNvGraphicFramePr/>
          <p:nvPr/>
        </p:nvGraphicFramePr>
        <p:xfrm>
          <a:off x="666750" y="1524000"/>
          <a:ext cx="10858500" cy="2667000"/>
        </p:xfrm>
        <a:graphic>
          <a:graphicData uri="http://schemas.openxmlformats.org/drawingml/2006/table">
            <a:tbl>
              <a:tblPr/>
              <a:tblGrid>
                <a:gridCol w="43815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1619250">
                  <a:extLst>
                    <a:ext uri="{9D8B030D-6E8A-4147-A177-3AD203B41FA5}">
                      <a16:colId xmlns:a16="http://schemas.microsoft.com/office/drawing/2014/main" val="20004"/>
                    </a:ext>
                  </a:extLst>
                </a:gridCol>
              </a:tblGrid>
              <a:tr h="666750">
                <a:tc>
                  <a:txBody>
                    <a:bodyPr/>
                    <a:lstStyle/>
                    <a:p>
                      <a:r>
                        <a:rPr sz="2025" b="1">
                          <a:solidFill>
                            <a:srgbClr val="111111"/>
                          </a:solidFill>
                          <a:latin typeface="Arial"/>
                          <a:ea typeface="Arial"/>
                          <a:cs typeface="Arial"/>
                        </a:rPr>
                        <a:t>Observation</a:t>
                      </a:r>
                    </a:p>
                  </a:txBody>
                  <a:tcPr>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tc>
                  <a:txBody>
                    <a:bodyPr/>
                    <a:lstStyle/>
                    <a:p>
                      <a:r>
                        <a:rPr sz="2025" b="1">
                          <a:solidFill>
                            <a:srgbClr val="111111"/>
                          </a:solidFill>
                          <a:latin typeface="Arial"/>
                          <a:ea typeface="Arial"/>
                          <a:cs typeface="Arial"/>
                        </a:rPr>
                        <a:t>s</a:t>
                      </a:r>
                    </a:p>
                  </a:txBody>
                  <a:tcPr>
                    <a:lnL w="9525" cap="flat" cmpd="sng" algn="ctr">
                      <a:solidFill>
                        <a:srgbClr val="CCCCCC"/>
                      </a:solidFill>
                      <a:prstDash val="solid"/>
                      <a:round/>
                      <a:headEnd type="none" w="med" len="med"/>
                      <a:tailEnd type="none" w="med" len="me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tc>
                  <a:txBody>
                    <a:bodyPr/>
                    <a:lstStyle/>
                    <a:p>
                      <a:r>
                        <a:rPr sz="2025" b="1">
                          <a:solidFill>
                            <a:srgbClr val="111111"/>
                          </a:solidFill>
                          <a:latin typeface="Arial"/>
                          <a:ea typeface="Arial"/>
                          <a:cs typeface="Arial"/>
                        </a:rPr>
                        <a:t>qs</a:t>
                      </a:r>
                    </a:p>
                  </a:txBody>
                  <a:tcPr>
                    <a:lnL w="9525" cap="flat" cmpd="sng" algn="ctr">
                      <a:solidFill>
                        <a:srgbClr val="CCCCCC"/>
                      </a:solidFill>
                      <a:prstDash val="solid"/>
                      <a:round/>
                      <a:headEnd type="none" w="med" len="med"/>
                      <a:tailEnd type="none" w="med" len="me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tc>
                  <a:txBody>
                    <a:bodyPr/>
                    <a:lstStyle/>
                    <a:p>
                      <a:r>
                        <a:rPr sz="2025" b="1">
                          <a:solidFill>
                            <a:srgbClr val="111111"/>
                          </a:solidFill>
                          <a:latin typeface="Arial"/>
                          <a:ea typeface="Arial"/>
                          <a:cs typeface="Arial"/>
                        </a:rPr>
                        <a:t>v</a:t>
                      </a:r>
                    </a:p>
                  </a:txBody>
                  <a:tcPr>
                    <a:lnL w="9525" cap="flat" cmpd="sng" algn="ctr">
                      <a:solidFill>
                        <a:srgbClr val="CCCCCC"/>
                      </a:solidFill>
                      <a:prstDash val="solid"/>
                      <a:round/>
                      <a:headEnd type="none" w="med" len="med"/>
                      <a:tailEnd type="none" w="med" len="me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tc>
                  <a:txBody>
                    <a:bodyPr/>
                    <a:lstStyle/>
                    <a:p>
                      <a:r>
                        <a:rPr sz="2025" b="1">
                          <a:solidFill>
                            <a:srgbClr val="111111"/>
                          </a:solidFill>
                          <a:latin typeface="Arial"/>
                          <a:ea typeface="Arial"/>
                          <a:cs typeface="Arial"/>
                        </a:rPr>
                        <a:t>qv</a:t>
                      </a:r>
                    </a:p>
                  </a:txBody>
                  <a:tcPr>
                    <a:lnL w="9525" cap="flat" cmpd="sng" algn="ctr">
                      <a:solidFill>
                        <a:srgbClr val="CCCCCC"/>
                      </a:solidFill>
                      <a:prstDash val="solid"/>
                      <a:round/>
                      <a:headEnd type="none" w="med" len="med"/>
                      <a:tailEnd type="none" w="med" len="med"/>
                    </a:lnL>
                    <a:lnR w="9525">
                      <a:solidFill>
                        <a:srgbClr val="CCCCCC"/>
                      </a:solidFill>
                      <a:prstDash val="solid"/>
                    </a:lnR>
                    <a:lnT w="9525">
                      <a:solidFill>
                        <a:srgbClr val="CCCCCC"/>
                      </a:solidFill>
                      <a:prstDash val="solid"/>
                    </a:lnT>
                    <a:lnB w="9525">
                      <a:solidFill>
                        <a:srgbClr val="CCCCCC"/>
                      </a:solidFill>
                      <a:prstDash val="solid"/>
                    </a:lnB>
                    <a:solidFill>
                      <a:srgbClr val="EEEEEE"/>
                    </a:solidFill>
                  </a:tcPr>
                </a:tc>
                <a:extLst>
                  <a:ext uri="{0D108BD9-81ED-4DB2-BD59-A6C34878D82A}">
                    <a16:rowId xmlns:a16="http://schemas.microsoft.com/office/drawing/2014/main" val="10000"/>
                  </a:ext>
                </a:extLst>
              </a:tr>
              <a:tr h="666750">
                <a:tc>
                  <a:txBody>
                    <a:bodyPr/>
                    <a:lstStyle/>
                    <a:p>
                      <a:r>
                        <a:rPr sz="2025" b="0">
                          <a:solidFill>
                            <a:srgbClr val="111111"/>
                          </a:solidFill>
                          <a:latin typeface="Arial"/>
                          <a:ea typeface="Arial"/>
                          <a:cs typeface="Arial"/>
                        </a:rPr>
                        <a:t>Initial</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0</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0</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0</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0</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1"/>
                  </a:ext>
                </a:extLst>
              </a:tr>
              <a:tr h="666750">
                <a:tc>
                  <a:txBody>
                    <a:bodyPr/>
                    <a:lstStyle/>
                    <a:p>
                      <a:r>
                        <a:rPr sz="2025" b="0">
                          <a:solidFill>
                            <a:srgbClr val="111111"/>
                          </a:solidFill>
                          <a:latin typeface="Arial"/>
                          <a:ea typeface="Arial"/>
                          <a:cs typeface="Arial"/>
                        </a:rPr>
                        <a:t>After edge 1</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1</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0</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1</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1</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2"/>
                  </a:ext>
                </a:extLst>
              </a:tr>
              <a:tr h="666750">
                <a:tc>
                  <a:txBody>
                    <a:bodyPr/>
                    <a:lstStyle/>
                    <a:p>
                      <a:r>
                        <a:rPr sz="2025" b="0">
                          <a:solidFill>
                            <a:srgbClr val="111111"/>
                          </a:solidFill>
                          <a:latin typeface="Arial"/>
                          <a:ea typeface="Arial"/>
                          <a:cs typeface="Arial"/>
                        </a:rPr>
                        <a:t>After edge 2</a:t>
                      </a:r>
                    </a:p>
                  </a:txBody>
                  <a:tcPr>
                    <a:lnL w="9525">
                      <a:solidFill>
                        <a:srgbClr val="CCCCCC"/>
                      </a:solidFill>
                      <a:prstDash val="soli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2</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1</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2</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tc>
                  <a:txBody>
                    <a:bodyPr/>
                    <a:lstStyle/>
                    <a:p>
                      <a:r>
                        <a:rPr sz="2025" b="0">
                          <a:solidFill>
                            <a:srgbClr val="111111"/>
                          </a:solidFill>
                          <a:latin typeface="Arial"/>
                          <a:ea typeface="Arial"/>
                          <a:cs typeface="Arial"/>
                        </a:rPr>
                        <a:t>2</a:t>
                      </a:r>
                    </a:p>
                  </a:txBody>
                  <a:tcPr>
                    <a:lnL w="9525" cap="flat" cmpd="sng" algn="ctr">
                      <a:solidFill>
                        <a:srgbClr val="CCCCCC"/>
                      </a:solidFill>
                      <a:prstDash val="solid"/>
                      <a:round/>
                      <a:headEnd type="none" w="med" len="med"/>
                      <a:tailEnd type="none" w="med" len="med"/>
                    </a:lnL>
                    <a:lnR w="9525">
                      <a:solidFill>
                        <a:srgbClr val="CCCCCC"/>
                      </a:solidFill>
                      <a:prstDash val="solid"/>
                    </a:lnR>
                    <a:lnT w="9525" cap="flat" cmpd="sng" algn="ctr">
                      <a:solidFill>
                        <a:srgbClr val="CCCCCC"/>
                      </a:solidFill>
                      <a:prstDash val="solid"/>
                      <a:round/>
                      <a:headEnd type="none" w="med" len="med"/>
                      <a:tailEnd type="none" w="med" len="med"/>
                    </a:lnT>
                    <a:lnB w="9525">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矩形 4">
            <a:extLst>
              <a:ext uri="{FF2B5EF4-FFF2-40B4-BE49-F238E27FC236}">
                <a16:creationId xmlns:a16="http://schemas.microsoft.com/office/drawing/2014/main" id="{78B8B70D-F956-44E6-97CB-C4BCF908FFD4}"/>
              </a:ext>
            </a:extLst>
          </p:cNvPr>
          <p:cNvSpPr>
            <a:spLocks noGrp="1"/>
          </p:cNvSpPr>
          <p:nvPr/>
        </p:nvSpPr>
        <p:spPr>
          <a:xfrm>
            <a:off x="666750" y="4905375"/>
            <a:ext cx="10858500" cy="4476750"/>
          </a:xfrm>
          <a:prstGeom prst="rect">
            <a:avLst/>
          </a:prstGeom>
          <a:noFill/>
          <a:ln w="0">
            <a:noFill/>
            <a:prstDash val="solid"/>
          </a:ln>
        </p:spPr>
        <p:txBody>
          <a:bodyPr lIns="0" tIns="0" rIns="0" bIns="0"/>
          <a:lstStyle>
            <a:defPPr>
              <a:defRPr sz="2550" b="0">
                <a:solidFill>
                  <a:srgbClr val="111111"/>
                </a:solidFill>
                <a:latin typeface="Arial"/>
                <a:ea typeface="Arial"/>
                <a:cs typeface="Arial"/>
              </a:defRPr>
            </a:defPPr>
            <a:lvl1pPr>
              <a:defRPr sz="2550" b="0">
                <a:solidFill>
                  <a:srgbClr val="111111"/>
                </a:solidFill>
                <a:latin typeface="Arial"/>
                <a:ea typeface="Arial"/>
                <a:cs typeface="Arial"/>
              </a:defRPr>
            </a:lvl1pPr>
            <a:lvl2pPr>
              <a:defRPr sz="2550" b="0">
                <a:solidFill>
                  <a:srgbClr val="111111"/>
                </a:solidFill>
                <a:latin typeface="Arial"/>
                <a:ea typeface="Arial"/>
                <a:cs typeface="Arial"/>
              </a:defRPr>
            </a:lvl2pPr>
            <a:lvl3pPr>
              <a:defRPr sz="2550" b="0">
                <a:solidFill>
                  <a:srgbClr val="111111"/>
                </a:solidFill>
                <a:latin typeface="Arial"/>
                <a:ea typeface="Arial"/>
                <a:cs typeface="Arial"/>
              </a:defRPr>
            </a:lvl3pPr>
            <a:lvl4pPr>
              <a:defRPr sz="2550" b="0">
                <a:solidFill>
                  <a:srgbClr val="111111"/>
                </a:solidFill>
                <a:latin typeface="Arial"/>
                <a:ea typeface="Arial"/>
                <a:cs typeface="Arial"/>
              </a:defRPr>
            </a:lvl4pPr>
            <a:lvl5pPr>
              <a:defRPr sz="2550" b="0">
                <a:solidFill>
                  <a:srgbClr val="111111"/>
                </a:solidFill>
                <a:latin typeface="Arial"/>
                <a:ea typeface="Arial"/>
                <a:cs typeface="Arial"/>
              </a:defRPr>
            </a:lvl5pPr>
            <a:lvl6pPr>
              <a:defRPr sz="2550" b="0">
                <a:solidFill>
                  <a:srgbClr val="111111"/>
                </a:solidFill>
                <a:latin typeface="Arial"/>
                <a:ea typeface="Arial"/>
                <a:cs typeface="Arial"/>
              </a:defRPr>
            </a:lvl6pPr>
            <a:lvl7pPr>
              <a:defRPr sz="2550" b="0">
                <a:solidFill>
                  <a:srgbClr val="111111"/>
                </a:solidFill>
                <a:latin typeface="Arial"/>
                <a:ea typeface="Arial"/>
                <a:cs typeface="Arial"/>
              </a:defRPr>
            </a:lvl7pPr>
            <a:lvl8pPr>
              <a:defRPr sz="2550" b="0">
                <a:solidFill>
                  <a:srgbClr val="111111"/>
                </a:solidFill>
                <a:latin typeface="Arial"/>
                <a:ea typeface="Arial"/>
                <a:cs typeface="Arial"/>
              </a:defRPr>
            </a:lvl8pPr>
            <a:lvl9pPr>
              <a:defRPr sz="2550" b="0">
                <a:solidFill>
                  <a:srgbClr val="111111"/>
                </a:solidFill>
                <a:latin typeface="Arial"/>
                <a:ea typeface="Arial"/>
                <a:cs typeface="Arial"/>
              </a:defRPr>
            </a:lvl9pPr>
          </a:lstStyle>
          <a:p>
            <a:pPr>
              <a:defRPr sz="2550" b="0">
                <a:solidFill>
                  <a:srgbClr val="111111"/>
                </a:solidFill>
                <a:latin typeface="Arial"/>
                <a:ea typeface="Arial"/>
                <a:cs typeface="Arial"/>
              </a:defRPr>
            </a:pPr>
            <a:r>
              <a:rPr sz="2550" b="0">
                <a:solidFill>
                  <a:srgbClr val="111111"/>
                </a:solidFill>
                <a:latin typeface="Arial"/>
                <a:ea typeface="Arial"/>
                <a:cs typeface="Arial"/>
              </a:rPr>
              <a:t>qs reads the current s.</a:t>
            </a:r>
          </a:p>
          <a:p>
            <a:pPr>
              <a:defRPr sz="2550" b="0">
                <a:solidFill>
                  <a:srgbClr val="111111"/>
                </a:solidFill>
                <a:latin typeface="Arial"/>
                <a:ea typeface="Arial"/>
                <a:cs typeface="Arial"/>
              </a:defRPr>
            </a:pPr>
            <a:r>
              <a:rPr sz="2550" b="0">
                <a:solidFill>
                  <a:srgbClr val="111111"/>
                </a:solidFill>
                <a:latin typeface="Arial"/>
                <a:ea typeface="Arial"/>
                <a:cs typeface="Arial"/>
              </a:rPr>
              <a:t>qv reads v after v has already changed.</a:t>
            </a:r>
          </a:p>
        </p:txBody>
      </p:sp>
    </p:spTree>
    <p:extLst>
      <p:ext uri="{BB962C8B-B14F-4D97-AF65-F5344CB8AC3E}">
        <p14:creationId xmlns:p14="http://schemas.microsoft.com/office/powerpoint/2010/main" val="1903926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7A5C19FD-12EF-45E6-82A1-10C91FAD28F6}"/>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Q10  Repeated assignments</a:t>
            </a:r>
          </a:p>
        </p:txBody>
      </p:sp>
      <p:sp>
        <p:nvSpPr>
          <p:cNvPr id="2" name="矩形 1">
            <a:extLst>
              <a:ext uri="{FF2B5EF4-FFF2-40B4-BE49-F238E27FC236}">
                <a16:creationId xmlns:a16="http://schemas.microsoft.com/office/drawing/2014/main" id="{1D698A11-9CE8-4384-81E9-923BDB763D70}"/>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Predict x, y, v and z after one rising edge.</a:t>
            </a:r>
          </a:p>
        </p:txBody>
      </p:sp>
      <p:sp>
        <p:nvSpPr>
          <p:cNvPr id="3" name="矩形 2">
            <a:extLst>
              <a:ext uri="{FF2B5EF4-FFF2-40B4-BE49-F238E27FC236}">
                <a16:creationId xmlns:a16="http://schemas.microsoft.com/office/drawing/2014/main" id="{F34F5B8D-2DAA-436F-8551-B3001D20772B}"/>
              </a:ext>
            </a:extLst>
          </p:cNvPr>
          <p:cNvSpPr>
            <a:spLocks noGrp="1"/>
          </p:cNvSpPr>
          <p:nvPr/>
        </p:nvSpPr>
        <p:spPr>
          <a:xfrm>
            <a:off x="666750" y="1314450"/>
            <a:ext cx="8096250" cy="4762500"/>
          </a:xfrm>
          <a:prstGeom prst="rect">
            <a:avLst/>
          </a:prstGeom>
          <a:noFill/>
          <a:ln w="0">
            <a:noFill/>
            <a:prstDash val="solid"/>
          </a:ln>
        </p:spPr>
        <p:txBody>
          <a:bodyPr lIns="0" tIns="0" rIns="0" bIns="0"/>
          <a:lstStyle>
            <a:defPPr>
              <a:defRPr sz="1875" b="0">
                <a:solidFill>
                  <a:srgbClr val="111111"/>
                </a:solidFill>
                <a:latin typeface="DejaVu Sans Mono"/>
                <a:ea typeface="DejaVu Sans Mono"/>
                <a:cs typeface="DejaVu Sans Mono"/>
              </a:defRPr>
            </a:defPPr>
            <a:lvl1pPr>
              <a:buNone/>
              <a:defRPr sz="1875" b="0">
                <a:solidFill>
                  <a:srgbClr val="111111"/>
                </a:solidFill>
                <a:latin typeface="DejaVu Sans Mono"/>
                <a:ea typeface="DejaVu Sans Mono"/>
                <a:cs typeface="DejaVu Sans Mono"/>
              </a:defRPr>
            </a:lvl1pPr>
            <a:lvl2pPr>
              <a:buNone/>
              <a:defRPr sz="1875" b="0">
                <a:solidFill>
                  <a:srgbClr val="111111"/>
                </a:solidFill>
                <a:latin typeface="DejaVu Sans Mono"/>
                <a:ea typeface="DejaVu Sans Mono"/>
                <a:cs typeface="DejaVu Sans Mono"/>
              </a:defRPr>
            </a:lvl2pPr>
            <a:lvl3pPr>
              <a:buNone/>
              <a:defRPr sz="1875" b="0">
                <a:solidFill>
                  <a:srgbClr val="111111"/>
                </a:solidFill>
                <a:latin typeface="DejaVu Sans Mono"/>
                <a:ea typeface="DejaVu Sans Mono"/>
                <a:cs typeface="DejaVu Sans Mono"/>
              </a:defRPr>
            </a:lvl3pPr>
            <a:lvl4pPr>
              <a:buNone/>
              <a:defRPr sz="1875" b="0">
                <a:solidFill>
                  <a:srgbClr val="111111"/>
                </a:solidFill>
                <a:latin typeface="DejaVu Sans Mono"/>
                <a:ea typeface="DejaVu Sans Mono"/>
                <a:cs typeface="DejaVu Sans Mono"/>
              </a:defRPr>
            </a:lvl4pPr>
            <a:lvl5pPr>
              <a:buNone/>
              <a:defRPr sz="1875" b="0">
                <a:solidFill>
                  <a:srgbClr val="111111"/>
                </a:solidFill>
                <a:latin typeface="DejaVu Sans Mono"/>
                <a:ea typeface="DejaVu Sans Mono"/>
                <a:cs typeface="DejaVu Sans Mono"/>
              </a:defRPr>
            </a:lvl5pPr>
            <a:lvl6pPr>
              <a:buNone/>
              <a:defRPr sz="1875" b="0">
                <a:solidFill>
                  <a:srgbClr val="111111"/>
                </a:solidFill>
                <a:latin typeface="DejaVu Sans Mono"/>
                <a:ea typeface="DejaVu Sans Mono"/>
                <a:cs typeface="DejaVu Sans Mono"/>
              </a:defRPr>
            </a:lvl6pPr>
            <a:lvl7pPr>
              <a:buNone/>
              <a:defRPr sz="1875" b="0">
                <a:solidFill>
                  <a:srgbClr val="111111"/>
                </a:solidFill>
                <a:latin typeface="DejaVu Sans Mono"/>
                <a:ea typeface="DejaVu Sans Mono"/>
                <a:cs typeface="DejaVu Sans Mono"/>
              </a:defRPr>
            </a:lvl7pPr>
            <a:lvl8pPr>
              <a:buNone/>
              <a:defRPr sz="1875" b="0">
                <a:solidFill>
                  <a:srgbClr val="111111"/>
                </a:solidFill>
                <a:latin typeface="DejaVu Sans Mono"/>
                <a:ea typeface="DejaVu Sans Mono"/>
                <a:cs typeface="DejaVu Sans Mono"/>
              </a:defRPr>
            </a:lvl8pPr>
            <a:lvl9pPr>
              <a:buNone/>
              <a:defRPr sz="1875" b="0">
                <a:solidFill>
                  <a:srgbClr val="111111"/>
                </a:solidFill>
                <a:latin typeface="DejaVu Sans Mono"/>
                <a:ea typeface="DejaVu Sans Mono"/>
                <a:cs typeface="DejaVu Sans Mono"/>
              </a:defRPr>
            </a:lvl9pPr>
          </a:lstStyle>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signal x : integer := 4;</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signal y, z : integer := 0;</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process(clk)</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variable v : integer := 0;</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begin</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if rising_edge(clk) then</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x &lt;= x + 1;</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x &lt;= x + 2;</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y &lt;= x;</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v := x;</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v := v + 1;</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v := v + 2;</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z &lt;= v;</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  end if;</a:t>
            </a:r>
          </a:p>
          <a:p>
            <a:pPr>
              <a:buNone/>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end process;</a:t>
            </a:r>
          </a:p>
        </p:txBody>
      </p:sp>
      <p:sp>
        <p:nvSpPr>
          <p:cNvPr id="4" name="矩形 3">
            <a:extLst>
              <a:ext uri="{FF2B5EF4-FFF2-40B4-BE49-F238E27FC236}">
                <a16:creationId xmlns:a16="http://schemas.microsoft.com/office/drawing/2014/main" id="{DA622B85-3A10-44A2-A46F-6CE6549D95B1}"/>
              </a:ext>
            </a:extLst>
          </p:cNvPr>
          <p:cNvSpPr>
            <a:spLocks noGrp="1"/>
          </p:cNvSpPr>
          <p:nvPr/>
        </p:nvSpPr>
        <p:spPr>
          <a:xfrm>
            <a:off x="9001125" y="1476375"/>
            <a:ext cx="2524125" cy="3714750"/>
          </a:xfrm>
          <a:prstGeom prst="rect">
            <a:avLst/>
          </a:prstGeom>
          <a:noFill/>
          <a:ln w="0">
            <a:noFill/>
            <a:prstDash val="solid"/>
          </a:ln>
        </p:spPr>
        <p:txBody>
          <a:bodyPr lIns="0" tIns="0" rIns="0" bIns="0"/>
          <a:lstStyle>
            <a:defPPr>
              <a:defRPr sz="1950" b="0">
                <a:solidFill>
                  <a:srgbClr val="111111"/>
                </a:solidFill>
                <a:latin typeface="Arial"/>
                <a:ea typeface="Arial"/>
                <a:cs typeface="Arial"/>
              </a:defRPr>
            </a:defPPr>
            <a:lvl1pPr>
              <a:buNone/>
              <a:defRPr sz="1950" b="0">
                <a:solidFill>
                  <a:srgbClr val="111111"/>
                </a:solidFill>
                <a:latin typeface="Arial"/>
                <a:ea typeface="Arial"/>
                <a:cs typeface="Arial"/>
              </a:defRPr>
            </a:lvl1pPr>
            <a:lvl2pPr>
              <a:buNone/>
              <a:defRPr sz="1950" b="0">
                <a:solidFill>
                  <a:srgbClr val="111111"/>
                </a:solidFill>
                <a:latin typeface="Arial"/>
                <a:ea typeface="Arial"/>
                <a:cs typeface="Arial"/>
              </a:defRPr>
            </a:lvl2pPr>
            <a:lvl3pPr>
              <a:buNone/>
              <a:defRPr sz="1950" b="0">
                <a:solidFill>
                  <a:srgbClr val="111111"/>
                </a:solidFill>
                <a:latin typeface="Arial"/>
                <a:ea typeface="Arial"/>
                <a:cs typeface="Arial"/>
              </a:defRPr>
            </a:lvl3pPr>
            <a:lvl4pPr>
              <a:buNone/>
              <a:defRPr sz="1950" b="0">
                <a:solidFill>
                  <a:srgbClr val="111111"/>
                </a:solidFill>
                <a:latin typeface="Arial"/>
                <a:ea typeface="Arial"/>
                <a:cs typeface="Arial"/>
              </a:defRPr>
            </a:lvl4pPr>
            <a:lvl5pPr>
              <a:buNone/>
              <a:defRPr sz="1950" b="0">
                <a:solidFill>
                  <a:srgbClr val="111111"/>
                </a:solidFill>
                <a:latin typeface="Arial"/>
                <a:ea typeface="Arial"/>
                <a:cs typeface="Arial"/>
              </a:defRPr>
            </a:lvl5pPr>
            <a:lvl6pPr>
              <a:buNone/>
              <a:defRPr sz="1950" b="0">
                <a:solidFill>
                  <a:srgbClr val="111111"/>
                </a:solidFill>
                <a:latin typeface="Arial"/>
                <a:ea typeface="Arial"/>
                <a:cs typeface="Arial"/>
              </a:defRPr>
            </a:lvl6pPr>
            <a:lvl7pPr>
              <a:buNone/>
              <a:defRPr sz="1950" b="0">
                <a:solidFill>
                  <a:srgbClr val="111111"/>
                </a:solidFill>
                <a:latin typeface="Arial"/>
                <a:ea typeface="Arial"/>
                <a:cs typeface="Arial"/>
              </a:defRPr>
            </a:lvl7pPr>
            <a:lvl8pPr>
              <a:buNone/>
              <a:defRPr sz="1950" b="0">
                <a:solidFill>
                  <a:srgbClr val="111111"/>
                </a:solidFill>
                <a:latin typeface="Arial"/>
                <a:ea typeface="Arial"/>
                <a:cs typeface="Arial"/>
              </a:defRPr>
            </a:lvl8pPr>
            <a:lvl9pPr>
              <a:buNone/>
              <a:defRPr sz="1950" b="0">
                <a:solidFill>
                  <a:srgbClr val="111111"/>
                </a:solidFill>
                <a:latin typeface="Arial"/>
                <a:ea typeface="Arial"/>
                <a:cs typeface="Arial"/>
              </a:defRPr>
            </a:lvl9pPr>
          </a:lstStyle>
          <a:p>
            <a:pPr>
              <a:buNone/>
              <a:defRPr sz="1950" b="0">
                <a:solidFill>
                  <a:srgbClr val="111111"/>
                </a:solidFill>
                <a:latin typeface="Arial"/>
                <a:ea typeface="Arial"/>
                <a:cs typeface="Arial"/>
              </a:defRPr>
            </a:pPr>
            <a:r>
              <a:rPr sz="1950" b="0">
                <a:solidFill>
                  <a:srgbClr val="111111"/>
                </a:solidFill>
                <a:latin typeface="Arial"/>
                <a:ea typeface="Arial"/>
                <a:cs typeface="Arial"/>
              </a:rPr>
              <a:t>All signal assignments have zero explicit delay.</a:t>
            </a:r>
          </a:p>
          <a:p>
            <a:endParaRPr sz="1950" b="0">
              <a:solidFill>
                <a:srgbClr val="111111"/>
              </a:solidFill>
              <a:latin typeface="Arial"/>
              <a:ea typeface="Arial"/>
              <a:cs typeface="Arial"/>
            </a:endParaRPr>
          </a:p>
          <a:p>
            <a:pPr>
              <a:buNone/>
              <a:defRPr sz="1950" b="0">
                <a:solidFill>
                  <a:srgbClr val="111111"/>
                </a:solidFill>
                <a:latin typeface="Arial"/>
                <a:ea typeface="Arial"/>
                <a:cs typeface="Arial"/>
              </a:defRPr>
            </a:pPr>
            <a:r>
              <a:rPr sz="1950" b="0">
                <a:solidFill>
                  <a:srgbClr val="111111"/>
                </a:solidFill>
                <a:latin typeface="Arial"/>
                <a:ea typeface="Arial"/>
                <a:cs typeface="Arial"/>
              </a:rPr>
              <a:t>All assignments to x come from this one process.</a:t>
            </a:r>
          </a:p>
          <a:p>
            <a:endParaRPr sz="1950" b="0">
              <a:solidFill>
                <a:srgbClr val="111111"/>
              </a:solidFill>
              <a:latin typeface="Arial"/>
              <a:ea typeface="Arial"/>
              <a:cs typeface="Arial"/>
            </a:endParaRPr>
          </a:p>
          <a:p>
            <a:pPr>
              <a:buNone/>
              <a:defRPr sz="1950" b="0">
                <a:solidFill>
                  <a:srgbClr val="111111"/>
                </a:solidFill>
                <a:latin typeface="Arial"/>
                <a:ea typeface="Arial"/>
                <a:cs typeface="Arial"/>
              </a:defRPr>
            </a:pPr>
            <a:r>
              <a:rPr sz="1950" b="0">
                <a:solidFill>
                  <a:srgbClr val="111111"/>
                </a:solidFill>
                <a:latin typeface="Arial"/>
                <a:ea typeface="Arial"/>
                <a:cs typeface="Arial"/>
              </a:rPr>
              <a:t>Observe after the signal updates.</a:t>
            </a:r>
          </a:p>
        </p:txBody>
      </p:sp>
      <p:sp>
        <p:nvSpPr>
          <p:cNvPr id="5" name="矩形 4">
            <a:extLst>
              <a:ext uri="{FF2B5EF4-FFF2-40B4-BE49-F238E27FC236}">
                <a16:creationId xmlns:a16="http://schemas.microsoft.com/office/drawing/2014/main" id="{8B0BA211-96FA-4A2F-87AE-20C57BDA9C0E}"/>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20</a:t>
            </a:r>
          </a:p>
        </p:txBody>
      </p:sp>
    </p:spTree>
    <p:extLst>
      <p:ext uri="{BB962C8B-B14F-4D97-AF65-F5344CB8AC3E}">
        <p14:creationId xmlns:p14="http://schemas.microsoft.com/office/powerpoint/2010/main" val="561414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5793BF5F-64F8-470D-BF35-D5A31BA789DF}"/>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Q10  Answer</a:t>
            </a:r>
          </a:p>
        </p:txBody>
      </p:sp>
      <p:sp>
        <p:nvSpPr>
          <p:cNvPr id="2" name="矩形 1">
            <a:extLst>
              <a:ext uri="{FF2B5EF4-FFF2-40B4-BE49-F238E27FC236}">
                <a16:creationId xmlns:a16="http://schemas.microsoft.com/office/drawing/2014/main" id="{B1EE9CB2-BCEC-41B6-8CF2-1DE3A222E933}"/>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After the first edge: x = 6, y = 4, v = 7, z = 7</a:t>
            </a:r>
          </a:p>
        </p:txBody>
      </p:sp>
      <p:sp>
        <p:nvSpPr>
          <p:cNvPr id="3" name="矩形 2">
            <a:extLst>
              <a:ext uri="{FF2B5EF4-FFF2-40B4-BE49-F238E27FC236}">
                <a16:creationId xmlns:a16="http://schemas.microsoft.com/office/drawing/2014/main" id="{C24EBFCB-2B9E-4E91-8DC2-69ADBF593B13}"/>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21</a:t>
            </a:r>
          </a:p>
        </p:txBody>
      </p:sp>
      <p:sp>
        <p:nvSpPr>
          <p:cNvPr id="4" name="矩形 3">
            <a:extLst>
              <a:ext uri="{FF2B5EF4-FFF2-40B4-BE49-F238E27FC236}">
                <a16:creationId xmlns:a16="http://schemas.microsoft.com/office/drawing/2014/main" id="{93A5CB4E-916E-4BD7-9F7C-E241EFE8876D}"/>
              </a:ext>
            </a:extLst>
          </p:cNvPr>
          <p:cNvSpPr>
            <a:spLocks noGrp="1"/>
          </p:cNvSpPr>
          <p:nvPr/>
        </p:nvSpPr>
        <p:spPr>
          <a:xfrm>
            <a:off x="666750" y="1524000"/>
            <a:ext cx="5715000" cy="476250"/>
          </a:xfrm>
          <a:prstGeom prst="rect">
            <a:avLst/>
          </a:prstGeom>
          <a:noFill/>
          <a:ln w="0">
            <a:noFill/>
            <a:prstDash val="solid"/>
          </a:ln>
        </p:spPr>
        <p:txBody>
          <a:bodyPr lIns="0" tIns="0" rIns="0" bIns="0"/>
          <a:lstStyle>
            <a:defPPr>
              <a:defRPr sz="2325" b="1">
                <a:solidFill>
                  <a:srgbClr val="155CAA"/>
                </a:solidFill>
                <a:latin typeface="Arial"/>
                <a:ea typeface="Arial"/>
                <a:cs typeface="Arial"/>
              </a:defRPr>
            </a:defPPr>
            <a:lvl1pPr>
              <a:defRPr sz="2325" b="1">
                <a:solidFill>
                  <a:srgbClr val="155CAA"/>
                </a:solidFill>
                <a:latin typeface="Arial"/>
                <a:ea typeface="Arial"/>
                <a:cs typeface="Arial"/>
              </a:defRPr>
            </a:lvl1pPr>
            <a:lvl2pPr>
              <a:defRPr sz="2325" b="1">
                <a:solidFill>
                  <a:srgbClr val="155CAA"/>
                </a:solidFill>
                <a:latin typeface="Arial"/>
                <a:ea typeface="Arial"/>
                <a:cs typeface="Arial"/>
              </a:defRPr>
            </a:lvl2pPr>
            <a:lvl3pPr>
              <a:defRPr sz="2325" b="1">
                <a:solidFill>
                  <a:srgbClr val="155CAA"/>
                </a:solidFill>
                <a:latin typeface="Arial"/>
                <a:ea typeface="Arial"/>
                <a:cs typeface="Arial"/>
              </a:defRPr>
            </a:lvl3pPr>
            <a:lvl4pPr>
              <a:defRPr sz="2325" b="1">
                <a:solidFill>
                  <a:srgbClr val="155CAA"/>
                </a:solidFill>
                <a:latin typeface="Arial"/>
                <a:ea typeface="Arial"/>
                <a:cs typeface="Arial"/>
              </a:defRPr>
            </a:lvl4pPr>
            <a:lvl5pPr>
              <a:defRPr sz="2325" b="1">
                <a:solidFill>
                  <a:srgbClr val="155CAA"/>
                </a:solidFill>
                <a:latin typeface="Arial"/>
                <a:ea typeface="Arial"/>
                <a:cs typeface="Arial"/>
              </a:defRPr>
            </a:lvl5pPr>
            <a:lvl6pPr>
              <a:defRPr sz="2325" b="1">
                <a:solidFill>
                  <a:srgbClr val="155CAA"/>
                </a:solidFill>
                <a:latin typeface="Arial"/>
                <a:ea typeface="Arial"/>
                <a:cs typeface="Arial"/>
              </a:defRPr>
            </a:lvl6pPr>
            <a:lvl7pPr>
              <a:defRPr sz="2325" b="1">
                <a:solidFill>
                  <a:srgbClr val="155CAA"/>
                </a:solidFill>
                <a:latin typeface="Arial"/>
                <a:ea typeface="Arial"/>
                <a:cs typeface="Arial"/>
              </a:defRPr>
            </a:lvl7pPr>
            <a:lvl8pPr>
              <a:defRPr sz="2325" b="1">
                <a:solidFill>
                  <a:srgbClr val="155CAA"/>
                </a:solidFill>
                <a:latin typeface="Arial"/>
                <a:ea typeface="Arial"/>
                <a:cs typeface="Arial"/>
              </a:defRPr>
            </a:lvl8pPr>
            <a:lvl9pPr>
              <a:defRPr sz="2325" b="1">
                <a:solidFill>
                  <a:srgbClr val="155CAA"/>
                </a:solidFill>
                <a:latin typeface="Arial"/>
                <a:ea typeface="Arial"/>
                <a:cs typeface="Arial"/>
              </a:defRPr>
            </a:lvl9pPr>
          </a:lstStyle>
          <a:p>
            <a:pPr>
              <a:defRPr sz="2325" b="1">
                <a:solidFill>
                  <a:srgbClr val="155CAA"/>
                </a:solidFill>
                <a:latin typeface="Arial"/>
                <a:ea typeface="Arial"/>
                <a:cs typeface="Arial"/>
              </a:defRPr>
            </a:pPr>
            <a:r>
              <a:rPr sz="2325" b="1">
                <a:solidFill>
                  <a:srgbClr val="155CAA"/>
                </a:solidFill>
                <a:latin typeface="Arial"/>
                <a:ea typeface="Arial"/>
                <a:cs typeface="Arial"/>
              </a:rPr>
              <a:t>Signal x</a:t>
            </a:r>
          </a:p>
        </p:txBody>
      </p:sp>
      <p:sp>
        <p:nvSpPr>
          <p:cNvPr id="5" name="矩形 4">
            <a:extLst>
              <a:ext uri="{FF2B5EF4-FFF2-40B4-BE49-F238E27FC236}">
                <a16:creationId xmlns:a16="http://schemas.microsoft.com/office/drawing/2014/main" id="{A532A52C-F0EB-40E8-B91E-2F49DC3CFFDB}"/>
              </a:ext>
            </a:extLst>
          </p:cNvPr>
          <p:cNvSpPr>
            <a:spLocks noGrp="1"/>
          </p:cNvSpPr>
          <p:nvPr/>
        </p:nvSpPr>
        <p:spPr>
          <a:xfrm>
            <a:off x="666750" y="2238375"/>
            <a:ext cx="6477000" cy="1381125"/>
          </a:xfrm>
          <a:prstGeom prst="rect">
            <a:avLst/>
          </a:prstGeom>
          <a:noFill/>
          <a:ln w="0">
            <a:noFill/>
            <a:prstDash val="solid"/>
          </a:ln>
        </p:spPr>
        <p:txBody>
          <a:bodyPr lIns="0" tIns="0" rIns="0" bIns="0"/>
          <a:lstStyle>
            <a:defPPr>
              <a:defRPr sz="1875" b="0">
                <a:solidFill>
                  <a:srgbClr val="111111"/>
                </a:solidFill>
                <a:latin typeface="DejaVu Sans Mono"/>
                <a:ea typeface="DejaVu Sans Mono"/>
                <a:cs typeface="DejaVu Sans Mono"/>
              </a:defRPr>
            </a:defPPr>
            <a:lvl1pPr>
              <a:defRPr sz="1875" b="0">
                <a:solidFill>
                  <a:srgbClr val="111111"/>
                </a:solidFill>
                <a:latin typeface="DejaVu Sans Mono"/>
                <a:ea typeface="DejaVu Sans Mono"/>
                <a:cs typeface="DejaVu Sans Mono"/>
              </a:defRPr>
            </a:lvl1pPr>
            <a:lvl2pPr>
              <a:defRPr sz="1875" b="0">
                <a:solidFill>
                  <a:srgbClr val="111111"/>
                </a:solidFill>
                <a:latin typeface="DejaVu Sans Mono"/>
                <a:ea typeface="DejaVu Sans Mono"/>
                <a:cs typeface="DejaVu Sans Mono"/>
              </a:defRPr>
            </a:lvl2pPr>
            <a:lvl3pPr>
              <a:defRPr sz="1875" b="0">
                <a:solidFill>
                  <a:srgbClr val="111111"/>
                </a:solidFill>
                <a:latin typeface="DejaVu Sans Mono"/>
                <a:ea typeface="DejaVu Sans Mono"/>
                <a:cs typeface="DejaVu Sans Mono"/>
              </a:defRPr>
            </a:lvl3pPr>
            <a:lvl4pPr>
              <a:defRPr sz="1875" b="0">
                <a:solidFill>
                  <a:srgbClr val="111111"/>
                </a:solidFill>
                <a:latin typeface="DejaVu Sans Mono"/>
                <a:ea typeface="DejaVu Sans Mono"/>
                <a:cs typeface="DejaVu Sans Mono"/>
              </a:defRPr>
            </a:lvl4pPr>
            <a:lvl5pPr>
              <a:defRPr sz="1875" b="0">
                <a:solidFill>
                  <a:srgbClr val="111111"/>
                </a:solidFill>
                <a:latin typeface="DejaVu Sans Mono"/>
                <a:ea typeface="DejaVu Sans Mono"/>
                <a:cs typeface="DejaVu Sans Mono"/>
              </a:defRPr>
            </a:lvl5pPr>
            <a:lvl6pPr>
              <a:defRPr sz="1875" b="0">
                <a:solidFill>
                  <a:srgbClr val="111111"/>
                </a:solidFill>
                <a:latin typeface="DejaVu Sans Mono"/>
                <a:ea typeface="DejaVu Sans Mono"/>
                <a:cs typeface="DejaVu Sans Mono"/>
              </a:defRPr>
            </a:lvl6pPr>
            <a:lvl7pPr>
              <a:defRPr sz="1875" b="0">
                <a:solidFill>
                  <a:srgbClr val="111111"/>
                </a:solidFill>
                <a:latin typeface="DejaVu Sans Mono"/>
                <a:ea typeface="DejaVu Sans Mono"/>
                <a:cs typeface="DejaVu Sans Mono"/>
              </a:defRPr>
            </a:lvl7pPr>
            <a:lvl8pPr>
              <a:defRPr sz="1875" b="0">
                <a:solidFill>
                  <a:srgbClr val="111111"/>
                </a:solidFill>
                <a:latin typeface="DejaVu Sans Mono"/>
                <a:ea typeface="DejaVu Sans Mono"/>
                <a:cs typeface="DejaVu Sans Mono"/>
              </a:defRPr>
            </a:lvl8pPr>
            <a:lvl9pPr>
              <a:defRPr sz="1875" b="0">
                <a:solidFill>
                  <a:srgbClr val="111111"/>
                </a:solidFill>
                <a:latin typeface="DejaVu Sans Mono"/>
                <a:ea typeface="DejaVu Sans Mono"/>
                <a:cs typeface="DejaVu Sans Mono"/>
              </a:defRPr>
            </a:lvl9pPr>
          </a:lstStyle>
          <a:p>
            <a:pPr>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x &lt;= x + 1;  -- schedules 5</a:t>
            </a:r>
          </a:p>
          <a:p>
            <a:pPr>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x &lt;= x + 2;  -- replaces 5 with 6</a:t>
            </a:r>
          </a:p>
        </p:txBody>
      </p:sp>
      <p:sp>
        <p:nvSpPr>
          <p:cNvPr id="6" name="矩形 5">
            <a:extLst>
              <a:ext uri="{FF2B5EF4-FFF2-40B4-BE49-F238E27FC236}">
                <a16:creationId xmlns:a16="http://schemas.microsoft.com/office/drawing/2014/main" id="{BF06B3C3-93A2-4E23-A844-69CF3A28221B}"/>
              </a:ext>
            </a:extLst>
          </p:cNvPr>
          <p:cNvSpPr>
            <a:spLocks noGrp="1"/>
          </p:cNvSpPr>
          <p:nvPr/>
        </p:nvSpPr>
        <p:spPr>
          <a:xfrm>
            <a:off x="7429500" y="1524000"/>
            <a:ext cx="4095750" cy="476250"/>
          </a:xfrm>
          <a:prstGeom prst="rect">
            <a:avLst/>
          </a:prstGeom>
          <a:noFill/>
          <a:ln w="0">
            <a:noFill/>
            <a:prstDash val="solid"/>
          </a:ln>
        </p:spPr>
        <p:txBody>
          <a:bodyPr lIns="0" tIns="0" rIns="0" bIns="0"/>
          <a:lstStyle>
            <a:defPPr>
              <a:defRPr sz="2325" b="1">
                <a:solidFill>
                  <a:srgbClr val="A75311"/>
                </a:solidFill>
                <a:latin typeface="Arial"/>
                <a:ea typeface="Arial"/>
                <a:cs typeface="Arial"/>
              </a:defRPr>
            </a:defPPr>
            <a:lvl1pPr>
              <a:defRPr sz="2325" b="1">
                <a:solidFill>
                  <a:srgbClr val="A75311"/>
                </a:solidFill>
                <a:latin typeface="Arial"/>
                <a:ea typeface="Arial"/>
                <a:cs typeface="Arial"/>
              </a:defRPr>
            </a:lvl1pPr>
            <a:lvl2pPr>
              <a:defRPr sz="2325" b="1">
                <a:solidFill>
                  <a:srgbClr val="A75311"/>
                </a:solidFill>
                <a:latin typeface="Arial"/>
                <a:ea typeface="Arial"/>
                <a:cs typeface="Arial"/>
              </a:defRPr>
            </a:lvl2pPr>
            <a:lvl3pPr>
              <a:defRPr sz="2325" b="1">
                <a:solidFill>
                  <a:srgbClr val="A75311"/>
                </a:solidFill>
                <a:latin typeface="Arial"/>
                <a:ea typeface="Arial"/>
                <a:cs typeface="Arial"/>
              </a:defRPr>
            </a:lvl3pPr>
            <a:lvl4pPr>
              <a:defRPr sz="2325" b="1">
                <a:solidFill>
                  <a:srgbClr val="A75311"/>
                </a:solidFill>
                <a:latin typeface="Arial"/>
                <a:ea typeface="Arial"/>
                <a:cs typeface="Arial"/>
              </a:defRPr>
            </a:lvl4pPr>
            <a:lvl5pPr>
              <a:defRPr sz="2325" b="1">
                <a:solidFill>
                  <a:srgbClr val="A75311"/>
                </a:solidFill>
                <a:latin typeface="Arial"/>
                <a:ea typeface="Arial"/>
                <a:cs typeface="Arial"/>
              </a:defRPr>
            </a:lvl5pPr>
            <a:lvl6pPr>
              <a:defRPr sz="2325" b="1">
                <a:solidFill>
                  <a:srgbClr val="A75311"/>
                </a:solidFill>
                <a:latin typeface="Arial"/>
                <a:ea typeface="Arial"/>
                <a:cs typeface="Arial"/>
              </a:defRPr>
            </a:lvl6pPr>
            <a:lvl7pPr>
              <a:defRPr sz="2325" b="1">
                <a:solidFill>
                  <a:srgbClr val="A75311"/>
                </a:solidFill>
                <a:latin typeface="Arial"/>
                <a:ea typeface="Arial"/>
                <a:cs typeface="Arial"/>
              </a:defRPr>
            </a:lvl7pPr>
            <a:lvl8pPr>
              <a:defRPr sz="2325" b="1">
                <a:solidFill>
                  <a:srgbClr val="A75311"/>
                </a:solidFill>
                <a:latin typeface="Arial"/>
                <a:ea typeface="Arial"/>
                <a:cs typeface="Arial"/>
              </a:defRPr>
            </a:lvl8pPr>
            <a:lvl9pPr>
              <a:defRPr sz="2325" b="1">
                <a:solidFill>
                  <a:srgbClr val="A75311"/>
                </a:solidFill>
                <a:latin typeface="Arial"/>
                <a:ea typeface="Arial"/>
                <a:cs typeface="Arial"/>
              </a:defRPr>
            </a:lvl9pPr>
          </a:lstStyle>
          <a:p>
            <a:pPr>
              <a:defRPr sz="2325" b="1">
                <a:solidFill>
                  <a:srgbClr val="A75311"/>
                </a:solidFill>
                <a:latin typeface="Arial"/>
                <a:ea typeface="Arial"/>
                <a:cs typeface="Arial"/>
              </a:defRPr>
            </a:pPr>
            <a:r>
              <a:rPr sz="2325" b="1">
                <a:solidFill>
                  <a:srgbClr val="A75311"/>
                </a:solidFill>
                <a:latin typeface="Arial"/>
                <a:ea typeface="Arial"/>
                <a:cs typeface="Arial"/>
              </a:rPr>
              <a:t>Variable v</a:t>
            </a:r>
          </a:p>
        </p:txBody>
      </p:sp>
      <p:sp>
        <p:nvSpPr>
          <p:cNvPr id="7" name="矩形 6">
            <a:extLst>
              <a:ext uri="{FF2B5EF4-FFF2-40B4-BE49-F238E27FC236}">
                <a16:creationId xmlns:a16="http://schemas.microsoft.com/office/drawing/2014/main" id="{49A9731A-671C-4738-9BCA-D3A590346CF8}"/>
              </a:ext>
            </a:extLst>
          </p:cNvPr>
          <p:cNvSpPr>
            <a:spLocks noGrp="1"/>
          </p:cNvSpPr>
          <p:nvPr/>
        </p:nvSpPr>
        <p:spPr>
          <a:xfrm>
            <a:off x="7429500" y="2238375"/>
            <a:ext cx="4095750" cy="1619250"/>
          </a:xfrm>
          <a:prstGeom prst="rect">
            <a:avLst/>
          </a:prstGeom>
          <a:noFill/>
          <a:ln w="0">
            <a:noFill/>
            <a:prstDash val="solid"/>
          </a:ln>
        </p:spPr>
        <p:txBody>
          <a:bodyPr lIns="0" tIns="0" rIns="0" bIns="0"/>
          <a:lstStyle>
            <a:defPPr>
              <a:defRPr sz="1875" b="0">
                <a:solidFill>
                  <a:srgbClr val="111111"/>
                </a:solidFill>
                <a:latin typeface="DejaVu Sans Mono"/>
                <a:ea typeface="DejaVu Sans Mono"/>
                <a:cs typeface="DejaVu Sans Mono"/>
              </a:defRPr>
            </a:defPPr>
            <a:lvl1pPr>
              <a:defRPr sz="1875" b="0">
                <a:solidFill>
                  <a:srgbClr val="111111"/>
                </a:solidFill>
                <a:latin typeface="DejaVu Sans Mono"/>
                <a:ea typeface="DejaVu Sans Mono"/>
                <a:cs typeface="DejaVu Sans Mono"/>
              </a:defRPr>
            </a:lvl1pPr>
            <a:lvl2pPr>
              <a:defRPr sz="1875" b="0">
                <a:solidFill>
                  <a:srgbClr val="111111"/>
                </a:solidFill>
                <a:latin typeface="DejaVu Sans Mono"/>
                <a:ea typeface="DejaVu Sans Mono"/>
                <a:cs typeface="DejaVu Sans Mono"/>
              </a:defRPr>
            </a:lvl2pPr>
            <a:lvl3pPr>
              <a:defRPr sz="1875" b="0">
                <a:solidFill>
                  <a:srgbClr val="111111"/>
                </a:solidFill>
                <a:latin typeface="DejaVu Sans Mono"/>
                <a:ea typeface="DejaVu Sans Mono"/>
                <a:cs typeface="DejaVu Sans Mono"/>
              </a:defRPr>
            </a:lvl3pPr>
            <a:lvl4pPr>
              <a:defRPr sz="1875" b="0">
                <a:solidFill>
                  <a:srgbClr val="111111"/>
                </a:solidFill>
                <a:latin typeface="DejaVu Sans Mono"/>
                <a:ea typeface="DejaVu Sans Mono"/>
                <a:cs typeface="DejaVu Sans Mono"/>
              </a:defRPr>
            </a:lvl4pPr>
            <a:lvl5pPr>
              <a:defRPr sz="1875" b="0">
                <a:solidFill>
                  <a:srgbClr val="111111"/>
                </a:solidFill>
                <a:latin typeface="DejaVu Sans Mono"/>
                <a:ea typeface="DejaVu Sans Mono"/>
                <a:cs typeface="DejaVu Sans Mono"/>
              </a:defRPr>
            </a:lvl5pPr>
            <a:lvl6pPr>
              <a:defRPr sz="1875" b="0">
                <a:solidFill>
                  <a:srgbClr val="111111"/>
                </a:solidFill>
                <a:latin typeface="DejaVu Sans Mono"/>
                <a:ea typeface="DejaVu Sans Mono"/>
                <a:cs typeface="DejaVu Sans Mono"/>
              </a:defRPr>
            </a:lvl6pPr>
            <a:lvl7pPr>
              <a:defRPr sz="1875" b="0">
                <a:solidFill>
                  <a:srgbClr val="111111"/>
                </a:solidFill>
                <a:latin typeface="DejaVu Sans Mono"/>
                <a:ea typeface="DejaVu Sans Mono"/>
                <a:cs typeface="DejaVu Sans Mono"/>
              </a:defRPr>
            </a:lvl7pPr>
            <a:lvl8pPr>
              <a:defRPr sz="1875" b="0">
                <a:solidFill>
                  <a:srgbClr val="111111"/>
                </a:solidFill>
                <a:latin typeface="DejaVu Sans Mono"/>
                <a:ea typeface="DejaVu Sans Mono"/>
                <a:cs typeface="DejaVu Sans Mono"/>
              </a:defRPr>
            </a:lvl8pPr>
            <a:lvl9pPr>
              <a:defRPr sz="1875" b="0">
                <a:solidFill>
                  <a:srgbClr val="111111"/>
                </a:solidFill>
                <a:latin typeface="DejaVu Sans Mono"/>
                <a:ea typeface="DejaVu Sans Mono"/>
                <a:cs typeface="DejaVu Sans Mono"/>
              </a:defRPr>
            </a:lvl9pPr>
          </a:lstStyle>
          <a:p>
            <a:pPr>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v := x;      -- 4</a:t>
            </a:r>
          </a:p>
          <a:p>
            <a:pPr>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v := v + 1;  -- 5</a:t>
            </a:r>
          </a:p>
          <a:p>
            <a:pPr>
              <a:defRPr sz="1875" b="0">
                <a:solidFill>
                  <a:srgbClr val="111111"/>
                </a:solidFill>
                <a:latin typeface="DejaVu Sans Mono"/>
                <a:ea typeface="DejaVu Sans Mono"/>
                <a:cs typeface="DejaVu Sans Mono"/>
              </a:defRPr>
            </a:pPr>
            <a:r>
              <a:rPr sz="1875" b="0">
                <a:solidFill>
                  <a:srgbClr val="111111"/>
                </a:solidFill>
                <a:latin typeface="DejaVu Sans Mono"/>
                <a:ea typeface="DejaVu Sans Mono"/>
                <a:cs typeface="DejaVu Sans Mono"/>
              </a:rPr>
              <a:t>v := v + 2;  -- 7</a:t>
            </a:r>
          </a:p>
        </p:txBody>
      </p:sp>
      <p:sp>
        <p:nvSpPr>
          <p:cNvPr id="8" name="矩形 7">
            <a:extLst>
              <a:ext uri="{FF2B5EF4-FFF2-40B4-BE49-F238E27FC236}">
                <a16:creationId xmlns:a16="http://schemas.microsoft.com/office/drawing/2014/main" id="{E9911625-7A2C-4E79-8C47-0CD3496775F4}"/>
              </a:ext>
            </a:extLst>
          </p:cNvPr>
          <p:cNvSpPr>
            <a:spLocks noGrp="1"/>
          </p:cNvSpPr>
          <p:nvPr/>
        </p:nvSpPr>
        <p:spPr>
          <a:xfrm>
            <a:off x="666750" y="4857750"/>
            <a:ext cx="10858500" cy="4476750"/>
          </a:xfrm>
          <a:prstGeom prst="rect">
            <a:avLst/>
          </a:prstGeom>
          <a:noFill/>
          <a:ln w="0">
            <a:noFill/>
            <a:prstDash val="solid"/>
          </a:ln>
        </p:spPr>
        <p:txBody>
          <a:bodyPr lIns="0" tIns="0" rIns="0" bIns="0"/>
          <a:lstStyle>
            <a:defPPr>
              <a:defRPr sz="2250" b="0">
                <a:solidFill>
                  <a:srgbClr val="111111"/>
                </a:solidFill>
                <a:latin typeface="Arial"/>
                <a:ea typeface="Arial"/>
                <a:cs typeface="Arial"/>
              </a:defRPr>
            </a:defPPr>
            <a:lvl1pPr>
              <a:defRPr sz="2250" b="0">
                <a:solidFill>
                  <a:srgbClr val="111111"/>
                </a:solidFill>
                <a:latin typeface="Arial"/>
                <a:ea typeface="Arial"/>
                <a:cs typeface="Arial"/>
              </a:defRPr>
            </a:lvl1pPr>
            <a:lvl2pPr>
              <a:defRPr sz="2250" b="0">
                <a:solidFill>
                  <a:srgbClr val="111111"/>
                </a:solidFill>
                <a:latin typeface="Arial"/>
                <a:ea typeface="Arial"/>
                <a:cs typeface="Arial"/>
              </a:defRPr>
            </a:lvl2pPr>
            <a:lvl3pPr>
              <a:defRPr sz="2250" b="0">
                <a:solidFill>
                  <a:srgbClr val="111111"/>
                </a:solidFill>
                <a:latin typeface="Arial"/>
                <a:ea typeface="Arial"/>
                <a:cs typeface="Arial"/>
              </a:defRPr>
            </a:lvl3pPr>
            <a:lvl4pPr>
              <a:defRPr sz="2250" b="0">
                <a:solidFill>
                  <a:srgbClr val="111111"/>
                </a:solidFill>
                <a:latin typeface="Arial"/>
                <a:ea typeface="Arial"/>
                <a:cs typeface="Arial"/>
              </a:defRPr>
            </a:lvl4pPr>
            <a:lvl5pPr>
              <a:defRPr sz="2250" b="0">
                <a:solidFill>
                  <a:srgbClr val="111111"/>
                </a:solidFill>
                <a:latin typeface="Arial"/>
                <a:ea typeface="Arial"/>
                <a:cs typeface="Arial"/>
              </a:defRPr>
            </a:lvl5pPr>
            <a:lvl6pPr>
              <a:defRPr sz="2250" b="0">
                <a:solidFill>
                  <a:srgbClr val="111111"/>
                </a:solidFill>
                <a:latin typeface="Arial"/>
                <a:ea typeface="Arial"/>
                <a:cs typeface="Arial"/>
              </a:defRPr>
            </a:lvl6pPr>
            <a:lvl7pPr>
              <a:defRPr sz="2250" b="0">
                <a:solidFill>
                  <a:srgbClr val="111111"/>
                </a:solidFill>
                <a:latin typeface="Arial"/>
                <a:ea typeface="Arial"/>
                <a:cs typeface="Arial"/>
              </a:defRPr>
            </a:lvl7pPr>
            <a:lvl8pPr>
              <a:defRPr sz="2250" b="0">
                <a:solidFill>
                  <a:srgbClr val="111111"/>
                </a:solidFill>
                <a:latin typeface="Arial"/>
                <a:ea typeface="Arial"/>
                <a:cs typeface="Arial"/>
              </a:defRPr>
            </a:lvl8pPr>
            <a:lvl9pPr>
              <a:defRPr sz="2250" b="0">
                <a:solidFill>
                  <a:srgbClr val="111111"/>
                </a:solidFill>
                <a:latin typeface="Arial"/>
                <a:ea typeface="Arial"/>
                <a:cs typeface="Arial"/>
              </a:defRPr>
            </a:lvl9pPr>
          </a:lstStyle>
          <a:p>
            <a:pPr>
              <a:defRPr sz="2250" b="0">
                <a:solidFill>
                  <a:srgbClr val="111111"/>
                </a:solidFill>
                <a:latin typeface="Arial"/>
                <a:ea typeface="Arial"/>
                <a:cs typeface="Arial"/>
              </a:defRPr>
            </a:pPr>
            <a:r>
              <a:rPr sz="2250" b="0">
                <a:solidFill>
                  <a:srgbClr val="111111"/>
                </a:solidFill>
                <a:latin typeface="Arial"/>
                <a:ea typeface="Arial"/>
                <a:cs typeface="Arial"/>
              </a:rPr>
              <a:t>y reads the current x = 4. z reads the updated v = 7.</a:t>
            </a:r>
          </a:p>
          <a:p>
            <a:endParaRPr sz="2250" b="0">
              <a:solidFill>
                <a:srgbClr val="111111"/>
              </a:solidFill>
              <a:latin typeface="Arial"/>
              <a:ea typeface="Arial"/>
              <a:cs typeface="Arial"/>
            </a:endParaRPr>
          </a:p>
          <a:p>
            <a:pPr>
              <a:defRPr sz="2250" b="0">
                <a:solidFill>
                  <a:srgbClr val="111111"/>
                </a:solidFill>
                <a:latin typeface="Arial"/>
                <a:ea typeface="Arial"/>
                <a:cs typeface="Arial"/>
              </a:defRPr>
            </a:pPr>
            <a:r>
              <a:rPr sz="2250" b="0">
                <a:solidFill>
                  <a:srgbClr val="111111"/>
                </a:solidFill>
                <a:latin typeface="Arial"/>
                <a:ea typeface="Arial"/>
                <a:cs typeface="Arial"/>
              </a:rPr>
              <a:t>For x: same process, same driver, same update time.</a:t>
            </a:r>
          </a:p>
        </p:txBody>
      </p:sp>
    </p:spTree>
    <p:extLst>
      <p:ext uri="{BB962C8B-B14F-4D97-AF65-F5344CB8AC3E}">
        <p14:creationId xmlns:p14="http://schemas.microsoft.com/office/powerpoint/2010/main" val="867151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9CF063A-9A54-483B-AC9F-04FBEF7E7449}"/>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dirty="0">
                <a:solidFill>
                  <a:srgbClr val="000000"/>
                </a:solidFill>
                <a:latin typeface="Arial"/>
                <a:ea typeface="Arial"/>
                <a:cs typeface="Arial"/>
              </a:rPr>
              <a:t>Q1</a:t>
            </a:r>
            <a:r>
              <a:rPr lang="en-US" altLang="zh-CN" sz="2550" b="1" dirty="0">
                <a:solidFill>
                  <a:srgbClr val="000000"/>
                </a:solidFill>
                <a:latin typeface="Arial"/>
                <a:ea typeface="Arial"/>
                <a:cs typeface="Arial"/>
              </a:rPr>
              <a:t>1</a:t>
            </a:r>
            <a:r>
              <a:rPr sz="2550" b="1" dirty="0">
                <a:solidFill>
                  <a:srgbClr val="000000"/>
                </a:solidFill>
                <a:latin typeface="Arial"/>
                <a:ea typeface="Arial"/>
                <a:cs typeface="Arial"/>
              </a:rPr>
              <a:t>  Delta cycle or clock cycle?</a:t>
            </a:r>
          </a:p>
        </p:txBody>
      </p:sp>
      <p:sp>
        <p:nvSpPr>
          <p:cNvPr id="2" name="矩形 1">
            <a:extLst>
              <a:ext uri="{FF2B5EF4-FFF2-40B4-BE49-F238E27FC236}">
                <a16:creationId xmlns:a16="http://schemas.microsoft.com/office/drawing/2014/main" id="{3A1E6992-6C92-4E00-83A2-71306B6B319B}"/>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d = 1 is stable before the first rising edge.</a:t>
            </a:r>
          </a:p>
        </p:txBody>
      </p:sp>
      <p:sp>
        <p:nvSpPr>
          <p:cNvPr id="3" name="矩形 2">
            <a:extLst>
              <a:ext uri="{FF2B5EF4-FFF2-40B4-BE49-F238E27FC236}">
                <a16:creationId xmlns:a16="http://schemas.microsoft.com/office/drawing/2014/main" id="{AD303B54-C860-4A91-A4D4-9017FD7B33D4}"/>
              </a:ext>
            </a:extLst>
          </p:cNvPr>
          <p:cNvSpPr>
            <a:spLocks noGrp="1"/>
          </p:cNvSpPr>
          <p:nvPr/>
        </p:nvSpPr>
        <p:spPr>
          <a:xfrm>
            <a:off x="666750" y="1381125"/>
            <a:ext cx="7143750" cy="4095750"/>
          </a:xfrm>
          <a:prstGeom prst="rect">
            <a:avLst/>
          </a:prstGeom>
          <a:noFill/>
          <a:ln w="0">
            <a:noFill/>
            <a:prstDash val="solid"/>
          </a:ln>
        </p:spPr>
        <p:txBody>
          <a:bodyPr lIns="0" tIns="0" rIns="0" bIns="0"/>
          <a:lstStyle>
            <a:defPPr>
              <a:defRPr sz="2100" b="0">
                <a:solidFill>
                  <a:srgbClr val="111111"/>
                </a:solidFill>
                <a:latin typeface="DejaVu Sans Mono"/>
                <a:ea typeface="DejaVu Sans Mono"/>
                <a:cs typeface="DejaVu Sans Mono"/>
              </a:defRPr>
            </a:defPPr>
            <a:lvl1pPr>
              <a:buNone/>
              <a:defRPr sz="2100" b="0">
                <a:solidFill>
                  <a:srgbClr val="111111"/>
                </a:solidFill>
                <a:latin typeface="DejaVu Sans Mono"/>
                <a:ea typeface="DejaVu Sans Mono"/>
                <a:cs typeface="DejaVu Sans Mono"/>
              </a:defRPr>
            </a:lvl1pPr>
            <a:lvl2pPr>
              <a:buNone/>
              <a:defRPr sz="2100" b="0">
                <a:solidFill>
                  <a:srgbClr val="111111"/>
                </a:solidFill>
                <a:latin typeface="DejaVu Sans Mono"/>
                <a:ea typeface="DejaVu Sans Mono"/>
                <a:cs typeface="DejaVu Sans Mono"/>
              </a:defRPr>
            </a:lvl2pPr>
            <a:lvl3pPr>
              <a:buNone/>
              <a:defRPr sz="2100" b="0">
                <a:solidFill>
                  <a:srgbClr val="111111"/>
                </a:solidFill>
                <a:latin typeface="DejaVu Sans Mono"/>
                <a:ea typeface="DejaVu Sans Mono"/>
                <a:cs typeface="DejaVu Sans Mono"/>
              </a:defRPr>
            </a:lvl3pPr>
            <a:lvl4pPr>
              <a:buNone/>
              <a:defRPr sz="2100" b="0">
                <a:solidFill>
                  <a:srgbClr val="111111"/>
                </a:solidFill>
                <a:latin typeface="DejaVu Sans Mono"/>
                <a:ea typeface="DejaVu Sans Mono"/>
                <a:cs typeface="DejaVu Sans Mono"/>
              </a:defRPr>
            </a:lvl4pPr>
            <a:lvl5pPr>
              <a:buNone/>
              <a:defRPr sz="2100" b="0">
                <a:solidFill>
                  <a:srgbClr val="111111"/>
                </a:solidFill>
                <a:latin typeface="DejaVu Sans Mono"/>
                <a:ea typeface="DejaVu Sans Mono"/>
                <a:cs typeface="DejaVu Sans Mono"/>
              </a:defRPr>
            </a:lvl5pPr>
            <a:lvl6pPr>
              <a:buNone/>
              <a:defRPr sz="2100" b="0">
                <a:solidFill>
                  <a:srgbClr val="111111"/>
                </a:solidFill>
                <a:latin typeface="DejaVu Sans Mono"/>
                <a:ea typeface="DejaVu Sans Mono"/>
                <a:cs typeface="DejaVu Sans Mono"/>
              </a:defRPr>
            </a:lvl6pPr>
            <a:lvl7pPr>
              <a:buNone/>
              <a:defRPr sz="2100" b="0">
                <a:solidFill>
                  <a:srgbClr val="111111"/>
                </a:solidFill>
                <a:latin typeface="DejaVu Sans Mono"/>
                <a:ea typeface="DejaVu Sans Mono"/>
                <a:cs typeface="DejaVu Sans Mono"/>
              </a:defRPr>
            </a:lvl7pPr>
            <a:lvl8pPr>
              <a:buNone/>
              <a:defRPr sz="2100" b="0">
                <a:solidFill>
                  <a:srgbClr val="111111"/>
                </a:solidFill>
                <a:latin typeface="DejaVu Sans Mono"/>
                <a:ea typeface="DejaVu Sans Mono"/>
                <a:cs typeface="DejaVu Sans Mono"/>
              </a:defRPr>
            </a:lvl8pPr>
            <a:lvl9pPr>
              <a:buNone/>
              <a:defRPr sz="2100" b="0">
                <a:solidFill>
                  <a:srgbClr val="111111"/>
                </a:solidFill>
                <a:latin typeface="DejaVu Sans Mono"/>
                <a:ea typeface="DejaVu Sans Mono"/>
                <a:cs typeface="DejaVu Sans Mono"/>
              </a:defRPr>
            </a:lvl9pPr>
          </a:lstStyle>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signal s, q : std_logic := '0';</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process(clk)</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begin</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if rising_edge(clk) then</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s &lt;= d;</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q &lt;= s;</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  end if;</a:t>
            </a:r>
          </a:p>
          <a:p>
            <a:pPr>
              <a:buNone/>
              <a:defRPr sz="2100" b="0">
                <a:solidFill>
                  <a:srgbClr val="111111"/>
                </a:solidFill>
                <a:latin typeface="DejaVu Sans Mono"/>
                <a:ea typeface="DejaVu Sans Mono"/>
                <a:cs typeface="DejaVu Sans Mono"/>
              </a:defRPr>
            </a:pPr>
            <a:r>
              <a:rPr sz="2100" b="0">
                <a:solidFill>
                  <a:srgbClr val="111111"/>
                </a:solidFill>
                <a:latin typeface="DejaVu Sans Mono"/>
                <a:ea typeface="DejaVu Sans Mono"/>
                <a:cs typeface="DejaVu Sans Mono"/>
              </a:rPr>
              <a:t>end process;</a:t>
            </a:r>
          </a:p>
        </p:txBody>
      </p:sp>
      <p:sp>
        <p:nvSpPr>
          <p:cNvPr id="4" name="矩形 3">
            <a:extLst>
              <a:ext uri="{FF2B5EF4-FFF2-40B4-BE49-F238E27FC236}">
                <a16:creationId xmlns:a16="http://schemas.microsoft.com/office/drawing/2014/main" id="{39220EA4-4EB3-4276-B45D-87F10B1F813A}"/>
              </a:ext>
            </a:extLst>
          </p:cNvPr>
          <p:cNvSpPr>
            <a:spLocks noGrp="1"/>
          </p:cNvSpPr>
          <p:nvPr/>
        </p:nvSpPr>
        <p:spPr>
          <a:xfrm>
            <a:off x="8239125" y="1381125"/>
            <a:ext cx="3286125" cy="4524375"/>
          </a:xfrm>
          <a:prstGeom prst="rect">
            <a:avLst/>
          </a:prstGeom>
          <a:noFill/>
          <a:ln w="0">
            <a:noFill/>
            <a:prstDash val="solid"/>
          </a:ln>
        </p:spPr>
        <p:txBody>
          <a:bodyPr lIns="0" tIns="0" rIns="0" bIns="0"/>
          <a:lstStyle>
            <a:defPPr>
              <a:defRPr sz="1950" b="0">
                <a:solidFill>
                  <a:srgbClr val="111111"/>
                </a:solidFill>
                <a:latin typeface="Arial"/>
                <a:ea typeface="Arial"/>
                <a:cs typeface="Arial"/>
              </a:defRPr>
            </a:defPPr>
            <a:lvl1pPr>
              <a:buNone/>
              <a:defRPr sz="1950" b="0">
                <a:solidFill>
                  <a:srgbClr val="111111"/>
                </a:solidFill>
                <a:latin typeface="Arial"/>
                <a:ea typeface="Arial"/>
                <a:cs typeface="Arial"/>
              </a:defRPr>
            </a:lvl1pPr>
            <a:lvl2pPr>
              <a:buNone/>
              <a:defRPr sz="1950" b="0">
                <a:solidFill>
                  <a:srgbClr val="111111"/>
                </a:solidFill>
                <a:latin typeface="Arial"/>
                <a:ea typeface="Arial"/>
                <a:cs typeface="Arial"/>
              </a:defRPr>
            </a:lvl2pPr>
            <a:lvl3pPr>
              <a:buNone/>
              <a:defRPr sz="1950" b="0">
                <a:solidFill>
                  <a:srgbClr val="111111"/>
                </a:solidFill>
                <a:latin typeface="Arial"/>
                <a:ea typeface="Arial"/>
                <a:cs typeface="Arial"/>
              </a:defRPr>
            </a:lvl3pPr>
            <a:lvl4pPr>
              <a:buNone/>
              <a:defRPr sz="1950" b="0">
                <a:solidFill>
                  <a:srgbClr val="111111"/>
                </a:solidFill>
                <a:latin typeface="Arial"/>
                <a:ea typeface="Arial"/>
                <a:cs typeface="Arial"/>
              </a:defRPr>
            </a:lvl4pPr>
            <a:lvl5pPr>
              <a:buNone/>
              <a:defRPr sz="1950" b="0">
                <a:solidFill>
                  <a:srgbClr val="111111"/>
                </a:solidFill>
                <a:latin typeface="Arial"/>
                <a:ea typeface="Arial"/>
                <a:cs typeface="Arial"/>
              </a:defRPr>
            </a:lvl5pPr>
            <a:lvl6pPr>
              <a:buNone/>
              <a:defRPr sz="1950" b="0">
                <a:solidFill>
                  <a:srgbClr val="111111"/>
                </a:solidFill>
                <a:latin typeface="Arial"/>
                <a:ea typeface="Arial"/>
                <a:cs typeface="Arial"/>
              </a:defRPr>
            </a:lvl6pPr>
            <a:lvl7pPr>
              <a:buNone/>
              <a:defRPr sz="1950" b="0">
                <a:solidFill>
                  <a:srgbClr val="111111"/>
                </a:solidFill>
                <a:latin typeface="Arial"/>
                <a:ea typeface="Arial"/>
                <a:cs typeface="Arial"/>
              </a:defRPr>
            </a:lvl7pPr>
            <a:lvl8pPr>
              <a:buNone/>
              <a:defRPr sz="1950" b="0">
                <a:solidFill>
                  <a:srgbClr val="111111"/>
                </a:solidFill>
                <a:latin typeface="Arial"/>
                <a:ea typeface="Arial"/>
                <a:cs typeface="Arial"/>
              </a:defRPr>
            </a:lvl8pPr>
            <a:lvl9pPr>
              <a:buNone/>
              <a:defRPr sz="1950" b="0">
                <a:solidFill>
                  <a:srgbClr val="111111"/>
                </a:solidFill>
                <a:latin typeface="Arial"/>
                <a:ea typeface="Arial"/>
                <a:cs typeface="Arial"/>
              </a:defRPr>
            </a:lvl9pPr>
          </a:lstStyle>
          <a:p>
            <a:pPr>
              <a:buNone/>
              <a:defRPr sz="1950" b="0">
                <a:solidFill>
                  <a:srgbClr val="111111"/>
                </a:solidFill>
                <a:latin typeface="Arial"/>
                <a:ea typeface="Arial"/>
                <a:cs typeface="Arial"/>
              </a:defRPr>
            </a:pPr>
            <a:r>
              <a:rPr sz="1950" b="0">
                <a:solidFill>
                  <a:srgbClr val="111111"/>
                </a:solidFill>
                <a:latin typeface="Arial"/>
                <a:ea typeface="Arial"/>
                <a:cs typeface="Arial"/>
              </a:rPr>
              <a:t>1. What are s and q after edge 1?</a:t>
            </a:r>
          </a:p>
          <a:p>
            <a:endParaRPr sz="1950" b="0">
              <a:solidFill>
                <a:srgbClr val="111111"/>
              </a:solidFill>
              <a:latin typeface="Arial"/>
              <a:ea typeface="Arial"/>
              <a:cs typeface="Arial"/>
            </a:endParaRPr>
          </a:p>
          <a:p>
            <a:pPr>
              <a:buNone/>
              <a:defRPr sz="1950" b="0">
                <a:solidFill>
                  <a:srgbClr val="111111"/>
                </a:solidFill>
                <a:latin typeface="Arial"/>
                <a:ea typeface="Arial"/>
                <a:cs typeface="Arial"/>
              </a:defRPr>
            </a:pPr>
            <a:r>
              <a:rPr sz="1950" b="0">
                <a:solidFill>
                  <a:srgbClr val="111111"/>
                </a:solidFill>
                <a:latin typeface="Arial"/>
                <a:ea typeface="Arial"/>
                <a:cs typeface="Arial"/>
              </a:rPr>
              <a:t>2. Can more delta cycles make q become 1 before edge 2?</a:t>
            </a:r>
          </a:p>
          <a:p>
            <a:endParaRPr sz="1950" b="0">
              <a:solidFill>
                <a:srgbClr val="111111"/>
              </a:solidFill>
              <a:latin typeface="Arial"/>
              <a:ea typeface="Arial"/>
              <a:cs typeface="Arial"/>
            </a:endParaRPr>
          </a:p>
          <a:p>
            <a:pPr>
              <a:buNone/>
              <a:defRPr sz="1950" b="0">
                <a:solidFill>
                  <a:srgbClr val="111111"/>
                </a:solidFill>
                <a:latin typeface="Arial"/>
                <a:ea typeface="Arial"/>
                <a:cs typeface="Arial"/>
              </a:defRPr>
            </a:pPr>
            <a:r>
              <a:rPr sz="1950" b="0">
                <a:solidFill>
                  <a:srgbClr val="111111"/>
                </a:solidFill>
                <a:latin typeface="Arial"/>
                <a:ea typeface="Arial"/>
                <a:cs typeface="Arial"/>
              </a:rPr>
              <a:t>3. What changes if the two assignments use separate processes, both triggered by rising_edge(clk)?</a:t>
            </a:r>
          </a:p>
        </p:txBody>
      </p:sp>
      <p:sp>
        <p:nvSpPr>
          <p:cNvPr id="5" name="矩形 4">
            <a:extLst>
              <a:ext uri="{FF2B5EF4-FFF2-40B4-BE49-F238E27FC236}">
                <a16:creationId xmlns:a16="http://schemas.microsoft.com/office/drawing/2014/main" id="{4D1EF393-6C13-4121-AF33-C58F95917CDF}"/>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24</a:t>
            </a:r>
          </a:p>
        </p:txBody>
      </p:sp>
    </p:spTree>
    <p:extLst>
      <p:ext uri="{BB962C8B-B14F-4D97-AF65-F5344CB8AC3E}">
        <p14:creationId xmlns:p14="http://schemas.microsoft.com/office/powerpoint/2010/main" val="1942319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947F924-1489-40D4-9BF3-CB5F0FBD16D1}"/>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dirty="0">
                <a:solidFill>
                  <a:srgbClr val="000000"/>
                </a:solidFill>
                <a:latin typeface="Arial"/>
                <a:ea typeface="Arial"/>
                <a:cs typeface="Arial"/>
              </a:rPr>
              <a:t>Q1</a:t>
            </a:r>
            <a:r>
              <a:rPr lang="en-US" altLang="zh-CN" sz="2700" b="1" dirty="0">
                <a:solidFill>
                  <a:srgbClr val="000000"/>
                </a:solidFill>
                <a:latin typeface="Arial"/>
                <a:ea typeface="Arial"/>
                <a:cs typeface="Arial"/>
              </a:rPr>
              <a:t>1</a:t>
            </a:r>
            <a:r>
              <a:rPr sz="2700" b="1" dirty="0">
                <a:solidFill>
                  <a:srgbClr val="000000"/>
                </a:solidFill>
                <a:latin typeface="Arial"/>
                <a:ea typeface="Arial"/>
                <a:cs typeface="Arial"/>
              </a:rPr>
              <a:t>  Answer</a:t>
            </a:r>
          </a:p>
        </p:txBody>
      </p:sp>
      <p:sp>
        <p:nvSpPr>
          <p:cNvPr id="2" name="矩形 1">
            <a:extLst>
              <a:ext uri="{FF2B5EF4-FFF2-40B4-BE49-F238E27FC236}">
                <a16:creationId xmlns:a16="http://schemas.microsoft.com/office/drawing/2014/main" id="{A0459A55-DB19-4675-82EC-30C26359FAFA}"/>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s changes after edge 1. q waits until edge 2.</a:t>
            </a:r>
          </a:p>
        </p:txBody>
      </p:sp>
      <p:sp>
        <p:nvSpPr>
          <p:cNvPr id="3" name="矩形 2">
            <a:extLst>
              <a:ext uri="{FF2B5EF4-FFF2-40B4-BE49-F238E27FC236}">
                <a16:creationId xmlns:a16="http://schemas.microsoft.com/office/drawing/2014/main" id="{C7633B0F-AEDA-49DA-84C3-C8480DDADC44}"/>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25</a:t>
            </a:r>
          </a:p>
        </p:txBody>
      </p:sp>
      <p:sp>
        <p:nvSpPr>
          <p:cNvPr id="4" name="任意形状 3">
            <a:extLst>
              <a:ext uri="{FF2B5EF4-FFF2-40B4-BE49-F238E27FC236}">
                <a16:creationId xmlns:a16="http://schemas.microsoft.com/office/drawing/2014/main" id="{AAC1AF02-7B92-4676-9023-62B167F03E9F}"/>
              </a:ext>
            </a:extLst>
          </p:cNvPr>
          <p:cNvSpPr>
            <a:spLocks noGrp="1"/>
          </p:cNvSpPr>
          <p:nvPr/>
        </p:nvSpPr>
        <p:spPr>
          <a:xfrm>
            <a:off x="3905250" y="1619250"/>
            <a:ext cx="9525" cy="3714750"/>
          </a:xfrm>
          <a:custGeom>
            <a:avLst/>
            <a:gdLst/>
            <a:ahLst/>
            <a:cxnLst/>
            <a:rect l="0" t="0" r="0" b="0"/>
            <a:pathLst>
              <a:path w="9525" h="3714750">
                <a:moveTo>
                  <a:pt x="0" y="0"/>
                </a:moveTo>
                <a:lnTo>
                  <a:pt x="0" y="3714750"/>
                </a:lnTo>
              </a:path>
            </a:pathLst>
          </a:custGeom>
          <a:noFill/>
          <a:ln w="14288">
            <a:solidFill>
              <a:srgbClr val="BBBBBB"/>
            </a:solidFill>
            <a:prstDash val="dash"/>
          </a:ln>
        </p:spPr>
        <p:txBody>
          <a:bodyPr/>
          <a:lstStyle/>
          <a:p>
            <a:endParaRPr lang="zh-CN" altLang="en-US"/>
          </a:p>
        </p:txBody>
      </p:sp>
      <p:sp>
        <p:nvSpPr>
          <p:cNvPr id="5" name="矩形 4">
            <a:extLst>
              <a:ext uri="{FF2B5EF4-FFF2-40B4-BE49-F238E27FC236}">
                <a16:creationId xmlns:a16="http://schemas.microsoft.com/office/drawing/2014/main" id="{A93FC8DB-30F6-4A19-8E6B-58A9AD3DCAB5}"/>
              </a:ext>
            </a:extLst>
          </p:cNvPr>
          <p:cNvSpPr>
            <a:spLocks noGrp="1"/>
          </p:cNvSpPr>
          <p:nvPr/>
        </p:nvSpPr>
        <p:spPr>
          <a:xfrm>
            <a:off x="3429000" y="1285875"/>
            <a:ext cx="1524000" cy="381000"/>
          </a:xfrm>
          <a:prstGeom prst="rect">
            <a:avLst/>
          </a:prstGeom>
          <a:noFill/>
          <a:ln w="0">
            <a:noFill/>
            <a:prstDash val="solid"/>
          </a:ln>
        </p:spPr>
        <p:txBody>
          <a:bodyPr lIns="0" tIns="0" rIns="0" bIns="0"/>
          <a:lstStyle>
            <a:defPPr>
              <a:defRPr sz="2025" b="1">
                <a:solidFill>
                  <a:srgbClr val="444444"/>
                </a:solidFill>
                <a:latin typeface="Arial"/>
                <a:ea typeface="Arial"/>
                <a:cs typeface="Arial"/>
              </a:defRPr>
            </a:defPPr>
            <a:lvl1pPr>
              <a:defRPr sz="2025" b="1">
                <a:solidFill>
                  <a:srgbClr val="444444"/>
                </a:solidFill>
                <a:latin typeface="Arial"/>
                <a:ea typeface="Arial"/>
                <a:cs typeface="Arial"/>
              </a:defRPr>
            </a:lvl1pPr>
            <a:lvl2pPr>
              <a:defRPr sz="2025" b="1">
                <a:solidFill>
                  <a:srgbClr val="444444"/>
                </a:solidFill>
                <a:latin typeface="Arial"/>
                <a:ea typeface="Arial"/>
                <a:cs typeface="Arial"/>
              </a:defRPr>
            </a:lvl2pPr>
            <a:lvl3pPr>
              <a:defRPr sz="2025" b="1">
                <a:solidFill>
                  <a:srgbClr val="444444"/>
                </a:solidFill>
                <a:latin typeface="Arial"/>
                <a:ea typeface="Arial"/>
                <a:cs typeface="Arial"/>
              </a:defRPr>
            </a:lvl3pPr>
            <a:lvl4pPr>
              <a:defRPr sz="2025" b="1">
                <a:solidFill>
                  <a:srgbClr val="444444"/>
                </a:solidFill>
                <a:latin typeface="Arial"/>
                <a:ea typeface="Arial"/>
                <a:cs typeface="Arial"/>
              </a:defRPr>
            </a:lvl4pPr>
            <a:lvl5pPr>
              <a:defRPr sz="2025" b="1">
                <a:solidFill>
                  <a:srgbClr val="444444"/>
                </a:solidFill>
                <a:latin typeface="Arial"/>
                <a:ea typeface="Arial"/>
                <a:cs typeface="Arial"/>
              </a:defRPr>
            </a:lvl5pPr>
            <a:lvl6pPr>
              <a:defRPr sz="2025" b="1">
                <a:solidFill>
                  <a:srgbClr val="444444"/>
                </a:solidFill>
                <a:latin typeface="Arial"/>
                <a:ea typeface="Arial"/>
                <a:cs typeface="Arial"/>
              </a:defRPr>
            </a:lvl6pPr>
            <a:lvl7pPr>
              <a:defRPr sz="2025" b="1">
                <a:solidFill>
                  <a:srgbClr val="444444"/>
                </a:solidFill>
                <a:latin typeface="Arial"/>
                <a:ea typeface="Arial"/>
                <a:cs typeface="Arial"/>
              </a:defRPr>
            </a:lvl7pPr>
            <a:lvl8pPr>
              <a:defRPr sz="2025" b="1">
                <a:solidFill>
                  <a:srgbClr val="444444"/>
                </a:solidFill>
                <a:latin typeface="Arial"/>
                <a:ea typeface="Arial"/>
                <a:cs typeface="Arial"/>
              </a:defRPr>
            </a:lvl8pPr>
            <a:lvl9pPr>
              <a:defRPr sz="2025" b="1">
                <a:solidFill>
                  <a:srgbClr val="444444"/>
                </a:solidFill>
                <a:latin typeface="Arial"/>
                <a:ea typeface="Arial"/>
                <a:cs typeface="Arial"/>
              </a:defRPr>
            </a:lvl9pPr>
          </a:lstStyle>
          <a:p>
            <a:pPr>
              <a:defRPr sz="2025" b="1">
                <a:solidFill>
                  <a:srgbClr val="444444"/>
                </a:solidFill>
                <a:latin typeface="Arial"/>
                <a:ea typeface="Arial"/>
                <a:cs typeface="Arial"/>
              </a:defRPr>
            </a:pPr>
            <a:r>
              <a:rPr sz="2025" b="1">
                <a:solidFill>
                  <a:srgbClr val="444444"/>
                </a:solidFill>
                <a:latin typeface="Arial"/>
                <a:ea typeface="Arial"/>
                <a:cs typeface="Arial"/>
              </a:rPr>
              <a:t>Edge 1</a:t>
            </a:r>
          </a:p>
        </p:txBody>
      </p:sp>
      <p:sp>
        <p:nvSpPr>
          <p:cNvPr id="6" name="任意形状 5">
            <a:extLst>
              <a:ext uri="{FF2B5EF4-FFF2-40B4-BE49-F238E27FC236}">
                <a16:creationId xmlns:a16="http://schemas.microsoft.com/office/drawing/2014/main" id="{559B251E-EBDC-42D3-B7D5-209779592090}"/>
              </a:ext>
            </a:extLst>
          </p:cNvPr>
          <p:cNvSpPr>
            <a:spLocks noGrp="1"/>
          </p:cNvSpPr>
          <p:nvPr/>
        </p:nvSpPr>
        <p:spPr>
          <a:xfrm>
            <a:off x="7715250" y="1619250"/>
            <a:ext cx="9525" cy="3714750"/>
          </a:xfrm>
          <a:custGeom>
            <a:avLst/>
            <a:gdLst/>
            <a:ahLst/>
            <a:cxnLst/>
            <a:rect l="0" t="0" r="0" b="0"/>
            <a:pathLst>
              <a:path w="9525" h="3714750">
                <a:moveTo>
                  <a:pt x="0" y="0"/>
                </a:moveTo>
                <a:lnTo>
                  <a:pt x="0" y="3714750"/>
                </a:lnTo>
              </a:path>
            </a:pathLst>
          </a:custGeom>
          <a:noFill/>
          <a:ln w="14288">
            <a:solidFill>
              <a:srgbClr val="BBBBBB"/>
            </a:solidFill>
            <a:prstDash val="dash"/>
          </a:ln>
        </p:spPr>
        <p:txBody>
          <a:bodyPr/>
          <a:lstStyle/>
          <a:p>
            <a:endParaRPr lang="zh-CN" altLang="en-US"/>
          </a:p>
        </p:txBody>
      </p:sp>
      <p:sp>
        <p:nvSpPr>
          <p:cNvPr id="7" name="矩形 6">
            <a:extLst>
              <a:ext uri="{FF2B5EF4-FFF2-40B4-BE49-F238E27FC236}">
                <a16:creationId xmlns:a16="http://schemas.microsoft.com/office/drawing/2014/main" id="{4053686E-22A3-408F-A6A3-82D332652941}"/>
              </a:ext>
            </a:extLst>
          </p:cNvPr>
          <p:cNvSpPr>
            <a:spLocks noGrp="1"/>
          </p:cNvSpPr>
          <p:nvPr/>
        </p:nvSpPr>
        <p:spPr>
          <a:xfrm>
            <a:off x="7239000" y="1285875"/>
            <a:ext cx="1524000" cy="381000"/>
          </a:xfrm>
          <a:prstGeom prst="rect">
            <a:avLst/>
          </a:prstGeom>
          <a:noFill/>
          <a:ln w="0">
            <a:noFill/>
            <a:prstDash val="solid"/>
          </a:ln>
        </p:spPr>
        <p:txBody>
          <a:bodyPr lIns="0" tIns="0" rIns="0" bIns="0"/>
          <a:lstStyle>
            <a:defPPr>
              <a:defRPr sz="2025" b="1">
                <a:solidFill>
                  <a:srgbClr val="444444"/>
                </a:solidFill>
                <a:latin typeface="Arial"/>
                <a:ea typeface="Arial"/>
                <a:cs typeface="Arial"/>
              </a:defRPr>
            </a:defPPr>
            <a:lvl1pPr>
              <a:defRPr sz="2025" b="1">
                <a:solidFill>
                  <a:srgbClr val="444444"/>
                </a:solidFill>
                <a:latin typeface="Arial"/>
                <a:ea typeface="Arial"/>
                <a:cs typeface="Arial"/>
              </a:defRPr>
            </a:lvl1pPr>
            <a:lvl2pPr>
              <a:defRPr sz="2025" b="1">
                <a:solidFill>
                  <a:srgbClr val="444444"/>
                </a:solidFill>
                <a:latin typeface="Arial"/>
                <a:ea typeface="Arial"/>
                <a:cs typeface="Arial"/>
              </a:defRPr>
            </a:lvl2pPr>
            <a:lvl3pPr>
              <a:defRPr sz="2025" b="1">
                <a:solidFill>
                  <a:srgbClr val="444444"/>
                </a:solidFill>
                <a:latin typeface="Arial"/>
                <a:ea typeface="Arial"/>
                <a:cs typeface="Arial"/>
              </a:defRPr>
            </a:lvl3pPr>
            <a:lvl4pPr>
              <a:defRPr sz="2025" b="1">
                <a:solidFill>
                  <a:srgbClr val="444444"/>
                </a:solidFill>
                <a:latin typeface="Arial"/>
                <a:ea typeface="Arial"/>
                <a:cs typeface="Arial"/>
              </a:defRPr>
            </a:lvl4pPr>
            <a:lvl5pPr>
              <a:defRPr sz="2025" b="1">
                <a:solidFill>
                  <a:srgbClr val="444444"/>
                </a:solidFill>
                <a:latin typeface="Arial"/>
                <a:ea typeface="Arial"/>
                <a:cs typeface="Arial"/>
              </a:defRPr>
            </a:lvl5pPr>
            <a:lvl6pPr>
              <a:defRPr sz="2025" b="1">
                <a:solidFill>
                  <a:srgbClr val="444444"/>
                </a:solidFill>
                <a:latin typeface="Arial"/>
                <a:ea typeface="Arial"/>
                <a:cs typeface="Arial"/>
              </a:defRPr>
            </a:lvl6pPr>
            <a:lvl7pPr>
              <a:defRPr sz="2025" b="1">
                <a:solidFill>
                  <a:srgbClr val="444444"/>
                </a:solidFill>
                <a:latin typeface="Arial"/>
                <a:ea typeface="Arial"/>
                <a:cs typeface="Arial"/>
              </a:defRPr>
            </a:lvl7pPr>
            <a:lvl8pPr>
              <a:defRPr sz="2025" b="1">
                <a:solidFill>
                  <a:srgbClr val="444444"/>
                </a:solidFill>
                <a:latin typeface="Arial"/>
                <a:ea typeface="Arial"/>
                <a:cs typeface="Arial"/>
              </a:defRPr>
            </a:lvl8pPr>
            <a:lvl9pPr>
              <a:defRPr sz="2025" b="1">
                <a:solidFill>
                  <a:srgbClr val="444444"/>
                </a:solidFill>
                <a:latin typeface="Arial"/>
                <a:ea typeface="Arial"/>
                <a:cs typeface="Arial"/>
              </a:defRPr>
            </a:lvl9pPr>
          </a:lstStyle>
          <a:p>
            <a:pPr>
              <a:defRPr sz="2025" b="1">
                <a:solidFill>
                  <a:srgbClr val="444444"/>
                </a:solidFill>
                <a:latin typeface="Arial"/>
                <a:ea typeface="Arial"/>
                <a:cs typeface="Arial"/>
              </a:defRPr>
            </a:pPr>
            <a:r>
              <a:rPr sz="2025" b="1">
                <a:solidFill>
                  <a:srgbClr val="444444"/>
                </a:solidFill>
                <a:latin typeface="Arial"/>
                <a:ea typeface="Arial"/>
                <a:cs typeface="Arial"/>
              </a:rPr>
              <a:t>Edge 2</a:t>
            </a:r>
          </a:p>
        </p:txBody>
      </p:sp>
      <p:sp>
        <p:nvSpPr>
          <p:cNvPr id="8" name="矩形 7">
            <a:extLst>
              <a:ext uri="{FF2B5EF4-FFF2-40B4-BE49-F238E27FC236}">
                <a16:creationId xmlns:a16="http://schemas.microsoft.com/office/drawing/2014/main" id="{C93BF028-7FD9-4175-9099-6C4B5F463F0E}"/>
              </a:ext>
            </a:extLst>
          </p:cNvPr>
          <p:cNvSpPr>
            <a:spLocks noGrp="1"/>
          </p:cNvSpPr>
          <p:nvPr/>
        </p:nvSpPr>
        <p:spPr>
          <a:xfrm>
            <a:off x="666750" y="1819275"/>
            <a:ext cx="1524000" cy="428625"/>
          </a:xfrm>
          <a:prstGeom prst="rect">
            <a:avLst/>
          </a:prstGeom>
          <a:noFill/>
          <a:ln w="0">
            <a:noFill/>
            <a:prstDash val="solid"/>
          </a:ln>
        </p:spPr>
        <p:txBody>
          <a:bodyPr lIns="0" tIns="0" rIns="0" bIns="0"/>
          <a:lstStyle>
            <a:defPPr>
              <a:defRPr sz="2175" b="1">
                <a:solidFill>
                  <a:srgbClr val="222222"/>
                </a:solidFill>
                <a:latin typeface="DejaVu Sans Mono"/>
                <a:ea typeface="DejaVu Sans Mono"/>
                <a:cs typeface="DejaVu Sans Mono"/>
              </a:defRPr>
            </a:defPPr>
            <a:lvl1pPr>
              <a:defRPr sz="2175" b="1">
                <a:solidFill>
                  <a:srgbClr val="222222"/>
                </a:solidFill>
                <a:latin typeface="DejaVu Sans Mono"/>
                <a:ea typeface="DejaVu Sans Mono"/>
                <a:cs typeface="DejaVu Sans Mono"/>
              </a:defRPr>
            </a:lvl1pPr>
            <a:lvl2pPr>
              <a:defRPr sz="2175" b="1">
                <a:solidFill>
                  <a:srgbClr val="222222"/>
                </a:solidFill>
                <a:latin typeface="DejaVu Sans Mono"/>
                <a:ea typeface="DejaVu Sans Mono"/>
                <a:cs typeface="DejaVu Sans Mono"/>
              </a:defRPr>
            </a:lvl2pPr>
            <a:lvl3pPr>
              <a:defRPr sz="2175" b="1">
                <a:solidFill>
                  <a:srgbClr val="222222"/>
                </a:solidFill>
                <a:latin typeface="DejaVu Sans Mono"/>
                <a:ea typeface="DejaVu Sans Mono"/>
                <a:cs typeface="DejaVu Sans Mono"/>
              </a:defRPr>
            </a:lvl3pPr>
            <a:lvl4pPr>
              <a:defRPr sz="2175" b="1">
                <a:solidFill>
                  <a:srgbClr val="222222"/>
                </a:solidFill>
                <a:latin typeface="DejaVu Sans Mono"/>
                <a:ea typeface="DejaVu Sans Mono"/>
                <a:cs typeface="DejaVu Sans Mono"/>
              </a:defRPr>
            </a:lvl4pPr>
            <a:lvl5pPr>
              <a:defRPr sz="2175" b="1">
                <a:solidFill>
                  <a:srgbClr val="222222"/>
                </a:solidFill>
                <a:latin typeface="DejaVu Sans Mono"/>
                <a:ea typeface="DejaVu Sans Mono"/>
                <a:cs typeface="DejaVu Sans Mono"/>
              </a:defRPr>
            </a:lvl5pPr>
            <a:lvl6pPr>
              <a:defRPr sz="2175" b="1">
                <a:solidFill>
                  <a:srgbClr val="222222"/>
                </a:solidFill>
                <a:latin typeface="DejaVu Sans Mono"/>
                <a:ea typeface="DejaVu Sans Mono"/>
                <a:cs typeface="DejaVu Sans Mono"/>
              </a:defRPr>
            </a:lvl6pPr>
            <a:lvl7pPr>
              <a:defRPr sz="2175" b="1">
                <a:solidFill>
                  <a:srgbClr val="222222"/>
                </a:solidFill>
                <a:latin typeface="DejaVu Sans Mono"/>
                <a:ea typeface="DejaVu Sans Mono"/>
                <a:cs typeface="DejaVu Sans Mono"/>
              </a:defRPr>
            </a:lvl7pPr>
            <a:lvl8pPr>
              <a:defRPr sz="2175" b="1">
                <a:solidFill>
                  <a:srgbClr val="222222"/>
                </a:solidFill>
                <a:latin typeface="DejaVu Sans Mono"/>
                <a:ea typeface="DejaVu Sans Mono"/>
                <a:cs typeface="DejaVu Sans Mono"/>
              </a:defRPr>
            </a:lvl8pPr>
            <a:lvl9pPr>
              <a:defRPr sz="2175" b="1">
                <a:solidFill>
                  <a:srgbClr val="222222"/>
                </a:solidFill>
                <a:latin typeface="DejaVu Sans Mono"/>
                <a:ea typeface="DejaVu Sans Mono"/>
                <a:cs typeface="DejaVu Sans Mono"/>
              </a:defRPr>
            </a:lvl9pPr>
          </a:lstStyle>
          <a:p>
            <a:pPr>
              <a:defRPr sz="2175" b="1">
                <a:solidFill>
                  <a:srgbClr val="222222"/>
                </a:solidFill>
                <a:latin typeface="DejaVu Sans Mono"/>
                <a:ea typeface="DejaVu Sans Mono"/>
                <a:cs typeface="DejaVu Sans Mono"/>
              </a:defRPr>
            </a:pPr>
            <a:r>
              <a:rPr sz="2175" b="1">
                <a:solidFill>
                  <a:srgbClr val="222222"/>
                </a:solidFill>
                <a:latin typeface="DejaVu Sans Mono"/>
                <a:ea typeface="DejaVu Sans Mono"/>
                <a:cs typeface="DejaVu Sans Mono"/>
              </a:rPr>
              <a:t>clk</a:t>
            </a:r>
          </a:p>
        </p:txBody>
      </p:sp>
      <p:sp>
        <p:nvSpPr>
          <p:cNvPr id="9" name="waveform-clk">
            <a:extLst>
              <a:ext uri="{FF2B5EF4-FFF2-40B4-BE49-F238E27FC236}">
                <a16:creationId xmlns:a16="http://schemas.microsoft.com/office/drawing/2014/main" id="{71527ED8-81DB-4D7A-A472-4D59ADCDE486}"/>
              </a:ext>
            </a:extLst>
          </p:cNvPr>
          <p:cNvSpPr>
            <a:spLocks noGrp="1"/>
          </p:cNvSpPr>
          <p:nvPr/>
        </p:nvSpPr>
        <p:spPr>
          <a:xfrm>
            <a:off x="2286000" y="1876425"/>
            <a:ext cx="8858250" cy="342900"/>
          </a:xfrm>
          <a:custGeom>
            <a:avLst/>
            <a:gdLst/>
            <a:ahLst/>
            <a:cxnLst/>
            <a:rect l="0" t="0" r="0" b="0"/>
            <a:pathLst>
              <a:path w="8858250" h="342900">
                <a:moveTo>
                  <a:pt x="0" y="342900"/>
                </a:moveTo>
                <a:lnTo>
                  <a:pt x="1619250" y="342900"/>
                </a:lnTo>
                <a:lnTo>
                  <a:pt x="1619250" y="0"/>
                </a:lnTo>
                <a:lnTo>
                  <a:pt x="3524250" y="0"/>
                </a:lnTo>
                <a:lnTo>
                  <a:pt x="3524250" y="342900"/>
                </a:lnTo>
                <a:lnTo>
                  <a:pt x="5429250" y="342900"/>
                </a:lnTo>
                <a:lnTo>
                  <a:pt x="5429250" y="0"/>
                </a:lnTo>
                <a:lnTo>
                  <a:pt x="7334250" y="0"/>
                </a:lnTo>
                <a:lnTo>
                  <a:pt x="7334250" y="342900"/>
                </a:lnTo>
                <a:lnTo>
                  <a:pt x="8858250" y="342900"/>
                </a:lnTo>
              </a:path>
            </a:pathLst>
          </a:custGeom>
          <a:noFill/>
          <a:ln w="33338">
            <a:solidFill>
              <a:srgbClr val="222222"/>
            </a:solidFill>
            <a:prstDash val="solid"/>
          </a:ln>
        </p:spPr>
        <p:txBody>
          <a:bodyPr/>
          <a:lstStyle/>
          <a:p>
            <a:endParaRPr lang="zh-CN" altLang="en-US"/>
          </a:p>
        </p:txBody>
      </p:sp>
      <p:sp>
        <p:nvSpPr>
          <p:cNvPr id="10" name="矩形 9">
            <a:extLst>
              <a:ext uri="{FF2B5EF4-FFF2-40B4-BE49-F238E27FC236}">
                <a16:creationId xmlns:a16="http://schemas.microsoft.com/office/drawing/2014/main" id="{CEAA9AFA-FA9C-4A5B-9FE6-197D1704D73B}"/>
              </a:ext>
            </a:extLst>
          </p:cNvPr>
          <p:cNvSpPr>
            <a:spLocks noGrp="1"/>
          </p:cNvSpPr>
          <p:nvPr/>
        </p:nvSpPr>
        <p:spPr>
          <a:xfrm>
            <a:off x="666750" y="2533650"/>
            <a:ext cx="1524000" cy="428625"/>
          </a:xfrm>
          <a:prstGeom prst="rect">
            <a:avLst/>
          </a:prstGeom>
          <a:noFill/>
          <a:ln w="0">
            <a:noFill/>
            <a:prstDash val="solid"/>
          </a:ln>
        </p:spPr>
        <p:txBody>
          <a:bodyPr lIns="0" tIns="0" rIns="0" bIns="0"/>
          <a:lstStyle>
            <a:defPPr>
              <a:defRPr sz="2175" b="1">
                <a:solidFill>
                  <a:srgbClr val="666666"/>
                </a:solidFill>
                <a:latin typeface="DejaVu Sans Mono"/>
                <a:ea typeface="DejaVu Sans Mono"/>
                <a:cs typeface="DejaVu Sans Mono"/>
              </a:defRPr>
            </a:defPPr>
            <a:lvl1pPr>
              <a:defRPr sz="2175" b="1">
                <a:solidFill>
                  <a:srgbClr val="666666"/>
                </a:solidFill>
                <a:latin typeface="DejaVu Sans Mono"/>
                <a:ea typeface="DejaVu Sans Mono"/>
                <a:cs typeface="DejaVu Sans Mono"/>
              </a:defRPr>
            </a:lvl1pPr>
            <a:lvl2pPr>
              <a:defRPr sz="2175" b="1">
                <a:solidFill>
                  <a:srgbClr val="666666"/>
                </a:solidFill>
                <a:latin typeface="DejaVu Sans Mono"/>
                <a:ea typeface="DejaVu Sans Mono"/>
                <a:cs typeface="DejaVu Sans Mono"/>
              </a:defRPr>
            </a:lvl2pPr>
            <a:lvl3pPr>
              <a:defRPr sz="2175" b="1">
                <a:solidFill>
                  <a:srgbClr val="666666"/>
                </a:solidFill>
                <a:latin typeface="DejaVu Sans Mono"/>
                <a:ea typeface="DejaVu Sans Mono"/>
                <a:cs typeface="DejaVu Sans Mono"/>
              </a:defRPr>
            </a:lvl3pPr>
            <a:lvl4pPr>
              <a:defRPr sz="2175" b="1">
                <a:solidFill>
                  <a:srgbClr val="666666"/>
                </a:solidFill>
                <a:latin typeface="DejaVu Sans Mono"/>
                <a:ea typeface="DejaVu Sans Mono"/>
                <a:cs typeface="DejaVu Sans Mono"/>
              </a:defRPr>
            </a:lvl4pPr>
            <a:lvl5pPr>
              <a:defRPr sz="2175" b="1">
                <a:solidFill>
                  <a:srgbClr val="666666"/>
                </a:solidFill>
                <a:latin typeface="DejaVu Sans Mono"/>
                <a:ea typeface="DejaVu Sans Mono"/>
                <a:cs typeface="DejaVu Sans Mono"/>
              </a:defRPr>
            </a:lvl5pPr>
            <a:lvl6pPr>
              <a:defRPr sz="2175" b="1">
                <a:solidFill>
                  <a:srgbClr val="666666"/>
                </a:solidFill>
                <a:latin typeface="DejaVu Sans Mono"/>
                <a:ea typeface="DejaVu Sans Mono"/>
                <a:cs typeface="DejaVu Sans Mono"/>
              </a:defRPr>
            </a:lvl6pPr>
            <a:lvl7pPr>
              <a:defRPr sz="2175" b="1">
                <a:solidFill>
                  <a:srgbClr val="666666"/>
                </a:solidFill>
                <a:latin typeface="DejaVu Sans Mono"/>
                <a:ea typeface="DejaVu Sans Mono"/>
                <a:cs typeface="DejaVu Sans Mono"/>
              </a:defRPr>
            </a:lvl7pPr>
            <a:lvl8pPr>
              <a:defRPr sz="2175" b="1">
                <a:solidFill>
                  <a:srgbClr val="666666"/>
                </a:solidFill>
                <a:latin typeface="DejaVu Sans Mono"/>
                <a:ea typeface="DejaVu Sans Mono"/>
                <a:cs typeface="DejaVu Sans Mono"/>
              </a:defRPr>
            </a:lvl8pPr>
            <a:lvl9pPr>
              <a:defRPr sz="2175" b="1">
                <a:solidFill>
                  <a:srgbClr val="666666"/>
                </a:solidFill>
                <a:latin typeface="DejaVu Sans Mono"/>
                <a:ea typeface="DejaVu Sans Mono"/>
                <a:cs typeface="DejaVu Sans Mono"/>
              </a:defRPr>
            </a:lvl9pPr>
          </a:lstStyle>
          <a:p>
            <a:pPr>
              <a:defRPr sz="2175" b="1">
                <a:solidFill>
                  <a:srgbClr val="666666"/>
                </a:solidFill>
                <a:latin typeface="DejaVu Sans Mono"/>
                <a:ea typeface="DejaVu Sans Mono"/>
                <a:cs typeface="DejaVu Sans Mono"/>
              </a:defRPr>
            </a:pPr>
            <a:r>
              <a:rPr sz="2175" b="1">
                <a:solidFill>
                  <a:srgbClr val="666666"/>
                </a:solidFill>
                <a:latin typeface="DejaVu Sans Mono"/>
                <a:ea typeface="DejaVu Sans Mono"/>
                <a:cs typeface="DejaVu Sans Mono"/>
              </a:rPr>
              <a:t>d</a:t>
            </a:r>
          </a:p>
        </p:txBody>
      </p:sp>
      <p:sp>
        <p:nvSpPr>
          <p:cNvPr id="11" name="waveform-d">
            <a:extLst>
              <a:ext uri="{FF2B5EF4-FFF2-40B4-BE49-F238E27FC236}">
                <a16:creationId xmlns:a16="http://schemas.microsoft.com/office/drawing/2014/main" id="{81F5FDD9-3D0E-4976-8E67-3D7894BC63D9}"/>
              </a:ext>
            </a:extLst>
          </p:cNvPr>
          <p:cNvSpPr>
            <a:spLocks noGrp="1"/>
          </p:cNvSpPr>
          <p:nvPr/>
        </p:nvSpPr>
        <p:spPr>
          <a:xfrm>
            <a:off x="2286000" y="2590800"/>
            <a:ext cx="8858250" cy="342900"/>
          </a:xfrm>
          <a:custGeom>
            <a:avLst/>
            <a:gdLst/>
            <a:ahLst/>
            <a:cxnLst/>
            <a:rect l="0" t="0" r="0" b="0"/>
            <a:pathLst>
              <a:path w="8858250" h="342900">
                <a:moveTo>
                  <a:pt x="0" y="0"/>
                </a:moveTo>
                <a:lnTo>
                  <a:pt x="8858250" y="0"/>
                </a:lnTo>
              </a:path>
            </a:pathLst>
          </a:custGeom>
          <a:noFill/>
          <a:ln w="33338">
            <a:solidFill>
              <a:srgbClr val="666666"/>
            </a:solidFill>
            <a:prstDash val="solid"/>
          </a:ln>
        </p:spPr>
        <p:txBody>
          <a:bodyPr/>
          <a:lstStyle/>
          <a:p>
            <a:endParaRPr lang="zh-CN" altLang="en-US"/>
          </a:p>
        </p:txBody>
      </p:sp>
      <p:sp>
        <p:nvSpPr>
          <p:cNvPr id="12" name="矩形 11">
            <a:extLst>
              <a:ext uri="{FF2B5EF4-FFF2-40B4-BE49-F238E27FC236}">
                <a16:creationId xmlns:a16="http://schemas.microsoft.com/office/drawing/2014/main" id="{FE61B05E-350D-423A-A4A6-EE454EBD4C40}"/>
              </a:ext>
            </a:extLst>
          </p:cNvPr>
          <p:cNvSpPr>
            <a:spLocks noGrp="1"/>
          </p:cNvSpPr>
          <p:nvPr/>
        </p:nvSpPr>
        <p:spPr>
          <a:xfrm>
            <a:off x="666750" y="3248025"/>
            <a:ext cx="1524000" cy="428625"/>
          </a:xfrm>
          <a:prstGeom prst="rect">
            <a:avLst/>
          </a:prstGeom>
          <a:noFill/>
          <a:ln w="0">
            <a:noFill/>
            <a:prstDash val="solid"/>
          </a:ln>
        </p:spPr>
        <p:txBody>
          <a:bodyPr lIns="0" tIns="0" rIns="0" bIns="0"/>
          <a:lstStyle>
            <a:defPPr>
              <a:defRPr sz="2175" b="1">
                <a:solidFill>
                  <a:srgbClr val="155CAA"/>
                </a:solidFill>
                <a:latin typeface="DejaVu Sans Mono"/>
                <a:ea typeface="DejaVu Sans Mono"/>
                <a:cs typeface="DejaVu Sans Mono"/>
              </a:defRPr>
            </a:defPPr>
            <a:lvl1pPr>
              <a:defRPr sz="2175" b="1">
                <a:solidFill>
                  <a:srgbClr val="155CAA"/>
                </a:solidFill>
                <a:latin typeface="DejaVu Sans Mono"/>
                <a:ea typeface="DejaVu Sans Mono"/>
                <a:cs typeface="DejaVu Sans Mono"/>
              </a:defRPr>
            </a:lvl1pPr>
            <a:lvl2pPr>
              <a:defRPr sz="2175" b="1">
                <a:solidFill>
                  <a:srgbClr val="155CAA"/>
                </a:solidFill>
                <a:latin typeface="DejaVu Sans Mono"/>
                <a:ea typeface="DejaVu Sans Mono"/>
                <a:cs typeface="DejaVu Sans Mono"/>
              </a:defRPr>
            </a:lvl2pPr>
            <a:lvl3pPr>
              <a:defRPr sz="2175" b="1">
                <a:solidFill>
                  <a:srgbClr val="155CAA"/>
                </a:solidFill>
                <a:latin typeface="DejaVu Sans Mono"/>
                <a:ea typeface="DejaVu Sans Mono"/>
                <a:cs typeface="DejaVu Sans Mono"/>
              </a:defRPr>
            </a:lvl3pPr>
            <a:lvl4pPr>
              <a:defRPr sz="2175" b="1">
                <a:solidFill>
                  <a:srgbClr val="155CAA"/>
                </a:solidFill>
                <a:latin typeface="DejaVu Sans Mono"/>
                <a:ea typeface="DejaVu Sans Mono"/>
                <a:cs typeface="DejaVu Sans Mono"/>
              </a:defRPr>
            </a:lvl4pPr>
            <a:lvl5pPr>
              <a:defRPr sz="2175" b="1">
                <a:solidFill>
                  <a:srgbClr val="155CAA"/>
                </a:solidFill>
                <a:latin typeface="DejaVu Sans Mono"/>
                <a:ea typeface="DejaVu Sans Mono"/>
                <a:cs typeface="DejaVu Sans Mono"/>
              </a:defRPr>
            </a:lvl5pPr>
            <a:lvl6pPr>
              <a:defRPr sz="2175" b="1">
                <a:solidFill>
                  <a:srgbClr val="155CAA"/>
                </a:solidFill>
                <a:latin typeface="DejaVu Sans Mono"/>
                <a:ea typeface="DejaVu Sans Mono"/>
                <a:cs typeface="DejaVu Sans Mono"/>
              </a:defRPr>
            </a:lvl6pPr>
            <a:lvl7pPr>
              <a:defRPr sz="2175" b="1">
                <a:solidFill>
                  <a:srgbClr val="155CAA"/>
                </a:solidFill>
                <a:latin typeface="DejaVu Sans Mono"/>
                <a:ea typeface="DejaVu Sans Mono"/>
                <a:cs typeface="DejaVu Sans Mono"/>
              </a:defRPr>
            </a:lvl7pPr>
            <a:lvl8pPr>
              <a:defRPr sz="2175" b="1">
                <a:solidFill>
                  <a:srgbClr val="155CAA"/>
                </a:solidFill>
                <a:latin typeface="DejaVu Sans Mono"/>
                <a:ea typeface="DejaVu Sans Mono"/>
                <a:cs typeface="DejaVu Sans Mono"/>
              </a:defRPr>
            </a:lvl8pPr>
            <a:lvl9pPr>
              <a:defRPr sz="2175" b="1">
                <a:solidFill>
                  <a:srgbClr val="155CAA"/>
                </a:solidFill>
                <a:latin typeface="DejaVu Sans Mono"/>
                <a:ea typeface="DejaVu Sans Mono"/>
                <a:cs typeface="DejaVu Sans Mono"/>
              </a:defRPr>
            </a:lvl9pPr>
          </a:lstStyle>
          <a:p>
            <a:pPr>
              <a:defRPr sz="2175" b="1">
                <a:solidFill>
                  <a:srgbClr val="155CAA"/>
                </a:solidFill>
                <a:latin typeface="DejaVu Sans Mono"/>
                <a:ea typeface="DejaVu Sans Mono"/>
                <a:cs typeface="DejaVu Sans Mono"/>
              </a:defRPr>
            </a:pPr>
            <a:r>
              <a:rPr sz="2175" b="1">
                <a:solidFill>
                  <a:srgbClr val="155CAA"/>
                </a:solidFill>
                <a:latin typeface="DejaVu Sans Mono"/>
                <a:ea typeface="DejaVu Sans Mono"/>
                <a:cs typeface="DejaVu Sans Mono"/>
              </a:rPr>
              <a:t>s</a:t>
            </a:r>
          </a:p>
        </p:txBody>
      </p:sp>
      <p:sp>
        <p:nvSpPr>
          <p:cNvPr id="13" name="waveform-s">
            <a:extLst>
              <a:ext uri="{FF2B5EF4-FFF2-40B4-BE49-F238E27FC236}">
                <a16:creationId xmlns:a16="http://schemas.microsoft.com/office/drawing/2014/main" id="{1487535F-7555-4970-8F74-DB5998EC2219}"/>
              </a:ext>
            </a:extLst>
          </p:cNvPr>
          <p:cNvSpPr>
            <a:spLocks noGrp="1"/>
          </p:cNvSpPr>
          <p:nvPr/>
        </p:nvSpPr>
        <p:spPr>
          <a:xfrm>
            <a:off x="2286000" y="3305175"/>
            <a:ext cx="8858250" cy="342900"/>
          </a:xfrm>
          <a:custGeom>
            <a:avLst/>
            <a:gdLst/>
            <a:ahLst/>
            <a:cxnLst/>
            <a:rect l="0" t="0" r="0" b="0"/>
            <a:pathLst>
              <a:path w="8858250" h="342900">
                <a:moveTo>
                  <a:pt x="0" y="342900"/>
                </a:moveTo>
                <a:lnTo>
                  <a:pt x="1809750" y="342900"/>
                </a:lnTo>
                <a:lnTo>
                  <a:pt x="1809750" y="0"/>
                </a:lnTo>
                <a:lnTo>
                  <a:pt x="8858250" y="0"/>
                </a:lnTo>
              </a:path>
            </a:pathLst>
          </a:custGeom>
          <a:noFill/>
          <a:ln w="33338">
            <a:solidFill>
              <a:srgbClr val="155CAA"/>
            </a:solidFill>
            <a:prstDash val="solid"/>
          </a:ln>
        </p:spPr>
        <p:txBody>
          <a:bodyPr/>
          <a:lstStyle/>
          <a:p>
            <a:endParaRPr lang="zh-CN" altLang="en-US"/>
          </a:p>
        </p:txBody>
      </p:sp>
      <p:sp>
        <p:nvSpPr>
          <p:cNvPr id="14" name="矩形 13">
            <a:extLst>
              <a:ext uri="{FF2B5EF4-FFF2-40B4-BE49-F238E27FC236}">
                <a16:creationId xmlns:a16="http://schemas.microsoft.com/office/drawing/2014/main" id="{1D98AB0D-1B14-43FA-912F-DA261A8F9547}"/>
              </a:ext>
            </a:extLst>
          </p:cNvPr>
          <p:cNvSpPr>
            <a:spLocks noGrp="1"/>
          </p:cNvSpPr>
          <p:nvPr/>
        </p:nvSpPr>
        <p:spPr>
          <a:xfrm>
            <a:off x="666750" y="3962400"/>
            <a:ext cx="1524000" cy="428625"/>
          </a:xfrm>
          <a:prstGeom prst="rect">
            <a:avLst/>
          </a:prstGeom>
          <a:noFill/>
          <a:ln w="0">
            <a:noFill/>
            <a:prstDash val="solid"/>
          </a:ln>
        </p:spPr>
        <p:txBody>
          <a:bodyPr lIns="0" tIns="0" rIns="0" bIns="0"/>
          <a:lstStyle>
            <a:defPPr>
              <a:defRPr sz="2175" b="1">
                <a:solidFill>
                  <a:srgbClr val="237B48"/>
                </a:solidFill>
                <a:latin typeface="DejaVu Sans Mono"/>
                <a:ea typeface="DejaVu Sans Mono"/>
                <a:cs typeface="DejaVu Sans Mono"/>
              </a:defRPr>
            </a:defPPr>
            <a:lvl1pPr>
              <a:defRPr sz="2175" b="1">
                <a:solidFill>
                  <a:srgbClr val="237B48"/>
                </a:solidFill>
                <a:latin typeface="DejaVu Sans Mono"/>
                <a:ea typeface="DejaVu Sans Mono"/>
                <a:cs typeface="DejaVu Sans Mono"/>
              </a:defRPr>
            </a:lvl1pPr>
            <a:lvl2pPr>
              <a:defRPr sz="2175" b="1">
                <a:solidFill>
                  <a:srgbClr val="237B48"/>
                </a:solidFill>
                <a:latin typeface="DejaVu Sans Mono"/>
                <a:ea typeface="DejaVu Sans Mono"/>
                <a:cs typeface="DejaVu Sans Mono"/>
              </a:defRPr>
            </a:lvl2pPr>
            <a:lvl3pPr>
              <a:defRPr sz="2175" b="1">
                <a:solidFill>
                  <a:srgbClr val="237B48"/>
                </a:solidFill>
                <a:latin typeface="DejaVu Sans Mono"/>
                <a:ea typeface="DejaVu Sans Mono"/>
                <a:cs typeface="DejaVu Sans Mono"/>
              </a:defRPr>
            </a:lvl3pPr>
            <a:lvl4pPr>
              <a:defRPr sz="2175" b="1">
                <a:solidFill>
                  <a:srgbClr val="237B48"/>
                </a:solidFill>
                <a:latin typeface="DejaVu Sans Mono"/>
                <a:ea typeface="DejaVu Sans Mono"/>
                <a:cs typeface="DejaVu Sans Mono"/>
              </a:defRPr>
            </a:lvl4pPr>
            <a:lvl5pPr>
              <a:defRPr sz="2175" b="1">
                <a:solidFill>
                  <a:srgbClr val="237B48"/>
                </a:solidFill>
                <a:latin typeface="DejaVu Sans Mono"/>
                <a:ea typeface="DejaVu Sans Mono"/>
                <a:cs typeface="DejaVu Sans Mono"/>
              </a:defRPr>
            </a:lvl5pPr>
            <a:lvl6pPr>
              <a:defRPr sz="2175" b="1">
                <a:solidFill>
                  <a:srgbClr val="237B48"/>
                </a:solidFill>
                <a:latin typeface="DejaVu Sans Mono"/>
                <a:ea typeface="DejaVu Sans Mono"/>
                <a:cs typeface="DejaVu Sans Mono"/>
              </a:defRPr>
            </a:lvl6pPr>
            <a:lvl7pPr>
              <a:defRPr sz="2175" b="1">
                <a:solidFill>
                  <a:srgbClr val="237B48"/>
                </a:solidFill>
                <a:latin typeface="DejaVu Sans Mono"/>
                <a:ea typeface="DejaVu Sans Mono"/>
                <a:cs typeface="DejaVu Sans Mono"/>
              </a:defRPr>
            </a:lvl7pPr>
            <a:lvl8pPr>
              <a:defRPr sz="2175" b="1">
                <a:solidFill>
                  <a:srgbClr val="237B48"/>
                </a:solidFill>
                <a:latin typeface="DejaVu Sans Mono"/>
                <a:ea typeface="DejaVu Sans Mono"/>
                <a:cs typeface="DejaVu Sans Mono"/>
              </a:defRPr>
            </a:lvl8pPr>
            <a:lvl9pPr>
              <a:defRPr sz="2175" b="1">
                <a:solidFill>
                  <a:srgbClr val="237B48"/>
                </a:solidFill>
                <a:latin typeface="DejaVu Sans Mono"/>
                <a:ea typeface="DejaVu Sans Mono"/>
                <a:cs typeface="DejaVu Sans Mono"/>
              </a:defRPr>
            </a:lvl9pPr>
          </a:lstStyle>
          <a:p>
            <a:pPr>
              <a:defRPr sz="2175" b="1">
                <a:solidFill>
                  <a:srgbClr val="237B48"/>
                </a:solidFill>
                <a:latin typeface="DejaVu Sans Mono"/>
                <a:ea typeface="DejaVu Sans Mono"/>
                <a:cs typeface="DejaVu Sans Mono"/>
              </a:defRPr>
            </a:pPr>
            <a:r>
              <a:rPr sz="2175" b="1">
                <a:solidFill>
                  <a:srgbClr val="237B48"/>
                </a:solidFill>
                <a:latin typeface="DejaVu Sans Mono"/>
                <a:ea typeface="DejaVu Sans Mono"/>
                <a:cs typeface="DejaVu Sans Mono"/>
              </a:rPr>
              <a:t>q</a:t>
            </a:r>
          </a:p>
        </p:txBody>
      </p:sp>
      <p:sp>
        <p:nvSpPr>
          <p:cNvPr id="15" name="waveform-q">
            <a:extLst>
              <a:ext uri="{FF2B5EF4-FFF2-40B4-BE49-F238E27FC236}">
                <a16:creationId xmlns:a16="http://schemas.microsoft.com/office/drawing/2014/main" id="{263C4B67-A699-48C9-A715-9A735DCA04E9}"/>
              </a:ext>
            </a:extLst>
          </p:cNvPr>
          <p:cNvSpPr>
            <a:spLocks noGrp="1"/>
          </p:cNvSpPr>
          <p:nvPr/>
        </p:nvSpPr>
        <p:spPr>
          <a:xfrm>
            <a:off x="2286000" y="4019550"/>
            <a:ext cx="8858250" cy="342900"/>
          </a:xfrm>
          <a:custGeom>
            <a:avLst/>
            <a:gdLst/>
            <a:ahLst/>
            <a:cxnLst/>
            <a:rect l="0" t="0" r="0" b="0"/>
            <a:pathLst>
              <a:path w="8858250" h="342900">
                <a:moveTo>
                  <a:pt x="0" y="342900"/>
                </a:moveTo>
                <a:lnTo>
                  <a:pt x="5619750" y="342900"/>
                </a:lnTo>
                <a:lnTo>
                  <a:pt x="5619750" y="0"/>
                </a:lnTo>
                <a:lnTo>
                  <a:pt x="8858250" y="0"/>
                </a:lnTo>
              </a:path>
            </a:pathLst>
          </a:custGeom>
          <a:noFill/>
          <a:ln w="33338">
            <a:solidFill>
              <a:srgbClr val="237B48"/>
            </a:solidFill>
            <a:prstDash val="solid"/>
          </a:ln>
        </p:spPr>
        <p:txBody>
          <a:bodyPr/>
          <a:lstStyle/>
          <a:p>
            <a:endParaRPr lang="zh-CN" altLang="en-US"/>
          </a:p>
        </p:txBody>
      </p:sp>
      <p:sp>
        <p:nvSpPr>
          <p:cNvPr id="16" name="矩形 15">
            <a:extLst>
              <a:ext uri="{FF2B5EF4-FFF2-40B4-BE49-F238E27FC236}">
                <a16:creationId xmlns:a16="http://schemas.microsoft.com/office/drawing/2014/main" id="{8E9238EE-AEF9-4D98-B846-9D6BA69104C3}"/>
              </a:ext>
            </a:extLst>
          </p:cNvPr>
          <p:cNvSpPr>
            <a:spLocks noGrp="1"/>
          </p:cNvSpPr>
          <p:nvPr/>
        </p:nvSpPr>
        <p:spPr>
          <a:xfrm>
            <a:off x="666750" y="4676775"/>
            <a:ext cx="1524000" cy="428625"/>
          </a:xfrm>
          <a:prstGeom prst="rect">
            <a:avLst/>
          </a:prstGeom>
          <a:noFill/>
          <a:ln w="0">
            <a:noFill/>
            <a:prstDash val="solid"/>
          </a:ln>
        </p:spPr>
        <p:txBody>
          <a:bodyPr lIns="0" tIns="0" rIns="0" bIns="0"/>
          <a:lstStyle>
            <a:defPPr>
              <a:defRPr sz="2175" b="1">
                <a:solidFill>
                  <a:srgbClr val="A75311"/>
                </a:solidFill>
                <a:latin typeface="DejaVu Sans Mono"/>
                <a:ea typeface="DejaVu Sans Mono"/>
                <a:cs typeface="DejaVu Sans Mono"/>
              </a:defRPr>
            </a:defPPr>
            <a:lvl1pPr>
              <a:defRPr sz="2175" b="1">
                <a:solidFill>
                  <a:srgbClr val="A75311"/>
                </a:solidFill>
                <a:latin typeface="DejaVu Sans Mono"/>
                <a:ea typeface="DejaVu Sans Mono"/>
                <a:cs typeface="DejaVu Sans Mono"/>
              </a:defRPr>
            </a:lvl1pPr>
            <a:lvl2pPr>
              <a:defRPr sz="2175" b="1">
                <a:solidFill>
                  <a:srgbClr val="A75311"/>
                </a:solidFill>
                <a:latin typeface="DejaVu Sans Mono"/>
                <a:ea typeface="DejaVu Sans Mono"/>
                <a:cs typeface="DejaVu Sans Mono"/>
              </a:defRPr>
            </a:lvl2pPr>
            <a:lvl3pPr>
              <a:defRPr sz="2175" b="1">
                <a:solidFill>
                  <a:srgbClr val="A75311"/>
                </a:solidFill>
                <a:latin typeface="DejaVu Sans Mono"/>
                <a:ea typeface="DejaVu Sans Mono"/>
                <a:cs typeface="DejaVu Sans Mono"/>
              </a:defRPr>
            </a:lvl3pPr>
            <a:lvl4pPr>
              <a:defRPr sz="2175" b="1">
                <a:solidFill>
                  <a:srgbClr val="A75311"/>
                </a:solidFill>
                <a:latin typeface="DejaVu Sans Mono"/>
                <a:ea typeface="DejaVu Sans Mono"/>
                <a:cs typeface="DejaVu Sans Mono"/>
              </a:defRPr>
            </a:lvl4pPr>
            <a:lvl5pPr>
              <a:defRPr sz="2175" b="1">
                <a:solidFill>
                  <a:srgbClr val="A75311"/>
                </a:solidFill>
                <a:latin typeface="DejaVu Sans Mono"/>
                <a:ea typeface="DejaVu Sans Mono"/>
                <a:cs typeface="DejaVu Sans Mono"/>
              </a:defRPr>
            </a:lvl5pPr>
            <a:lvl6pPr>
              <a:defRPr sz="2175" b="1">
                <a:solidFill>
                  <a:srgbClr val="A75311"/>
                </a:solidFill>
                <a:latin typeface="DejaVu Sans Mono"/>
                <a:ea typeface="DejaVu Sans Mono"/>
                <a:cs typeface="DejaVu Sans Mono"/>
              </a:defRPr>
            </a:lvl6pPr>
            <a:lvl7pPr>
              <a:defRPr sz="2175" b="1">
                <a:solidFill>
                  <a:srgbClr val="A75311"/>
                </a:solidFill>
                <a:latin typeface="DejaVu Sans Mono"/>
                <a:ea typeface="DejaVu Sans Mono"/>
                <a:cs typeface="DejaVu Sans Mono"/>
              </a:defRPr>
            </a:lvl7pPr>
            <a:lvl8pPr>
              <a:defRPr sz="2175" b="1">
                <a:solidFill>
                  <a:srgbClr val="A75311"/>
                </a:solidFill>
                <a:latin typeface="DejaVu Sans Mono"/>
                <a:ea typeface="DejaVu Sans Mono"/>
                <a:cs typeface="DejaVu Sans Mono"/>
              </a:defRPr>
            </a:lvl8pPr>
            <a:lvl9pPr>
              <a:defRPr sz="2175" b="1">
                <a:solidFill>
                  <a:srgbClr val="A75311"/>
                </a:solidFill>
                <a:latin typeface="DejaVu Sans Mono"/>
                <a:ea typeface="DejaVu Sans Mono"/>
                <a:cs typeface="DejaVu Sans Mono"/>
              </a:defRPr>
            </a:lvl9pPr>
          </a:lstStyle>
          <a:p>
            <a:pPr>
              <a:defRPr sz="2175" b="1">
                <a:solidFill>
                  <a:srgbClr val="A75311"/>
                </a:solidFill>
                <a:latin typeface="DejaVu Sans Mono"/>
                <a:ea typeface="DejaVu Sans Mono"/>
                <a:cs typeface="DejaVu Sans Mono"/>
              </a:defRPr>
            </a:pPr>
            <a:r>
              <a:rPr sz="2175" b="1">
                <a:solidFill>
                  <a:srgbClr val="A75311"/>
                </a:solidFill>
                <a:latin typeface="DejaVu Sans Mono"/>
                <a:ea typeface="DejaVu Sans Mono"/>
                <a:cs typeface="DejaVu Sans Mono"/>
              </a:rPr>
              <a:t>q_var</a:t>
            </a:r>
          </a:p>
        </p:txBody>
      </p:sp>
      <p:sp>
        <p:nvSpPr>
          <p:cNvPr id="17" name="waveform-q_var">
            <a:extLst>
              <a:ext uri="{FF2B5EF4-FFF2-40B4-BE49-F238E27FC236}">
                <a16:creationId xmlns:a16="http://schemas.microsoft.com/office/drawing/2014/main" id="{351DDE26-23C8-42B8-A002-18EF92EBD24F}"/>
              </a:ext>
            </a:extLst>
          </p:cNvPr>
          <p:cNvSpPr>
            <a:spLocks noGrp="1"/>
          </p:cNvSpPr>
          <p:nvPr/>
        </p:nvSpPr>
        <p:spPr>
          <a:xfrm>
            <a:off x="2286000" y="4733925"/>
            <a:ext cx="8858250" cy="342900"/>
          </a:xfrm>
          <a:custGeom>
            <a:avLst/>
            <a:gdLst/>
            <a:ahLst/>
            <a:cxnLst/>
            <a:rect l="0" t="0" r="0" b="0"/>
            <a:pathLst>
              <a:path w="8858250" h="342900">
                <a:moveTo>
                  <a:pt x="0" y="342900"/>
                </a:moveTo>
                <a:lnTo>
                  <a:pt x="1809750" y="342900"/>
                </a:lnTo>
                <a:lnTo>
                  <a:pt x="1809750" y="0"/>
                </a:lnTo>
                <a:lnTo>
                  <a:pt x="8858250" y="0"/>
                </a:lnTo>
              </a:path>
            </a:pathLst>
          </a:custGeom>
          <a:noFill/>
          <a:ln w="33338">
            <a:solidFill>
              <a:srgbClr val="A75311"/>
            </a:solidFill>
            <a:prstDash val="solid"/>
          </a:ln>
        </p:spPr>
        <p:txBody>
          <a:bodyPr/>
          <a:lstStyle/>
          <a:p>
            <a:endParaRPr lang="zh-CN" altLang="en-US"/>
          </a:p>
        </p:txBody>
      </p:sp>
      <p:sp>
        <p:nvSpPr>
          <p:cNvPr id="18" name="矩形 17">
            <a:extLst>
              <a:ext uri="{FF2B5EF4-FFF2-40B4-BE49-F238E27FC236}">
                <a16:creationId xmlns:a16="http://schemas.microsoft.com/office/drawing/2014/main" id="{4D8CCA08-A762-4C4A-A557-DD61CF36C224}"/>
              </a:ext>
            </a:extLst>
          </p:cNvPr>
          <p:cNvSpPr>
            <a:spLocks noGrp="1"/>
          </p:cNvSpPr>
          <p:nvPr/>
        </p:nvSpPr>
        <p:spPr>
          <a:xfrm>
            <a:off x="2286000" y="5572125"/>
            <a:ext cx="9239250" cy="428625"/>
          </a:xfrm>
          <a:prstGeom prst="rect">
            <a:avLst/>
          </a:prstGeom>
          <a:noFill/>
          <a:ln w="0">
            <a:noFill/>
            <a:prstDash val="solid"/>
          </a:ln>
        </p:spPr>
        <p:txBody>
          <a:bodyPr lIns="0" tIns="0" rIns="0" bIns="0"/>
          <a:lstStyle>
            <a:defPPr>
              <a:defRPr sz="1950" b="0">
                <a:solidFill>
                  <a:srgbClr val="111111"/>
                </a:solidFill>
                <a:latin typeface="DejaVu Sans Mono"/>
                <a:ea typeface="DejaVu Sans Mono"/>
                <a:cs typeface="DejaVu Sans Mono"/>
              </a:defRPr>
            </a:defPPr>
            <a:lvl1pPr>
              <a:defRPr sz="1950" b="0">
                <a:solidFill>
                  <a:srgbClr val="111111"/>
                </a:solidFill>
                <a:latin typeface="DejaVu Sans Mono"/>
                <a:ea typeface="DejaVu Sans Mono"/>
                <a:cs typeface="DejaVu Sans Mono"/>
              </a:defRPr>
            </a:lvl1pPr>
            <a:lvl2pPr>
              <a:defRPr sz="1950" b="0">
                <a:solidFill>
                  <a:srgbClr val="111111"/>
                </a:solidFill>
                <a:latin typeface="DejaVu Sans Mono"/>
                <a:ea typeface="DejaVu Sans Mono"/>
                <a:cs typeface="DejaVu Sans Mono"/>
              </a:defRPr>
            </a:lvl2pPr>
            <a:lvl3pPr>
              <a:defRPr sz="1950" b="0">
                <a:solidFill>
                  <a:srgbClr val="111111"/>
                </a:solidFill>
                <a:latin typeface="DejaVu Sans Mono"/>
                <a:ea typeface="DejaVu Sans Mono"/>
                <a:cs typeface="DejaVu Sans Mono"/>
              </a:defRPr>
            </a:lvl3pPr>
            <a:lvl4pPr>
              <a:defRPr sz="1950" b="0">
                <a:solidFill>
                  <a:srgbClr val="111111"/>
                </a:solidFill>
                <a:latin typeface="DejaVu Sans Mono"/>
                <a:ea typeface="DejaVu Sans Mono"/>
                <a:cs typeface="DejaVu Sans Mono"/>
              </a:defRPr>
            </a:lvl4pPr>
            <a:lvl5pPr>
              <a:defRPr sz="1950" b="0">
                <a:solidFill>
                  <a:srgbClr val="111111"/>
                </a:solidFill>
                <a:latin typeface="DejaVu Sans Mono"/>
                <a:ea typeface="DejaVu Sans Mono"/>
                <a:cs typeface="DejaVu Sans Mono"/>
              </a:defRPr>
            </a:lvl5pPr>
            <a:lvl6pPr>
              <a:defRPr sz="1950" b="0">
                <a:solidFill>
                  <a:srgbClr val="111111"/>
                </a:solidFill>
                <a:latin typeface="DejaVu Sans Mono"/>
                <a:ea typeface="DejaVu Sans Mono"/>
                <a:cs typeface="DejaVu Sans Mono"/>
              </a:defRPr>
            </a:lvl6pPr>
            <a:lvl7pPr>
              <a:defRPr sz="1950" b="0">
                <a:solidFill>
                  <a:srgbClr val="111111"/>
                </a:solidFill>
                <a:latin typeface="DejaVu Sans Mono"/>
                <a:ea typeface="DejaVu Sans Mono"/>
                <a:cs typeface="DejaVu Sans Mono"/>
              </a:defRPr>
            </a:lvl7pPr>
            <a:lvl8pPr>
              <a:defRPr sz="1950" b="0">
                <a:solidFill>
                  <a:srgbClr val="111111"/>
                </a:solidFill>
                <a:latin typeface="DejaVu Sans Mono"/>
                <a:ea typeface="DejaVu Sans Mono"/>
                <a:cs typeface="DejaVu Sans Mono"/>
              </a:defRPr>
            </a:lvl8pPr>
            <a:lvl9pPr>
              <a:defRPr sz="1950" b="0">
                <a:solidFill>
                  <a:srgbClr val="111111"/>
                </a:solidFill>
                <a:latin typeface="DejaVu Sans Mono"/>
                <a:ea typeface="DejaVu Sans Mono"/>
                <a:cs typeface="DejaVu Sans Mono"/>
              </a:defRPr>
            </a:lvl9pPr>
          </a:lstStyle>
          <a:p>
            <a:pPr>
              <a:defRPr sz="1950" b="0">
                <a:solidFill>
                  <a:srgbClr val="111111"/>
                </a:solidFill>
                <a:latin typeface="DejaVu Sans Mono"/>
                <a:ea typeface="DejaVu Sans Mono"/>
                <a:cs typeface="DejaVu Sans Mono"/>
              </a:defRPr>
            </a:pPr>
            <a:r>
              <a:rPr sz="1950" b="0">
                <a:solidFill>
                  <a:srgbClr val="111111"/>
                </a:solidFill>
                <a:latin typeface="DejaVu Sans Mono"/>
                <a:ea typeface="DejaVu Sans Mono"/>
                <a:cs typeface="DejaVu Sans Mono"/>
              </a:rPr>
              <a:t>Variable version: v := d; q &lt;= v;</a:t>
            </a:r>
          </a:p>
        </p:txBody>
      </p:sp>
      <p:sp>
        <p:nvSpPr>
          <p:cNvPr id="19" name="矩形 18">
            <a:extLst>
              <a:ext uri="{FF2B5EF4-FFF2-40B4-BE49-F238E27FC236}">
                <a16:creationId xmlns:a16="http://schemas.microsoft.com/office/drawing/2014/main" id="{9AA2CC1A-C0D0-4330-9788-AB056E3B2262}"/>
              </a:ext>
            </a:extLst>
          </p:cNvPr>
          <p:cNvSpPr>
            <a:spLocks noGrp="1"/>
          </p:cNvSpPr>
          <p:nvPr/>
        </p:nvSpPr>
        <p:spPr>
          <a:xfrm>
            <a:off x="2286000" y="6000750"/>
            <a:ext cx="9239250" cy="323850"/>
          </a:xfrm>
          <a:prstGeom prst="rect">
            <a:avLst/>
          </a:prstGeom>
          <a:noFill/>
          <a:ln w="0">
            <a:noFill/>
            <a:prstDash val="solid"/>
          </a:ln>
        </p:spPr>
        <p:txBody>
          <a:bodyPr lIns="0" tIns="0" rIns="0" bIns="0"/>
          <a:lstStyle>
            <a:defPPr>
              <a:defRPr sz="1875" b="0">
                <a:solidFill>
                  <a:srgbClr val="111111"/>
                </a:solidFill>
                <a:latin typeface="Arial"/>
                <a:ea typeface="Arial"/>
                <a:cs typeface="Arial"/>
              </a:defRPr>
            </a:defPPr>
            <a:lvl1pPr>
              <a:defRPr sz="1875" b="0">
                <a:solidFill>
                  <a:srgbClr val="111111"/>
                </a:solidFill>
                <a:latin typeface="Arial"/>
                <a:ea typeface="Arial"/>
                <a:cs typeface="Arial"/>
              </a:defRPr>
            </a:lvl1pPr>
            <a:lvl2pPr>
              <a:defRPr sz="1875" b="0">
                <a:solidFill>
                  <a:srgbClr val="111111"/>
                </a:solidFill>
                <a:latin typeface="Arial"/>
                <a:ea typeface="Arial"/>
                <a:cs typeface="Arial"/>
              </a:defRPr>
            </a:lvl2pPr>
            <a:lvl3pPr>
              <a:defRPr sz="1875" b="0">
                <a:solidFill>
                  <a:srgbClr val="111111"/>
                </a:solidFill>
                <a:latin typeface="Arial"/>
                <a:ea typeface="Arial"/>
                <a:cs typeface="Arial"/>
              </a:defRPr>
            </a:lvl3pPr>
            <a:lvl4pPr>
              <a:defRPr sz="1875" b="0">
                <a:solidFill>
                  <a:srgbClr val="111111"/>
                </a:solidFill>
                <a:latin typeface="Arial"/>
                <a:ea typeface="Arial"/>
                <a:cs typeface="Arial"/>
              </a:defRPr>
            </a:lvl4pPr>
            <a:lvl5pPr>
              <a:defRPr sz="1875" b="0">
                <a:solidFill>
                  <a:srgbClr val="111111"/>
                </a:solidFill>
                <a:latin typeface="Arial"/>
                <a:ea typeface="Arial"/>
                <a:cs typeface="Arial"/>
              </a:defRPr>
            </a:lvl5pPr>
            <a:lvl6pPr>
              <a:defRPr sz="1875" b="0">
                <a:solidFill>
                  <a:srgbClr val="111111"/>
                </a:solidFill>
                <a:latin typeface="Arial"/>
                <a:ea typeface="Arial"/>
                <a:cs typeface="Arial"/>
              </a:defRPr>
            </a:lvl6pPr>
            <a:lvl7pPr>
              <a:defRPr sz="1875" b="0">
                <a:solidFill>
                  <a:srgbClr val="111111"/>
                </a:solidFill>
                <a:latin typeface="Arial"/>
                <a:ea typeface="Arial"/>
                <a:cs typeface="Arial"/>
              </a:defRPr>
            </a:lvl7pPr>
            <a:lvl8pPr>
              <a:defRPr sz="1875" b="0">
                <a:solidFill>
                  <a:srgbClr val="111111"/>
                </a:solidFill>
                <a:latin typeface="Arial"/>
                <a:ea typeface="Arial"/>
                <a:cs typeface="Arial"/>
              </a:defRPr>
            </a:lvl8pPr>
            <a:lvl9pPr>
              <a:defRPr sz="1875" b="0">
                <a:solidFill>
                  <a:srgbClr val="111111"/>
                </a:solidFill>
                <a:latin typeface="Arial"/>
                <a:ea typeface="Arial"/>
                <a:cs typeface="Arial"/>
              </a:defRPr>
            </a:lvl9pPr>
          </a:lstStyle>
          <a:p>
            <a:pPr>
              <a:defRPr sz="1875" b="0">
                <a:solidFill>
                  <a:srgbClr val="111111"/>
                </a:solidFill>
                <a:latin typeface="Arial"/>
                <a:ea typeface="Arial"/>
                <a:cs typeface="Arial"/>
              </a:defRPr>
            </a:pPr>
            <a:r>
              <a:rPr sz="1875" b="0">
                <a:solidFill>
                  <a:srgbClr val="111111"/>
                </a:solidFill>
                <a:latin typeface="Arial"/>
                <a:ea typeface="Arial"/>
                <a:cs typeface="Arial"/>
              </a:rPr>
              <a:t>q_var reaches 1 after edge 1. Extra delta cycles cannot clock q again.</a:t>
            </a:r>
          </a:p>
        </p:txBody>
      </p:sp>
      <p:sp>
        <p:nvSpPr>
          <p:cNvPr id="20" name="矩形 19">
            <a:extLst>
              <a:ext uri="{FF2B5EF4-FFF2-40B4-BE49-F238E27FC236}">
                <a16:creationId xmlns:a16="http://schemas.microsoft.com/office/drawing/2014/main" id="{87FE9062-288D-41C1-B850-A777ACB9FD43}"/>
              </a:ext>
            </a:extLst>
          </p:cNvPr>
          <p:cNvSpPr>
            <a:spLocks noGrp="1"/>
          </p:cNvSpPr>
          <p:nvPr/>
        </p:nvSpPr>
        <p:spPr>
          <a:xfrm>
            <a:off x="2286000" y="6400800"/>
            <a:ext cx="8953500" cy="266700"/>
          </a:xfrm>
          <a:prstGeom prst="rect">
            <a:avLst/>
          </a:prstGeom>
          <a:noFill/>
          <a:ln w="0">
            <a:noFill/>
            <a:prstDash val="solid"/>
          </a:ln>
        </p:spPr>
        <p:txBody>
          <a:bodyPr lIns="0" tIns="0" rIns="0" bIns="0"/>
          <a:lstStyle>
            <a:defPPr>
              <a:defRPr sz="1500" b="0">
                <a:solidFill>
                  <a:srgbClr val="666666"/>
                </a:solidFill>
                <a:latin typeface="Arial"/>
                <a:ea typeface="Arial"/>
                <a:cs typeface="Arial"/>
              </a:defRPr>
            </a:defPPr>
            <a:lvl1pPr>
              <a:defRPr sz="1500" b="0">
                <a:solidFill>
                  <a:srgbClr val="666666"/>
                </a:solidFill>
                <a:latin typeface="Arial"/>
                <a:ea typeface="Arial"/>
                <a:cs typeface="Arial"/>
              </a:defRPr>
            </a:lvl1pPr>
            <a:lvl2pPr>
              <a:defRPr sz="1500" b="0">
                <a:solidFill>
                  <a:srgbClr val="666666"/>
                </a:solidFill>
                <a:latin typeface="Arial"/>
                <a:ea typeface="Arial"/>
                <a:cs typeface="Arial"/>
              </a:defRPr>
            </a:lvl2pPr>
            <a:lvl3pPr>
              <a:defRPr sz="1500" b="0">
                <a:solidFill>
                  <a:srgbClr val="666666"/>
                </a:solidFill>
                <a:latin typeface="Arial"/>
                <a:ea typeface="Arial"/>
                <a:cs typeface="Arial"/>
              </a:defRPr>
            </a:lvl3pPr>
            <a:lvl4pPr>
              <a:defRPr sz="1500" b="0">
                <a:solidFill>
                  <a:srgbClr val="666666"/>
                </a:solidFill>
                <a:latin typeface="Arial"/>
                <a:ea typeface="Arial"/>
                <a:cs typeface="Arial"/>
              </a:defRPr>
            </a:lvl4pPr>
            <a:lvl5pPr>
              <a:defRPr sz="1500" b="0">
                <a:solidFill>
                  <a:srgbClr val="666666"/>
                </a:solidFill>
                <a:latin typeface="Arial"/>
                <a:ea typeface="Arial"/>
                <a:cs typeface="Arial"/>
              </a:defRPr>
            </a:lvl5pPr>
            <a:lvl6pPr>
              <a:defRPr sz="1500" b="0">
                <a:solidFill>
                  <a:srgbClr val="666666"/>
                </a:solidFill>
                <a:latin typeface="Arial"/>
                <a:ea typeface="Arial"/>
                <a:cs typeface="Arial"/>
              </a:defRPr>
            </a:lvl6pPr>
            <a:lvl7pPr>
              <a:defRPr sz="1500" b="0">
                <a:solidFill>
                  <a:srgbClr val="666666"/>
                </a:solidFill>
                <a:latin typeface="Arial"/>
                <a:ea typeface="Arial"/>
                <a:cs typeface="Arial"/>
              </a:defRPr>
            </a:lvl7pPr>
            <a:lvl8pPr>
              <a:defRPr sz="1500" b="0">
                <a:solidFill>
                  <a:srgbClr val="666666"/>
                </a:solidFill>
                <a:latin typeface="Arial"/>
                <a:ea typeface="Arial"/>
                <a:cs typeface="Arial"/>
              </a:defRPr>
            </a:lvl8pPr>
            <a:lvl9pPr>
              <a:defRPr sz="1500" b="0">
                <a:solidFill>
                  <a:srgbClr val="666666"/>
                </a:solidFill>
                <a:latin typeface="Arial"/>
                <a:ea typeface="Arial"/>
                <a:cs typeface="Arial"/>
              </a:defRPr>
            </a:lvl9pPr>
          </a:lstStyle>
          <a:p>
            <a:pPr>
              <a:defRPr sz="1500" b="0">
                <a:solidFill>
                  <a:srgbClr val="666666"/>
                </a:solidFill>
                <a:latin typeface="Arial"/>
                <a:ea typeface="Arial"/>
                <a:cs typeface="Arial"/>
              </a:defRPr>
            </a:pPr>
            <a:r>
              <a:rPr sz="1500" b="0">
                <a:solidFill>
                  <a:srgbClr val="666666"/>
                </a:solidFill>
                <a:latin typeface="Arial"/>
                <a:ea typeface="Arial"/>
                <a:cs typeface="Arial"/>
              </a:rPr>
              <a:t>Signal updates just after the edges are expanded. No physical delay is specified.</a:t>
            </a:r>
          </a:p>
        </p:txBody>
      </p:sp>
    </p:spTree>
    <p:extLst>
      <p:ext uri="{BB962C8B-B14F-4D97-AF65-F5344CB8AC3E}">
        <p14:creationId xmlns:p14="http://schemas.microsoft.com/office/powerpoint/2010/main" val="1048702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2BB543F-0FF1-4781-AC49-F6C79F543748}"/>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a:solidFill>
                  <a:srgbClr val="000000"/>
                </a:solidFill>
                <a:latin typeface="Arial"/>
                <a:ea typeface="Arial"/>
                <a:cs typeface="Arial"/>
              </a:rPr>
              <a:t>Review</a:t>
            </a:r>
          </a:p>
        </p:txBody>
      </p:sp>
      <p:sp>
        <p:nvSpPr>
          <p:cNvPr id="2" name="矩形 1">
            <a:extLst>
              <a:ext uri="{FF2B5EF4-FFF2-40B4-BE49-F238E27FC236}">
                <a16:creationId xmlns:a16="http://schemas.microsoft.com/office/drawing/2014/main" id="{D66E1CBD-82FE-47A1-8535-7E2601215DEF}"/>
              </a:ext>
            </a:extLst>
          </p:cNvPr>
          <p:cNvSpPr>
            <a:spLocks noGrp="1"/>
          </p:cNvSpPr>
          <p:nvPr/>
        </p:nvSpPr>
        <p:spPr>
          <a:xfrm>
            <a:off x="666750" y="1428750"/>
            <a:ext cx="10858500" cy="4857750"/>
          </a:xfrm>
          <a:prstGeom prst="rect">
            <a:avLst/>
          </a:prstGeom>
          <a:noFill/>
          <a:ln w="0">
            <a:noFill/>
            <a:prstDash val="solid"/>
          </a:ln>
        </p:spPr>
        <p:txBody>
          <a:bodyPr lIns="0" tIns="0" rIns="0" bIns="0"/>
          <a:lstStyle>
            <a:defPPr>
              <a:defRPr sz="2400" b="0">
                <a:solidFill>
                  <a:srgbClr val="111111"/>
                </a:solidFill>
                <a:latin typeface="Arial"/>
                <a:ea typeface="Arial"/>
                <a:cs typeface="Arial"/>
              </a:defRPr>
            </a:defPPr>
            <a:lvl1pPr>
              <a:buNone/>
              <a:defRPr sz="2400" b="0">
                <a:solidFill>
                  <a:srgbClr val="111111"/>
                </a:solidFill>
                <a:latin typeface="Arial"/>
                <a:ea typeface="Arial"/>
                <a:cs typeface="Arial"/>
              </a:defRPr>
            </a:lvl1pPr>
            <a:lvl2pPr>
              <a:buNone/>
              <a:defRPr sz="2400" b="0">
                <a:solidFill>
                  <a:srgbClr val="111111"/>
                </a:solidFill>
                <a:latin typeface="Arial"/>
                <a:ea typeface="Arial"/>
                <a:cs typeface="Arial"/>
              </a:defRPr>
            </a:lvl2pPr>
            <a:lvl3pPr>
              <a:buNone/>
              <a:defRPr sz="2400" b="0">
                <a:solidFill>
                  <a:srgbClr val="111111"/>
                </a:solidFill>
                <a:latin typeface="Arial"/>
                <a:ea typeface="Arial"/>
                <a:cs typeface="Arial"/>
              </a:defRPr>
            </a:lvl3pPr>
            <a:lvl4pPr>
              <a:buNone/>
              <a:defRPr sz="2400" b="0">
                <a:solidFill>
                  <a:srgbClr val="111111"/>
                </a:solidFill>
                <a:latin typeface="Arial"/>
                <a:ea typeface="Arial"/>
                <a:cs typeface="Arial"/>
              </a:defRPr>
            </a:lvl4pPr>
            <a:lvl5pPr>
              <a:buNone/>
              <a:defRPr sz="2400" b="0">
                <a:solidFill>
                  <a:srgbClr val="111111"/>
                </a:solidFill>
                <a:latin typeface="Arial"/>
                <a:ea typeface="Arial"/>
                <a:cs typeface="Arial"/>
              </a:defRPr>
            </a:lvl5pPr>
            <a:lvl6pPr>
              <a:buNone/>
              <a:defRPr sz="2400" b="0">
                <a:solidFill>
                  <a:srgbClr val="111111"/>
                </a:solidFill>
                <a:latin typeface="Arial"/>
                <a:ea typeface="Arial"/>
                <a:cs typeface="Arial"/>
              </a:defRPr>
            </a:lvl6pPr>
            <a:lvl7pPr>
              <a:buNone/>
              <a:defRPr sz="2400" b="0">
                <a:solidFill>
                  <a:srgbClr val="111111"/>
                </a:solidFill>
                <a:latin typeface="Arial"/>
                <a:ea typeface="Arial"/>
                <a:cs typeface="Arial"/>
              </a:defRPr>
            </a:lvl7pPr>
            <a:lvl8pPr>
              <a:buNone/>
              <a:defRPr sz="2400" b="0">
                <a:solidFill>
                  <a:srgbClr val="111111"/>
                </a:solidFill>
                <a:latin typeface="Arial"/>
                <a:ea typeface="Arial"/>
                <a:cs typeface="Arial"/>
              </a:defRPr>
            </a:lvl8pPr>
            <a:lvl9pPr>
              <a:buNone/>
              <a:defRPr sz="2400" b="0">
                <a:solidFill>
                  <a:srgbClr val="111111"/>
                </a:solidFill>
                <a:latin typeface="Arial"/>
                <a:ea typeface="Arial"/>
                <a:cs typeface="Arial"/>
              </a:defRPr>
            </a:lvl9pPr>
          </a:lstStyle>
          <a:p>
            <a:pPr>
              <a:buNone/>
              <a:defRPr sz="2400" b="0">
                <a:solidFill>
                  <a:srgbClr val="111111"/>
                </a:solidFill>
                <a:latin typeface="Arial"/>
                <a:ea typeface="Arial"/>
                <a:cs typeface="Arial"/>
              </a:defRPr>
            </a:pPr>
            <a:r>
              <a:rPr sz="2400" b="0">
                <a:solidFill>
                  <a:srgbClr val="111111"/>
                </a:solidFill>
                <a:latin typeface="Arial"/>
                <a:ea typeface="Arial"/>
                <a:cs typeface="Arial"/>
              </a:rPr>
              <a:t>1. When does := change a variable?</a:t>
            </a:r>
          </a:p>
          <a:p>
            <a:endParaRPr sz="2400" b="0">
              <a:solidFill>
                <a:srgbClr val="111111"/>
              </a:solidFill>
              <a:latin typeface="Arial"/>
              <a:ea typeface="Arial"/>
              <a:cs typeface="Arial"/>
            </a:endParaRPr>
          </a:p>
          <a:p>
            <a:pPr>
              <a:buNone/>
              <a:defRPr sz="2400" b="0">
                <a:solidFill>
                  <a:srgbClr val="111111"/>
                </a:solidFill>
                <a:latin typeface="Arial"/>
                <a:ea typeface="Arial"/>
                <a:cs typeface="Arial"/>
              </a:defRPr>
            </a:pPr>
            <a:r>
              <a:rPr sz="2400" b="0">
                <a:solidFill>
                  <a:srgbClr val="111111"/>
                </a:solidFill>
                <a:latin typeface="Arial"/>
                <a:ea typeface="Arial"/>
                <a:cs typeface="Arial"/>
              </a:rPr>
              <a:t>2. When does a zero-delay &lt;= assignment update a signal?</a:t>
            </a:r>
          </a:p>
          <a:p>
            <a:endParaRPr sz="2400" b="0">
              <a:solidFill>
                <a:srgbClr val="111111"/>
              </a:solidFill>
              <a:latin typeface="Arial"/>
              <a:ea typeface="Arial"/>
              <a:cs typeface="Arial"/>
            </a:endParaRPr>
          </a:p>
          <a:p>
            <a:pPr>
              <a:buNone/>
              <a:defRPr sz="2400" b="0">
                <a:solidFill>
                  <a:srgbClr val="111111"/>
                </a:solidFill>
                <a:latin typeface="Arial"/>
                <a:ea typeface="Arial"/>
                <a:cs typeface="Arial"/>
              </a:defRPr>
            </a:pPr>
            <a:r>
              <a:rPr sz="2400" b="0">
                <a:solidFill>
                  <a:srgbClr val="111111"/>
                </a:solidFill>
                <a:latin typeface="Arial"/>
                <a:ea typeface="Arial"/>
                <a:cs typeface="Arial"/>
              </a:rPr>
              <a:t>3. Why can a combinational chain need several delta cycles?</a:t>
            </a:r>
          </a:p>
          <a:p>
            <a:endParaRPr sz="2400" b="0">
              <a:solidFill>
                <a:srgbClr val="111111"/>
              </a:solidFill>
              <a:latin typeface="Arial"/>
              <a:ea typeface="Arial"/>
              <a:cs typeface="Arial"/>
            </a:endParaRPr>
          </a:p>
          <a:p>
            <a:pPr>
              <a:buNone/>
              <a:defRPr sz="2400" b="0">
                <a:solidFill>
                  <a:srgbClr val="111111"/>
                </a:solidFill>
                <a:latin typeface="Arial"/>
                <a:ea typeface="Arial"/>
                <a:cs typeface="Arial"/>
              </a:defRPr>
            </a:pPr>
            <a:r>
              <a:rPr sz="2400" b="0">
                <a:solidFill>
                  <a:srgbClr val="111111"/>
                </a:solidFill>
                <a:latin typeface="Arial"/>
                <a:ea typeface="Arial"/>
                <a:cs typeface="Arial"/>
              </a:rPr>
              <a:t>4. Why does q &lt;= s in a clocked process still need another edge?</a:t>
            </a:r>
          </a:p>
        </p:txBody>
      </p:sp>
      <p:sp>
        <p:nvSpPr>
          <p:cNvPr id="3" name="矩形 2">
            <a:extLst>
              <a:ext uri="{FF2B5EF4-FFF2-40B4-BE49-F238E27FC236}">
                <a16:creationId xmlns:a16="http://schemas.microsoft.com/office/drawing/2014/main" id="{059A0727-AA95-4760-A3C1-FEC6A7A0C4E7}"/>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26</a:t>
            </a:r>
          </a:p>
        </p:txBody>
      </p:sp>
    </p:spTree>
    <p:extLst>
      <p:ext uri="{BB962C8B-B14F-4D97-AF65-F5344CB8AC3E}">
        <p14:creationId xmlns:p14="http://schemas.microsoft.com/office/powerpoint/2010/main" val="1914965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921A4F2-1A9E-417B-84AF-B11092BA72FE}"/>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dirty="0">
                <a:solidFill>
                  <a:srgbClr val="000000"/>
                </a:solidFill>
                <a:latin typeface="Arial"/>
                <a:ea typeface="Arial"/>
                <a:cs typeface="Arial"/>
              </a:rPr>
              <a:t>Optional Q1</a:t>
            </a:r>
            <a:r>
              <a:rPr lang="en-US" altLang="zh-CN" sz="2550" b="1" dirty="0">
                <a:solidFill>
                  <a:srgbClr val="000000"/>
                </a:solidFill>
                <a:latin typeface="Arial"/>
                <a:ea typeface="Arial"/>
                <a:cs typeface="Arial"/>
              </a:rPr>
              <a:t>2</a:t>
            </a:r>
            <a:r>
              <a:rPr sz="2550" b="1" dirty="0">
                <a:solidFill>
                  <a:srgbClr val="000000"/>
                </a:solidFill>
                <a:latin typeface="Arial"/>
                <a:ea typeface="Arial"/>
                <a:cs typeface="Arial"/>
              </a:rPr>
              <a:t>  Width conversion</a:t>
            </a:r>
          </a:p>
        </p:txBody>
      </p:sp>
      <p:sp>
        <p:nvSpPr>
          <p:cNvPr id="2" name="矩形 1">
            <a:extLst>
              <a:ext uri="{FF2B5EF4-FFF2-40B4-BE49-F238E27FC236}">
                <a16:creationId xmlns:a16="http://schemas.microsoft.com/office/drawing/2014/main" id="{D8E0D0B3-1C8E-464F-949A-44FA3D77A271}"/>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Backup exercise.</a:t>
            </a:r>
          </a:p>
        </p:txBody>
      </p:sp>
      <p:sp>
        <p:nvSpPr>
          <p:cNvPr id="3" name="矩形 2">
            <a:extLst>
              <a:ext uri="{FF2B5EF4-FFF2-40B4-BE49-F238E27FC236}">
                <a16:creationId xmlns:a16="http://schemas.microsoft.com/office/drawing/2014/main" id="{3E3E163F-CF25-4B3A-AEDB-90B68A2FC8EA}"/>
              </a:ext>
            </a:extLst>
          </p:cNvPr>
          <p:cNvSpPr>
            <a:spLocks noGrp="1"/>
          </p:cNvSpPr>
          <p:nvPr/>
        </p:nvSpPr>
        <p:spPr>
          <a:xfrm>
            <a:off x="666750" y="1476375"/>
            <a:ext cx="10858500" cy="2476500"/>
          </a:xfrm>
          <a:prstGeom prst="rect">
            <a:avLst/>
          </a:prstGeom>
          <a:noFill/>
          <a:ln w="0">
            <a:noFill/>
            <a:prstDash val="solid"/>
          </a:ln>
        </p:spPr>
        <p:txBody>
          <a:bodyPr lIns="0" tIns="0" rIns="0" bIns="0"/>
          <a:lstStyle>
            <a:defPPr>
              <a:defRPr sz="2325" b="0">
                <a:solidFill>
                  <a:srgbClr val="111111"/>
                </a:solidFill>
                <a:latin typeface="DejaVu Sans Mono"/>
                <a:ea typeface="DejaVu Sans Mono"/>
                <a:cs typeface="DejaVu Sans Mono"/>
              </a:defRPr>
            </a:defPPr>
            <a:lvl1pPr>
              <a:buNone/>
              <a:defRPr sz="2325" b="0">
                <a:solidFill>
                  <a:srgbClr val="111111"/>
                </a:solidFill>
                <a:latin typeface="DejaVu Sans Mono"/>
                <a:ea typeface="DejaVu Sans Mono"/>
                <a:cs typeface="DejaVu Sans Mono"/>
              </a:defRPr>
            </a:lvl1pPr>
            <a:lvl2pPr>
              <a:buNone/>
              <a:defRPr sz="2325" b="0">
                <a:solidFill>
                  <a:srgbClr val="111111"/>
                </a:solidFill>
                <a:latin typeface="DejaVu Sans Mono"/>
                <a:ea typeface="DejaVu Sans Mono"/>
                <a:cs typeface="DejaVu Sans Mono"/>
              </a:defRPr>
            </a:lvl2pPr>
            <a:lvl3pPr>
              <a:buNone/>
              <a:defRPr sz="2325" b="0">
                <a:solidFill>
                  <a:srgbClr val="111111"/>
                </a:solidFill>
                <a:latin typeface="DejaVu Sans Mono"/>
                <a:ea typeface="DejaVu Sans Mono"/>
                <a:cs typeface="DejaVu Sans Mono"/>
              </a:defRPr>
            </a:lvl3pPr>
            <a:lvl4pPr>
              <a:buNone/>
              <a:defRPr sz="2325" b="0">
                <a:solidFill>
                  <a:srgbClr val="111111"/>
                </a:solidFill>
                <a:latin typeface="DejaVu Sans Mono"/>
                <a:ea typeface="DejaVu Sans Mono"/>
                <a:cs typeface="DejaVu Sans Mono"/>
              </a:defRPr>
            </a:lvl4pPr>
            <a:lvl5pPr>
              <a:buNone/>
              <a:defRPr sz="2325" b="0">
                <a:solidFill>
                  <a:srgbClr val="111111"/>
                </a:solidFill>
                <a:latin typeface="DejaVu Sans Mono"/>
                <a:ea typeface="DejaVu Sans Mono"/>
                <a:cs typeface="DejaVu Sans Mono"/>
              </a:defRPr>
            </a:lvl5pPr>
            <a:lvl6pPr>
              <a:buNone/>
              <a:defRPr sz="2325" b="0">
                <a:solidFill>
                  <a:srgbClr val="111111"/>
                </a:solidFill>
                <a:latin typeface="DejaVu Sans Mono"/>
                <a:ea typeface="DejaVu Sans Mono"/>
                <a:cs typeface="DejaVu Sans Mono"/>
              </a:defRPr>
            </a:lvl6pPr>
            <a:lvl7pPr>
              <a:buNone/>
              <a:defRPr sz="2325" b="0">
                <a:solidFill>
                  <a:srgbClr val="111111"/>
                </a:solidFill>
                <a:latin typeface="DejaVu Sans Mono"/>
                <a:ea typeface="DejaVu Sans Mono"/>
                <a:cs typeface="DejaVu Sans Mono"/>
              </a:defRPr>
            </a:lvl7pPr>
            <a:lvl8pPr>
              <a:buNone/>
              <a:defRPr sz="2325" b="0">
                <a:solidFill>
                  <a:srgbClr val="111111"/>
                </a:solidFill>
                <a:latin typeface="DejaVu Sans Mono"/>
                <a:ea typeface="DejaVu Sans Mono"/>
                <a:cs typeface="DejaVu Sans Mono"/>
              </a:defRPr>
            </a:lvl8pPr>
            <a:lvl9pPr>
              <a:buNone/>
              <a:defRPr sz="2325" b="0">
                <a:solidFill>
                  <a:srgbClr val="111111"/>
                </a:solidFill>
                <a:latin typeface="DejaVu Sans Mono"/>
                <a:ea typeface="DejaVu Sans Mono"/>
                <a:cs typeface="DejaVu Sans Mono"/>
              </a:defRPr>
            </a:lvl9pPr>
          </a:lstStyle>
          <a:p>
            <a:pPr>
              <a:buNone/>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use IEEE.NUMERIC_STD.ALL;</a:t>
            </a:r>
          </a:p>
          <a:p>
            <a:pPr>
              <a:buNone/>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a:t>
            </a:r>
          </a:p>
          <a:p>
            <a:pPr>
              <a:buNone/>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signal a : unsigned(3 downto 0);</a:t>
            </a:r>
          </a:p>
          <a:p>
            <a:pPr>
              <a:buNone/>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signal y : unsigned(4 downto 0);</a:t>
            </a:r>
          </a:p>
          <a:p>
            <a:pPr>
              <a:buNone/>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a:t>
            </a:r>
          </a:p>
          <a:p>
            <a:pPr>
              <a:buNone/>
              <a:defRPr sz="2325" b="0">
                <a:solidFill>
                  <a:srgbClr val="111111"/>
                </a:solidFill>
                <a:latin typeface="DejaVu Sans Mono"/>
                <a:ea typeface="DejaVu Sans Mono"/>
                <a:cs typeface="DejaVu Sans Mono"/>
              </a:defRPr>
            </a:pPr>
            <a:r>
              <a:rPr sz="2325" b="0">
                <a:solidFill>
                  <a:srgbClr val="111111"/>
                </a:solidFill>
                <a:latin typeface="DejaVu Sans Mono"/>
                <a:ea typeface="DejaVu Sans Mono"/>
                <a:cs typeface="DejaVu Sans Mono"/>
              </a:rPr>
              <a:t>y &lt;= a;</a:t>
            </a:r>
          </a:p>
        </p:txBody>
      </p:sp>
      <p:sp>
        <p:nvSpPr>
          <p:cNvPr id="4" name="矩形 3">
            <a:extLst>
              <a:ext uri="{FF2B5EF4-FFF2-40B4-BE49-F238E27FC236}">
                <a16:creationId xmlns:a16="http://schemas.microsoft.com/office/drawing/2014/main" id="{10F2365E-6C3A-4B44-A9E4-27C6A67F8CB8}"/>
              </a:ext>
            </a:extLst>
          </p:cNvPr>
          <p:cNvSpPr>
            <a:spLocks noGrp="1"/>
          </p:cNvSpPr>
          <p:nvPr/>
        </p:nvSpPr>
        <p:spPr>
          <a:xfrm>
            <a:off x="666750" y="4381500"/>
            <a:ext cx="10858500" cy="4857750"/>
          </a:xfrm>
          <a:prstGeom prst="rect">
            <a:avLst/>
          </a:prstGeom>
          <a:noFill/>
          <a:ln w="0">
            <a:noFill/>
            <a:prstDash val="solid"/>
          </a:ln>
        </p:spPr>
        <p:txBody>
          <a:bodyPr lIns="0" tIns="0" rIns="0" bIns="0"/>
          <a:lstStyle>
            <a:defPPr>
              <a:defRPr sz="2250" b="0">
                <a:solidFill>
                  <a:srgbClr val="111111"/>
                </a:solidFill>
                <a:latin typeface="Arial"/>
                <a:ea typeface="Arial"/>
                <a:cs typeface="Arial"/>
              </a:defRPr>
            </a:defPPr>
            <a:lvl1pPr>
              <a:buNone/>
              <a:defRPr sz="2250" b="0">
                <a:solidFill>
                  <a:srgbClr val="111111"/>
                </a:solidFill>
                <a:latin typeface="Arial"/>
                <a:ea typeface="Arial"/>
                <a:cs typeface="Arial"/>
              </a:defRPr>
            </a:lvl1pPr>
            <a:lvl2pPr>
              <a:buNone/>
              <a:defRPr sz="2250" b="0">
                <a:solidFill>
                  <a:srgbClr val="111111"/>
                </a:solidFill>
                <a:latin typeface="Arial"/>
                <a:ea typeface="Arial"/>
                <a:cs typeface="Arial"/>
              </a:defRPr>
            </a:lvl2pPr>
            <a:lvl3pPr>
              <a:buNone/>
              <a:defRPr sz="2250" b="0">
                <a:solidFill>
                  <a:srgbClr val="111111"/>
                </a:solidFill>
                <a:latin typeface="Arial"/>
                <a:ea typeface="Arial"/>
                <a:cs typeface="Arial"/>
              </a:defRPr>
            </a:lvl3pPr>
            <a:lvl4pPr>
              <a:buNone/>
              <a:defRPr sz="2250" b="0">
                <a:solidFill>
                  <a:srgbClr val="111111"/>
                </a:solidFill>
                <a:latin typeface="Arial"/>
                <a:ea typeface="Arial"/>
                <a:cs typeface="Arial"/>
              </a:defRPr>
            </a:lvl4pPr>
            <a:lvl5pPr>
              <a:buNone/>
              <a:defRPr sz="2250" b="0">
                <a:solidFill>
                  <a:srgbClr val="111111"/>
                </a:solidFill>
                <a:latin typeface="Arial"/>
                <a:ea typeface="Arial"/>
                <a:cs typeface="Arial"/>
              </a:defRPr>
            </a:lvl5pPr>
            <a:lvl6pPr>
              <a:buNone/>
              <a:defRPr sz="2250" b="0">
                <a:solidFill>
                  <a:srgbClr val="111111"/>
                </a:solidFill>
                <a:latin typeface="Arial"/>
                <a:ea typeface="Arial"/>
                <a:cs typeface="Arial"/>
              </a:defRPr>
            </a:lvl6pPr>
            <a:lvl7pPr>
              <a:buNone/>
              <a:defRPr sz="2250" b="0">
                <a:solidFill>
                  <a:srgbClr val="111111"/>
                </a:solidFill>
                <a:latin typeface="Arial"/>
                <a:ea typeface="Arial"/>
                <a:cs typeface="Arial"/>
              </a:defRPr>
            </a:lvl7pPr>
            <a:lvl8pPr>
              <a:buNone/>
              <a:defRPr sz="2250" b="0">
                <a:solidFill>
                  <a:srgbClr val="111111"/>
                </a:solidFill>
                <a:latin typeface="Arial"/>
                <a:ea typeface="Arial"/>
                <a:cs typeface="Arial"/>
              </a:defRPr>
            </a:lvl8pPr>
            <a:lvl9pPr>
              <a:buNone/>
              <a:defRPr sz="2250" b="0">
                <a:solidFill>
                  <a:srgbClr val="111111"/>
                </a:solidFill>
                <a:latin typeface="Arial"/>
                <a:ea typeface="Arial"/>
                <a:cs typeface="Arial"/>
              </a:defRPr>
            </a:lvl9pPr>
          </a:lstStyle>
          <a:p>
            <a:pPr>
              <a:buNone/>
              <a:defRPr sz="2250" b="0">
                <a:solidFill>
                  <a:srgbClr val="111111"/>
                </a:solidFill>
                <a:latin typeface="Arial"/>
                <a:ea typeface="Arial"/>
                <a:cs typeface="Arial"/>
              </a:defRPr>
            </a:pPr>
            <a:r>
              <a:rPr sz="2250" b="0">
                <a:solidFill>
                  <a:srgbClr val="111111"/>
                </a:solidFill>
                <a:latin typeface="Arial"/>
                <a:ea typeface="Arial"/>
                <a:cs typeface="Arial"/>
              </a:rPr>
              <a:t>Is y &lt;= a a valid width conversion?</a:t>
            </a:r>
          </a:p>
          <a:p>
            <a:pPr>
              <a:buNone/>
              <a:defRPr sz="2250" b="0">
                <a:solidFill>
                  <a:srgbClr val="111111"/>
                </a:solidFill>
                <a:latin typeface="Arial"/>
                <a:ea typeface="Arial"/>
                <a:cs typeface="Arial"/>
              </a:defRPr>
            </a:pPr>
            <a:r>
              <a:rPr sz="2250" b="0">
                <a:solidFill>
                  <a:srgbClr val="111111"/>
                </a:solidFill>
                <a:latin typeface="Arial"/>
                <a:ea typeface="Arial"/>
                <a:cs typeface="Arial"/>
              </a:rPr>
              <a:t>Rewrite it to zero-extend a.</a:t>
            </a:r>
          </a:p>
          <a:p>
            <a:pPr>
              <a:buNone/>
              <a:defRPr sz="2250" b="0">
                <a:solidFill>
                  <a:srgbClr val="111111"/>
                </a:solidFill>
                <a:latin typeface="Arial"/>
                <a:ea typeface="Arial"/>
                <a:cs typeface="Arial"/>
              </a:defRPr>
            </a:pPr>
            <a:r>
              <a:rPr sz="2250" b="0">
                <a:solidFill>
                  <a:srgbClr val="111111"/>
                </a:solidFill>
                <a:latin typeface="Arial"/>
                <a:ea typeface="Arial"/>
                <a:cs typeface="Arial"/>
              </a:rPr>
              <a:t>For a = "1011", give y.</a:t>
            </a:r>
          </a:p>
        </p:txBody>
      </p:sp>
      <p:sp>
        <p:nvSpPr>
          <p:cNvPr id="5" name="矩形 4">
            <a:extLst>
              <a:ext uri="{FF2B5EF4-FFF2-40B4-BE49-F238E27FC236}">
                <a16:creationId xmlns:a16="http://schemas.microsoft.com/office/drawing/2014/main" id="{6F3D6CF2-E25F-4474-973A-BFA4DB957618}"/>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27</a:t>
            </a:r>
          </a:p>
        </p:txBody>
      </p:sp>
    </p:spTree>
    <p:extLst>
      <p:ext uri="{BB962C8B-B14F-4D97-AF65-F5344CB8AC3E}">
        <p14:creationId xmlns:p14="http://schemas.microsoft.com/office/powerpoint/2010/main" val="475575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BA25A0CA-A1E8-4979-A3A6-515E828617BF}"/>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dirty="0">
                <a:solidFill>
                  <a:srgbClr val="000000"/>
                </a:solidFill>
                <a:latin typeface="Arial"/>
                <a:ea typeface="Arial"/>
                <a:cs typeface="Arial"/>
              </a:rPr>
              <a:t>Optional Q1</a:t>
            </a:r>
            <a:r>
              <a:rPr lang="en-US" altLang="zh-CN" sz="2700" b="1" dirty="0">
                <a:solidFill>
                  <a:srgbClr val="000000"/>
                </a:solidFill>
                <a:latin typeface="Arial"/>
                <a:ea typeface="Arial"/>
                <a:cs typeface="Arial"/>
              </a:rPr>
              <a:t>2</a:t>
            </a:r>
            <a:r>
              <a:rPr sz="2700" b="1" dirty="0">
                <a:solidFill>
                  <a:srgbClr val="000000"/>
                </a:solidFill>
                <a:latin typeface="Arial"/>
                <a:ea typeface="Arial"/>
                <a:cs typeface="Arial"/>
              </a:rPr>
              <a:t>  Answer</a:t>
            </a:r>
          </a:p>
        </p:txBody>
      </p:sp>
      <p:sp>
        <p:nvSpPr>
          <p:cNvPr id="2" name="矩形 1">
            <a:extLst>
              <a:ext uri="{FF2B5EF4-FFF2-40B4-BE49-F238E27FC236}">
                <a16:creationId xmlns:a16="http://schemas.microsoft.com/office/drawing/2014/main" id="{A12B6F2E-AB72-4B93-B320-F77244700609}"/>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Extend the vector explicitly</a:t>
            </a:r>
          </a:p>
        </p:txBody>
      </p:sp>
      <p:sp>
        <p:nvSpPr>
          <p:cNvPr id="3" name="矩形 2">
            <a:extLst>
              <a:ext uri="{FF2B5EF4-FFF2-40B4-BE49-F238E27FC236}">
                <a16:creationId xmlns:a16="http://schemas.microsoft.com/office/drawing/2014/main" id="{2CC4F554-A106-4E54-BCA7-2242F1449452}"/>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28</a:t>
            </a:r>
          </a:p>
        </p:txBody>
      </p:sp>
      <p:sp>
        <p:nvSpPr>
          <p:cNvPr id="4" name="矩形 3">
            <a:extLst>
              <a:ext uri="{FF2B5EF4-FFF2-40B4-BE49-F238E27FC236}">
                <a16:creationId xmlns:a16="http://schemas.microsoft.com/office/drawing/2014/main" id="{88083FA4-ACAE-4CAC-BB25-1311808D1CF7}"/>
              </a:ext>
            </a:extLst>
          </p:cNvPr>
          <p:cNvSpPr>
            <a:spLocks noGrp="1"/>
          </p:cNvSpPr>
          <p:nvPr/>
        </p:nvSpPr>
        <p:spPr>
          <a:xfrm>
            <a:off x="666750" y="1857375"/>
            <a:ext cx="10858500" cy="952500"/>
          </a:xfrm>
          <a:prstGeom prst="rect">
            <a:avLst/>
          </a:prstGeom>
          <a:noFill/>
          <a:ln w="0">
            <a:noFill/>
            <a:prstDash val="solid"/>
          </a:ln>
        </p:spPr>
        <p:txBody>
          <a:bodyPr lIns="0" tIns="0" rIns="0" bIns="0"/>
          <a:lstStyle>
            <a:defPPr>
              <a:defRPr sz="2775" b="0">
                <a:solidFill>
                  <a:srgbClr val="111111"/>
                </a:solidFill>
                <a:latin typeface="DejaVu Sans Mono"/>
                <a:ea typeface="DejaVu Sans Mono"/>
                <a:cs typeface="DejaVu Sans Mono"/>
              </a:defRPr>
            </a:defPPr>
            <a:lvl1pPr>
              <a:defRPr sz="2775" b="0">
                <a:solidFill>
                  <a:srgbClr val="111111"/>
                </a:solidFill>
                <a:latin typeface="DejaVu Sans Mono"/>
                <a:ea typeface="DejaVu Sans Mono"/>
                <a:cs typeface="DejaVu Sans Mono"/>
              </a:defRPr>
            </a:lvl1pPr>
            <a:lvl2pPr>
              <a:defRPr sz="2775" b="0">
                <a:solidFill>
                  <a:srgbClr val="111111"/>
                </a:solidFill>
                <a:latin typeface="DejaVu Sans Mono"/>
                <a:ea typeface="DejaVu Sans Mono"/>
                <a:cs typeface="DejaVu Sans Mono"/>
              </a:defRPr>
            </a:lvl2pPr>
            <a:lvl3pPr>
              <a:defRPr sz="2775" b="0">
                <a:solidFill>
                  <a:srgbClr val="111111"/>
                </a:solidFill>
                <a:latin typeface="DejaVu Sans Mono"/>
                <a:ea typeface="DejaVu Sans Mono"/>
                <a:cs typeface="DejaVu Sans Mono"/>
              </a:defRPr>
            </a:lvl3pPr>
            <a:lvl4pPr>
              <a:defRPr sz="2775" b="0">
                <a:solidFill>
                  <a:srgbClr val="111111"/>
                </a:solidFill>
                <a:latin typeface="DejaVu Sans Mono"/>
                <a:ea typeface="DejaVu Sans Mono"/>
                <a:cs typeface="DejaVu Sans Mono"/>
              </a:defRPr>
            </a:lvl4pPr>
            <a:lvl5pPr>
              <a:defRPr sz="2775" b="0">
                <a:solidFill>
                  <a:srgbClr val="111111"/>
                </a:solidFill>
                <a:latin typeface="DejaVu Sans Mono"/>
                <a:ea typeface="DejaVu Sans Mono"/>
                <a:cs typeface="DejaVu Sans Mono"/>
              </a:defRPr>
            </a:lvl5pPr>
            <a:lvl6pPr>
              <a:defRPr sz="2775" b="0">
                <a:solidFill>
                  <a:srgbClr val="111111"/>
                </a:solidFill>
                <a:latin typeface="DejaVu Sans Mono"/>
                <a:ea typeface="DejaVu Sans Mono"/>
                <a:cs typeface="DejaVu Sans Mono"/>
              </a:defRPr>
            </a:lvl6pPr>
            <a:lvl7pPr>
              <a:defRPr sz="2775" b="0">
                <a:solidFill>
                  <a:srgbClr val="111111"/>
                </a:solidFill>
                <a:latin typeface="DejaVu Sans Mono"/>
                <a:ea typeface="DejaVu Sans Mono"/>
                <a:cs typeface="DejaVu Sans Mono"/>
              </a:defRPr>
            </a:lvl7pPr>
            <a:lvl8pPr>
              <a:defRPr sz="2775" b="0">
                <a:solidFill>
                  <a:srgbClr val="111111"/>
                </a:solidFill>
                <a:latin typeface="DejaVu Sans Mono"/>
                <a:ea typeface="DejaVu Sans Mono"/>
                <a:cs typeface="DejaVu Sans Mono"/>
              </a:defRPr>
            </a:lvl8pPr>
            <a:lvl9pPr>
              <a:defRPr sz="2775" b="0">
                <a:solidFill>
                  <a:srgbClr val="111111"/>
                </a:solidFill>
                <a:latin typeface="DejaVu Sans Mono"/>
                <a:ea typeface="DejaVu Sans Mono"/>
                <a:cs typeface="DejaVu Sans Mono"/>
              </a:defRPr>
            </a:lvl9pPr>
          </a:lstStyle>
          <a:p>
            <a:pPr>
              <a:defRPr sz="2775" b="0">
                <a:solidFill>
                  <a:srgbClr val="111111"/>
                </a:solidFill>
                <a:latin typeface="DejaVu Sans Mono"/>
                <a:ea typeface="DejaVu Sans Mono"/>
                <a:cs typeface="DejaVu Sans Mono"/>
              </a:defRPr>
            </a:pPr>
            <a:r>
              <a:rPr sz="2775" b="0">
                <a:solidFill>
                  <a:srgbClr val="111111"/>
                </a:solidFill>
                <a:latin typeface="DejaVu Sans Mono"/>
                <a:ea typeface="DejaVu Sans Mono"/>
                <a:cs typeface="DejaVu Sans Mono"/>
              </a:rPr>
              <a:t>y &lt;= resize(a, y'length);</a:t>
            </a:r>
          </a:p>
        </p:txBody>
      </p:sp>
      <p:sp>
        <p:nvSpPr>
          <p:cNvPr id="5" name="矩形 4">
            <a:extLst>
              <a:ext uri="{FF2B5EF4-FFF2-40B4-BE49-F238E27FC236}">
                <a16:creationId xmlns:a16="http://schemas.microsoft.com/office/drawing/2014/main" id="{35EA29DC-BD44-4F2D-841A-CD67D69394BE}"/>
              </a:ext>
            </a:extLst>
          </p:cNvPr>
          <p:cNvSpPr>
            <a:spLocks noGrp="1"/>
          </p:cNvSpPr>
          <p:nvPr/>
        </p:nvSpPr>
        <p:spPr>
          <a:xfrm>
            <a:off x="666750" y="3524250"/>
            <a:ext cx="10858500" cy="1238250"/>
          </a:xfrm>
          <a:prstGeom prst="rect">
            <a:avLst/>
          </a:prstGeom>
          <a:noFill/>
          <a:ln w="0">
            <a:noFill/>
            <a:prstDash val="solid"/>
          </a:ln>
        </p:spPr>
        <p:txBody>
          <a:bodyPr lIns="0" tIns="0" rIns="0" bIns="0"/>
          <a:lstStyle>
            <a:defPPr>
              <a:defRPr sz="2625" b="0">
                <a:solidFill>
                  <a:srgbClr val="111111"/>
                </a:solidFill>
                <a:latin typeface="DejaVu Sans Mono"/>
                <a:ea typeface="DejaVu Sans Mono"/>
                <a:cs typeface="DejaVu Sans Mono"/>
              </a:defRPr>
            </a:defPPr>
            <a:lvl1pPr>
              <a:defRPr sz="2625" b="0">
                <a:solidFill>
                  <a:srgbClr val="111111"/>
                </a:solidFill>
                <a:latin typeface="DejaVu Sans Mono"/>
                <a:ea typeface="DejaVu Sans Mono"/>
                <a:cs typeface="DejaVu Sans Mono"/>
              </a:defRPr>
            </a:lvl1pPr>
            <a:lvl2pPr>
              <a:defRPr sz="2625" b="0">
                <a:solidFill>
                  <a:srgbClr val="111111"/>
                </a:solidFill>
                <a:latin typeface="DejaVu Sans Mono"/>
                <a:ea typeface="DejaVu Sans Mono"/>
                <a:cs typeface="DejaVu Sans Mono"/>
              </a:defRPr>
            </a:lvl2pPr>
            <a:lvl3pPr>
              <a:defRPr sz="2625" b="0">
                <a:solidFill>
                  <a:srgbClr val="111111"/>
                </a:solidFill>
                <a:latin typeface="DejaVu Sans Mono"/>
                <a:ea typeface="DejaVu Sans Mono"/>
                <a:cs typeface="DejaVu Sans Mono"/>
              </a:defRPr>
            </a:lvl3pPr>
            <a:lvl4pPr>
              <a:defRPr sz="2625" b="0">
                <a:solidFill>
                  <a:srgbClr val="111111"/>
                </a:solidFill>
                <a:latin typeface="DejaVu Sans Mono"/>
                <a:ea typeface="DejaVu Sans Mono"/>
                <a:cs typeface="DejaVu Sans Mono"/>
              </a:defRPr>
            </a:lvl4pPr>
            <a:lvl5pPr>
              <a:defRPr sz="2625" b="0">
                <a:solidFill>
                  <a:srgbClr val="111111"/>
                </a:solidFill>
                <a:latin typeface="DejaVu Sans Mono"/>
                <a:ea typeface="DejaVu Sans Mono"/>
                <a:cs typeface="DejaVu Sans Mono"/>
              </a:defRPr>
            </a:lvl5pPr>
            <a:lvl6pPr>
              <a:defRPr sz="2625" b="0">
                <a:solidFill>
                  <a:srgbClr val="111111"/>
                </a:solidFill>
                <a:latin typeface="DejaVu Sans Mono"/>
                <a:ea typeface="DejaVu Sans Mono"/>
                <a:cs typeface="DejaVu Sans Mono"/>
              </a:defRPr>
            </a:lvl6pPr>
            <a:lvl7pPr>
              <a:defRPr sz="2625" b="0">
                <a:solidFill>
                  <a:srgbClr val="111111"/>
                </a:solidFill>
                <a:latin typeface="DejaVu Sans Mono"/>
                <a:ea typeface="DejaVu Sans Mono"/>
                <a:cs typeface="DejaVu Sans Mono"/>
              </a:defRPr>
            </a:lvl7pPr>
            <a:lvl8pPr>
              <a:defRPr sz="2625" b="0">
                <a:solidFill>
                  <a:srgbClr val="111111"/>
                </a:solidFill>
                <a:latin typeface="DejaVu Sans Mono"/>
                <a:ea typeface="DejaVu Sans Mono"/>
                <a:cs typeface="DejaVu Sans Mono"/>
              </a:defRPr>
            </a:lvl8pPr>
            <a:lvl9pPr>
              <a:defRPr sz="2625" b="0">
                <a:solidFill>
                  <a:srgbClr val="111111"/>
                </a:solidFill>
                <a:latin typeface="DejaVu Sans Mono"/>
                <a:ea typeface="DejaVu Sans Mono"/>
                <a:cs typeface="DejaVu Sans Mono"/>
              </a:defRPr>
            </a:lvl9pPr>
          </a:lstStyle>
          <a:p>
            <a:pPr>
              <a:defRPr sz="2625" b="0">
                <a:solidFill>
                  <a:srgbClr val="111111"/>
                </a:solidFill>
                <a:latin typeface="DejaVu Sans Mono"/>
                <a:ea typeface="DejaVu Sans Mono"/>
                <a:cs typeface="DejaVu Sans Mono"/>
              </a:defRPr>
            </a:pPr>
            <a:r>
              <a:rPr sz="2625" b="0">
                <a:solidFill>
                  <a:srgbClr val="111111"/>
                </a:solidFill>
                <a:latin typeface="DejaVu Sans Mono"/>
                <a:ea typeface="DejaVu Sans Mono"/>
                <a:cs typeface="DejaVu Sans Mono"/>
              </a:rPr>
              <a:t>a = "1011"</a:t>
            </a:r>
          </a:p>
          <a:p>
            <a:pPr>
              <a:defRPr sz="2625" b="0">
                <a:solidFill>
                  <a:srgbClr val="111111"/>
                </a:solidFill>
                <a:latin typeface="DejaVu Sans Mono"/>
                <a:ea typeface="DejaVu Sans Mono"/>
                <a:cs typeface="DejaVu Sans Mono"/>
              </a:defRPr>
            </a:pPr>
            <a:r>
              <a:rPr sz="2625" b="0">
                <a:solidFill>
                  <a:srgbClr val="111111"/>
                </a:solidFill>
                <a:latin typeface="DejaVu Sans Mono"/>
                <a:ea typeface="DejaVu Sans Mono"/>
                <a:cs typeface="DejaVu Sans Mono"/>
              </a:rPr>
              <a:t>y = "01011"</a:t>
            </a:r>
          </a:p>
        </p:txBody>
      </p:sp>
      <p:sp>
        <p:nvSpPr>
          <p:cNvPr id="6" name="矩形 5">
            <a:extLst>
              <a:ext uri="{FF2B5EF4-FFF2-40B4-BE49-F238E27FC236}">
                <a16:creationId xmlns:a16="http://schemas.microsoft.com/office/drawing/2014/main" id="{BB0218F8-C922-4B08-B756-C9F0088EC244}"/>
              </a:ext>
            </a:extLst>
          </p:cNvPr>
          <p:cNvSpPr>
            <a:spLocks noGrp="1"/>
          </p:cNvSpPr>
          <p:nvPr/>
        </p:nvSpPr>
        <p:spPr>
          <a:xfrm>
            <a:off x="666750" y="5476875"/>
            <a:ext cx="10858500" cy="571500"/>
          </a:xfrm>
          <a:prstGeom prst="rect">
            <a:avLst/>
          </a:prstGeom>
          <a:noFill/>
          <a:ln w="0">
            <a:noFill/>
            <a:prstDash val="solid"/>
          </a:ln>
        </p:spPr>
        <p:txBody>
          <a:bodyPr lIns="0" tIns="0" rIns="0" bIns="0"/>
          <a:lstStyle>
            <a:defPPr>
              <a:defRPr sz="2325" b="0">
                <a:solidFill>
                  <a:srgbClr val="111111"/>
                </a:solidFill>
                <a:latin typeface="Arial"/>
                <a:ea typeface="Arial"/>
                <a:cs typeface="Arial"/>
              </a:defRPr>
            </a:defPPr>
            <a:lvl1pPr>
              <a:defRPr sz="2325" b="0">
                <a:solidFill>
                  <a:srgbClr val="111111"/>
                </a:solidFill>
                <a:latin typeface="Arial"/>
                <a:ea typeface="Arial"/>
                <a:cs typeface="Arial"/>
              </a:defRPr>
            </a:lvl1pPr>
            <a:lvl2pPr>
              <a:defRPr sz="2325" b="0">
                <a:solidFill>
                  <a:srgbClr val="111111"/>
                </a:solidFill>
                <a:latin typeface="Arial"/>
                <a:ea typeface="Arial"/>
                <a:cs typeface="Arial"/>
              </a:defRPr>
            </a:lvl2pPr>
            <a:lvl3pPr>
              <a:defRPr sz="2325" b="0">
                <a:solidFill>
                  <a:srgbClr val="111111"/>
                </a:solidFill>
                <a:latin typeface="Arial"/>
                <a:ea typeface="Arial"/>
                <a:cs typeface="Arial"/>
              </a:defRPr>
            </a:lvl3pPr>
            <a:lvl4pPr>
              <a:defRPr sz="2325" b="0">
                <a:solidFill>
                  <a:srgbClr val="111111"/>
                </a:solidFill>
                <a:latin typeface="Arial"/>
                <a:ea typeface="Arial"/>
                <a:cs typeface="Arial"/>
              </a:defRPr>
            </a:lvl4pPr>
            <a:lvl5pPr>
              <a:defRPr sz="2325" b="0">
                <a:solidFill>
                  <a:srgbClr val="111111"/>
                </a:solidFill>
                <a:latin typeface="Arial"/>
                <a:ea typeface="Arial"/>
                <a:cs typeface="Arial"/>
              </a:defRPr>
            </a:lvl5pPr>
            <a:lvl6pPr>
              <a:defRPr sz="2325" b="0">
                <a:solidFill>
                  <a:srgbClr val="111111"/>
                </a:solidFill>
                <a:latin typeface="Arial"/>
                <a:ea typeface="Arial"/>
                <a:cs typeface="Arial"/>
              </a:defRPr>
            </a:lvl6pPr>
            <a:lvl7pPr>
              <a:defRPr sz="2325" b="0">
                <a:solidFill>
                  <a:srgbClr val="111111"/>
                </a:solidFill>
                <a:latin typeface="Arial"/>
                <a:ea typeface="Arial"/>
                <a:cs typeface="Arial"/>
              </a:defRPr>
            </a:lvl7pPr>
            <a:lvl8pPr>
              <a:defRPr sz="2325" b="0">
                <a:solidFill>
                  <a:srgbClr val="111111"/>
                </a:solidFill>
                <a:latin typeface="Arial"/>
                <a:ea typeface="Arial"/>
                <a:cs typeface="Arial"/>
              </a:defRPr>
            </a:lvl8pPr>
            <a:lvl9pPr>
              <a:defRPr sz="2325" b="0">
                <a:solidFill>
                  <a:srgbClr val="111111"/>
                </a:solidFill>
                <a:latin typeface="Arial"/>
                <a:ea typeface="Arial"/>
                <a:cs typeface="Arial"/>
              </a:defRPr>
            </a:lvl9pPr>
          </a:lstStyle>
          <a:p>
            <a:pPr>
              <a:defRPr sz="2325" b="0">
                <a:solidFill>
                  <a:srgbClr val="111111"/>
                </a:solidFill>
                <a:latin typeface="Arial"/>
                <a:ea typeface="Arial"/>
                <a:cs typeface="Arial"/>
              </a:defRPr>
            </a:pPr>
            <a:r>
              <a:rPr sz="2325" b="0">
                <a:solidFill>
                  <a:srgbClr val="111111"/>
                </a:solidFill>
                <a:latin typeface="Arial"/>
                <a:ea typeface="Arial"/>
                <a:cs typeface="Arial"/>
              </a:rPr>
              <a:t>For unsigned values, resize adds zeros on the left.</a:t>
            </a:r>
          </a:p>
        </p:txBody>
      </p:sp>
    </p:spTree>
    <p:extLst>
      <p:ext uri="{BB962C8B-B14F-4D97-AF65-F5344CB8AC3E}">
        <p14:creationId xmlns:p14="http://schemas.microsoft.com/office/powerpoint/2010/main" val="430376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F4404C5-8EE6-4D37-8DF0-D71953550377}"/>
              </a:ext>
            </a:extLst>
          </p:cNvPr>
          <p:cNvSpPr>
            <a:spLocks noGrp="1"/>
          </p:cNvSpPr>
          <p:nvPr/>
        </p:nvSpPr>
        <p:spPr>
          <a:xfrm>
            <a:off x="666750" y="209550"/>
            <a:ext cx="10858500" cy="476250"/>
          </a:xfrm>
          <a:prstGeom prst="rect">
            <a:avLst/>
          </a:prstGeom>
          <a:noFill/>
          <a:ln w="0">
            <a:noFill/>
            <a:prstDash val="solid"/>
          </a:ln>
        </p:spPr>
        <p:txBody>
          <a:bodyPr lIns="0" tIns="0" rIns="0" bIns="0"/>
          <a:lstStyle>
            <a:defPPr>
              <a:defRPr sz="2550" b="1">
                <a:solidFill>
                  <a:srgbClr val="000000"/>
                </a:solidFill>
                <a:latin typeface="Arial"/>
                <a:ea typeface="Arial"/>
                <a:cs typeface="Arial"/>
              </a:defRPr>
            </a:defPPr>
            <a:lvl1pPr>
              <a:buNone/>
              <a:defRPr sz="2550" b="1">
                <a:solidFill>
                  <a:srgbClr val="000000"/>
                </a:solidFill>
                <a:latin typeface="Arial"/>
                <a:ea typeface="Arial"/>
                <a:cs typeface="Arial"/>
              </a:defRPr>
            </a:lvl1pPr>
            <a:lvl2pPr>
              <a:buNone/>
              <a:defRPr sz="2550" b="1">
                <a:solidFill>
                  <a:srgbClr val="000000"/>
                </a:solidFill>
                <a:latin typeface="Arial"/>
                <a:ea typeface="Arial"/>
                <a:cs typeface="Arial"/>
              </a:defRPr>
            </a:lvl2pPr>
            <a:lvl3pPr>
              <a:buNone/>
              <a:defRPr sz="2550" b="1">
                <a:solidFill>
                  <a:srgbClr val="000000"/>
                </a:solidFill>
                <a:latin typeface="Arial"/>
                <a:ea typeface="Arial"/>
                <a:cs typeface="Arial"/>
              </a:defRPr>
            </a:lvl3pPr>
            <a:lvl4pPr>
              <a:buNone/>
              <a:defRPr sz="2550" b="1">
                <a:solidFill>
                  <a:srgbClr val="000000"/>
                </a:solidFill>
                <a:latin typeface="Arial"/>
                <a:ea typeface="Arial"/>
                <a:cs typeface="Arial"/>
              </a:defRPr>
            </a:lvl4pPr>
            <a:lvl5pPr>
              <a:buNone/>
              <a:defRPr sz="2550" b="1">
                <a:solidFill>
                  <a:srgbClr val="000000"/>
                </a:solidFill>
                <a:latin typeface="Arial"/>
                <a:ea typeface="Arial"/>
                <a:cs typeface="Arial"/>
              </a:defRPr>
            </a:lvl5pPr>
            <a:lvl6pPr>
              <a:buNone/>
              <a:defRPr sz="2550" b="1">
                <a:solidFill>
                  <a:srgbClr val="000000"/>
                </a:solidFill>
                <a:latin typeface="Arial"/>
                <a:ea typeface="Arial"/>
                <a:cs typeface="Arial"/>
              </a:defRPr>
            </a:lvl6pPr>
            <a:lvl7pPr>
              <a:buNone/>
              <a:defRPr sz="2550" b="1">
                <a:solidFill>
                  <a:srgbClr val="000000"/>
                </a:solidFill>
                <a:latin typeface="Arial"/>
                <a:ea typeface="Arial"/>
                <a:cs typeface="Arial"/>
              </a:defRPr>
            </a:lvl7pPr>
            <a:lvl8pPr>
              <a:buNone/>
              <a:defRPr sz="2550" b="1">
                <a:solidFill>
                  <a:srgbClr val="000000"/>
                </a:solidFill>
                <a:latin typeface="Arial"/>
                <a:ea typeface="Arial"/>
                <a:cs typeface="Arial"/>
              </a:defRPr>
            </a:lvl8pPr>
            <a:lvl9pPr>
              <a:buNone/>
              <a:defRPr sz="2550" b="1">
                <a:solidFill>
                  <a:srgbClr val="000000"/>
                </a:solidFill>
                <a:latin typeface="Arial"/>
                <a:ea typeface="Arial"/>
                <a:cs typeface="Arial"/>
              </a:defRPr>
            </a:lvl9pPr>
          </a:lstStyle>
          <a:p>
            <a:pPr>
              <a:buNone/>
              <a:defRPr sz="2550" b="1">
                <a:solidFill>
                  <a:srgbClr val="000000"/>
                </a:solidFill>
                <a:latin typeface="Arial"/>
                <a:ea typeface="Arial"/>
                <a:cs typeface="Arial"/>
              </a:defRPr>
            </a:pPr>
            <a:r>
              <a:rPr sz="2550" b="1" dirty="0">
                <a:solidFill>
                  <a:srgbClr val="000000"/>
                </a:solidFill>
                <a:latin typeface="Arial"/>
                <a:ea typeface="Arial"/>
                <a:cs typeface="Arial"/>
              </a:rPr>
              <a:t>Optional Q1</a:t>
            </a:r>
            <a:r>
              <a:rPr lang="en-US" altLang="zh-CN" sz="2550" b="1" dirty="0">
                <a:solidFill>
                  <a:srgbClr val="000000"/>
                </a:solidFill>
                <a:latin typeface="Arial"/>
                <a:ea typeface="Arial"/>
                <a:cs typeface="Arial"/>
              </a:rPr>
              <a:t>3</a:t>
            </a:r>
            <a:r>
              <a:rPr sz="2550" b="1" dirty="0">
                <a:solidFill>
                  <a:srgbClr val="000000"/>
                </a:solidFill>
                <a:latin typeface="Arial"/>
                <a:ea typeface="Arial"/>
                <a:cs typeface="Arial"/>
              </a:rPr>
              <a:t>  Sensitivity list</a:t>
            </a:r>
          </a:p>
        </p:txBody>
      </p:sp>
      <p:sp>
        <p:nvSpPr>
          <p:cNvPr id="2" name="矩形 1">
            <a:extLst>
              <a:ext uri="{FF2B5EF4-FFF2-40B4-BE49-F238E27FC236}">
                <a16:creationId xmlns:a16="http://schemas.microsoft.com/office/drawing/2014/main" id="{2C5961D7-A29E-49D0-A54A-1345C4DB70FE}"/>
              </a:ext>
            </a:extLst>
          </p:cNvPr>
          <p:cNvSpPr>
            <a:spLocks noGrp="1"/>
          </p:cNvSpPr>
          <p:nvPr/>
        </p:nvSpPr>
        <p:spPr>
          <a:xfrm>
            <a:off x="666750" y="742950"/>
            <a:ext cx="10858500" cy="457200"/>
          </a:xfrm>
          <a:prstGeom prst="rect">
            <a:avLst/>
          </a:prstGeom>
          <a:noFill/>
          <a:ln w="0">
            <a:noFill/>
            <a:prstDash val="solid"/>
          </a:ln>
        </p:spPr>
        <p:txBody>
          <a:bodyPr lIns="0" tIns="0" rIns="0" bIns="0"/>
          <a:lstStyle>
            <a:defPPr>
              <a:defRPr sz="1725" b="0">
                <a:solidFill>
                  <a:srgbClr val="444444"/>
                </a:solidFill>
                <a:latin typeface="Arial"/>
                <a:ea typeface="Arial"/>
                <a:cs typeface="Arial"/>
              </a:defRPr>
            </a:defPPr>
            <a:lvl1pPr>
              <a:buNone/>
              <a:defRPr sz="1725" b="0">
                <a:solidFill>
                  <a:srgbClr val="444444"/>
                </a:solidFill>
                <a:latin typeface="Arial"/>
                <a:ea typeface="Arial"/>
                <a:cs typeface="Arial"/>
              </a:defRPr>
            </a:lvl1pPr>
            <a:lvl2pPr>
              <a:buNone/>
              <a:defRPr sz="1725" b="0">
                <a:solidFill>
                  <a:srgbClr val="444444"/>
                </a:solidFill>
                <a:latin typeface="Arial"/>
                <a:ea typeface="Arial"/>
                <a:cs typeface="Arial"/>
              </a:defRPr>
            </a:lvl2pPr>
            <a:lvl3pPr>
              <a:buNone/>
              <a:defRPr sz="1725" b="0">
                <a:solidFill>
                  <a:srgbClr val="444444"/>
                </a:solidFill>
                <a:latin typeface="Arial"/>
                <a:ea typeface="Arial"/>
                <a:cs typeface="Arial"/>
              </a:defRPr>
            </a:lvl3pPr>
            <a:lvl4pPr>
              <a:buNone/>
              <a:defRPr sz="1725" b="0">
                <a:solidFill>
                  <a:srgbClr val="444444"/>
                </a:solidFill>
                <a:latin typeface="Arial"/>
                <a:ea typeface="Arial"/>
                <a:cs typeface="Arial"/>
              </a:defRPr>
            </a:lvl4pPr>
            <a:lvl5pPr>
              <a:buNone/>
              <a:defRPr sz="1725" b="0">
                <a:solidFill>
                  <a:srgbClr val="444444"/>
                </a:solidFill>
                <a:latin typeface="Arial"/>
                <a:ea typeface="Arial"/>
                <a:cs typeface="Arial"/>
              </a:defRPr>
            </a:lvl5pPr>
            <a:lvl6pPr>
              <a:buNone/>
              <a:defRPr sz="1725" b="0">
                <a:solidFill>
                  <a:srgbClr val="444444"/>
                </a:solidFill>
                <a:latin typeface="Arial"/>
                <a:ea typeface="Arial"/>
                <a:cs typeface="Arial"/>
              </a:defRPr>
            </a:lvl6pPr>
            <a:lvl7pPr>
              <a:buNone/>
              <a:defRPr sz="1725" b="0">
                <a:solidFill>
                  <a:srgbClr val="444444"/>
                </a:solidFill>
                <a:latin typeface="Arial"/>
                <a:ea typeface="Arial"/>
                <a:cs typeface="Arial"/>
              </a:defRPr>
            </a:lvl7pPr>
            <a:lvl8pPr>
              <a:buNone/>
              <a:defRPr sz="1725" b="0">
                <a:solidFill>
                  <a:srgbClr val="444444"/>
                </a:solidFill>
                <a:latin typeface="Arial"/>
                <a:ea typeface="Arial"/>
                <a:cs typeface="Arial"/>
              </a:defRPr>
            </a:lvl8pPr>
            <a:lvl9pPr>
              <a:buNone/>
              <a:defRPr sz="1725" b="0">
                <a:solidFill>
                  <a:srgbClr val="444444"/>
                </a:solidFill>
                <a:latin typeface="Arial"/>
                <a:ea typeface="Arial"/>
                <a:cs typeface="Arial"/>
              </a:defRPr>
            </a:lvl9pPr>
          </a:lstStyle>
          <a:p>
            <a:pPr>
              <a:buNone/>
              <a:defRPr sz="1725" b="0">
                <a:solidFill>
                  <a:srgbClr val="444444"/>
                </a:solidFill>
                <a:latin typeface="Arial"/>
                <a:ea typeface="Arial"/>
                <a:cs typeface="Arial"/>
              </a:defRPr>
            </a:pPr>
            <a:r>
              <a:rPr sz="1725" b="0">
                <a:solidFill>
                  <a:srgbClr val="444444"/>
                </a:solidFill>
                <a:latin typeface="Arial"/>
                <a:ea typeface="Arial"/>
                <a:cs typeface="Arial"/>
              </a:rPr>
              <a:t>Backup exercise.</a:t>
            </a:r>
          </a:p>
        </p:txBody>
      </p:sp>
      <p:sp>
        <p:nvSpPr>
          <p:cNvPr id="3" name="矩形 2">
            <a:extLst>
              <a:ext uri="{FF2B5EF4-FFF2-40B4-BE49-F238E27FC236}">
                <a16:creationId xmlns:a16="http://schemas.microsoft.com/office/drawing/2014/main" id="{4E0F0CE0-2849-4859-97FC-C3C32C978171}"/>
              </a:ext>
            </a:extLst>
          </p:cNvPr>
          <p:cNvSpPr>
            <a:spLocks noGrp="1"/>
          </p:cNvSpPr>
          <p:nvPr/>
        </p:nvSpPr>
        <p:spPr>
          <a:xfrm>
            <a:off x="666750" y="1476375"/>
            <a:ext cx="10858500" cy="2333625"/>
          </a:xfrm>
          <a:prstGeom prst="rect">
            <a:avLst/>
          </a:prstGeom>
          <a:noFill/>
          <a:ln w="0">
            <a:noFill/>
            <a:prstDash val="solid"/>
          </a:ln>
        </p:spPr>
        <p:txBody>
          <a:bodyPr lIns="0" tIns="0" rIns="0" bIns="0"/>
          <a:lstStyle>
            <a:defPPr>
              <a:defRPr sz="2175" b="0">
                <a:solidFill>
                  <a:srgbClr val="111111"/>
                </a:solidFill>
                <a:latin typeface="DejaVu Sans Mono"/>
                <a:ea typeface="DejaVu Sans Mono"/>
                <a:cs typeface="DejaVu Sans Mono"/>
              </a:defRPr>
            </a:defPPr>
            <a:lvl1pPr>
              <a:buNone/>
              <a:defRPr sz="2175" b="0">
                <a:solidFill>
                  <a:srgbClr val="111111"/>
                </a:solidFill>
                <a:latin typeface="DejaVu Sans Mono"/>
                <a:ea typeface="DejaVu Sans Mono"/>
                <a:cs typeface="DejaVu Sans Mono"/>
              </a:defRPr>
            </a:lvl1pPr>
            <a:lvl2pPr>
              <a:buNone/>
              <a:defRPr sz="2175" b="0">
                <a:solidFill>
                  <a:srgbClr val="111111"/>
                </a:solidFill>
                <a:latin typeface="DejaVu Sans Mono"/>
                <a:ea typeface="DejaVu Sans Mono"/>
                <a:cs typeface="DejaVu Sans Mono"/>
              </a:defRPr>
            </a:lvl2pPr>
            <a:lvl3pPr>
              <a:buNone/>
              <a:defRPr sz="2175" b="0">
                <a:solidFill>
                  <a:srgbClr val="111111"/>
                </a:solidFill>
                <a:latin typeface="DejaVu Sans Mono"/>
                <a:ea typeface="DejaVu Sans Mono"/>
                <a:cs typeface="DejaVu Sans Mono"/>
              </a:defRPr>
            </a:lvl3pPr>
            <a:lvl4pPr>
              <a:buNone/>
              <a:defRPr sz="2175" b="0">
                <a:solidFill>
                  <a:srgbClr val="111111"/>
                </a:solidFill>
                <a:latin typeface="DejaVu Sans Mono"/>
                <a:ea typeface="DejaVu Sans Mono"/>
                <a:cs typeface="DejaVu Sans Mono"/>
              </a:defRPr>
            </a:lvl4pPr>
            <a:lvl5pPr>
              <a:buNone/>
              <a:defRPr sz="2175" b="0">
                <a:solidFill>
                  <a:srgbClr val="111111"/>
                </a:solidFill>
                <a:latin typeface="DejaVu Sans Mono"/>
                <a:ea typeface="DejaVu Sans Mono"/>
                <a:cs typeface="DejaVu Sans Mono"/>
              </a:defRPr>
            </a:lvl5pPr>
            <a:lvl6pPr>
              <a:buNone/>
              <a:defRPr sz="2175" b="0">
                <a:solidFill>
                  <a:srgbClr val="111111"/>
                </a:solidFill>
                <a:latin typeface="DejaVu Sans Mono"/>
                <a:ea typeface="DejaVu Sans Mono"/>
                <a:cs typeface="DejaVu Sans Mono"/>
              </a:defRPr>
            </a:lvl6pPr>
            <a:lvl7pPr>
              <a:buNone/>
              <a:defRPr sz="2175" b="0">
                <a:solidFill>
                  <a:srgbClr val="111111"/>
                </a:solidFill>
                <a:latin typeface="DejaVu Sans Mono"/>
                <a:ea typeface="DejaVu Sans Mono"/>
                <a:cs typeface="DejaVu Sans Mono"/>
              </a:defRPr>
            </a:lvl7pPr>
            <a:lvl8pPr>
              <a:buNone/>
              <a:defRPr sz="2175" b="0">
                <a:solidFill>
                  <a:srgbClr val="111111"/>
                </a:solidFill>
                <a:latin typeface="DejaVu Sans Mono"/>
                <a:ea typeface="DejaVu Sans Mono"/>
                <a:cs typeface="DejaVu Sans Mono"/>
              </a:defRPr>
            </a:lvl8pPr>
            <a:lvl9pPr>
              <a:buNone/>
              <a:defRPr sz="2175" b="0">
                <a:solidFill>
                  <a:srgbClr val="111111"/>
                </a:solidFill>
                <a:latin typeface="DejaVu Sans Mono"/>
                <a:ea typeface="DejaVu Sans Mono"/>
                <a:cs typeface="DejaVu Sans Mono"/>
              </a:defRPr>
            </a:lvl9pPr>
          </a:lstStyle>
          <a:p>
            <a:pPr>
              <a:buNone/>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 Initially settled: a = '1', b = '0', y = '0'</a:t>
            </a:r>
          </a:p>
          <a:p>
            <a:pPr>
              <a:buNone/>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process(a)</a:t>
            </a:r>
          </a:p>
          <a:p>
            <a:pPr>
              <a:buNone/>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begin</a:t>
            </a:r>
          </a:p>
          <a:p>
            <a:pPr>
              <a:buNone/>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  y &lt;= a and b;</a:t>
            </a:r>
          </a:p>
          <a:p>
            <a:pPr>
              <a:buNone/>
              <a:defRPr sz="2175" b="0">
                <a:solidFill>
                  <a:srgbClr val="111111"/>
                </a:solidFill>
                <a:latin typeface="DejaVu Sans Mono"/>
                <a:ea typeface="DejaVu Sans Mono"/>
                <a:cs typeface="DejaVu Sans Mono"/>
              </a:defRPr>
            </a:pPr>
            <a:r>
              <a:rPr sz="2175" b="0">
                <a:solidFill>
                  <a:srgbClr val="111111"/>
                </a:solidFill>
                <a:latin typeface="DejaVu Sans Mono"/>
                <a:ea typeface="DejaVu Sans Mono"/>
                <a:cs typeface="DejaVu Sans Mono"/>
              </a:rPr>
              <a:t>end process;</a:t>
            </a:r>
          </a:p>
        </p:txBody>
      </p:sp>
      <p:sp>
        <p:nvSpPr>
          <p:cNvPr id="4" name="矩形 3">
            <a:extLst>
              <a:ext uri="{FF2B5EF4-FFF2-40B4-BE49-F238E27FC236}">
                <a16:creationId xmlns:a16="http://schemas.microsoft.com/office/drawing/2014/main" id="{C82F10D9-D743-4941-85A3-AA90B23F0380}"/>
              </a:ext>
            </a:extLst>
          </p:cNvPr>
          <p:cNvSpPr>
            <a:spLocks noGrp="1"/>
          </p:cNvSpPr>
          <p:nvPr/>
        </p:nvSpPr>
        <p:spPr>
          <a:xfrm>
            <a:off x="666750" y="4429125"/>
            <a:ext cx="10858500" cy="4857750"/>
          </a:xfrm>
          <a:prstGeom prst="rect">
            <a:avLst/>
          </a:prstGeom>
          <a:noFill/>
          <a:ln w="0">
            <a:noFill/>
            <a:prstDash val="solid"/>
          </a:ln>
        </p:spPr>
        <p:txBody>
          <a:bodyPr lIns="0" tIns="0" rIns="0" bIns="0"/>
          <a:lstStyle>
            <a:defPPr>
              <a:defRPr sz="2250" b="0">
                <a:solidFill>
                  <a:srgbClr val="111111"/>
                </a:solidFill>
                <a:latin typeface="Arial"/>
                <a:ea typeface="Arial"/>
                <a:cs typeface="Arial"/>
              </a:defRPr>
            </a:defPPr>
            <a:lvl1pPr>
              <a:buNone/>
              <a:defRPr sz="2250" b="0">
                <a:solidFill>
                  <a:srgbClr val="111111"/>
                </a:solidFill>
                <a:latin typeface="Arial"/>
                <a:ea typeface="Arial"/>
                <a:cs typeface="Arial"/>
              </a:defRPr>
            </a:lvl1pPr>
            <a:lvl2pPr>
              <a:buNone/>
              <a:defRPr sz="2250" b="0">
                <a:solidFill>
                  <a:srgbClr val="111111"/>
                </a:solidFill>
                <a:latin typeface="Arial"/>
                <a:ea typeface="Arial"/>
                <a:cs typeface="Arial"/>
              </a:defRPr>
            </a:lvl2pPr>
            <a:lvl3pPr>
              <a:buNone/>
              <a:defRPr sz="2250" b="0">
                <a:solidFill>
                  <a:srgbClr val="111111"/>
                </a:solidFill>
                <a:latin typeface="Arial"/>
                <a:ea typeface="Arial"/>
                <a:cs typeface="Arial"/>
              </a:defRPr>
            </a:lvl3pPr>
            <a:lvl4pPr>
              <a:buNone/>
              <a:defRPr sz="2250" b="0">
                <a:solidFill>
                  <a:srgbClr val="111111"/>
                </a:solidFill>
                <a:latin typeface="Arial"/>
                <a:ea typeface="Arial"/>
                <a:cs typeface="Arial"/>
              </a:defRPr>
            </a:lvl4pPr>
            <a:lvl5pPr>
              <a:buNone/>
              <a:defRPr sz="2250" b="0">
                <a:solidFill>
                  <a:srgbClr val="111111"/>
                </a:solidFill>
                <a:latin typeface="Arial"/>
                <a:ea typeface="Arial"/>
                <a:cs typeface="Arial"/>
              </a:defRPr>
            </a:lvl5pPr>
            <a:lvl6pPr>
              <a:buNone/>
              <a:defRPr sz="2250" b="0">
                <a:solidFill>
                  <a:srgbClr val="111111"/>
                </a:solidFill>
                <a:latin typeface="Arial"/>
                <a:ea typeface="Arial"/>
                <a:cs typeface="Arial"/>
              </a:defRPr>
            </a:lvl6pPr>
            <a:lvl7pPr>
              <a:buNone/>
              <a:defRPr sz="2250" b="0">
                <a:solidFill>
                  <a:srgbClr val="111111"/>
                </a:solidFill>
                <a:latin typeface="Arial"/>
                <a:ea typeface="Arial"/>
                <a:cs typeface="Arial"/>
              </a:defRPr>
            </a:lvl7pPr>
            <a:lvl8pPr>
              <a:buNone/>
              <a:defRPr sz="2250" b="0">
                <a:solidFill>
                  <a:srgbClr val="111111"/>
                </a:solidFill>
                <a:latin typeface="Arial"/>
                <a:ea typeface="Arial"/>
                <a:cs typeface="Arial"/>
              </a:defRPr>
            </a:lvl8pPr>
            <a:lvl9pPr>
              <a:buNone/>
              <a:defRPr sz="2250" b="0">
                <a:solidFill>
                  <a:srgbClr val="111111"/>
                </a:solidFill>
                <a:latin typeface="Arial"/>
                <a:ea typeface="Arial"/>
                <a:cs typeface="Arial"/>
              </a:defRPr>
            </a:lvl9pPr>
          </a:lstStyle>
          <a:p>
            <a:pPr>
              <a:buNone/>
              <a:defRPr sz="2250" b="0">
                <a:solidFill>
                  <a:srgbClr val="111111"/>
                </a:solidFill>
                <a:latin typeface="Arial"/>
                <a:ea typeface="Arial"/>
                <a:cs typeface="Arial"/>
              </a:defRPr>
            </a:pPr>
            <a:r>
              <a:rPr sz="2250" b="0">
                <a:solidFill>
                  <a:srgbClr val="111111"/>
                </a:solidFill>
                <a:latin typeface="Arial"/>
                <a:ea typeface="Arial"/>
                <a:cs typeface="Arial"/>
              </a:rPr>
              <a:t>Only b changes from 0 to 1.</a:t>
            </a:r>
          </a:p>
          <a:p>
            <a:pPr>
              <a:buNone/>
              <a:defRPr sz="2250" b="0">
                <a:solidFill>
                  <a:srgbClr val="111111"/>
                </a:solidFill>
                <a:latin typeface="Arial"/>
                <a:ea typeface="Arial"/>
                <a:cs typeface="Arial"/>
              </a:defRPr>
            </a:pPr>
            <a:r>
              <a:rPr sz="2250" b="0">
                <a:solidFill>
                  <a:srgbClr val="111111"/>
                </a:solidFill>
                <a:latin typeface="Arial"/>
                <a:ea typeface="Arial"/>
                <a:cs typeface="Arial"/>
              </a:rPr>
              <a:t>Will the process run? What is y in simulation?</a:t>
            </a:r>
          </a:p>
          <a:p>
            <a:pPr>
              <a:buNone/>
              <a:defRPr sz="2250" b="0">
                <a:solidFill>
                  <a:srgbClr val="111111"/>
                </a:solidFill>
                <a:latin typeface="Arial"/>
                <a:ea typeface="Arial"/>
                <a:cs typeface="Arial"/>
              </a:defRPr>
            </a:pPr>
            <a:r>
              <a:rPr sz="2250" b="0">
                <a:solidFill>
                  <a:srgbClr val="111111"/>
                </a:solidFill>
                <a:latin typeface="Arial"/>
                <a:ea typeface="Arial"/>
                <a:cs typeface="Arial"/>
              </a:rPr>
              <a:t>Repair the sensitivity list.</a:t>
            </a:r>
          </a:p>
        </p:txBody>
      </p:sp>
      <p:sp>
        <p:nvSpPr>
          <p:cNvPr id="5" name="矩形 4">
            <a:extLst>
              <a:ext uri="{FF2B5EF4-FFF2-40B4-BE49-F238E27FC236}">
                <a16:creationId xmlns:a16="http://schemas.microsoft.com/office/drawing/2014/main" id="{867503D6-73BB-4C04-9DA9-8E291DFBC94C}"/>
              </a:ext>
            </a:extLst>
          </p:cNvPr>
          <p:cNvSpPr>
            <a:spLocks noGrp="1"/>
          </p:cNvSpPr>
          <p:nvPr/>
        </p:nvSpPr>
        <p:spPr>
          <a:xfrm>
            <a:off x="11382375" y="6477000"/>
            <a:ext cx="381000" cy="219075"/>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buNone/>
              <a:defRPr sz="1200" b="0">
                <a:solidFill>
                  <a:srgbClr val="666666"/>
                </a:solidFill>
                <a:latin typeface="Arial"/>
                <a:ea typeface="Arial"/>
                <a:cs typeface="Arial"/>
              </a:defRPr>
            </a:lvl1pPr>
            <a:lvl2pPr>
              <a:buNone/>
              <a:defRPr sz="1200" b="0">
                <a:solidFill>
                  <a:srgbClr val="666666"/>
                </a:solidFill>
                <a:latin typeface="Arial"/>
                <a:ea typeface="Arial"/>
                <a:cs typeface="Arial"/>
              </a:defRPr>
            </a:lvl2pPr>
            <a:lvl3pPr>
              <a:buNone/>
              <a:defRPr sz="1200" b="0">
                <a:solidFill>
                  <a:srgbClr val="666666"/>
                </a:solidFill>
                <a:latin typeface="Arial"/>
                <a:ea typeface="Arial"/>
                <a:cs typeface="Arial"/>
              </a:defRPr>
            </a:lvl3pPr>
            <a:lvl4pPr>
              <a:buNone/>
              <a:defRPr sz="1200" b="0">
                <a:solidFill>
                  <a:srgbClr val="666666"/>
                </a:solidFill>
                <a:latin typeface="Arial"/>
                <a:ea typeface="Arial"/>
                <a:cs typeface="Arial"/>
              </a:defRPr>
            </a:lvl4pPr>
            <a:lvl5pPr>
              <a:buNone/>
              <a:defRPr sz="1200" b="0">
                <a:solidFill>
                  <a:srgbClr val="666666"/>
                </a:solidFill>
                <a:latin typeface="Arial"/>
                <a:ea typeface="Arial"/>
                <a:cs typeface="Arial"/>
              </a:defRPr>
            </a:lvl5pPr>
            <a:lvl6pPr>
              <a:buNone/>
              <a:defRPr sz="1200" b="0">
                <a:solidFill>
                  <a:srgbClr val="666666"/>
                </a:solidFill>
                <a:latin typeface="Arial"/>
                <a:ea typeface="Arial"/>
                <a:cs typeface="Arial"/>
              </a:defRPr>
            </a:lvl6pPr>
            <a:lvl7pPr>
              <a:buNone/>
              <a:defRPr sz="1200" b="0">
                <a:solidFill>
                  <a:srgbClr val="666666"/>
                </a:solidFill>
                <a:latin typeface="Arial"/>
                <a:ea typeface="Arial"/>
                <a:cs typeface="Arial"/>
              </a:defRPr>
            </a:lvl7pPr>
            <a:lvl8pPr>
              <a:buNone/>
              <a:defRPr sz="1200" b="0">
                <a:solidFill>
                  <a:srgbClr val="666666"/>
                </a:solidFill>
                <a:latin typeface="Arial"/>
                <a:ea typeface="Arial"/>
                <a:cs typeface="Arial"/>
              </a:defRPr>
            </a:lvl8pPr>
            <a:lvl9pPr>
              <a:buNone/>
              <a:defRPr sz="1200" b="0">
                <a:solidFill>
                  <a:srgbClr val="666666"/>
                </a:solidFill>
                <a:latin typeface="Arial"/>
                <a:ea typeface="Arial"/>
                <a:cs typeface="Arial"/>
              </a:defRPr>
            </a:lvl9pPr>
          </a:lstStyle>
          <a:p>
            <a:pPr>
              <a:buNone/>
              <a:defRPr sz="1200" b="0">
                <a:solidFill>
                  <a:srgbClr val="666666"/>
                </a:solidFill>
                <a:latin typeface="Arial"/>
                <a:ea typeface="Arial"/>
                <a:cs typeface="Arial"/>
              </a:defRPr>
            </a:pPr>
            <a:r>
              <a:rPr sz="1200" b="0">
                <a:solidFill>
                  <a:srgbClr val="666666"/>
                </a:solidFill>
                <a:latin typeface="Arial"/>
                <a:ea typeface="Arial"/>
                <a:cs typeface="Arial"/>
              </a:rPr>
              <a:t>29</a:t>
            </a:r>
          </a:p>
        </p:txBody>
      </p:sp>
    </p:spTree>
    <p:extLst>
      <p:ext uri="{BB962C8B-B14F-4D97-AF65-F5344CB8AC3E}">
        <p14:creationId xmlns:p14="http://schemas.microsoft.com/office/powerpoint/2010/main" val="597576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7EF72A9-024C-42D7-8D90-34BEC5A3E1D2}"/>
              </a:ext>
            </a:extLst>
          </p:cNvPr>
          <p:cNvSpPr>
            <a:spLocks noGrp="1"/>
          </p:cNvSpPr>
          <p:nvPr/>
        </p:nvSpPr>
        <p:spPr>
          <a:xfrm>
            <a:off x="666750" y="247650"/>
            <a:ext cx="10858500" cy="495300"/>
          </a:xfrm>
          <a:prstGeom prst="rect">
            <a:avLst/>
          </a:prstGeom>
          <a:noFill/>
          <a:ln w="0">
            <a:noFill/>
            <a:prstDash val="solid"/>
          </a:ln>
        </p:spPr>
        <p:txBody>
          <a:bodyPr lIns="0" tIns="0" rIns="0" bIns="0"/>
          <a:lstStyle>
            <a:defPPr>
              <a:defRPr sz="2700" b="1">
                <a:solidFill>
                  <a:srgbClr val="000000"/>
                </a:solidFill>
                <a:latin typeface="Arial"/>
                <a:ea typeface="Arial"/>
                <a:cs typeface="Arial"/>
              </a:defRPr>
            </a:defPPr>
            <a:lvl1pPr>
              <a:defRPr sz="2700" b="1">
                <a:solidFill>
                  <a:srgbClr val="000000"/>
                </a:solidFill>
                <a:latin typeface="Arial"/>
                <a:ea typeface="Arial"/>
                <a:cs typeface="Arial"/>
              </a:defRPr>
            </a:lvl1pPr>
            <a:lvl2pPr>
              <a:defRPr sz="2700" b="1">
                <a:solidFill>
                  <a:srgbClr val="000000"/>
                </a:solidFill>
                <a:latin typeface="Arial"/>
                <a:ea typeface="Arial"/>
                <a:cs typeface="Arial"/>
              </a:defRPr>
            </a:lvl2pPr>
            <a:lvl3pPr>
              <a:defRPr sz="2700" b="1">
                <a:solidFill>
                  <a:srgbClr val="000000"/>
                </a:solidFill>
                <a:latin typeface="Arial"/>
                <a:ea typeface="Arial"/>
                <a:cs typeface="Arial"/>
              </a:defRPr>
            </a:lvl3pPr>
            <a:lvl4pPr>
              <a:defRPr sz="2700" b="1">
                <a:solidFill>
                  <a:srgbClr val="000000"/>
                </a:solidFill>
                <a:latin typeface="Arial"/>
                <a:ea typeface="Arial"/>
                <a:cs typeface="Arial"/>
              </a:defRPr>
            </a:lvl4pPr>
            <a:lvl5pPr>
              <a:defRPr sz="2700" b="1">
                <a:solidFill>
                  <a:srgbClr val="000000"/>
                </a:solidFill>
                <a:latin typeface="Arial"/>
                <a:ea typeface="Arial"/>
                <a:cs typeface="Arial"/>
              </a:defRPr>
            </a:lvl5pPr>
            <a:lvl6pPr>
              <a:defRPr sz="2700" b="1">
                <a:solidFill>
                  <a:srgbClr val="000000"/>
                </a:solidFill>
                <a:latin typeface="Arial"/>
                <a:ea typeface="Arial"/>
                <a:cs typeface="Arial"/>
              </a:defRPr>
            </a:lvl6pPr>
            <a:lvl7pPr>
              <a:defRPr sz="2700" b="1">
                <a:solidFill>
                  <a:srgbClr val="000000"/>
                </a:solidFill>
                <a:latin typeface="Arial"/>
                <a:ea typeface="Arial"/>
                <a:cs typeface="Arial"/>
              </a:defRPr>
            </a:lvl7pPr>
            <a:lvl8pPr>
              <a:defRPr sz="2700" b="1">
                <a:solidFill>
                  <a:srgbClr val="000000"/>
                </a:solidFill>
                <a:latin typeface="Arial"/>
                <a:ea typeface="Arial"/>
                <a:cs typeface="Arial"/>
              </a:defRPr>
            </a:lvl8pPr>
            <a:lvl9pPr>
              <a:defRPr sz="2700" b="1">
                <a:solidFill>
                  <a:srgbClr val="000000"/>
                </a:solidFill>
                <a:latin typeface="Arial"/>
                <a:ea typeface="Arial"/>
                <a:cs typeface="Arial"/>
              </a:defRPr>
            </a:lvl9pPr>
          </a:lstStyle>
          <a:p>
            <a:pPr>
              <a:defRPr sz="2700" b="1">
                <a:solidFill>
                  <a:srgbClr val="000000"/>
                </a:solidFill>
                <a:latin typeface="Arial"/>
                <a:ea typeface="Arial"/>
                <a:cs typeface="Arial"/>
              </a:defRPr>
            </a:pPr>
            <a:r>
              <a:rPr sz="2700" b="1">
                <a:solidFill>
                  <a:srgbClr val="000000"/>
                </a:solidFill>
                <a:latin typeface="Arial"/>
                <a:ea typeface="Arial"/>
                <a:cs typeface="Arial"/>
              </a:rPr>
              <a:t>Optional Q1</a:t>
            </a:r>
            <a:r>
              <a:rPr lang="en-US" altLang="zh-CN" sz="2700" b="1">
                <a:solidFill>
                  <a:srgbClr val="000000"/>
                </a:solidFill>
                <a:latin typeface="Arial"/>
                <a:ea typeface="Arial"/>
                <a:cs typeface="Arial"/>
              </a:rPr>
              <a:t>3</a:t>
            </a:r>
            <a:r>
              <a:rPr sz="2700" b="1">
                <a:solidFill>
                  <a:srgbClr val="000000"/>
                </a:solidFill>
                <a:latin typeface="Arial"/>
                <a:ea typeface="Arial"/>
                <a:cs typeface="Arial"/>
              </a:rPr>
              <a:t>  Answer</a:t>
            </a:r>
          </a:p>
        </p:txBody>
      </p:sp>
      <p:sp>
        <p:nvSpPr>
          <p:cNvPr id="2" name="矩形 1">
            <a:extLst>
              <a:ext uri="{FF2B5EF4-FFF2-40B4-BE49-F238E27FC236}">
                <a16:creationId xmlns:a16="http://schemas.microsoft.com/office/drawing/2014/main" id="{25CB9717-A5CC-4CD1-A01E-91396D5D9D4E}"/>
              </a:ext>
            </a:extLst>
          </p:cNvPr>
          <p:cNvSpPr>
            <a:spLocks noGrp="1"/>
          </p:cNvSpPr>
          <p:nvPr/>
        </p:nvSpPr>
        <p:spPr>
          <a:xfrm>
            <a:off x="666750" y="838200"/>
            <a:ext cx="10858500" cy="428625"/>
          </a:xfrm>
          <a:prstGeom prst="rect">
            <a:avLst/>
          </a:prstGeom>
          <a:noFill/>
          <a:ln w="0">
            <a:noFill/>
            <a:prstDash val="solid"/>
          </a:ln>
        </p:spPr>
        <p:txBody>
          <a:bodyPr lIns="0" tIns="0" rIns="0" bIns="0"/>
          <a:lstStyle>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a:pPr>
              <a:defRPr sz="1950" b="0">
                <a:solidFill>
                  <a:srgbClr val="444444"/>
                </a:solidFill>
                <a:latin typeface="Arial"/>
                <a:ea typeface="Arial"/>
                <a:cs typeface="Arial"/>
              </a:defRPr>
            </a:pPr>
            <a:r>
              <a:rPr sz="1950" b="0">
                <a:solidFill>
                  <a:srgbClr val="444444"/>
                </a:solidFill>
                <a:latin typeface="Arial"/>
                <a:ea typeface="Arial"/>
                <a:cs typeface="Arial"/>
              </a:rPr>
              <a:t>Include every signal the combinational process reads</a:t>
            </a:r>
          </a:p>
        </p:txBody>
      </p:sp>
      <p:sp>
        <p:nvSpPr>
          <p:cNvPr id="3" name="矩形 2">
            <a:extLst>
              <a:ext uri="{FF2B5EF4-FFF2-40B4-BE49-F238E27FC236}">
                <a16:creationId xmlns:a16="http://schemas.microsoft.com/office/drawing/2014/main" id="{F2631DD3-C3F3-4B6A-BFDD-325C9507005B}"/>
              </a:ext>
            </a:extLst>
          </p:cNvPr>
          <p:cNvSpPr>
            <a:spLocks noGrp="1"/>
          </p:cNvSpPr>
          <p:nvPr/>
        </p:nvSpPr>
        <p:spPr>
          <a:xfrm>
            <a:off x="11382375" y="6477000"/>
            <a:ext cx="381000" cy="228600"/>
          </a:xfrm>
          <a:prstGeom prst="rect">
            <a:avLst/>
          </a:prstGeom>
          <a:noFill/>
          <a:ln w="0">
            <a:noFill/>
            <a:prstDash val="solid"/>
          </a:ln>
        </p:spPr>
        <p:txBody>
          <a:bodyPr lIns="0" tIns="0" rIns="0" bIns="0"/>
          <a:lstStyle>
            <a:defPPr>
              <a:defRPr sz="1200" b="0">
                <a:solidFill>
                  <a:srgbClr val="666666"/>
                </a:solidFill>
                <a:latin typeface="Arial"/>
                <a:ea typeface="Arial"/>
                <a:cs typeface="Arial"/>
              </a:defRPr>
            </a:defPPr>
            <a:lvl1pPr>
              <a:defRPr sz="1200" b="0">
                <a:solidFill>
                  <a:srgbClr val="666666"/>
                </a:solidFill>
                <a:latin typeface="Arial"/>
                <a:ea typeface="Arial"/>
                <a:cs typeface="Arial"/>
              </a:defRPr>
            </a:lvl1pPr>
            <a:lvl2pPr>
              <a:defRPr sz="1200" b="0">
                <a:solidFill>
                  <a:srgbClr val="666666"/>
                </a:solidFill>
                <a:latin typeface="Arial"/>
                <a:ea typeface="Arial"/>
                <a:cs typeface="Arial"/>
              </a:defRPr>
            </a:lvl2pPr>
            <a:lvl3pPr>
              <a:defRPr sz="1200" b="0">
                <a:solidFill>
                  <a:srgbClr val="666666"/>
                </a:solidFill>
                <a:latin typeface="Arial"/>
                <a:ea typeface="Arial"/>
                <a:cs typeface="Arial"/>
              </a:defRPr>
            </a:lvl3pPr>
            <a:lvl4pPr>
              <a:defRPr sz="1200" b="0">
                <a:solidFill>
                  <a:srgbClr val="666666"/>
                </a:solidFill>
                <a:latin typeface="Arial"/>
                <a:ea typeface="Arial"/>
                <a:cs typeface="Arial"/>
              </a:defRPr>
            </a:lvl4pPr>
            <a:lvl5pPr>
              <a:defRPr sz="1200" b="0">
                <a:solidFill>
                  <a:srgbClr val="666666"/>
                </a:solidFill>
                <a:latin typeface="Arial"/>
                <a:ea typeface="Arial"/>
                <a:cs typeface="Arial"/>
              </a:defRPr>
            </a:lvl5pPr>
            <a:lvl6pPr>
              <a:defRPr sz="1200" b="0">
                <a:solidFill>
                  <a:srgbClr val="666666"/>
                </a:solidFill>
                <a:latin typeface="Arial"/>
                <a:ea typeface="Arial"/>
                <a:cs typeface="Arial"/>
              </a:defRPr>
            </a:lvl6pPr>
            <a:lvl7pPr>
              <a:defRPr sz="1200" b="0">
                <a:solidFill>
                  <a:srgbClr val="666666"/>
                </a:solidFill>
                <a:latin typeface="Arial"/>
                <a:ea typeface="Arial"/>
                <a:cs typeface="Arial"/>
              </a:defRPr>
            </a:lvl7pPr>
            <a:lvl8pPr>
              <a:defRPr sz="1200" b="0">
                <a:solidFill>
                  <a:srgbClr val="666666"/>
                </a:solidFill>
                <a:latin typeface="Arial"/>
                <a:ea typeface="Arial"/>
                <a:cs typeface="Arial"/>
              </a:defRPr>
            </a:lvl8pPr>
            <a:lvl9pPr>
              <a:defRPr sz="1200" b="0">
                <a:solidFill>
                  <a:srgbClr val="666666"/>
                </a:solidFill>
                <a:latin typeface="Arial"/>
                <a:ea typeface="Arial"/>
                <a:cs typeface="Arial"/>
              </a:defRPr>
            </a:lvl9pPr>
          </a:lstStyle>
          <a:p>
            <a:pPr>
              <a:defRPr sz="1200" b="0">
                <a:solidFill>
                  <a:srgbClr val="666666"/>
                </a:solidFill>
                <a:latin typeface="Arial"/>
                <a:ea typeface="Arial"/>
                <a:cs typeface="Arial"/>
              </a:defRPr>
            </a:pPr>
            <a:r>
              <a:rPr sz="1200" b="0">
                <a:solidFill>
                  <a:srgbClr val="666666"/>
                </a:solidFill>
                <a:latin typeface="Arial"/>
                <a:ea typeface="Arial"/>
                <a:cs typeface="Arial"/>
              </a:rPr>
              <a:t>30</a:t>
            </a:r>
          </a:p>
        </p:txBody>
      </p:sp>
      <p:sp>
        <p:nvSpPr>
          <p:cNvPr id="4" name="矩形 3">
            <a:extLst>
              <a:ext uri="{FF2B5EF4-FFF2-40B4-BE49-F238E27FC236}">
                <a16:creationId xmlns:a16="http://schemas.microsoft.com/office/drawing/2014/main" id="{155DFCE9-1D94-4FDF-BA6D-BAB7FC41FB26}"/>
              </a:ext>
            </a:extLst>
          </p:cNvPr>
          <p:cNvSpPr>
            <a:spLocks noGrp="1"/>
          </p:cNvSpPr>
          <p:nvPr/>
        </p:nvSpPr>
        <p:spPr>
          <a:xfrm>
            <a:off x="666750" y="1571625"/>
            <a:ext cx="10858500" cy="2238375"/>
          </a:xfrm>
          <a:prstGeom prst="rect">
            <a:avLst/>
          </a:prstGeom>
          <a:noFill/>
          <a:ln w="0">
            <a:noFill/>
            <a:prstDash val="solid"/>
          </a:ln>
        </p:spPr>
        <p:txBody>
          <a:bodyPr lIns="0" tIns="0" rIns="0" bIns="0"/>
          <a:lstStyle>
            <a:defPPr>
              <a:defRPr sz="2475" b="0">
                <a:solidFill>
                  <a:srgbClr val="111111"/>
                </a:solidFill>
                <a:latin typeface="DejaVu Sans Mono"/>
                <a:ea typeface="DejaVu Sans Mono"/>
                <a:cs typeface="DejaVu Sans Mono"/>
              </a:defRPr>
            </a:defPPr>
            <a:lvl1pPr>
              <a:defRPr sz="2475" b="0">
                <a:solidFill>
                  <a:srgbClr val="111111"/>
                </a:solidFill>
                <a:latin typeface="DejaVu Sans Mono"/>
                <a:ea typeface="DejaVu Sans Mono"/>
                <a:cs typeface="DejaVu Sans Mono"/>
              </a:defRPr>
            </a:lvl1pPr>
            <a:lvl2pPr>
              <a:defRPr sz="2475" b="0">
                <a:solidFill>
                  <a:srgbClr val="111111"/>
                </a:solidFill>
                <a:latin typeface="DejaVu Sans Mono"/>
                <a:ea typeface="DejaVu Sans Mono"/>
                <a:cs typeface="DejaVu Sans Mono"/>
              </a:defRPr>
            </a:lvl2pPr>
            <a:lvl3pPr>
              <a:defRPr sz="2475" b="0">
                <a:solidFill>
                  <a:srgbClr val="111111"/>
                </a:solidFill>
                <a:latin typeface="DejaVu Sans Mono"/>
                <a:ea typeface="DejaVu Sans Mono"/>
                <a:cs typeface="DejaVu Sans Mono"/>
              </a:defRPr>
            </a:lvl3pPr>
            <a:lvl4pPr>
              <a:defRPr sz="2475" b="0">
                <a:solidFill>
                  <a:srgbClr val="111111"/>
                </a:solidFill>
                <a:latin typeface="DejaVu Sans Mono"/>
                <a:ea typeface="DejaVu Sans Mono"/>
                <a:cs typeface="DejaVu Sans Mono"/>
              </a:defRPr>
            </a:lvl4pPr>
            <a:lvl5pPr>
              <a:defRPr sz="2475" b="0">
                <a:solidFill>
                  <a:srgbClr val="111111"/>
                </a:solidFill>
                <a:latin typeface="DejaVu Sans Mono"/>
                <a:ea typeface="DejaVu Sans Mono"/>
                <a:cs typeface="DejaVu Sans Mono"/>
              </a:defRPr>
            </a:lvl5pPr>
            <a:lvl6pPr>
              <a:defRPr sz="2475" b="0">
                <a:solidFill>
                  <a:srgbClr val="111111"/>
                </a:solidFill>
                <a:latin typeface="DejaVu Sans Mono"/>
                <a:ea typeface="DejaVu Sans Mono"/>
                <a:cs typeface="DejaVu Sans Mono"/>
              </a:defRPr>
            </a:lvl6pPr>
            <a:lvl7pPr>
              <a:defRPr sz="2475" b="0">
                <a:solidFill>
                  <a:srgbClr val="111111"/>
                </a:solidFill>
                <a:latin typeface="DejaVu Sans Mono"/>
                <a:ea typeface="DejaVu Sans Mono"/>
                <a:cs typeface="DejaVu Sans Mono"/>
              </a:defRPr>
            </a:lvl7pPr>
            <a:lvl8pPr>
              <a:defRPr sz="2475" b="0">
                <a:solidFill>
                  <a:srgbClr val="111111"/>
                </a:solidFill>
                <a:latin typeface="DejaVu Sans Mono"/>
                <a:ea typeface="DejaVu Sans Mono"/>
                <a:cs typeface="DejaVu Sans Mono"/>
              </a:defRPr>
            </a:lvl8pPr>
            <a:lvl9pPr>
              <a:defRPr sz="2475" b="0">
                <a:solidFill>
                  <a:srgbClr val="111111"/>
                </a:solidFill>
                <a:latin typeface="DejaVu Sans Mono"/>
                <a:ea typeface="DejaVu Sans Mono"/>
                <a:cs typeface="DejaVu Sans Mono"/>
              </a:defRPr>
            </a:lvl9pPr>
          </a:lstStyle>
          <a:p>
            <a:pPr>
              <a:defRPr sz="2475" b="0">
                <a:solidFill>
                  <a:srgbClr val="111111"/>
                </a:solidFill>
                <a:latin typeface="DejaVu Sans Mono"/>
                <a:ea typeface="DejaVu Sans Mono"/>
                <a:cs typeface="DejaVu Sans Mono"/>
              </a:defRPr>
            </a:pPr>
            <a:r>
              <a:rPr sz="2475" b="0">
                <a:solidFill>
                  <a:srgbClr val="111111"/>
                </a:solidFill>
                <a:latin typeface="DejaVu Sans Mono"/>
                <a:ea typeface="DejaVu Sans Mono"/>
                <a:cs typeface="DejaVu Sans Mono"/>
              </a:rPr>
              <a:t>process(a, b)</a:t>
            </a:r>
          </a:p>
          <a:p>
            <a:pPr>
              <a:defRPr sz="2475" b="0">
                <a:solidFill>
                  <a:srgbClr val="111111"/>
                </a:solidFill>
                <a:latin typeface="DejaVu Sans Mono"/>
                <a:ea typeface="DejaVu Sans Mono"/>
                <a:cs typeface="DejaVu Sans Mono"/>
              </a:defRPr>
            </a:pPr>
            <a:r>
              <a:rPr sz="2475" b="0">
                <a:solidFill>
                  <a:srgbClr val="111111"/>
                </a:solidFill>
                <a:latin typeface="DejaVu Sans Mono"/>
                <a:ea typeface="DejaVu Sans Mono"/>
                <a:cs typeface="DejaVu Sans Mono"/>
              </a:rPr>
              <a:t>begin</a:t>
            </a:r>
          </a:p>
          <a:p>
            <a:pPr>
              <a:defRPr sz="2475" b="0">
                <a:solidFill>
                  <a:srgbClr val="111111"/>
                </a:solidFill>
                <a:latin typeface="DejaVu Sans Mono"/>
                <a:ea typeface="DejaVu Sans Mono"/>
                <a:cs typeface="DejaVu Sans Mono"/>
              </a:defRPr>
            </a:pPr>
            <a:r>
              <a:rPr sz="2475" b="0">
                <a:solidFill>
                  <a:srgbClr val="111111"/>
                </a:solidFill>
                <a:latin typeface="DejaVu Sans Mono"/>
                <a:ea typeface="DejaVu Sans Mono"/>
                <a:cs typeface="DejaVu Sans Mono"/>
              </a:rPr>
              <a:t>  y &lt;= a and b;</a:t>
            </a:r>
          </a:p>
          <a:p>
            <a:pPr>
              <a:defRPr sz="2475" b="0">
                <a:solidFill>
                  <a:srgbClr val="111111"/>
                </a:solidFill>
                <a:latin typeface="DejaVu Sans Mono"/>
                <a:ea typeface="DejaVu Sans Mono"/>
                <a:cs typeface="DejaVu Sans Mono"/>
              </a:defRPr>
            </a:pPr>
            <a:r>
              <a:rPr sz="2475" b="0">
                <a:solidFill>
                  <a:srgbClr val="111111"/>
                </a:solidFill>
                <a:latin typeface="DejaVu Sans Mono"/>
                <a:ea typeface="DejaVu Sans Mono"/>
                <a:cs typeface="DejaVu Sans Mono"/>
              </a:rPr>
              <a:t>end process;</a:t>
            </a:r>
          </a:p>
        </p:txBody>
      </p:sp>
      <p:sp>
        <p:nvSpPr>
          <p:cNvPr id="5" name="矩形 4">
            <a:extLst>
              <a:ext uri="{FF2B5EF4-FFF2-40B4-BE49-F238E27FC236}">
                <a16:creationId xmlns:a16="http://schemas.microsoft.com/office/drawing/2014/main" id="{62635C74-F83E-423B-AEB8-42374BA8D16E}"/>
              </a:ext>
            </a:extLst>
          </p:cNvPr>
          <p:cNvSpPr>
            <a:spLocks noGrp="1"/>
          </p:cNvSpPr>
          <p:nvPr/>
        </p:nvSpPr>
        <p:spPr>
          <a:xfrm>
            <a:off x="666750" y="4381500"/>
            <a:ext cx="10858500" cy="4476750"/>
          </a:xfrm>
          <a:prstGeom prst="rect">
            <a:avLst/>
          </a:prstGeom>
          <a:noFill/>
          <a:ln w="0">
            <a:noFill/>
            <a:prstDash val="solid"/>
          </a:ln>
        </p:spPr>
        <p:txBody>
          <a:bodyPr lIns="0" tIns="0" rIns="0" bIns="0"/>
          <a:lstStyle>
            <a:defPPr>
              <a:defRPr sz="2175" b="0">
                <a:solidFill>
                  <a:srgbClr val="111111"/>
                </a:solidFill>
                <a:latin typeface="Arial"/>
                <a:ea typeface="Arial"/>
                <a:cs typeface="Arial"/>
              </a:defRPr>
            </a:defPPr>
            <a:lvl1pPr>
              <a:defRPr sz="2175" b="0">
                <a:solidFill>
                  <a:srgbClr val="111111"/>
                </a:solidFill>
                <a:latin typeface="Arial"/>
                <a:ea typeface="Arial"/>
                <a:cs typeface="Arial"/>
              </a:defRPr>
            </a:lvl1pPr>
            <a:lvl2pPr>
              <a:defRPr sz="2175" b="0">
                <a:solidFill>
                  <a:srgbClr val="111111"/>
                </a:solidFill>
                <a:latin typeface="Arial"/>
                <a:ea typeface="Arial"/>
                <a:cs typeface="Arial"/>
              </a:defRPr>
            </a:lvl2pPr>
            <a:lvl3pPr>
              <a:defRPr sz="2175" b="0">
                <a:solidFill>
                  <a:srgbClr val="111111"/>
                </a:solidFill>
                <a:latin typeface="Arial"/>
                <a:ea typeface="Arial"/>
                <a:cs typeface="Arial"/>
              </a:defRPr>
            </a:lvl3pPr>
            <a:lvl4pPr>
              <a:defRPr sz="2175" b="0">
                <a:solidFill>
                  <a:srgbClr val="111111"/>
                </a:solidFill>
                <a:latin typeface="Arial"/>
                <a:ea typeface="Arial"/>
                <a:cs typeface="Arial"/>
              </a:defRPr>
            </a:lvl4pPr>
            <a:lvl5pPr>
              <a:defRPr sz="2175" b="0">
                <a:solidFill>
                  <a:srgbClr val="111111"/>
                </a:solidFill>
                <a:latin typeface="Arial"/>
                <a:ea typeface="Arial"/>
                <a:cs typeface="Arial"/>
              </a:defRPr>
            </a:lvl5pPr>
            <a:lvl6pPr>
              <a:defRPr sz="2175" b="0">
                <a:solidFill>
                  <a:srgbClr val="111111"/>
                </a:solidFill>
                <a:latin typeface="Arial"/>
                <a:ea typeface="Arial"/>
                <a:cs typeface="Arial"/>
              </a:defRPr>
            </a:lvl6pPr>
            <a:lvl7pPr>
              <a:defRPr sz="2175" b="0">
                <a:solidFill>
                  <a:srgbClr val="111111"/>
                </a:solidFill>
                <a:latin typeface="Arial"/>
                <a:ea typeface="Arial"/>
                <a:cs typeface="Arial"/>
              </a:defRPr>
            </a:lvl7pPr>
            <a:lvl8pPr>
              <a:defRPr sz="2175" b="0">
                <a:solidFill>
                  <a:srgbClr val="111111"/>
                </a:solidFill>
                <a:latin typeface="Arial"/>
                <a:ea typeface="Arial"/>
                <a:cs typeface="Arial"/>
              </a:defRPr>
            </a:lvl8pPr>
            <a:lvl9pPr>
              <a:defRPr sz="2175" b="0">
                <a:solidFill>
                  <a:srgbClr val="111111"/>
                </a:solidFill>
                <a:latin typeface="Arial"/>
                <a:ea typeface="Arial"/>
                <a:cs typeface="Arial"/>
              </a:defRPr>
            </a:lvl9pPr>
          </a:lstStyle>
          <a:p>
            <a:pPr>
              <a:defRPr sz="2175" b="0">
                <a:solidFill>
                  <a:srgbClr val="111111"/>
                </a:solidFill>
                <a:latin typeface="Arial"/>
                <a:ea typeface="Arial"/>
                <a:cs typeface="Arial"/>
              </a:defRPr>
            </a:pPr>
            <a:r>
              <a:rPr sz="2175" b="0">
                <a:solidFill>
                  <a:srgbClr val="111111"/>
                </a:solidFill>
                <a:latin typeface="Arial"/>
                <a:ea typeface="Arial"/>
                <a:cs typeface="Arial"/>
              </a:rPr>
              <a:t>Original: only b changes, so the process does not run. y stays 0.</a:t>
            </a:r>
          </a:p>
          <a:p>
            <a:pPr>
              <a:defRPr sz="2175" b="0">
                <a:solidFill>
                  <a:srgbClr val="111111"/>
                </a:solidFill>
                <a:latin typeface="Arial"/>
                <a:ea typeface="Arial"/>
                <a:cs typeface="Arial"/>
              </a:defRPr>
            </a:pPr>
            <a:r>
              <a:rPr sz="2175" b="0">
                <a:solidFill>
                  <a:srgbClr val="111111"/>
                </a:solidFill>
                <a:latin typeface="Arial"/>
                <a:ea typeface="Arial"/>
                <a:cs typeface="Arial"/>
              </a:rPr>
              <a:t>Corrected: the process runs, then y updates to 1.</a:t>
            </a:r>
          </a:p>
          <a:p>
            <a:endParaRPr sz="2175" b="0">
              <a:solidFill>
                <a:srgbClr val="111111"/>
              </a:solidFill>
              <a:latin typeface="Arial"/>
              <a:ea typeface="Arial"/>
              <a:cs typeface="Arial"/>
            </a:endParaRPr>
          </a:p>
          <a:p>
            <a:pPr>
              <a:defRPr sz="2175" b="0">
                <a:solidFill>
                  <a:srgbClr val="111111"/>
                </a:solidFill>
                <a:latin typeface="Arial"/>
                <a:ea typeface="Arial"/>
                <a:cs typeface="Arial"/>
              </a:defRPr>
            </a:pPr>
            <a:r>
              <a:rPr sz="2175" b="0">
                <a:solidFill>
                  <a:srgbClr val="111111"/>
                </a:solidFill>
                <a:latin typeface="Arial"/>
                <a:ea typeface="Arial"/>
                <a:cs typeface="Arial"/>
              </a:rPr>
              <a:t>VHDL-2008 alternative: process(all)</a:t>
            </a:r>
          </a:p>
        </p:txBody>
      </p:sp>
    </p:spTree>
    <p:extLst>
      <p:ext uri="{BB962C8B-B14F-4D97-AF65-F5344CB8AC3E}">
        <p14:creationId xmlns:p14="http://schemas.microsoft.com/office/powerpoint/2010/main" val="80433361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3681</Words>
  <Application>Microsoft Macintosh PowerPoint</Application>
  <DocSecurity>0</DocSecurity>
  <PresentationFormat>宽屏</PresentationFormat>
  <Paragraphs>383</Paragraphs>
  <Slides>28</Slides>
  <Notes>28</Notes>
  <HiddenSlides>4</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28</vt:i4>
      </vt:variant>
    </vt:vector>
  </HeadingPairs>
  <TitlesOfParts>
    <vt:vector size="33" baseType="lpstr">
      <vt:lpstr>等线</vt:lpstr>
      <vt:lpstr>等线 Light</vt:lpstr>
      <vt:lpstr>DejaVu Sans Mono</vt:lpstr>
      <vt:lpstr>Arial</vt:lpstr>
      <vt:lpstr>Office 主题​​</vt:lpstr>
      <vt:lpstr>CNENGR228 Tutorial 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Zhang, Zhongming</cp:lastModifiedBy>
  <cp:revision>2</cp:revision>
  <dcterms:created xsi:type="dcterms:W3CDTF">2026-10-19T01:52:23Z</dcterms:created>
  <dcterms:modified xsi:type="dcterms:W3CDTF">2026-10-19T06:24:37Z</dcterms:modified>
</cp:coreProperties>
</file>